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0" r:id="rId25"/>
    <p:sldId id="281" r:id="rId26"/>
    <p:sldId id="282" r:id="rId27"/>
    <p:sldId id="283" r:id="rId28"/>
    <p:sldId id="284" r:id="rId29"/>
    <p:sldId id="285" r:id="rId30"/>
  </p:sldIdLst>
  <p:sldSz cx="12192000" cy="6858000"/>
  <p:notesSz cx="6858000" cy="12192000"/>
  <p:embeddedFontLst>
    <p:embeddedFont>
      <p:font typeface="MiSans" panose="020B0604020202020204" charset="-122"/>
      <p:regular r:id="rId32"/>
    </p:embeddedFont>
    <p:embeddedFont>
      <p:font typeface="Noto Sans SC" panose="020B0604020202020204" charset="-128"/>
      <p:regular r:id="rId33"/>
    </p:embeddedFont>
    <p:embeddedFont>
      <p:font typeface="Calibri" panose="020F0502020204030204" pitchFamily="34" charset="0"/>
      <p:regular r:id="rId34"/>
      <p:bold r:id="rId35"/>
      <p:italic r:id="rId36"/>
      <p:boldItalic r:id="rId37"/>
    </p:embeddedFont>
    <p:embeddedFont>
      <p:font typeface="Hedvig Letters Sans" panose="020B0604020202020204" charset="0"/>
      <p:regular r:id="rId38"/>
    </p:embeddedFont>
    <p:embeddedFont>
      <p:font typeface="Liter" panose="020B0604020202020204" charset="0"/>
      <p:regular r:id="rId39"/>
    </p:embeddedFont>
    <p:embeddedFont>
      <p:font typeface="Quattrocento Sans" panose="020B0604020202020204" charset="0"/>
      <p:regular r:id="rId40"/>
    </p:embeddedFont>
  </p:embeddedFontLst>
  <p:defaultTextStyle>
    <a:defPPr>
      <a:defRPr lang="en-A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3348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thumbs.dreamstime.com/ff4e837e609bb3fb3392ac3c44ffab5b98164c3c.jpg"/>
          <p:cNvPicPr>
            <a:picLocks noChangeAspect="1"/>
          </p:cNvPicPr>
          <p:nvPr/>
        </p:nvPicPr>
        <p:blipFill>
          <a:blip r:embed="rId3">
            <a:alphaModFix amt="40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1A1D21">
                  <a:alpha val="85000"/>
                </a:srgbClr>
              </a:gs>
              <a:gs pos="100000">
                <a:srgbClr val="000000">
                  <a:alpha val="0"/>
                </a:srgbClr>
              </a:gs>
            </a:gsLst>
            <a:lin ang="2700000" scaled="1"/>
          </a:gradFill>
          <a:ln/>
        </p:spPr>
      </p:sp>
      <p:sp>
        <p:nvSpPr>
          <p:cNvPr id="4" name="Shape 1"/>
          <p:cNvSpPr/>
          <p:nvPr/>
        </p:nvSpPr>
        <p:spPr>
          <a:xfrm>
            <a:off x="4030861" y="1119188"/>
            <a:ext cx="4133850" cy="428625"/>
          </a:xfrm>
          <a:custGeom>
            <a:avLst/>
            <a:gdLst/>
            <a:ahLst/>
            <a:cxnLst/>
            <a:rect l="l" t="t" r="r" b="b"/>
            <a:pathLst>
              <a:path w="4133850" h="428625">
                <a:moveTo>
                  <a:pt x="214313" y="0"/>
                </a:moveTo>
                <a:lnTo>
                  <a:pt x="3919537" y="0"/>
                </a:lnTo>
                <a:cubicBezTo>
                  <a:pt x="4037820" y="0"/>
                  <a:pt x="4133850" y="96030"/>
                  <a:pt x="4133850" y="214313"/>
                </a:cubicBezTo>
                <a:lnTo>
                  <a:pt x="4133850" y="214313"/>
                </a:lnTo>
                <a:cubicBezTo>
                  <a:pt x="4133850" y="332595"/>
                  <a:pt x="4037820" y="428625"/>
                  <a:pt x="3919537" y="428625"/>
                </a:cubicBezTo>
                <a:lnTo>
                  <a:pt x="214313" y="428625"/>
                </a:lnTo>
                <a:cubicBezTo>
                  <a:pt x="96030" y="428625"/>
                  <a:pt x="0" y="332595"/>
                  <a:pt x="0" y="214313"/>
                </a:cubicBezTo>
                <a:lnTo>
                  <a:pt x="0" y="214313"/>
                </a:lnTo>
                <a:cubicBezTo>
                  <a:pt x="0" y="96030"/>
                  <a:pt x="96030" y="0"/>
                  <a:pt x="214312"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4221361" y="1238250"/>
            <a:ext cx="3749278" cy="190500"/>
          </a:xfrm>
          <a:prstGeom prst="rect">
            <a:avLst/>
          </a:prstGeom>
          <a:noFill/>
          <a:ln/>
        </p:spPr>
        <p:txBody>
          <a:bodyPr wrap="square" lIns="0" tIns="0" rIns="0" bIns="0" rtlCol="0" anchor="ctr"/>
          <a:lstStyle/>
          <a:p>
            <a:pPr algn="ctr">
              <a:lnSpc>
                <a:spcPct val="130000"/>
              </a:lnSpc>
            </a:pPr>
            <a:r>
              <a:rPr lang="en-US" sz="1350" b="1" kern="0" spc="68" dirty="0">
                <a:solidFill>
                  <a:srgbClr val="4DB6AC"/>
                </a:solidFill>
                <a:latin typeface="Quattrocento Sans" pitchFamily="34" charset="0"/>
                <a:ea typeface="Quattrocento Sans" pitchFamily="34" charset="-122"/>
                <a:cs typeface="Quattrocento Sans" pitchFamily="34" charset="-120"/>
              </a:rPr>
              <a:t>COMPREHENSIVE GUIDE | UDHËZIM I PLOTË</a:t>
            </a:r>
            <a:endParaRPr lang="en-US" sz="1600" dirty="0"/>
          </a:p>
        </p:txBody>
      </p:sp>
      <p:sp>
        <p:nvSpPr>
          <p:cNvPr id="6" name="Text 3"/>
          <p:cNvSpPr/>
          <p:nvPr/>
        </p:nvSpPr>
        <p:spPr>
          <a:xfrm>
            <a:off x="3398639" y="2085975"/>
            <a:ext cx="5391150" cy="1714500"/>
          </a:xfrm>
          <a:prstGeom prst="rect">
            <a:avLst/>
          </a:prstGeom>
          <a:noFill/>
          <a:ln/>
        </p:spPr>
        <p:txBody>
          <a:bodyPr wrap="square" lIns="0" tIns="0" rIns="0" bIns="0" rtlCol="0" anchor="ctr"/>
          <a:lstStyle/>
          <a:p>
            <a:pPr algn="ctr">
              <a:lnSpc>
                <a:spcPct val="100000"/>
              </a:lnSpc>
            </a:pPr>
            <a:r>
              <a:rPr lang="en-US" sz="5400" b="1" dirty="0">
                <a:solidFill>
                  <a:srgbClr val="ECEFF1"/>
                </a:solidFill>
                <a:latin typeface="Liter" pitchFamily="34" charset="0"/>
                <a:ea typeface="Liter" pitchFamily="34" charset="-122"/>
                <a:cs typeface="Liter" pitchFamily="34" charset="-120"/>
              </a:rPr>
              <a:t>Deep Learning &amp;</a:t>
            </a:r>
            <a:endParaRPr lang="en-US" sz="1600" dirty="0"/>
          </a:p>
          <a:p>
            <a:pPr algn="ctr">
              <a:lnSpc>
                <a:spcPct val="100000"/>
              </a:lnSpc>
            </a:pPr>
            <a:r>
              <a:rPr lang="en-US" sz="5400" b="1" dirty="0">
                <a:solidFill>
                  <a:srgbClr val="ECEFF1"/>
                </a:solidFill>
                <a:latin typeface="Liter" pitchFamily="34" charset="0"/>
                <a:ea typeface="Liter" pitchFamily="34" charset="-122"/>
                <a:cs typeface="Liter" pitchFamily="34" charset="-120"/>
              </a:rPr>
              <a:t>Neural Networks</a:t>
            </a:r>
            <a:endParaRPr lang="en-US" sz="1600" dirty="0"/>
          </a:p>
        </p:txBody>
      </p:sp>
      <p:sp>
        <p:nvSpPr>
          <p:cNvPr id="7" name="Text 4"/>
          <p:cNvSpPr/>
          <p:nvPr/>
        </p:nvSpPr>
        <p:spPr>
          <a:xfrm>
            <a:off x="2598986" y="4029075"/>
            <a:ext cx="6991350" cy="457200"/>
          </a:xfrm>
          <a:prstGeom prst="rect">
            <a:avLst/>
          </a:prstGeom>
          <a:noFill/>
          <a:ln/>
        </p:spPr>
        <p:txBody>
          <a:bodyPr wrap="square" lIns="0" tIns="0" rIns="0" bIns="0" rtlCol="0" anchor="ctr"/>
          <a:lstStyle/>
          <a:p>
            <a:pPr algn="ct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Mësimi i Thellë &amp; Rrjetet Nervore</a:t>
            </a:r>
            <a:endParaRPr lang="en-US" sz="1600" dirty="0"/>
          </a:p>
        </p:txBody>
      </p:sp>
      <p:sp>
        <p:nvSpPr>
          <p:cNvPr id="8" name="Shape 5"/>
          <p:cNvSpPr/>
          <p:nvPr/>
        </p:nvSpPr>
        <p:spPr>
          <a:xfrm>
            <a:off x="5486400" y="4791075"/>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2381250" y="5133975"/>
            <a:ext cx="7429500" cy="609600"/>
          </a:xfrm>
          <a:prstGeom prst="rect">
            <a:avLst/>
          </a:prstGeom>
          <a:noFill/>
          <a:ln/>
        </p:spPr>
        <p:txBody>
          <a:bodyPr wrap="square" lIns="0" tIns="0" rIns="0" bIns="0" rtlCol="0" anchor="ctr"/>
          <a:lstStyle/>
          <a:p>
            <a:pPr algn="ct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A Journey into Artificial Intelligence | Një Udhëtim në Inteligjencën Artificiale</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58600" cy="457200"/>
          </a:xfrm>
          <a:prstGeom prst="rect">
            <a:avLst/>
          </a:prstGeom>
          <a:noFill/>
          <a:ln/>
        </p:spPr>
        <p:txBody>
          <a:bodyPr wrap="square" lIns="0" tIns="0" rIns="0" bIns="0" rtlCol="0" anchor="ctr"/>
          <a:lstStyle/>
          <a:p>
            <a:pPr>
              <a:lnSpc>
                <a:spcPct val="80000"/>
              </a:lnSpc>
            </a:pPr>
            <a:r>
              <a:rPr lang="en-US" sz="3600" b="1" dirty="0">
                <a:solidFill>
                  <a:srgbClr val="ECEFF1"/>
                </a:solidFill>
                <a:latin typeface="Liter" pitchFamily="34" charset="0"/>
                <a:ea typeface="Liter" pitchFamily="34" charset="-122"/>
                <a:cs typeface="Liter" pitchFamily="34" charset="-120"/>
              </a:rPr>
              <a:t>Contents</a:t>
            </a:r>
            <a:endParaRPr lang="en-US" sz="1600" dirty="0"/>
          </a:p>
        </p:txBody>
      </p:sp>
      <p:sp>
        <p:nvSpPr>
          <p:cNvPr id="3" name="Text 1"/>
          <p:cNvSpPr/>
          <p:nvPr/>
        </p:nvSpPr>
        <p:spPr>
          <a:xfrm>
            <a:off x="381000" y="914400"/>
            <a:ext cx="11572875" cy="342900"/>
          </a:xfrm>
          <a:prstGeom prst="rect">
            <a:avLst/>
          </a:prstGeom>
          <a:noFill/>
          <a:ln/>
        </p:spPr>
        <p:txBody>
          <a:bodyPr wrap="square" lIns="0" tIns="0" rIns="0" bIns="0" rtlCol="0" anchor="ctr"/>
          <a:lstStyle/>
          <a:p>
            <a:pPr>
              <a:lnSpc>
                <a:spcPct val="100000"/>
              </a:lnSpc>
            </a:pPr>
            <a:r>
              <a:rPr lang="en-US" sz="2250" b="1" dirty="0">
                <a:solidFill>
                  <a:srgbClr val="4DB6AC"/>
                </a:solidFill>
                <a:latin typeface="Hedvig Letters Sans" pitchFamily="34" charset="0"/>
                <a:ea typeface="Hedvig Letters Sans" pitchFamily="34" charset="-122"/>
                <a:cs typeface="Hedvig Letters Sans" pitchFamily="34" charset="-120"/>
              </a:rPr>
              <a:t>Përmbajtja</a:t>
            </a:r>
            <a:endParaRPr lang="en-US" sz="1600" dirty="0"/>
          </a:p>
        </p:txBody>
      </p:sp>
      <p:sp>
        <p:nvSpPr>
          <p:cNvPr id="4" name="Shape 2"/>
          <p:cNvSpPr/>
          <p:nvPr/>
        </p:nvSpPr>
        <p:spPr>
          <a:xfrm>
            <a:off x="385763" y="149066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4DB6AC">
                  <a:alpha val="20000"/>
                </a:srgbClr>
              </a:gs>
              <a:gs pos="100000">
                <a:srgbClr val="4DB6AC">
                  <a:alpha val="5000"/>
                </a:srgbClr>
              </a:gs>
            </a:gsLst>
            <a:lin ang="2700000" scaled="1"/>
          </a:gradFill>
          <a:ln w="12700">
            <a:solidFill>
              <a:srgbClr val="4DB6AC">
                <a:alpha val="30196"/>
              </a:srgbClr>
            </a:solidFill>
            <a:prstDash val="solid"/>
          </a:ln>
        </p:spPr>
      </p:sp>
      <p:sp>
        <p:nvSpPr>
          <p:cNvPr id="5" name="Shape 3"/>
          <p:cNvSpPr/>
          <p:nvPr/>
        </p:nvSpPr>
        <p:spPr>
          <a:xfrm>
            <a:off x="619125" y="17240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DB6AC"/>
          </a:solidFill>
          <a:ln/>
        </p:spPr>
      </p:sp>
      <p:sp>
        <p:nvSpPr>
          <p:cNvPr id="6" name="Text 4"/>
          <p:cNvSpPr/>
          <p:nvPr/>
        </p:nvSpPr>
        <p:spPr>
          <a:xfrm>
            <a:off x="561975" y="1724025"/>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01</a:t>
            </a:r>
            <a:endParaRPr lang="en-US" sz="1600" dirty="0"/>
          </a:p>
        </p:txBody>
      </p:sp>
      <p:sp>
        <p:nvSpPr>
          <p:cNvPr id="7" name="Text 5"/>
          <p:cNvSpPr/>
          <p:nvPr/>
        </p:nvSpPr>
        <p:spPr>
          <a:xfrm>
            <a:off x="1304925" y="1838325"/>
            <a:ext cx="3324225"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Introduction to Neural Networks</a:t>
            </a:r>
            <a:endParaRPr lang="en-US" sz="1600" dirty="0"/>
          </a:p>
        </p:txBody>
      </p:sp>
      <p:sp>
        <p:nvSpPr>
          <p:cNvPr id="8" name="Text 6"/>
          <p:cNvSpPr/>
          <p:nvPr/>
        </p:nvSpPr>
        <p:spPr>
          <a:xfrm>
            <a:off x="1304925" y="2371725"/>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Hyrje në Rrjetet Nervore</a:t>
            </a:r>
            <a:endParaRPr lang="en-US" sz="1600" dirty="0"/>
          </a:p>
        </p:txBody>
      </p:sp>
      <p:sp>
        <p:nvSpPr>
          <p:cNvPr id="9" name="Shape 7"/>
          <p:cNvSpPr/>
          <p:nvPr/>
        </p:nvSpPr>
        <p:spPr>
          <a:xfrm>
            <a:off x="6215063" y="149066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4DB6AC">
                  <a:alpha val="20000"/>
                </a:srgbClr>
              </a:gs>
              <a:gs pos="100000">
                <a:srgbClr val="4DB6AC">
                  <a:alpha val="5000"/>
                </a:srgbClr>
              </a:gs>
            </a:gsLst>
            <a:lin ang="2700000" scaled="1"/>
          </a:gradFill>
          <a:ln w="12700">
            <a:solidFill>
              <a:srgbClr val="4DB6AC">
                <a:alpha val="30196"/>
              </a:srgbClr>
            </a:solidFill>
            <a:prstDash val="solid"/>
          </a:ln>
        </p:spPr>
      </p:sp>
      <p:sp>
        <p:nvSpPr>
          <p:cNvPr id="10" name="Shape 8"/>
          <p:cNvSpPr/>
          <p:nvPr/>
        </p:nvSpPr>
        <p:spPr>
          <a:xfrm>
            <a:off x="6448425" y="17240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DB6AC"/>
          </a:solidFill>
          <a:ln/>
        </p:spPr>
      </p:sp>
      <p:sp>
        <p:nvSpPr>
          <p:cNvPr id="11" name="Text 9"/>
          <p:cNvSpPr/>
          <p:nvPr/>
        </p:nvSpPr>
        <p:spPr>
          <a:xfrm>
            <a:off x="6391275" y="1724025"/>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02</a:t>
            </a:r>
            <a:endParaRPr lang="en-US" sz="1600" dirty="0"/>
          </a:p>
        </p:txBody>
      </p:sp>
      <p:sp>
        <p:nvSpPr>
          <p:cNvPr id="12" name="Text 10"/>
          <p:cNvSpPr/>
          <p:nvPr/>
        </p:nvSpPr>
        <p:spPr>
          <a:xfrm>
            <a:off x="7134225" y="1838325"/>
            <a:ext cx="3057525"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Deep Learning Fundamentals</a:t>
            </a:r>
            <a:endParaRPr lang="en-US" sz="1600" dirty="0"/>
          </a:p>
        </p:txBody>
      </p:sp>
      <p:sp>
        <p:nvSpPr>
          <p:cNvPr id="13" name="Text 11"/>
          <p:cNvSpPr/>
          <p:nvPr/>
        </p:nvSpPr>
        <p:spPr>
          <a:xfrm>
            <a:off x="7134225" y="2371725"/>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Bazat e Mësimit të Thellë</a:t>
            </a:r>
            <a:endParaRPr lang="en-US" sz="1600" dirty="0"/>
          </a:p>
        </p:txBody>
      </p:sp>
      <p:sp>
        <p:nvSpPr>
          <p:cNvPr id="14" name="Shape 12"/>
          <p:cNvSpPr/>
          <p:nvPr/>
        </p:nvSpPr>
        <p:spPr>
          <a:xfrm>
            <a:off x="385763" y="323046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FFD54F">
                  <a:alpha val="20000"/>
                </a:srgbClr>
              </a:gs>
              <a:gs pos="100000">
                <a:srgbClr val="FFD54F">
                  <a:alpha val="5000"/>
                </a:srgbClr>
              </a:gs>
            </a:gsLst>
            <a:lin ang="2700000" scaled="1"/>
          </a:gradFill>
          <a:ln w="12700">
            <a:solidFill>
              <a:srgbClr val="FFD54F">
                <a:alpha val="30196"/>
              </a:srgbClr>
            </a:solidFill>
            <a:prstDash val="solid"/>
          </a:ln>
        </p:spPr>
      </p:sp>
      <p:sp>
        <p:nvSpPr>
          <p:cNvPr id="15" name="Shape 13"/>
          <p:cNvSpPr/>
          <p:nvPr/>
        </p:nvSpPr>
        <p:spPr>
          <a:xfrm>
            <a:off x="619125" y="346382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D54F"/>
          </a:solidFill>
          <a:ln/>
        </p:spPr>
      </p:sp>
      <p:sp>
        <p:nvSpPr>
          <p:cNvPr id="16" name="Text 14"/>
          <p:cNvSpPr/>
          <p:nvPr/>
        </p:nvSpPr>
        <p:spPr>
          <a:xfrm>
            <a:off x="561975" y="3463826"/>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03</a:t>
            </a:r>
            <a:endParaRPr lang="en-US" sz="1600" dirty="0"/>
          </a:p>
        </p:txBody>
      </p:sp>
      <p:sp>
        <p:nvSpPr>
          <p:cNvPr id="17" name="Text 15"/>
          <p:cNvSpPr/>
          <p:nvPr/>
        </p:nvSpPr>
        <p:spPr>
          <a:xfrm>
            <a:off x="1304925" y="3578126"/>
            <a:ext cx="3105150"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Neural Network Architectures</a:t>
            </a:r>
            <a:endParaRPr lang="en-US" sz="1600" dirty="0"/>
          </a:p>
        </p:txBody>
      </p:sp>
      <p:sp>
        <p:nvSpPr>
          <p:cNvPr id="18" name="Text 16"/>
          <p:cNvSpPr/>
          <p:nvPr/>
        </p:nvSpPr>
        <p:spPr>
          <a:xfrm>
            <a:off x="1304925" y="4111526"/>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Arkitekturat e Rrjeteve Nervore</a:t>
            </a:r>
            <a:endParaRPr lang="en-US" sz="1600" dirty="0"/>
          </a:p>
        </p:txBody>
      </p:sp>
      <p:sp>
        <p:nvSpPr>
          <p:cNvPr id="19" name="Shape 17"/>
          <p:cNvSpPr/>
          <p:nvPr/>
        </p:nvSpPr>
        <p:spPr>
          <a:xfrm>
            <a:off x="6215063" y="323046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FFD54F">
                  <a:alpha val="20000"/>
                </a:srgbClr>
              </a:gs>
              <a:gs pos="100000">
                <a:srgbClr val="FFD54F">
                  <a:alpha val="5000"/>
                </a:srgbClr>
              </a:gs>
            </a:gsLst>
            <a:lin ang="2700000" scaled="1"/>
          </a:gradFill>
          <a:ln w="12700">
            <a:solidFill>
              <a:srgbClr val="FFD54F">
                <a:alpha val="30196"/>
              </a:srgbClr>
            </a:solidFill>
            <a:prstDash val="solid"/>
          </a:ln>
        </p:spPr>
      </p:sp>
      <p:sp>
        <p:nvSpPr>
          <p:cNvPr id="20" name="Shape 18"/>
          <p:cNvSpPr/>
          <p:nvPr/>
        </p:nvSpPr>
        <p:spPr>
          <a:xfrm>
            <a:off x="6448425" y="3463826"/>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D54F"/>
          </a:solidFill>
          <a:ln/>
        </p:spPr>
      </p:sp>
      <p:sp>
        <p:nvSpPr>
          <p:cNvPr id="21" name="Text 19"/>
          <p:cNvSpPr/>
          <p:nvPr/>
        </p:nvSpPr>
        <p:spPr>
          <a:xfrm>
            <a:off x="6391275" y="3463826"/>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04</a:t>
            </a:r>
            <a:endParaRPr lang="en-US" sz="1600" dirty="0"/>
          </a:p>
        </p:txBody>
      </p:sp>
      <p:sp>
        <p:nvSpPr>
          <p:cNvPr id="22" name="Text 20"/>
          <p:cNvSpPr/>
          <p:nvPr/>
        </p:nvSpPr>
        <p:spPr>
          <a:xfrm>
            <a:off x="7134225" y="3578126"/>
            <a:ext cx="2486025"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Training &amp; Optimization</a:t>
            </a:r>
            <a:endParaRPr lang="en-US" sz="1600" dirty="0"/>
          </a:p>
        </p:txBody>
      </p:sp>
      <p:sp>
        <p:nvSpPr>
          <p:cNvPr id="23" name="Text 21"/>
          <p:cNvSpPr/>
          <p:nvPr/>
        </p:nvSpPr>
        <p:spPr>
          <a:xfrm>
            <a:off x="7134225" y="4111526"/>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Trajnimi &amp; Optimizimi</a:t>
            </a:r>
            <a:endParaRPr lang="en-US" sz="1600" dirty="0"/>
          </a:p>
        </p:txBody>
      </p:sp>
      <p:sp>
        <p:nvSpPr>
          <p:cNvPr id="24" name="Shape 22"/>
          <p:cNvSpPr/>
          <p:nvPr/>
        </p:nvSpPr>
        <p:spPr>
          <a:xfrm>
            <a:off x="385763" y="497041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4DB6AC">
                  <a:alpha val="20000"/>
                </a:srgbClr>
              </a:gs>
              <a:gs pos="100000">
                <a:srgbClr val="4DB6AC">
                  <a:alpha val="5000"/>
                </a:srgbClr>
              </a:gs>
            </a:gsLst>
            <a:lin ang="2700000" scaled="1"/>
          </a:gradFill>
          <a:ln w="12700">
            <a:solidFill>
              <a:srgbClr val="4DB6AC">
                <a:alpha val="30196"/>
              </a:srgbClr>
            </a:solidFill>
            <a:prstDash val="solid"/>
          </a:ln>
        </p:spPr>
      </p:sp>
      <p:sp>
        <p:nvSpPr>
          <p:cNvPr id="25" name="Shape 23"/>
          <p:cNvSpPr/>
          <p:nvPr/>
        </p:nvSpPr>
        <p:spPr>
          <a:xfrm>
            <a:off x="619125" y="52037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4DB6AC"/>
          </a:solidFill>
          <a:ln/>
        </p:spPr>
      </p:sp>
      <p:sp>
        <p:nvSpPr>
          <p:cNvPr id="26" name="Text 24"/>
          <p:cNvSpPr/>
          <p:nvPr/>
        </p:nvSpPr>
        <p:spPr>
          <a:xfrm>
            <a:off x="561975" y="5203775"/>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05</a:t>
            </a:r>
            <a:endParaRPr lang="en-US" sz="1600" dirty="0"/>
          </a:p>
        </p:txBody>
      </p:sp>
      <p:sp>
        <p:nvSpPr>
          <p:cNvPr id="27" name="Text 25"/>
          <p:cNvSpPr/>
          <p:nvPr/>
        </p:nvSpPr>
        <p:spPr>
          <a:xfrm>
            <a:off x="1304925" y="5318075"/>
            <a:ext cx="1857375"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Advanced Topics</a:t>
            </a:r>
            <a:endParaRPr lang="en-US" sz="1600" dirty="0"/>
          </a:p>
        </p:txBody>
      </p:sp>
      <p:sp>
        <p:nvSpPr>
          <p:cNvPr id="28" name="Text 26"/>
          <p:cNvSpPr/>
          <p:nvPr/>
        </p:nvSpPr>
        <p:spPr>
          <a:xfrm>
            <a:off x="1304925" y="5851475"/>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Tema të Avancuara</a:t>
            </a:r>
            <a:endParaRPr lang="en-US" sz="1600" dirty="0"/>
          </a:p>
        </p:txBody>
      </p:sp>
      <p:sp>
        <p:nvSpPr>
          <p:cNvPr id="29" name="Shape 27"/>
          <p:cNvSpPr/>
          <p:nvPr/>
        </p:nvSpPr>
        <p:spPr>
          <a:xfrm>
            <a:off x="6215063" y="4970413"/>
            <a:ext cx="5591175" cy="1504950"/>
          </a:xfrm>
          <a:custGeom>
            <a:avLst/>
            <a:gdLst/>
            <a:ahLst/>
            <a:cxnLst/>
            <a:rect l="l" t="t" r="r" b="b"/>
            <a:pathLst>
              <a:path w="5591175" h="1504950">
                <a:moveTo>
                  <a:pt x="114301" y="0"/>
                </a:moveTo>
                <a:lnTo>
                  <a:pt x="5476874" y="0"/>
                </a:lnTo>
                <a:cubicBezTo>
                  <a:pt x="5540001" y="0"/>
                  <a:pt x="5591175" y="51174"/>
                  <a:pt x="5591175" y="114301"/>
                </a:cubicBezTo>
                <a:lnTo>
                  <a:pt x="5591175" y="1390649"/>
                </a:lnTo>
                <a:cubicBezTo>
                  <a:pt x="5591175" y="1453776"/>
                  <a:pt x="5540001" y="1504950"/>
                  <a:pt x="5476874" y="1504950"/>
                </a:cubicBezTo>
                <a:lnTo>
                  <a:pt x="114301" y="1504950"/>
                </a:lnTo>
                <a:cubicBezTo>
                  <a:pt x="51174" y="1504950"/>
                  <a:pt x="0" y="1453776"/>
                  <a:pt x="0" y="1390649"/>
                </a:cubicBezTo>
                <a:lnTo>
                  <a:pt x="0" y="114301"/>
                </a:lnTo>
                <a:cubicBezTo>
                  <a:pt x="0" y="51217"/>
                  <a:pt x="51217" y="0"/>
                  <a:pt x="114301" y="0"/>
                </a:cubicBezTo>
                <a:close/>
              </a:path>
            </a:pathLst>
          </a:custGeom>
          <a:gradFill flip="none" rotWithShape="1">
            <a:gsLst>
              <a:gs pos="0">
                <a:srgbClr val="FFD54F">
                  <a:alpha val="20000"/>
                </a:srgbClr>
              </a:gs>
              <a:gs pos="100000">
                <a:srgbClr val="FFD54F">
                  <a:alpha val="5000"/>
                </a:srgbClr>
              </a:gs>
            </a:gsLst>
            <a:lin ang="2700000" scaled="1"/>
          </a:gradFill>
          <a:ln w="12700">
            <a:solidFill>
              <a:srgbClr val="FFD54F">
                <a:alpha val="30196"/>
              </a:srgbClr>
            </a:solidFill>
            <a:prstDash val="solid"/>
          </a:ln>
        </p:spPr>
      </p:sp>
      <p:sp>
        <p:nvSpPr>
          <p:cNvPr id="30" name="Shape 28"/>
          <p:cNvSpPr/>
          <p:nvPr/>
        </p:nvSpPr>
        <p:spPr>
          <a:xfrm>
            <a:off x="6448425" y="52037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D54F"/>
          </a:solidFill>
          <a:ln/>
        </p:spPr>
      </p:sp>
      <p:sp>
        <p:nvSpPr>
          <p:cNvPr id="31" name="Text 29"/>
          <p:cNvSpPr/>
          <p:nvPr/>
        </p:nvSpPr>
        <p:spPr>
          <a:xfrm>
            <a:off x="6391275" y="5203775"/>
            <a:ext cx="647700" cy="533400"/>
          </a:xfrm>
          <a:prstGeom prst="rect">
            <a:avLst/>
          </a:prstGeom>
          <a:noFill/>
          <a:ln/>
        </p:spPr>
        <p:txBody>
          <a:bodyPr wrap="square" lIns="0" tIns="0" rIns="0" bIns="0" rtlCol="0" anchor="ctr"/>
          <a:lstStyle/>
          <a:p>
            <a:pPr algn="ctr">
              <a:lnSpc>
                <a:spcPct val="110000"/>
              </a:lnSpc>
            </a:pPr>
            <a:r>
              <a:rPr lang="en-US" sz="1800" b="1" dirty="0">
                <a:solidFill>
                  <a:srgbClr val="1A1D21"/>
                </a:solidFill>
                <a:latin typeface="Liter" pitchFamily="34" charset="0"/>
                <a:ea typeface="Liter" pitchFamily="34" charset="-122"/>
                <a:cs typeface="Liter" pitchFamily="34" charset="-120"/>
              </a:rPr>
              <a:t>06</a:t>
            </a:r>
            <a:endParaRPr lang="en-US" sz="1600" dirty="0"/>
          </a:p>
        </p:txBody>
      </p:sp>
      <p:sp>
        <p:nvSpPr>
          <p:cNvPr id="32" name="Text 30"/>
          <p:cNvSpPr/>
          <p:nvPr/>
        </p:nvSpPr>
        <p:spPr>
          <a:xfrm>
            <a:off x="7134225" y="5318075"/>
            <a:ext cx="2295525" cy="304800"/>
          </a:xfrm>
          <a:prstGeom prst="rect">
            <a:avLst/>
          </a:prstGeom>
          <a:noFill/>
          <a:ln/>
        </p:spPr>
        <p:txBody>
          <a:bodyPr wrap="square" lIns="0" tIns="0" rIns="0" bIns="0" rtlCol="0" anchor="ctr"/>
          <a:lstStyle/>
          <a:p>
            <a:pPr>
              <a:lnSpc>
                <a:spcPct val="110000"/>
              </a:lnSpc>
            </a:pPr>
            <a:r>
              <a:rPr lang="en-US" sz="1800" b="1" dirty="0">
                <a:solidFill>
                  <a:srgbClr val="ECEFF1"/>
                </a:solidFill>
                <a:latin typeface="Liter" pitchFamily="34" charset="0"/>
                <a:ea typeface="Liter" pitchFamily="34" charset="-122"/>
                <a:cs typeface="Liter" pitchFamily="34" charset="-120"/>
              </a:rPr>
              <a:t>Applications &amp; Future</a:t>
            </a:r>
            <a:endParaRPr lang="en-US" sz="1600" dirty="0"/>
          </a:p>
        </p:txBody>
      </p:sp>
      <p:sp>
        <p:nvSpPr>
          <p:cNvPr id="33" name="Text 31"/>
          <p:cNvSpPr/>
          <p:nvPr/>
        </p:nvSpPr>
        <p:spPr>
          <a:xfrm>
            <a:off x="7134225" y="5851475"/>
            <a:ext cx="4524375" cy="266700"/>
          </a:xfrm>
          <a:prstGeom prst="rect">
            <a:avLst/>
          </a:prstGeom>
          <a:noFill/>
          <a:ln/>
        </p:spPr>
        <p:txBody>
          <a:bodyPr wrap="square" lIns="0" tIns="0" rIns="0" bIns="0" rtlCol="0" anchor="ctr"/>
          <a:lstStyle/>
          <a:p>
            <a:pPr>
              <a:lnSpc>
                <a:spcPct val="130000"/>
              </a:lnSpc>
            </a:pPr>
            <a:r>
              <a:rPr lang="en-US" sz="1350" dirty="0">
                <a:solidFill>
                  <a:srgbClr val="78909C"/>
                </a:solidFill>
                <a:latin typeface="Quattrocento Sans" pitchFamily="34" charset="0"/>
                <a:ea typeface="Quattrocento Sans" pitchFamily="34" charset="-122"/>
                <a:cs typeface="Quattrocento Sans" pitchFamily="34" charset="-120"/>
              </a:rPr>
              <a:t>Aplikime &amp; E Ardhmja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thumbs.dreamstime.com/598d938489dfa93ce41bef8db34c716b2021a9b2.jpg"/>
          <p:cNvPicPr>
            <a:picLocks noChangeAspect="1"/>
          </p:cNvPicPr>
          <p:nvPr/>
        </p:nvPicPr>
        <p:blipFill>
          <a:blip r:embed="rId3">
            <a:alphaModFix amt="30000"/>
          </a:blip>
          <a:srcRect l="111" r="11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sp>
      <p:sp>
        <p:nvSpPr>
          <p:cNvPr id="4" name="Shape 1"/>
          <p:cNvSpPr/>
          <p:nvPr/>
        </p:nvSpPr>
        <p:spPr>
          <a:xfrm>
            <a:off x="385763" y="1157288"/>
            <a:ext cx="2962275" cy="428625"/>
          </a:xfrm>
          <a:custGeom>
            <a:avLst/>
            <a:gdLst/>
            <a:ahLst/>
            <a:cxnLst/>
            <a:rect l="l" t="t" r="r" b="b"/>
            <a:pathLst>
              <a:path w="2962275" h="428625">
                <a:moveTo>
                  <a:pt x="214313" y="0"/>
                </a:moveTo>
                <a:lnTo>
                  <a:pt x="2747963" y="0"/>
                </a:lnTo>
                <a:cubicBezTo>
                  <a:pt x="2866245" y="0"/>
                  <a:pt x="2962275" y="96030"/>
                  <a:pt x="2962275" y="214313"/>
                </a:cubicBezTo>
                <a:lnTo>
                  <a:pt x="2962275" y="214313"/>
                </a:lnTo>
                <a:cubicBezTo>
                  <a:pt x="2962275" y="332595"/>
                  <a:pt x="2866245" y="428625"/>
                  <a:pt x="2747963" y="428625"/>
                </a:cubicBezTo>
                <a:lnTo>
                  <a:pt x="214313" y="428625"/>
                </a:lnTo>
                <a:cubicBezTo>
                  <a:pt x="96030" y="428625"/>
                  <a:pt x="0" y="332595"/>
                  <a:pt x="0" y="214313"/>
                </a:cubicBezTo>
                <a:lnTo>
                  <a:pt x="0" y="214313"/>
                </a:lnTo>
                <a:cubicBezTo>
                  <a:pt x="0" y="96030"/>
                  <a:pt x="96030" y="0"/>
                  <a:pt x="214312"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619125" y="1266825"/>
            <a:ext cx="2586484" cy="209550"/>
          </a:xfrm>
          <a:prstGeom prst="rect">
            <a:avLst/>
          </a:prstGeom>
          <a:noFill/>
          <a:ln/>
        </p:spPr>
        <p:txBody>
          <a:bodyPr wrap="square" lIns="0" tIns="0" rIns="0" bIns="0" rtlCol="0" anchor="ctr"/>
          <a:lstStyle/>
          <a:p>
            <a:pPr>
              <a:lnSpc>
                <a:spcPct val="120000"/>
              </a:lnSpc>
            </a:pPr>
            <a:r>
              <a:rPr lang="en-US" sz="1500" b="1" kern="0" spc="75" dirty="0">
                <a:solidFill>
                  <a:srgbClr val="4DB6AC"/>
                </a:solidFill>
                <a:latin typeface="Quattrocento Sans" pitchFamily="34" charset="0"/>
                <a:ea typeface="Quattrocento Sans" pitchFamily="34" charset="-122"/>
                <a:cs typeface="Quattrocento Sans" pitchFamily="34" charset="-120"/>
              </a:rPr>
              <a:t>CHAPTER 01 | KAPITULLI 01</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Introduction to</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Neural Networks</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Hyrje në Rrjetet Nervore</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Understanding the foundations of artificial intelligence</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Kuptimi i bazave të inteligjencës artificiale</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65851" y="365851"/>
            <a:ext cx="11624930" cy="365851"/>
          </a:xfrm>
          <a:prstGeom prst="rect">
            <a:avLst/>
          </a:prstGeom>
          <a:noFill/>
          <a:ln/>
        </p:spPr>
        <p:txBody>
          <a:bodyPr wrap="square" lIns="0" tIns="0" rIns="0" bIns="0" rtlCol="0" anchor="ctr"/>
          <a:lstStyle/>
          <a:p>
            <a:pPr>
              <a:lnSpc>
                <a:spcPct val="90000"/>
              </a:lnSpc>
            </a:pPr>
            <a:r>
              <a:rPr lang="en-US" sz="2593" b="1" dirty="0">
                <a:solidFill>
                  <a:srgbClr val="ECEFF1"/>
                </a:solidFill>
                <a:latin typeface="Liter" pitchFamily="34" charset="0"/>
                <a:ea typeface="Liter" pitchFamily="34" charset="-122"/>
                <a:cs typeface="Liter" pitchFamily="34" charset="-120"/>
              </a:rPr>
              <a:t>What is a Neural Network?</a:t>
            </a:r>
            <a:endParaRPr lang="en-US" sz="1600" dirty="0"/>
          </a:p>
        </p:txBody>
      </p:sp>
      <p:sp>
        <p:nvSpPr>
          <p:cNvPr id="3" name="Text 1"/>
          <p:cNvSpPr/>
          <p:nvPr/>
        </p:nvSpPr>
        <p:spPr>
          <a:xfrm>
            <a:off x="365851" y="804873"/>
            <a:ext cx="11570053" cy="292681"/>
          </a:xfrm>
          <a:prstGeom prst="rect">
            <a:avLst/>
          </a:prstGeom>
          <a:noFill/>
          <a:ln/>
        </p:spPr>
        <p:txBody>
          <a:bodyPr wrap="square" lIns="0" tIns="0" rIns="0" bIns="0" rtlCol="0" anchor="ctr"/>
          <a:lstStyle/>
          <a:p>
            <a:pPr>
              <a:lnSpc>
                <a:spcPct val="110000"/>
              </a:lnSpc>
            </a:pPr>
            <a:r>
              <a:rPr lang="en-US" sz="1728" b="1" dirty="0">
                <a:solidFill>
                  <a:srgbClr val="4DB6AC"/>
                </a:solidFill>
                <a:latin typeface="Hedvig Letters Sans" pitchFamily="34" charset="0"/>
                <a:ea typeface="Hedvig Letters Sans" pitchFamily="34" charset="-122"/>
                <a:cs typeface="Hedvig Letters Sans" pitchFamily="34" charset="-120"/>
              </a:rPr>
              <a:t>Çfarë është një Rrjet Nervor?</a:t>
            </a:r>
            <a:endParaRPr lang="en-US" sz="1600" dirty="0"/>
          </a:p>
        </p:txBody>
      </p:sp>
      <p:sp>
        <p:nvSpPr>
          <p:cNvPr id="4" name="Shape 2"/>
          <p:cNvSpPr/>
          <p:nvPr/>
        </p:nvSpPr>
        <p:spPr>
          <a:xfrm>
            <a:off x="384144" y="1243895"/>
            <a:ext cx="6164597" cy="2030476"/>
          </a:xfrm>
          <a:custGeom>
            <a:avLst/>
            <a:gdLst/>
            <a:ahLst/>
            <a:cxnLst/>
            <a:rect l="l" t="t" r="r" b="b"/>
            <a:pathLst>
              <a:path w="6164597" h="2030476">
                <a:moveTo>
                  <a:pt x="0" y="0"/>
                </a:moveTo>
                <a:lnTo>
                  <a:pt x="6091419" y="0"/>
                </a:lnTo>
                <a:cubicBezTo>
                  <a:pt x="6131834" y="0"/>
                  <a:pt x="6164597" y="32763"/>
                  <a:pt x="6164597" y="73178"/>
                </a:cubicBezTo>
                <a:lnTo>
                  <a:pt x="6164597" y="1957297"/>
                </a:lnTo>
                <a:cubicBezTo>
                  <a:pt x="6164597" y="1997713"/>
                  <a:pt x="6131834" y="2030476"/>
                  <a:pt x="6091419" y="2030476"/>
                </a:cubicBezTo>
                <a:lnTo>
                  <a:pt x="0" y="2030476"/>
                </a:lnTo>
                <a:lnTo>
                  <a:pt x="0" y="0"/>
                </a:lnTo>
                <a:close/>
              </a:path>
            </a:pathLst>
          </a:custGeom>
          <a:solidFill>
            <a:srgbClr val="4DB6AC">
              <a:alpha val="10196"/>
            </a:srgbClr>
          </a:solidFill>
          <a:ln/>
        </p:spPr>
      </p:sp>
      <p:sp>
        <p:nvSpPr>
          <p:cNvPr id="5" name="Shape 3"/>
          <p:cNvSpPr/>
          <p:nvPr/>
        </p:nvSpPr>
        <p:spPr>
          <a:xfrm>
            <a:off x="384144" y="1243895"/>
            <a:ext cx="36585" cy="2030476"/>
          </a:xfrm>
          <a:custGeom>
            <a:avLst/>
            <a:gdLst/>
            <a:ahLst/>
            <a:cxnLst/>
            <a:rect l="l" t="t" r="r" b="b"/>
            <a:pathLst>
              <a:path w="36585" h="2030476">
                <a:moveTo>
                  <a:pt x="0" y="0"/>
                </a:moveTo>
                <a:lnTo>
                  <a:pt x="36585" y="0"/>
                </a:lnTo>
                <a:lnTo>
                  <a:pt x="36585" y="2030476"/>
                </a:lnTo>
                <a:lnTo>
                  <a:pt x="0" y="2030476"/>
                </a:lnTo>
                <a:lnTo>
                  <a:pt x="0" y="0"/>
                </a:lnTo>
                <a:close/>
              </a:path>
            </a:pathLst>
          </a:custGeom>
          <a:solidFill>
            <a:srgbClr val="4DB6AC"/>
          </a:solidFill>
          <a:ln/>
        </p:spPr>
      </p:sp>
      <p:sp>
        <p:nvSpPr>
          <p:cNvPr id="6" name="Text 4"/>
          <p:cNvSpPr/>
          <p:nvPr/>
        </p:nvSpPr>
        <p:spPr>
          <a:xfrm>
            <a:off x="548777" y="1390236"/>
            <a:ext cx="5926794" cy="713410"/>
          </a:xfrm>
          <a:prstGeom prst="rect">
            <a:avLst/>
          </a:prstGeom>
          <a:noFill/>
          <a:ln/>
        </p:spPr>
        <p:txBody>
          <a:bodyPr wrap="square" lIns="0" tIns="0" rIns="0" bIns="0" rtlCol="0" anchor="ctr"/>
          <a:lstStyle/>
          <a:p>
            <a:pPr>
              <a:lnSpc>
                <a:spcPct val="140000"/>
              </a:lnSpc>
            </a:pPr>
            <a:r>
              <a:rPr lang="en-US" sz="1152" b="1" dirty="0">
                <a:solidFill>
                  <a:srgbClr val="4DB6AC"/>
                </a:solidFill>
                <a:latin typeface="Quattrocento Sans" pitchFamily="34" charset="0"/>
                <a:ea typeface="Quattrocento Sans" pitchFamily="34" charset="-122"/>
                <a:cs typeface="Quattrocento Sans" pitchFamily="34" charset="-120"/>
              </a:rPr>
              <a:t>English:</a:t>
            </a:r>
            <a:r>
              <a:rPr lang="en-US" sz="1152" dirty="0">
                <a:solidFill>
                  <a:srgbClr val="ECEFF1"/>
                </a:solidFill>
                <a:latin typeface="Quattrocento Sans" pitchFamily="34" charset="0"/>
                <a:ea typeface="Quattrocento Sans" pitchFamily="34" charset="-122"/>
                <a:cs typeface="Quattrocento Sans" pitchFamily="34" charset="-120"/>
              </a:rPr>
              <a:t> A neural network is a computational model inspired by the structure and function of biological neurons in the human brain. It consists of interconnected nodes (artificial neurons) organized in layers that process information and learn patterns from data.</a:t>
            </a:r>
            <a:endParaRPr lang="en-US" sz="1600" dirty="0"/>
          </a:p>
        </p:txBody>
      </p:sp>
      <p:sp>
        <p:nvSpPr>
          <p:cNvPr id="7" name="Text 5"/>
          <p:cNvSpPr/>
          <p:nvPr/>
        </p:nvSpPr>
        <p:spPr>
          <a:xfrm>
            <a:off x="548777" y="2176816"/>
            <a:ext cx="5926794" cy="951214"/>
          </a:xfrm>
          <a:prstGeom prst="rect">
            <a:avLst/>
          </a:prstGeom>
          <a:noFill/>
          <a:ln/>
        </p:spPr>
        <p:txBody>
          <a:bodyPr wrap="square" lIns="0" tIns="0" rIns="0" bIns="0" rtlCol="0" anchor="ctr"/>
          <a:lstStyle/>
          <a:p>
            <a:pPr>
              <a:lnSpc>
                <a:spcPct val="140000"/>
              </a:lnSpc>
            </a:pPr>
            <a:r>
              <a:rPr lang="en-US" sz="1152" b="1" dirty="0">
                <a:solidFill>
                  <a:srgbClr val="FFD54F"/>
                </a:solidFill>
                <a:latin typeface="Quattrocento Sans" pitchFamily="34" charset="0"/>
                <a:ea typeface="Quattrocento Sans" pitchFamily="34" charset="-122"/>
                <a:cs typeface="Quattrocento Sans" pitchFamily="34" charset="-120"/>
              </a:rPr>
              <a:t>Shqip:</a:t>
            </a:r>
            <a:r>
              <a:rPr lang="en-US" sz="1152" dirty="0">
                <a:solidFill>
                  <a:srgbClr val="78909C"/>
                </a:solidFill>
                <a:latin typeface="Quattrocento Sans" pitchFamily="34" charset="0"/>
                <a:ea typeface="Quattrocento Sans" pitchFamily="34" charset="-122"/>
                <a:cs typeface="Quattrocento Sans" pitchFamily="34" charset="-120"/>
              </a:rPr>
              <a:t> Një rrjet nervor është një model komputacional i frymëzuar nga struktura dhe funksioni i neuroneve biologjike në trurin e njeriut. Ai përbëhet nga nyje të ndërlidhura (neurone artificiale) të organizuara në shtresa që përpunojnë informacionin dhe mësojnë modele nga të dhënat.</a:t>
            </a:r>
            <a:endParaRPr lang="en-US" sz="1600" dirty="0"/>
          </a:p>
        </p:txBody>
      </p:sp>
      <p:sp>
        <p:nvSpPr>
          <p:cNvPr id="8" name="Shape 6"/>
          <p:cNvSpPr/>
          <p:nvPr/>
        </p:nvSpPr>
        <p:spPr>
          <a:xfrm>
            <a:off x="370425" y="3425284"/>
            <a:ext cx="3009128" cy="1253041"/>
          </a:xfrm>
          <a:custGeom>
            <a:avLst/>
            <a:gdLst/>
            <a:ahLst/>
            <a:cxnLst/>
            <a:rect l="l" t="t" r="r" b="b"/>
            <a:pathLst>
              <a:path w="3009128" h="1253041">
                <a:moveTo>
                  <a:pt x="73165" y="0"/>
                </a:moveTo>
                <a:lnTo>
                  <a:pt x="2935963" y="0"/>
                </a:lnTo>
                <a:cubicBezTo>
                  <a:pt x="2976344" y="0"/>
                  <a:pt x="3009128" y="32784"/>
                  <a:pt x="3009128" y="73165"/>
                </a:cubicBezTo>
                <a:lnTo>
                  <a:pt x="3009128" y="1179876"/>
                </a:lnTo>
                <a:cubicBezTo>
                  <a:pt x="3009128" y="1220284"/>
                  <a:pt x="2976371" y="1253041"/>
                  <a:pt x="2935963" y="1253041"/>
                </a:cubicBezTo>
                <a:lnTo>
                  <a:pt x="73165" y="1253041"/>
                </a:lnTo>
                <a:cubicBezTo>
                  <a:pt x="32784" y="1253041"/>
                  <a:pt x="0" y="1220257"/>
                  <a:pt x="0" y="1179876"/>
                </a:cubicBezTo>
                <a:lnTo>
                  <a:pt x="0" y="73165"/>
                </a:lnTo>
                <a:cubicBezTo>
                  <a:pt x="0" y="32757"/>
                  <a:pt x="32757" y="0"/>
                  <a:pt x="73165" y="0"/>
                </a:cubicBezTo>
                <a:close/>
              </a:path>
            </a:pathLst>
          </a:custGeom>
          <a:solidFill>
            <a:srgbClr val="4DB6AC">
              <a:alpha val="5098"/>
            </a:srgbClr>
          </a:solidFill>
          <a:ln w="12700">
            <a:solidFill>
              <a:srgbClr val="4DB6AC">
                <a:alpha val="30196"/>
              </a:srgbClr>
            </a:solidFill>
            <a:prstDash val="solid"/>
          </a:ln>
        </p:spPr>
      </p:sp>
      <p:sp>
        <p:nvSpPr>
          <p:cNvPr id="9" name="Shape 7"/>
          <p:cNvSpPr/>
          <p:nvPr/>
        </p:nvSpPr>
        <p:spPr>
          <a:xfrm>
            <a:off x="544204" y="3612783"/>
            <a:ext cx="182926" cy="182926"/>
          </a:xfrm>
          <a:custGeom>
            <a:avLst/>
            <a:gdLst/>
            <a:ahLst/>
            <a:cxnLst/>
            <a:rect l="l" t="t" r="r" b="b"/>
            <a:pathLst>
              <a:path w="182926" h="182926">
                <a:moveTo>
                  <a:pt x="42873" y="20008"/>
                </a:moveTo>
                <a:cubicBezTo>
                  <a:pt x="42873" y="8968"/>
                  <a:pt x="51841" y="0"/>
                  <a:pt x="62881" y="0"/>
                </a:cubicBezTo>
                <a:lnTo>
                  <a:pt x="71455" y="0"/>
                </a:lnTo>
                <a:cubicBezTo>
                  <a:pt x="77779" y="0"/>
                  <a:pt x="82888" y="5109"/>
                  <a:pt x="82888" y="11433"/>
                </a:cubicBezTo>
                <a:lnTo>
                  <a:pt x="82888" y="171493"/>
                </a:lnTo>
                <a:cubicBezTo>
                  <a:pt x="82888" y="177817"/>
                  <a:pt x="77779" y="182926"/>
                  <a:pt x="71455" y="182926"/>
                </a:cubicBezTo>
                <a:lnTo>
                  <a:pt x="60023" y="182926"/>
                </a:lnTo>
                <a:cubicBezTo>
                  <a:pt x="49376" y="182926"/>
                  <a:pt x="40408" y="175637"/>
                  <a:pt x="37871" y="165776"/>
                </a:cubicBezTo>
                <a:cubicBezTo>
                  <a:pt x="37621" y="165776"/>
                  <a:pt x="37407" y="165776"/>
                  <a:pt x="37157" y="165776"/>
                </a:cubicBezTo>
                <a:cubicBezTo>
                  <a:pt x="21365" y="165776"/>
                  <a:pt x="8575" y="152986"/>
                  <a:pt x="8575" y="137194"/>
                </a:cubicBezTo>
                <a:cubicBezTo>
                  <a:pt x="8575" y="130763"/>
                  <a:pt x="10718" y="124833"/>
                  <a:pt x="14291" y="120045"/>
                </a:cubicBezTo>
                <a:cubicBezTo>
                  <a:pt x="7360" y="114829"/>
                  <a:pt x="2858" y="106540"/>
                  <a:pt x="2858" y="97179"/>
                </a:cubicBezTo>
                <a:cubicBezTo>
                  <a:pt x="2858" y="86139"/>
                  <a:pt x="9146" y="76529"/>
                  <a:pt x="18293" y="71777"/>
                </a:cubicBezTo>
                <a:cubicBezTo>
                  <a:pt x="15756" y="67490"/>
                  <a:pt x="14291" y="62488"/>
                  <a:pt x="14291" y="57164"/>
                </a:cubicBezTo>
                <a:cubicBezTo>
                  <a:pt x="14291" y="41373"/>
                  <a:pt x="27082" y="28582"/>
                  <a:pt x="42873" y="28582"/>
                </a:cubicBezTo>
                <a:lnTo>
                  <a:pt x="42873" y="20008"/>
                </a:lnTo>
                <a:close/>
                <a:moveTo>
                  <a:pt x="140053" y="20008"/>
                </a:moveTo>
                <a:lnTo>
                  <a:pt x="140053" y="28582"/>
                </a:lnTo>
                <a:cubicBezTo>
                  <a:pt x="155844" y="28582"/>
                  <a:pt x="168635" y="41373"/>
                  <a:pt x="168635" y="57164"/>
                </a:cubicBezTo>
                <a:cubicBezTo>
                  <a:pt x="168635" y="62523"/>
                  <a:pt x="167170" y="67525"/>
                  <a:pt x="164633" y="71777"/>
                </a:cubicBezTo>
                <a:cubicBezTo>
                  <a:pt x="173815" y="76529"/>
                  <a:pt x="180068" y="86104"/>
                  <a:pt x="180068" y="97179"/>
                </a:cubicBezTo>
                <a:cubicBezTo>
                  <a:pt x="180068" y="106540"/>
                  <a:pt x="175566" y="114829"/>
                  <a:pt x="168635" y="120045"/>
                </a:cubicBezTo>
                <a:cubicBezTo>
                  <a:pt x="172207" y="124833"/>
                  <a:pt x="174351" y="130763"/>
                  <a:pt x="174351" y="137194"/>
                </a:cubicBezTo>
                <a:cubicBezTo>
                  <a:pt x="174351" y="152986"/>
                  <a:pt x="161561" y="165776"/>
                  <a:pt x="145769" y="165776"/>
                </a:cubicBezTo>
                <a:cubicBezTo>
                  <a:pt x="145519" y="165776"/>
                  <a:pt x="145304" y="165776"/>
                  <a:pt x="145054" y="165776"/>
                </a:cubicBezTo>
                <a:cubicBezTo>
                  <a:pt x="142518" y="175637"/>
                  <a:pt x="133550" y="182926"/>
                  <a:pt x="122903" y="182926"/>
                </a:cubicBezTo>
                <a:lnTo>
                  <a:pt x="111470" y="182926"/>
                </a:lnTo>
                <a:cubicBezTo>
                  <a:pt x="105147" y="182926"/>
                  <a:pt x="100038" y="177817"/>
                  <a:pt x="100038" y="171493"/>
                </a:cubicBezTo>
                <a:lnTo>
                  <a:pt x="100038" y="11433"/>
                </a:lnTo>
                <a:cubicBezTo>
                  <a:pt x="100038" y="5109"/>
                  <a:pt x="105147" y="0"/>
                  <a:pt x="111470" y="0"/>
                </a:cubicBezTo>
                <a:lnTo>
                  <a:pt x="120045" y="0"/>
                </a:lnTo>
                <a:cubicBezTo>
                  <a:pt x="131085" y="0"/>
                  <a:pt x="140053" y="8968"/>
                  <a:pt x="140053" y="20008"/>
                </a:cubicBezTo>
                <a:close/>
              </a:path>
            </a:pathLst>
          </a:custGeom>
          <a:solidFill>
            <a:srgbClr val="4DB6AC"/>
          </a:solidFill>
          <a:ln/>
        </p:spPr>
      </p:sp>
      <p:sp>
        <p:nvSpPr>
          <p:cNvPr id="10" name="Text 8"/>
          <p:cNvSpPr/>
          <p:nvPr/>
        </p:nvSpPr>
        <p:spPr>
          <a:xfrm>
            <a:off x="823166" y="3576198"/>
            <a:ext cx="1591454" cy="256096"/>
          </a:xfrm>
          <a:prstGeom prst="rect">
            <a:avLst/>
          </a:prstGeom>
          <a:noFill/>
          <a:ln/>
        </p:spPr>
        <p:txBody>
          <a:bodyPr wrap="square" lIns="0" tIns="0" rIns="0" bIns="0" rtlCol="0" anchor="ctr"/>
          <a:lstStyle/>
          <a:p>
            <a:pPr>
              <a:lnSpc>
                <a:spcPct val="130000"/>
              </a:lnSpc>
            </a:pPr>
            <a:r>
              <a:rPr lang="en-US" sz="1296" b="1" dirty="0">
                <a:solidFill>
                  <a:srgbClr val="ECEFF1"/>
                </a:solidFill>
                <a:latin typeface="Liter" pitchFamily="34" charset="0"/>
                <a:ea typeface="Liter" pitchFamily="34" charset="-122"/>
                <a:cs typeface="Liter" pitchFamily="34" charset="-120"/>
              </a:rPr>
              <a:t>Biological Inspiration</a:t>
            </a:r>
            <a:endParaRPr lang="en-US" sz="1600" dirty="0"/>
          </a:p>
        </p:txBody>
      </p:sp>
      <p:sp>
        <p:nvSpPr>
          <p:cNvPr id="11" name="Text 9"/>
          <p:cNvSpPr/>
          <p:nvPr/>
        </p:nvSpPr>
        <p:spPr>
          <a:xfrm>
            <a:off x="521338" y="3905464"/>
            <a:ext cx="2771325" cy="182926"/>
          </a:xfrm>
          <a:prstGeom prst="rect">
            <a:avLst/>
          </a:prstGeom>
          <a:noFill/>
          <a:ln/>
        </p:spPr>
        <p:txBody>
          <a:bodyPr wrap="square" lIns="0" tIns="0" rIns="0" bIns="0" rtlCol="0" anchor="ctr"/>
          <a:lstStyle/>
          <a:p>
            <a:pPr>
              <a:lnSpc>
                <a:spcPct val="120000"/>
              </a:lnSpc>
            </a:pPr>
            <a:r>
              <a:rPr lang="en-US" sz="1008" dirty="0">
                <a:solidFill>
                  <a:srgbClr val="78909C"/>
                </a:solidFill>
                <a:latin typeface="Quattrocento Sans" pitchFamily="34" charset="0"/>
                <a:ea typeface="Quattrocento Sans" pitchFamily="34" charset="-122"/>
                <a:cs typeface="Quattrocento Sans" pitchFamily="34" charset="-120"/>
              </a:rPr>
              <a:t>Frymëzim Biologjik</a:t>
            </a:r>
            <a:endParaRPr lang="en-US" sz="1600" dirty="0"/>
          </a:p>
        </p:txBody>
      </p:sp>
      <p:sp>
        <p:nvSpPr>
          <p:cNvPr id="12" name="Text 10"/>
          <p:cNvSpPr/>
          <p:nvPr/>
        </p:nvSpPr>
        <p:spPr>
          <a:xfrm>
            <a:off x="521338" y="4161560"/>
            <a:ext cx="2771325" cy="182926"/>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Dendrites → Soma → Axon → Synapse</a:t>
            </a:r>
            <a:endParaRPr lang="en-US" sz="1600" dirty="0"/>
          </a:p>
        </p:txBody>
      </p:sp>
      <p:sp>
        <p:nvSpPr>
          <p:cNvPr id="13" name="Shape 11"/>
          <p:cNvSpPr/>
          <p:nvPr/>
        </p:nvSpPr>
        <p:spPr>
          <a:xfrm>
            <a:off x="3535611" y="3425284"/>
            <a:ext cx="3009128" cy="1253041"/>
          </a:xfrm>
          <a:custGeom>
            <a:avLst/>
            <a:gdLst/>
            <a:ahLst/>
            <a:cxnLst/>
            <a:rect l="l" t="t" r="r" b="b"/>
            <a:pathLst>
              <a:path w="3009128" h="1253041">
                <a:moveTo>
                  <a:pt x="73165" y="0"/>
                </a:moveTo>
                <a:lnTo>
                  <a:pt x="2935963" y="0"/>
                </a:lnTo>
                <a:cubicBezTo>
                  <a:pt x="2976344" y="0"/>
                  <a:pt x="3009128" y="32784"/>
                  <a:pt x="3009128" y="73165"/>
                </a:cubicBezTo>
                <a:lnTo>
                  <a:pt x="3009128" y="1179876"/>
                </a:lnTo>
                <a:cubicBezTo>
                  <a:pt x="3009128" y="1220284"/>
                  <a:pt x="2976371" y="1253041"/>
                  <a:pt x="2935963" y="1253041"/>
                </a:cubicBezTo>
                <a:lnTo>
                  <a:pt x="73165" y="1253041"/>
                </a:lnTo>
                <a:cubicBezTo>
                  <a:pt x="32784" y="1253041"/>
                  <a:pt x="0" y="1220257"/>
                  <a:pt x="0" y="1179876"/>
                </a:cubicBezTo>
                <a:lnTo>
                  <a:pt x="0" y="73165"/>
                </a:lnTo>
                <a:cubicBezTo>
                  <a:pt x="0" y="32757"/>
                  <a:pt x="32757" y="0"/>
                  <a:pt x="73165" y="0"/>
                </a:cubicBezTo>
                <a:close/>
              </a:path>
            </a:pathLst>
          </a:custGeom>
          <a:solidFill>
            <a:srgbClr val="FFD54F">
              <a:alpha val="5098"/>
            </a:srgbClr>
          </a:solidFill>
          <a:ln w="12700">
            <a:solidFill>
              <a:srgbClr val="FFD54F">
                <a:alpha val="30196"/>
              </a:srgbClr>
            </a:solidFill>
            <a:prstDash val="solid"/>
          </a:ln>
        </p:spPr>
      </p:sp>
      <p:sp>
        <p:nvSpPr>
          <p:cNvPr id="14" name="Shape 12"/>
          <p:cNvSpPr/>
          <p:nvPr/>
        </p:nvSpPr>
        <p:spPr>
          <a:xfrm>
            <a:off x="3709391" y="3612783"/>
            <a:ext cx="182926" cy="182926"/>
          </a:xfrm>
          <a:custGeom>
            <a:avLst/>
            <a:gdLst/>
            <a:ahLst/>
            <a:cxnLst/>
            <a:rect l="l" t="t" r="r" b="b"/>
            <a:pathLst>
              <a:path w="182926" h="182926">
                <a:moveTo>
                  <a:pt x="62881" y="8575"/>
                </a:moveTo>
                <a:cubicBezTo>
                  <a:pt x="62881" y="3823"/>
                  <a:pt x="59058" y="0"/>
                  <a:pt x="54306" y="0"/>
                </a:cubicBezTo>
                <a:cubicBezTo>
                  <a:pt x="49554" y="0"/>
                  <a:pt x="45731" y="3823"/>
                  <a:pt x="45731" y="8575"/>
                </a:cubicBezTo>
                <a:lnTo>
                  <a:pt x="45731" y="22866"/>
                </a:lnTo>
                <a:cubicBezTo>
                  <a:pt x="33120" y="22866"/>
                  <a:pt x="22866" y="33120"/>
                  <a:pt x="22866" y="45731"/>
                </a:cubicBezTo>
                <a:lnTo>
                  <a:pt x="8575" y="45731"/>
                </a:lnTo>
                <a:cubicBezTo>
                  <a:pt x="3823" y="45731"/>
                  <a:pt x="0" y="49554"/>
                  <a:pt x="0" y="54306"/>
                </a:cubicBezTo>
                <a:cubicBezTo>
                  <a:pt x="0" y="59058"/>
                  <a:pt x="3823" y="62881"/>
                  <a:pt x="8575" y="62881"/>
                </a:cubicBezTo>
                <a:lnTo>
                  <a:pt x="22866" y="62881"/>
                </a:lnTo>
                <a:lnTo>
                  <a:pt x="22866" y="82888"/>
                </a:lnTo>
                <a:lnTo>
                  <a:pt x="8575" y="82888"/>
                </a:lnTo>
                <a:cubicBezTo>
                  <a:pt x="3823" y="82888"/>
                  <a:pt x="0" y="86711"/>
                  <a:pt x="0" y="91463"/>
                </a:cubicBezTo>
                <a:cubicBezTo>
                  <a:pt x="0" y="96215"/>
                  <a:pt x="3823" y="100038"/>
                  <a:pt x="8575" y="100038"/>
                </a:cubicBezTo>
                <a:lnTo>
                  <a:pt x="22866" y="100038"/>
                </a:lnTo>
                <a:lnTo>
                  <a:pt x="22866" y="120045"/>
                </a:lnTo>
                <a:lnTo>
                  <a:pt x="8575" y="120045"/>
                </a:lnTo>
                <a:cubicBezTo>
                  <a:pt x="3823" y="120045"/>
                  <a:pt x="0" y="123868"/>
                  <a:pt x="0" y="128620"/>
                </a:cubicBezTo>
                <a:cubicBezTo>
                  <a:pt x="0" y="133371"/>
                  <a:pt x="3823" y="137194"/>
                  <a:pt x="8575" y="137194"/>
                </a:cubicBezTo>
                <a:lnTo>
                  <a:pt x="22866" y="137194"/>
                </a:lnTo>
                <a:cubicBezTo>
                  <a:pt x="22866" y="149806"/>
                  <a:pt x="33120" y="160060"/>
                  <a:pt x="45731" y="160060"/>
                </a:cubicBezTo>
                <a:lnTo>
                  <a:pt x="45731" y="174351"/>
                </a:lnTo>
                <a:cubicBezTo>
                  <a:pt x="45731" y="179103"/>
                  <a:pt x="49554" y="182926"/>
                  <a:pt x="54306" y="182926"/>
                </a:cubicBezTo>
                <a:cubicBezTo>
                  <a:pt x="59058" y="182926"/>
                  <a:pt x="62881" y="179103"/>
                  <a:pt x="62881" y="174351"/>
                </a:cubicBezTo>
                <a:lnTo>
                  <a:pt x="62881" y="160060"/>
                </a:lnTo>
                <a:lnTo>
                  <a:pt x="82888" y="160060"/>
                </a:lnTo>
                <a:lnTo>
                  <a:pt x="82888" y="174351"/>
                </a:lnTo>
                <a:cubicBezTo>
                  <a:pt x="82888" y="179103"/>
                  <a:pt x="86711" y="182926"/>
                  <a:pt x="91463" y="182926"/>
                </a:cubicBezTo>
                <a:cubicBezTo>
                  <a:pt x="96215" y="182926"/>
                  <a:pt x="100038" y="179103"/>
                  <a:pt x="100038" y="174351"/>
                </a:cubicBezTo>
                <a:lnTo>
                  <a:pt x="100038" y="160060"/>
                </a:lnTo>
                <a:lnTo>
                  <a:pt x="120045" y="160060"/>
                </a:lnTo>
                <a:lnTo>
                  <a:pt x="120045" y="174351"/>
                </a:lnTo>
                <a:cubicBezTo>
                  <a:pt x="120045" y="179103"/>
                  <a:pt x="123868" y="182926"/>
                  <a:pt x="128620" y="182926"/>
                </a:cubicBezTo>
                <a:cubicBezTo>
                  <a:pt x="133371" y="182926"/>
                  <a:pt x="137194" y="179103"/>
                  <a:pt x="137194" y="174351"/>
                </a:cubicBezTo>
                <a:lnTo>
                  <a:pt x="137194" y="160060"/>
                </a:lnTo>
                <a:cubicBezTo>
                  <a:pt x="149806" y="160060"/>
                  <a:pt x="160060" y="149806"/>
                  <a:pt x="160060" y="137194"/>
                </a:cubicBezTo>
                <a:lnTo>
                  <a:pt x="174351" y="137194"/>
                </a:lnTo>
                <a:cubicBezTo>
                  <a:pt x="179103" y="137194"/>
                  <a:pt x="182926" y="133371"/>
                  <a:pt x="182926" y="128620"/>
                </a:cubicBezTo>
                <a:cubicBezTo>
                  <a:pt x="182926" y="123868"/>
                  <a:pt x="179103" y="120045"/>
                  <a:pt x="174351" y="120045"/>
                </a:cubicBezTo>
                <a:lnTo>
                  <a:pt x="160060" y="120045"/>
                </a:lnTo>
                <a:lnTo>
                  <a:pt x="160060" y="100038"/>
                </a:lnTo>
                <a:lnTo>
                  <a:pt x="174351" y="100038"/>
                </a:lnTo>
                <a:cubicBezTo>
                  <a:pt x="179103" y="100038"/>
                  <a:pt x="182926" y="96215"/>
                  <a:pt x="182926" y="91463"/>
                </a:cubicBezTo>
                <a:cubicBezTo>
                  <a:pt x="182926" y="86711"/>
                  <a:pt x="179103" y="82888"/>
                  <a:pt x="174351" y="82888"/>
                </a:cubicBezTo>
                <a:lnTo>
                  <a:pt x="160060" y="82888"/>
                </a:lnTo>
                <a:lnTo>
                  <a:pt x="160060" y="62881"/>
                </a:lnTo>
                <a:lnTo>
                  <a:pt x="174351" y="62881"/>
                </a:lnTo>
                <a:cubicBezTo>
                  <a:pt x="179103" y="62881"/>
                  <a:pt x="182926" y="59058"/>
                  <a:pt x="182926" y="54306"/>
                </a:cubicBezTo>
                <a:cubicBezTo>
                  <a:pt x="182926" y="49554"/>
                  <a:pt x="179103" y="45731"/>
                  <a:pt x="174351" y="45731"/>
                </a:cubicBezTo>
                <a:lnTo>
                  <a:pt x="160060" y="45731"/>
                </a:lnTo>
                <a:cubicBezTo>
                  <a:pt x="160060" y="33120"/>
                  <a:pt x="149806" y="22866"/>
                  <a:pt x="137194" y="22866"/>
                </a:cubicBezTo>
                <a:lnTo>
                  <a:pt x="137194" y="8575"/>
                </a:lnTo>
                <a:cubicBezTo>
                  <a:pt x="137194" y="3823"/>
                  <a:pt x="133371" y="0"/>
                  <a:pt x="128620" y="0"/>
                </a:cubicBezTo>
                <a:cubicBezTo>
                  <a:pt x="123868" y="0"/>
                  <a:pt x="120045" y="3823"/>
                  <a:pt x="120045" y="8575"/>
                </a:cubicBezTo>
                <a:lnTo>
                  <a:pt x="120045" y="22866"/>
                </a:lnTo>
                <a:lnTo>
                  <a:pt x="100038" y="22866"/>
                </a:lnTo>
                <a:lnTo>
                  <a:pt x="100038" y="8575"/>
                </a:lnTo>
                <a:cubicBezTo>
                  <a:pt x="100038" y="3823"/>
                  <a:pt x="96215" y="0"/>
                  <a:pt x="91463" y="0"/>
                </a:cubicBezTo>
                <a:cubicBezTo>
                  <a:pt x="86711" y="0"/>
                  <a:pt x="82888" y="3823"/>
                  <a:pt x="82888" y="8575"/>
                </a:cubicBezTo>
                <a:lnTo>
                  <a:pt x="82888" y="22866"/>
                </a:lnTo>
                <a:lnTo>
                  <a:pt x="62881" y="22866"/>
                </a:lnTo>
                <a:lnTo>
                  <a:pt x="62881" y="8575"/>
                </a:lnTo>
                <a:close/>
                <a:moveTo>
                  <a:pt x="57164" y="45731"/>
                </a:moveTo>
                <a:lnTo>
                  <a:pt x="125761" y="45731"/>
                </a:lnTo>
                <a:cubicBezTo>
                  <a:pt x="132085" y="45731"/>
                  <a:pt x="137194" y="50840"/>
                  <a:pt x="137194" y="57164"/>
                </a:cubicBezTo>
                <a:lnTo>
                  <a:pt x="137194" y="125761"/>
                </a:lnTo>
                <a:cubicBezTo>
                  <a:pt x="137194" y="132085"/>
                  <a:pt x="132085" y="137194"/>
                  <a:pt x="125761" y="137194"/>
                </a:cubicBezTo>
                <a:lnTo>
                  <a:pt x="57164" y="137194"/>
                </a:lnTo>
                <a:cubicBezTo>
                  <a:pt x="50840" y="137194"/>
                  <a:pt x="45731" y="132085"/>
                  <a:pt x="45731" y="125761"/>
                </a:cubicBezTo>
                <a:lnTo>
                  <a:pt x="45731" y="57164"/>
                </a:lnTo>
                <a:cubicBezTo>
                  <a:pt x="45731" y="50840"/>
                  <a:pt x="50840" y="45731"/>
                  <a:pt x="57164" y="45731"/>
                </a:cubicBezTo>
                <a:close/>
                <a:moveTo>
                  <a:pt x="62881" y="62881"/>
                </a:moveTo>
                <a:lnTo>
                  <a:pt x="62881" y="120045"/>
                </a:lnTo>
                <a:lnTo>
                  <a:pt x="120045" y="120045"/>
                </a:lnTo>
                <a:lnTo>
                  <a:pt x="120045" y="62881"/>
                </a:lnTo>
                <a:lnTo>
                  <a:pt x="62881" y="62881"/>
                </a:lnTo>
                <a:close/>
              </a:path>
            </a:pathLst>
          </a:custGeom>
          <a:solidFill>
            <a:srgbClr val="FFD54F"/>
          </a:solidFill>
          <a:ln/>
        </p:spPr>
      </p:sp>
      <p:sp>
        <p:nvSpPr>
          <p:cNvPr id="15" name="Text 13"/>
          <p:cNvSpPr/>
          <p:nvPr/>
        </p:nvSpPr>
        <p:spPr>
          <a:xfrm>
            <a:off x="3988353" y="3576198"/>
            <a:ext cx="1262188" cy="256096"/>
          </a:xfrm>
          <a:prstGeom prst="rect">
            <a:avLst/>
          </a:prstGeom>
          <a:noFill/>
          <a:ln/>
        </p:spPr>
        <p:txBody>
          <a:bodyPr wrap="square" lIns="0" tIns="0" rIns="0" bIns="0" rtlCol="0" anchor="ctr"/>
          <a:lstStyle/>
          <a:p>
            <a:pPr>
              <a:lnSpc>
                <a:spcPct val="130000"/>
              </a:lnSpc>
            </a:pPr>
            <a:r>
              <a:rPr lang="en-US" sz="1296" b="1" dirty="0">
                <a:solidFill>
                  <a:srgbClr val="ECEFF1"/>
                </a:solidFill>
                <a:latin typeface="Liter" pitchFamily="34" charset="0"/>
                <a:ea typeface="Liter" pitchFamily="34" charset="-122"/>
                <a:cs typeface="Liter" pitchFamily="34" charset="-120"/>
              </a:rPr>
              <a:t>Artificial Neuron</a:t>
            </a:r>
            <a:endParaRPr lang="en-US" sz="1600" dirty="0"/>
          </a:p>
        </p:txBody>
      </p:sp>
      <p:sp>
        <p:nvSpPr>
          <p:cNvPr id="16" name="Text 14"/>
          <p:cNvSpPr/>
          <p:nvPr/>
        </p:nvSpPr>
        <p:spPr>
          <a:xfrm>
            <a:off x="3686525" y="3905464"/>
            <a:ext cx="2771325" cy="182926"/>
          </a:xfrm>
          <a:prstGeom prst="rect">
            <a:avLst/>
          </a:prstGeom>
          <a:noFill/>
          <a:ln/>
        </p:spPr>
        <p:txBody>
          <a:bodyPr wrap="square" lIns="0" tIns="0" rIns="0" bIns="0" rtlCol="0" anchor="ctr"/>
          <a:lstStyle/>
          <a:p>
            <a:pPr>
              <a:lnSpc>
                <a:spcPct val="120000"/>
              </a:lnSpc>
            </a:pPr>
            <a:r>
              <a:rPr lang="en-US" sz="1008" dirty="0">
                <a:solidFill>
                  <a:srgbClr val="78909C"/>
                </a:solidFill>
                <a:latin typeface="Quattrocento Sans" pitchFamily="34" charset="0"/>
                <a:ea typeface="Quattrocento Sans" pitchFamily="34" charset="-122"/>
                <a:cs typeface="Quattrocento Sans" pitchFamily="34" charset="-120"/>
              </a:rPr>
              <a:t>Neuroni Artificial</a:t>
            </a:r>
            <a:endParaRPr lang="en-US" sz="1600" dirty="0"/>
          </a:p>
        </p:txBody>
      </p:sp>
      <p:sp>
        <p:nvSpPr>
          <p:cNvPr id="17" name="Text 15"/>
          <p:cNvSpPr/>
          <p:nvPr/>
        </p:nvSpPr>
        <p:spPr>
          <a:xfrm>
            <a:off x="3686525" y="4161560"/>
            <a:ext cx="2771325" cy="365851"/>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Inputs → Weights → Sum → Activation → Output</a:t>
            </a:r>
            <a:endParaRPr lang="en-US" sz="1600" dirty="0"/>
          </a:p>
        </p:txBody>
      </p:sp>
      <p:sp>
        <p:nvSpPr>
          <p:cNvPr id="18" name="Shape 16"/>
          <p:cNvSpPr/>
          <p:nvPr/>
        </p:nvSpPr>
        <p:spPr>
          <a:xfrm>
            <a:off x="365851" y="4829239"/>
            <a:ext cx="6182890" cy="1609746"/>
          </a:xfrm>
          <a:custGeom>
            <a:avLst/>
            <a:gdLst/>
            <a:ahLst/>
            <a:cxnLst/>
            <a:rect l="l" t="t" r="r" b="b"/>
            <a:pathLst>
              <a:path w="6182890" h="1609746">
                <a:moveTo>
                  <a:pt x="73163" y="0"/>
                </a:moveTo>
                <a:lnTo>
                  <a:pt x="6109727" y="0"/>
                </a:lnTo>
                <a:cubicBezTo>
                  <a:pt x="6150134" y="0"/>
                  <a:pt x="6182890" y="32756"/>
                  <a:pt x="6182890" y="73163"/>
                </a:cubicBezTo>
                <a:lnTo>
                  <a:pt x="6182890" y="1536583"/>
                </a:lnTo>
                <a:cubicBezTo>
                  <a:pt x="6182890" y="1576990"/>
                  <a:pt x="6150134" y="1609746"/>
                  <a:pt x="6109727" y="1609746"/>
                </a:cubicBezTo>
                <a:lnTo>
                  <a:pt x="73163" y="1609746"/>
                </a:lnTo>
                <a:cubicBezTo>
                  <a:pt x="32756" y="1609746"/>
                  <a:pt x="0" y="1576990"/>
                  <a:pt x="0" y="1536583"/>
                </a:cubicBezTo>
                <a:lnTo>
                  <a:pt x="0" y="73163"/>
                </a:lnTo>
                <a:cubicBezTo>
                  <a:pt x="0" y="32783"/>
                  <a:pt x="32783" y="0"/>
                  <a:pt x="73163" y="0"/>
                </a:cubicBezTo>
                <a:close/>
              </a:path>
            </a:pathLst>
          </a:custGeom>
          <a:solidFill>
            <a:srgbClr val="78909C">
              <a:alpha val="10196"/>
            </a:srgbClr>
          </a:solidFill>
          <a:ln/>
        </p:spPr>
        <p:txBody>
          <a:bodyPr/>
          <a:lstStyle/>
          <a:p>
            <a:endParaRPr lang="en-AI" dirty="0"/>
          </a:p>
        </p:txBody>
      </p:sp>
      <p:sp>
        <p:nvSpPr>
          <p:cNvPr id="19" name="Text 17"/>
          <p:cNvSpPr/>
          <p:nvPr/>
        </p:nvSpPr>
        <p:spPr>
          <a:xfrm>
            <a:off x="512192" y="4975580"/>
            <a:ext cx="5972525" cy="256096"/>
          </a:xfrm>
          <a:prstGeom prst="rect">
            <a:avLst/>
          </a:prstGeom>
          <a:noFill/>
          <a:ln/>
        </p:spPr>
        <p:txBody>
          <a:bodyPr wrap="square" lIns="0" tIns="0" rIns="0" bIns="0" rtlCol="0" anchor="ctr"/>
          <a:lstStyle/>
          <a:p>
            <a:pPr>
              <a:lnSpc>
                <a:spcPct val="130000"/>
              </a:lnSpc>
            </a:pPr>
            <a:r>
              <a:rPr lang="en-US" sz="1296" b="1" dirty="0">
                <a:solidFill>
                  <a:srgbClr val="ECEFF1"/>
                </a:solidFill>
                <a:latin typeface="Liter" pitchFamily="34" charset="0"/>
                <a:ea typeface="Liter" pitchFamily="34" charset="-122"/>
                <a:cs typeface="Liter" pitchFamily="34" charset="-120"/>
              </a:rPr>
              <a:t>Historical Milestones | Piketa Historike</a:t>
            </a:r>
            <a:endParaRPr lang="en-US" sz="1600" dirty="0"/>
          </a:p>
        </p:txBody>
      </p:sp>
      <p:sp>
        <p:nvSpPr>
          <p:cNvPr id="20" name="Text 18"/>
          <p:cNvSpPr/>
          <p:nvPr/>
        </p:nvSpPr>
        <p:spPr>
          <a:xfrm>
            <a:off x="512192" y="5341431"/>
            <a:ext cx="795727" cy="182926"/>
          </a:xfrm>
          <a:prstGeom prst="rect">
            <a:avLst/>
          </a:prstGeom>
          <a:noFill/>
          <a:ln/>
        </p:spPr>
        <p:txBody>
          <a:bodyPr wrap="square" lIns="0" tIns="0" rIns="0" bIns="0" rtlCol="0" anchor="ctr"/>
          <a:lstStyle/>
          <a:p>
            <a:pPr>
              <a:lnSpc>
                <a:spcPct val="120000"/>
              </a:lnSpc>
            </a:pPr>
            <a:r>
              <a:rPr lang="en-US" sz="1008" b="1" dirty="0">
                <a:solidFill>
                  <a:srgbClr val="4DB6AC"/>
                </a:solidFill>
                <a:latin typeface="Quattrocento Sans" pitchFamily="34" charset="0"/>
                <a:ea typeface="Quattrocento Sans" pitchFamily="34" charset="-122"/>
                <a:cs typeface="Quattrocento Sans" pitchFamily="34" charset="-120"/>
              </a:rPr>
              <a:t>1943</a:t>
            </a:r>
            <a:endParaRPr lang="en-US" sz="1600" dirty="0"/>
          </a:p>
        </p:txBody>
      </p:sp>
      <p:sp>
        <p:nvSpPr>
          <p:cNvPr id="21" name="Text 19"/>
          <p:cNvSpPr/>
          <p:nvPr/>
        </p:nvSpPr>
        <p:spPr>
          <a:xfrm>
            <a:off x="1353650" y="5341431"/>
            <a:ext cx="1399382" cy="182926"/>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McCulloch-Pitts Neuron</a:t>
            </a:r>
            <a:endParaRPr lang="en-US" sz="1600" dirty="0"/>
          </a:p>
        </p:txBody>
      </p:sp>
      <p:sp>
        <p:nvSpPr>
          <p:cNvPr id="22" name="Text 20"/>
          <p:cNvSpPr/>
          <p:nvPr/>
        </p:nvSpPr>
        <p:spPr>
          <a:xfrm>
            <a:off x="512192" y="5597527"/>
            <a:ext cx="795727" cy="182926"/>
          </a:xfrm>
          <a:prstGeom prst="rect">
            <a:avLst/>
          </a:prstGeom>
          <a:noFill/>
          <a:ln/>
        </p:spPr>
        <p:txBody>
          <a:bodyPr wrap="square" lIns="0" tIns="0" rIns="0" bIns="0" rtlCol="0" anchor="ctr"/>
          <a:lstStyle/>
          <a:p>
            <a:pPr>
              <a:lnSpc>
                <a:spcPct val="120000"/>
              </a:lnSpc>
            </a:pPr>
            <a:r>
              <a:rPr lang="en-US" sz="1008" b="1" dirty="0">
                <a:solidFill>
                  <a:srgbClr val="4DB6AC"/>
                </a:solidFill>
                <a:latin typeface="Quattrocento Sans" pitchFamily="34" charset="0"/>
                <a:ea typeface="Quattrocento Sans" pitchFamily="34" charset="-122"/>
                <a:cs typeface="Quattrocento Sans" pitchFamily="34" charset="-120"/>
              </a:rPr>
              <a:t>1958</a:t>
            </a:r>
            <a:endParaRPr lang="en-US" sz="1600" dirty="0"/>
          </a:p>
        </p:txBody>
      </p:sp>
      <p:sp>
        <p:nvSpPr>
          <p:cNvPr id="23" name="Text 21"/>
          <p:cNvSpPr/>
          <p:nvPr/>
        </p:nvSpPr>
        <p:spPr>
          <a:xfrm>
            <a:off x="1353650" y="5597527"/>
            <a:ext cx="1371943" cy="182926"/>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Perceptron (Rosenblatt)</a:t>
            </a:r>
            <a:endParaRPr lang="en-US" sz="1600" dirty="0"/>
          </a:p>
        </p:txBody>
      </p:sp>
      <p:sp>
        <p:nvSpPr>
          <p:cNvPr id="24" name="Text 22"/>
          <p:cNvSpPr/>
          <p:nvPr/>
        </p:nvSpPr>
        <p:spPr>
          <a:xfrm>
            <a:off x="512192" y="5853623"/>
            <a:ext cx="795727" cy="182926"/>
          </a:xfrm>
          <a:prstGeom prst="rect">
            <a:avLst/>
          </a:prstGeom>
          <a:noFill/>
          <a:ln/>
        </p:spPr>
        <p:txBody>
          <a:bodyPr wrap="square" lIns="0" tIns="0" rIns="0" bIns="0" rtlCol="0" anchor="ctr"/>
          <a:lstStyle/>
          <a:p>
            <a:pPr>
              <a:lnSpc>
                <a:spcPct val="120000"/>
              </a:lnSpc>
            </a:pPr>
            <a:r>
              <a:rPr lang="en-US" sz="1008" b="1" dirty="0">
                <a:solidFill>
                  <a:srgbClr val="4DB6AC"/>
                </a:solidFill>
                <a:latin typeface="Quattrocento Sans" pitchFamily="34" charset="0"/>
                <a:ea typeface="Quattrocento Sans" pitchFamily="34" charset="-122"/>
                <a:cs typeface="Quattrocento Sans" pitchFamily="34" charset="-120"/>
              </a:rPr>
              <a:t>1986</a:t>
            </a:r>
            <a:endParaRPr lang="en-US" sz="1600" dirty="0"/>
          </a:p>
        </p:txBody>
      </p:sp>
      <p:sp>
        <p:nvSpPr>
          <p:cNvPr id="25" name="Text 23"/>
          <p:cNvSpPr/>
          <p:nvPr/>
        </p:nvSpPr>
        <p:spPr>
          <a:xfrm>
            <a:off x="1353650" y="5853623"/>
            <a:ext cx="1673770" cy="182926"/>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Backpropagation (Rumelhart)</a:t>
            </a:r>
            <a:endParaRPr lang="en-US" sz="1600" dirty="0"/>
          </a:p>
        </p:txBody>
      </p:sp>
      <p:sp>
        <p:nvSpPr>
          <p:cNvPr id="26" name="Text 24"/>
          <p:cNvSpPr/>
          <p:nvPr/>
        </p:nvSpPr>
        <p:spPr>
          <a:xfrm>
            <a:off x="512192" y="6109719"/>
            <a:ext cx="795727" cy="182926"/>
          </a:xfrm>
          <a:prstGeom prst="rect">
            <a:avLst/>
          </a:prstGeom>
          <a:noFill/>
          <a:ln/>
        </p:spPr>
        <p:txBody>
          <a:bodyPr wrap="square" lIns="0" tIns="0" rIns="0" bIns="0" rtlCol="0" anchor="ctr"/>
          <a:lstStyle/>
          <a:p>
            <a:pPr>
              <a:lnSpc>
                <a:spcPct val="120000"/>
              </a:lnSpc>
            </a:pPr>
            <a:r>
              <a:rPr lang="en-US" sz="1008" b="1" dirty="0">
                <a:solidFill>
                  <a:srgbClr val="FFD54F"/>
                </a:solidFill>
                <a:latin typeface="Quattrocento Sans" pitchFamily="34" charset="0"/>
                <a:ea typeface="Quattrocento Sans" pitchFamily="34" charset="-122"/>
                <a:cs typeface="Quattrocento Sans" pitchFamily="34" charset="-120"/>
              </a:rPr>
              <a:t>2012</a:t>
            </a:r>
            <a:endParaRPr lang="en-US" sz="1600" dirty="0"/>
          </a:p>
        </p:txBody>
      </p:sp>
      <p:sp>
        <p:nvSpPr>
          <p:cNvPr id="27" name="Text 25"/>
          <p:cNvSpPr/>
          <p:nvPr/>
        </p:nvSpPr>
        <p:spPr>
          <a:xfrm>
            <a:off x="1353650" y="6109719"/>
            <a:ext cx="2039622" cy="182926"/>
          </a:xfrm>
          <a:prstGeom prst="rect">
            <a:avLst/>
          </a:prstGeom>
          <a:noFill/>
          <a:ln/>
        </p:spPr>
        <p:txBody>
          <a:bodyPr wrap="square" lIns="0" tIns="0" rIns="0" bIns="0" rtlCol="0" anchor="ctr"/>
          <a:lstStyle/>
          <a:p>
            <a:pPr>
              <a:lnSpc>
                <a:spcPct val="120000"/>
              </a:lnSpc>
            </a:pPr>
            <a:r>
              <a:rPr lang="en-US" sz="1008" dirty="0">
                <a:solidFill>
                  <a:srgbClr val="ECEFF1"/>
                </a:solidFill>
                <a:latin typeface="Quattrocento Sans" pitchFamily="34" charset="0"/>
                <a:ea typeface="Quattrocento Sans" pitchFamily="34" charset="-122"/>
                <a:cs typeface="Quattrocento Sans" pitchFamily="34" charset="-120"/>
              </a:rPr>
              <a:t>Deep Learning Revolution (AlexNet)</a:t>
            </a:r>
            <a:endParaRPr lang="en-US" sz="1600" dirty="0"/>
          </a:p>
        </p:txBody>
      </p:sp>
      <p:sp>
        <p:nvSpPr>
          <p:cNvPr id="28" name="Shape 26"/>
          <p:cNvSpPr/>
          <p:nvPr/>
        </p:nvSpPr>
        <p:spPr>
          <a:xfrm>
            <a:off x="6769395" y="1243895"/>
            <a:ext cx="5057896" cy="3914611"/>
          </a:xfrm>
          <a:custGeom>
            <a:avLst/>
            <a:gdLst/>
            <a:ahLst/>
            <a:cxnLst/>
            <a:rect l="l" t="t" r="r" b="b"/>
            <a:pathLst>
              <a:path w="5057896" h="3914611">
                <a:moveTo>
                  <a:pt x="73164" y="0"/>
                </a:moveTo>
                <a:lnTo>
                  <a:pt x="4984732" y="0"/>
                </a:lnTo>
                <a:cubicBezTo>
                  <a:pt x="5025140" y="0"/>
                  <a:pt x="5057896" y="32757"/>
                  <a:pt x="5057896" y="73164"/>
                </a:cubicBezTo>
                <a:lnTo>
                  <a:pt x="5057896" y="3841447"/>
                </a:lnTo>
                <a:cubicBezTo>
                  <a:pt x="5057896" y="3881854"/>
                  <a:pt x="5025140" y="3914611"/>
                  <a:pt x="4984732" y="3914611"/>
                </a:cubicBezTo>
                <a:lnTo>
                  <a:pt x="73164" y="3914611"/>
                </a:lnTo>
                <a:cubicBezTo>
                  <a:pt x="32757" y="3914611"/>
                  <a:pt x="0" y="3881854"/>
                  <a:pt x="0" y="3841447"/>
                </a:cubicBezTo>
                <a:lnTo>
                  <a:pt x="0" y="73164"/>
                </a:lnTo>
                <a:cubicBezTo>
                  <a:pt x="0" y="32784"/>
                  <a:pt x="32784" y="0"/>
                  <a:pt x="73164" y="0"/>
                </a:cubicBezTo>
                <a:close/>
              </a:path>
            </a:pathLst>
          </a:custGeom>
          <a:solidFill>
            <a:srgbClr val="4DB6AC">
              <a:alpha val="10196"/>
            </a:srgbClr>
          </a:solidFill>
          <a:ln/>
        </p:spPr>
      </p:sp>
      <p:sp>
        <p:nvSpPr>
          <p:cNvPr id="29" name="Text 27"/>
          <p:cNvSpPr/>
          <p:nvPr/>
        </p:nvSpPr>
        <p:spPr>
          <a:xfrm>
            <a:off x="6874578" y="1390236"/>
            <a:ext cx="4847532" cy="256096"/>
          </a:xfrm>
          <a:prstGeom prst="rect">
            <a:avLst/>
          </a:prstGeom>
          <a:noFill/>
          <a:ln/>
        </p:spPr>
        <p:txBody>
          <a:bodyPr wrap="square" lIns="0" tIns="0" rIns="0" bIns="0" rtlCol="0" anchor="ctr"/>
          <a:lstStyle/>
          <a:p>
            <a:pPr algn="ctr">
              <a:lnSpc>
                <a:spcPct val="130000"/>
              </a:lnSpc>
            </a:pPr>
            <a:r>
              <a:rPr lang="en-US" sz="1296" b="1" dirty="0">
                <a:solidFill>
                  <a:srgbClr val="ECEFF1"/>
                </a:solidFill>
                <a:latin typeface="Liter" pitchFamily="34" charset="0"/>
                <a:ea typeface="Liter" pitchFamily="34" charset="-122"/>
                <a:cs typeface="Liter" pitchFamily="34" charset="-120"/>
              </a:rPr>
              <a:t>Artificial Neuron Structure</a:t>
            </a:r>
            <a:endParaRPr lang="en-US" sz="1600" dirty="0"/>
          </a:p>
        </p:txBody>
      </p:sp>
      <p:sp>
        <p:nvSpPr>
          <p:cNvPr id="30" name="Shape 28"/>
          <p:cNvSpPr/>
          <p:nvPr/>
        </p:nvSpPr>
        <p:spPr>
          <a:xfrm>
            <a:off x="6915736" y="1756087"/>
            <a:ext cx="365851" cy="365851"/>
          </a:xfrm>
          <a:custGeom>
            <a:avLst/>
            <a:gdLst/>
            <a:ahLst/>
            <a:cxnLst/>
            <a:rect l="l" t="t" r="r" b="b"/>
            <a:pathLst>
              <a:path w="365851" h="365851">
                <a:moveTo>
                  <a:pt x="182926" y="0"/>
                </a:moveTo>
                <a:lnTo>
                  <a:pt x="182926" y="0"/>
                </a:lnTo>
                <a:cubicBezTo>
                  <a:pt x="283885" y="0"/>
                  <a:pt x="365851" y="81966"/>
                  <a:pt x="365851" y="182926"/>
                </a:cubicBezTo>
                <a:lnTo>
                  <a:pt x="365851" y="182926"/>
                </a:lnTo>
                <a:cubicBezTo>
                  <a:pt x="365851" y="283885"/>
                  <a:pt x="283885" y="365851"/>
                  <a:pt x="182926" y="365851"/>
                </a:cubicBezTo>
                <a:lnTo>
                  <a:pt x="182926" y="365851"/>
                </a:lnTo>
                <a:cubicBezTo>
                  <a:pt x="81966" y="365851"/>
                  <a:pt x="0" y="283885"/>
                  <a:pt x="0" y="182926"/>
                </a:cubicBezTo>
                <a:lnTo>
                  <a:pt x="0" y="182926"/>
                </a:lnTo>
                <a:cubicBezTo>
                  <a:pt x="0" y="81966"/>
                  <a:pt x="81966" y="0"/>
                  <a:pt x="182926" y="0"/>
                </a:cubicBezTo>
                <a:close/>
              </a:path>
            </a:pathLst>
          </a:custGeom>
          <a:solidFill>
            <a:srgbClr val="4DB6AC"/>
          </a:solidFill>
          <a:ln/>
        </p:spPr>
      </p:sp>
      <p:sp>
        <p:nvSpPr>
          <p:cNvPr id="31" name="Text 29"/>
          <p:cNvSpPr/>
          <p:nvPr/>
        </p:nvSpPr>
        <p:spPr>
          <a:xfrm>
            <a:off x="6879151" y="1756087"/>
            <a:ext cx="439022" cy="365851"/>
          </a:xfrm>
          <a:prstGeom prst="rect">
            <a:avLst/>
          </a:prstGeom>
          <a:noFill/>
          <a:ln/>
        </p:spPr>
        <p:txBody>
          <a:bodyPr wrap="square" lIns="0" tIns="0" rIns="0" bIns="0" rtlCol="0" anchor="ctr"/>
          <a:lstStyle/>
          <a:p>
            <a:pPr algn="ct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x₁</a:t>
            </a:r>
            <a:endParaRPr lang="en-US" sz="1600" dirty="0"/>
          </a:p>
        </p:txBody>
      </p:sp>
      <p:sp>
        <p:nvSpPr>
          <p:cNvPr id="32" name="Shape 30"/>
          <p:cNvSpPr/>
          <p:nvPr/>
        </p:nvSpPr>
        <p:spPr>
          <a:xfrm>
            <a:off x="7391343" y="1929866"/>
            <a:ext cx="4042659" cy="18293"/>
          </a:xfrm>
          <a:custGeom>
            <a:avLst/>
            <a:gdLst/>
            <a:ahLst/>
            <a:cxnLst/>
            <a:rect l="l" t="t" r="r" b="b"/>
            <a:pathLst>
              <a:path w="4042659" h="18293">
                <a:moveTo>
                  <a:pt x="0" y="0"/>
                </a:moveTo>
                <a:lnTo>
                  <a:pt x="4042659" y="0"/>
                </a:lnTo>
                <a:lnTo>
                  <a:pt x="4042659" y="18293"/>
                </a:lnTo>
                <a:lnTo>
                  <a:pt x="0" y="18293"/>
                </a:lnTo>
                <a:lnTo>
                  <a:pt x="0" y="0"/>
                </a:lnTo>
                <a:close/>
              </a:path>
            </a:pathLst>
          </a:custGeom>
          <a:solidFill>
            <a:srgbClr val="4DB6AC"/>
          </a:solidFill>
          <a:ln/>
        </p:spPr>
      </p:sp>
      <p:sp>
        <p:nvSpPr>
          <p:cNvPr id="33" name="Text 31"/>
          <p:cNvSpPr/>
          <p:nvPr/>
        </p:nvSpPr>
        <p:spPr>
          <a:xfrm>
            <a:off x="11544614" y="1847550"/>
            <a:ext cx="201218" cy="182926"/>
          </a:xfrm>
          <a:prstGeom prst="rect">
            <a:avLst/>
          </a:prstGeom>
          <a:noFill/>
          <a:ln/>
        </p:spPr>
        <p:txBody>
          <a:bodyPr wrap="square" lIns="0" tIns="0" rIns="0" bIns="0" rtlCol="0" anchor="ctr"/>
          <a:lstStyle/>
          <a:p>
            <a:pPr>
              <a:lnSpc>
                <a:spcPct val="120000"/>
              </a:lnSpc>
            </a:pPr>
            <a:r>
              <a:rPr lang="en-US" sz="1008" dirty="0">
                <a:solidFill>
                  <a:srgbClr val="78909C"/>
                </a:solidFill>
                <a:latin typeface="Quattrocento Sans" pitchFamily="34" charset="0"/>
                <a:ea typeface="Quattrocento Sans" pitchFamily="34" charset="-122"/>
                <a:cs typeface="Quattrocento Sans" pitchFamily="34" charset="-120"/>
              </a:rPr>
              <a:t>w₁</a:t>
            </a:r>
            <a:endParaRPr lang="en-US" sz="1600" dirty="0"/>
          </a:p>
        </p:txBody>
      </p:sp>
      <p:sp>
        <p:nvSpPr>
          <p:cNvPr id="34" name="Shape 32"/>
          <p:cNvSpPr/>
          <p:nvPr/>
        </p:nvSpPr>
        <p:spPr>
          <a:xfrm>
            <a:off x="6915736" y="2231694"/>
            <a:ext cx="365851" cy="365851"/>
          </a:xfrm>
          <a:custGeom>
            <a:avLst/>
            <a:gdLst/>
            <a:ahLst/>
            <a:cxnLst/>
            <a:rect l="l" t="t" r="r" b="b"/>
            <a:pathLst>
              <a:path w="365851" h="365851">
                <a:moveTo>
                  <a:pt x="182926" y="0"/>
                </a:moveTo>
                <a:lnTo>
                  <a:pt x="182926" y="0"/>
                </a:lnTo>
                <a:cubicBezTo>
                  <a:pt x="283885" y="0"/>
                  <a:pt x="365851" y="81966"/>
                  <a:pt x="365851" y="182926"/>
                </a:cubicBezTo>
                <a:lnTo>
                  <a:pt x="365851" y="182926"/>
                </a:lnTo>
                <a:cubicBezTo>
                  <a:pt x="365851" y="283885"/>
                  <a:pt x="283885" y="365851"/>
                  <a:pt x="182926" y="365851"/>
                </a:cubicBezTo>
                <a:lnTo>
                  <a:pt x="182926" y="365851"/>
                </a:lnTo>
                <a:cubicBezTo>
                  <a:pt x="81966" y="365851"/>
                  <a:pt x="0" y="283885"/>
                  <a:pt x="0" y="182926"/>
                </a:cubicBezTo>
                <a:lnTo>
                  <a:pt x="0" y="182926"/>
                </a:lnTo>
                <a:cubicBezTo>
                  <a:pt x="0" y="81966"/>
                  <a:pt x="81966" y="0"/>
                  <a:pt x="182926" y="0"/>
                </a:cubicBezTo>
                <a:close/>
              </a:path>
            </a:pathLst>
          </a:custGeom>
          <a:solidFill>
            <a:srgbClr val="4DB6AC"/>
          </a:solidFill>
          <a:ln/>
        </p:spPr>
      </p:sp>
      <p:sp>
        <p:nvSpPr>
          <p:cNvPr id="35" name="Text 33"/>
          <p:cNvSpPr/>
          <p:nvPr/>
        </p:nvSpPr>
        <p:spPr>
          <a:xfrm>
            <a:off x="6879151" y="2231694"/>
            <a:ext cx="439022" cy="365851"/>
          </a:xfrm>
          <a:prstGeom prst="rect">
            <a:avLst/>
          </a:prstGeom>
          <a:noFill/>
          <a:ln/>
        </p:spPr>
        <p:txBody>
          <a:bodyPr wrap="square" lIns="0" tIns="0" rIns="0" bIns="0" rtlCol="0" anchor="ctr"/>
          <a:lstStyle/>
          <a:p>
            <a:pPr algn="ct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x₂</a:t>
            </a:r>
            <a:endParaRPr lang="en-US" sz="1600" dirty="0"/>
          </a:p>
        </p:txBody>
      </p:sp>
      <p:sp>
        <p:nvSpPr>
          <p:cNvPr id="36" name="Shape 34"/>
          <p:cNvSpPr/>
          <p:nvPr/>
        </p:nvSpPr>
        <p:spPr>
          <a:xfrm>
            <a:off x="7391343" y="2405473"/>
            <a:ext cx="4033512" cy="18293"/>
          </a:xfrm>
          <a:custGeom>
            <a:avLst/>
            <a:gdLst/>
            <a:ahLst/>
            <a:cxnLst/>
            <a:rect l="l" t="t" r="r" b="b"/>
            <a:pathLst>
              <a:path w="4033512" h="18293">
                <a:moveTo>
                  <a:pt x="0" y="0"/>
                </a:moveTo>
                <a:lnTo>
                  <a:pt x="4033512" y="0"/>
                </a:lnTo>
                <a:lnTo>
                  <a:pt x="4033512" y="18293"/>
                </a:lnTo>
                <a:lnTo>
                  <a:pt x="0" y="18293"/>
                </a:lnTo>
                <a:lnTo>
                  <a:pt x="0" y="0"/>
                </a:lnTo>
                <a:close/>
              </a:path>
            </a:pathLst>
          </a:custGeom>
          <a:solidFill>
            <a:srgbClr val="4DB6AC"/>
          </a:solidFill>
          <a:ln/>
        </p:spPr>
      </p:sp>
      <p:sp>
        <p:nvSpPr>
          <p:cNvPr id="37" name="Text 35"/>
          <p:cNvSpPr/>
          <p:nvPr/>
        </p:nvSpPr>
        <p:spPr>
          <a:xfrm>
            <a:off x="11532181" y="2323157"/>
            <a:ext cx="210365" cy="182926"/>
          </a:xfrm>
          <a:prstGeom prst="rect">
            <a:avLst/>
          </a:prstGeom>
          <a:noFill/>
          <a:ln/>
        </p:spPr>
        <p:txBody>
          <a:bodyPr wrap="square" lIns="0" tIns="0" rIns="0" bIns="0" rtlCol="0" anchor="ctr"/>
          <a:lstStyle/>
          <a:p>
            <a:pPr>
              <a:lnSpc>
                <a:spcPct val="120000"/>
              </a:lnSpc>
            </a:pPr>
            <a:r>
              <a:rPr lang="en-US" sz="1008" dirty="0">
                <a:solidFill>
                  <a:srgbClr val="78909C"/>
                </a:solidFill>
                <a:latin typeface="Quattrocento Sans" pitchFamily="34" charset="0"/>
                <a:ea typeface="Quattrocento Sans" pitchFamily="34" charset="-122"/>
                <a:cs typeface="Quattrocento Sans" pitchFamily="34" charset="-120"/>
              </a:rPr>
              <a:t>w₂</a:t>
            </a:r>
            <a:endParaRPr lang="en-US" sz="1600" dirty="0"/>
          </a:p>
        </p:txBody>
      </p:sp>
      <p:sp>
        <p:nvSpPr>
          <p:cNvPr id="38" name="Shape 36"/>
          <p:cNvSpPr/>
          <p:nvPr/>
        </p:nvSpPr>
        <p:spPr>
          <a:xfrm>
            <a:off x="6915736" y="2707301"/>
            <a:ext cx="365851" cy="365851"/>
          </a:xfrm>
          <a:custGeom>
            <a:avLst/>
            <a:gdLst/>
            <a:ahLst/>
            <a:cxnLst/>
            <a:rect l="l" t="t" r="r" b="b"/>
            <a:pathLst>
              <a:path w="365851" h="365851">
                <a:moveTo>
                  <a:pt x="182926" y="0"/>
                </a:moveTo>
                <a:lnTo>
                  <a:pt x="182926" y="0"/>
                </a:lnTo>
                <a:cubicBezTo>
                  <a:pt x="283885" y="0"/>
                  <a:pt x="365851" y="81966"/>
                  <a:pt x="365851" y="182926"/>
                </a:cubicBezTo>
                <a:lnTo>
                  <a:pt x="365851" y="182926"/>
                </a:lnTo>
                <a:cubicBezTo>
                  <a:pt x="365851" y="283885"/>
                  <a:pt x="283885" y="365851"/>
                  <a:pt x="182926" y="365851"/>
                </a:cubicBezTo>
                <a:lnTo>
                  <a:pt x="182926" y="365851"/>
                </a:lnTo>
                <a:cubicBezTo>
                  <a:pt x="81966" y="365851"/>
                  <a:pt x="0" y="283885"/>
                  <a:pt x="0" y="182926"/>
                </a:cubicBezTo>
                <a:lnTo>
                  <a:pt x="0" y="182926"/>
                </a:lnTo>
                <a:cubicBezTo>
                  <a:pt x="0" y="81966"/>
                  <a:pt x="81966" y="0"/>
                  <a:pt x="182926" y="0"/>
                </a:cubicBezTo>
                <a:close/>
              </a:path>
            </a:pathLst>
          </a:custGeom>
          <a:solidFill>
            <a:srgbClr val="4DB6AC"/>
          </a:solidFill>
          <a:ln/>
        </p:spPr>
      </p:sp>
      <p:sp>
        <p:nvSpPr>
          <p:cNvPr id="39" name="Text 37"/>
          <p:cNvSpPr/>
          <p:nvPr/>
        </p:nvSpPr>
        <p:spPr>
          <a:xfrm>
            <a:off x="6879151" y="2707301"/>
            <a:ext cx="439022" cy="365851"/>
          </a:xfrm>
          <a:prstGeom prst="rect">
            <a:avLst/>
          </a:prstGeom>
          <a:noFill/>
          <a:ln/>
        </p:spPr>
        <p:txBody>
          <a:bodyPr wrap="square" lIns="0" tIns="0" rIns="0" bIns="0" rtlCol="0" anchor="ctr"/>
          <a:lstStyle/>
          <a:p>
            <a:pPr algn="ct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x₃</a:t>
            </a:r>
            <a:endParaRPr lang="en-US" sz="1600" dirty="0"/>
          </a:p>
        </p:txBody>
      </p:sp>
      <p:sp>
        <p:nvSpPr>
          <p:cNvPr id="40" name="Shape 38"/>
          <p:cNvSpPr/>
          <p:nvPr/>
        </p:nvSpPr>
        <p:spPr>
          <a:xfrm>
            <a:off x="7391343" y="2881080"/>
            <a:ext cx="4033512" cy="18293"/>
          </a:xfrm>
          <a:custGeom>
            <a:avLst/>
            <a:gdLst/>
            <a:ahLst/>
            <a:cxnLst/>
            <a:rect l="l" t="t" r="r" b="b"/>
            <a:pathLst>
              <a:path w="4033512" h="18293">
                <a:moveTo>
                  <a:pt x="0" y="0"/>
                </a:moveTo>
                <a:lnTo>
                  <a:pt x="4033512" y="0"/>
                </a:lnTo>
                <a:lnTo>
                  <a:pt x="4033512" y="18293"/>
                </a:lnTo>
                <a:lnTo>
                  <a:pt x="0" y="18293"/>
                </a:lnTo>
                <a:lnTo>
                  <a:pt x="0" y="0"/>
                </a:lnTo>
                <a:close/>
              </a:path>
            </a:pathLst>
          </a:custGeom>
          <a:solidFill>
            <a:srgbClr val="4DB6AC"/>
          </a:solidFill>
          <a:ln/>
        </p:spPr>
      </p:sp>
      <p:sp>
        <p:nvSpPr>
          <p:cNvPr id="41" name="Text 39"/>
          <p:cNvSpPr/>
          <p:nvPr/>
        </p:nvSpPr>
        <p:spPr>
          <a:xfrm>
            <a:off x="11531610" y="2798764"/>
            <a:ext cx="219511" cy="182926"/>
          </a:xfrm>
          <a:prstGeom prst="rect">
            <a:avLst/>
          </a:prstGeom>
          <a:noFill/>
          <a:ln/>
        </p:spPr>
        <p:txBody>
          <a:bodyPr wrap="square" lIns="0" tIns="0" rIns="0" bIns="0" rtlCol="0" anchor="ctr"/>
          <a:lstStyle/>
          <a:p>
            <a:pPr>
              <a:lnSpc>
                <a:spcPct val="120000"/>
              </a:lnSpc>
            </a:pPr>
            <a:r>
              <a:rPr lang="en-US" sz="1008" dirty="0">
                <a:solidFill>
                  <a:srgbClr val="78909C"/>
                </a:solidFill>
                <a:latin typeface="Quattrocento Sans" pitchFamily="34" charset="0"/>
                <a:ea typeface="Quattrocento Sans" pitchFamily="34" charset="-122"/>
                <a:cs typeface="Quattrocento Sans" pitchFamily="34" charset="-120"/>
              </a:rPr>
              <a:t>w₃</a:t>
            </a:r>
            <a:endParaRPr lang="en-US" sz="1600" dirty="0"/>
          </a:p>
        </p:txBody>
      </p:sp>
      <p:sp>
        <p:nvSpPr>
          <p:cNvPr id="42" name="Shape 40"/>
          <p:cNvSpPr/>
          <p:nvPr/>
        </p:nvSpPr>
        <p:spPr>
          <a:xfrm>
            <a:off x="8860179" y="3219493"/>
            <a:ext cx="878044" cy="878044"/>
          </a:xfrm>
          <a:custGeom>
            <a:avLst/>
            <a:gdLst/>
            <a:ahLst/>
            <a:cxnLst/>
            <a:rect l="l" t="t" r="r" b="b"/>
            <a:pathLst>
              <a:path w="878044" h="878044">
                <a:moveTo>
                  <a:pt x="439022" y="0"/>
                </a:moveTo>
                <a:lnTo>
                  <a:pt x="439022" y="0"/>
                </a:lnTo>
                <a:cubicBezTo>
                  <a:pt x="681324" y="0"/>
                  <a:pt x="878044" y="196719"/>
                  <a:pt x="878044" y="439022"/>
                </a:cubicBezTo>
                <a:lnTo>
                  <a:pt x="878044" y="439022"/>
                </a:lnTo>
                <a:cubicBezTo>
                  <a:pt x="878044" y="681324"/>
                  <a:pt x="681324" y="878044"/>
                  <a:pt x="439022" y="878044"/>
                </a:cubicBezTo>
                <a:lnTo>
                  <a:pt x="439022" y="878044"/>
                </a:lnTo>
                <a:cubicBezTo>
                  <a:pt x="196719" y="878044"/>
                  <a:pt x="0" y="681324"/>
                  <a:pt x="0" y="439022"/>
                </a:cubicBezTo>
                <a:lnTo>
                  <a:pt x="0" y="439022"/>
                </a:lnTo>
                <a:cubicBezTo>
                  <a:pt x="0" y="196719"/>
                  <a:pt x="196719" y="0"/>
                  <a:pt x="439022" y="0"/>
                </a:cubicBezTo>
                <a:close/>
              </a:path>
            </a:pathLst>
          </a:custGeom>
          <a:gradFill flip="none" rotWithShape="1">
            <a:gsLst>
              <a:gs pos="0">
                <a:srgbClr val="FFD54F"/>
              </a:gs>
              <a:gs pos="100000">
                <a:srgbClr val="4DB6AC"/>
              </a:gs>
            </a:gsLst>
            <a:lin ang="2700000" scaled="1"/>
          </a:gradFill>
          <a:ln/>
        </p:spPr>
      </p:sp>
      <p:sp>
        <p:nvSpPr>
          <p:cNvPr id="43" name="Text 41"/>
          <p:cNvSpPr/>
          <p:nvPr/>
        </p:nvSpPr>
        <p:spPr>
          <a:xfrm>
            <a:off x="8814448" y="3219493"/>
            <a:ext cx="969506" cy="878044"/>
          </a:xfrm>
          <a:prstGeom prst="rect">
            <a:avLst/>
          </a:prstGeom>
          <a:noFill/>
          <a:ln/>
        </p:spPr>
        <p:txBody>
          <a:bodyPr wrap="square" lIns="0" tIns="0" rIns="0" bIns="0" rtlCol="0" anchor="ctr"/>
          <a:lstStyle/>
          <a:p>
            <a:pPr algn="ctr">
              <a:lnSpc>
                <a:spcPct val="120000"/>
              </a:lnSpc>
            </a:pPr>
            <a:r>
              <a:rPr lang="en-US" sz="1440" b="1" dirty="0">
                <a:solidFill>
                  <a:srgbClr val="1A1D21"/>
                </a:solidFill>
                <a:latin typeface="Quattrocento Sans" pitchFamily="34" charset="0"/>
                <a:ea typeface="Quattrocento Sans" pitchFamily="34" charset="-122"/>
                <a:cs typeface="Quattrocento Sans" pitchFamily="34" charset="-120"/>
              </a:rPr>
              <a:t>Σ + b</a:t>
            </a:r>
            <a:endParaRPr lang="en-US" sz="1600" dirty="0"/>
          </a:p>
        </p:txBody>
      </p:sp>
      <p:sp>
        <p:nvSpPr>
          <p:cNvPr id="44" name="Shape 42"/>
          <p:cNvSpPr/>
          <p:nvPr/>
        </p:nvSpPr>
        <p:spPr>
          <a:xfrm>
            <a:off x="9290055" y="4243877"/>
            <a:ext cx="18293" cy="292681"/>
          </a:xfrm>
          <a:custGeom>
            <a:avLst/>
            <a:gdLst/>
            <a:ahLst/>
            <a:cxnLst/>
            <a:rect l="l" t="t" r="r" b="b"/>
            <a:pathLst>
              <a:path w="18293" h="292681">
                <a:moveTo>
                  <a:pt x="0" y="0"/>
                </a:moveTo>
                <a:lnTo>
                  <a:pt x="18293" y="0"/>
                </a:lnTo>
                <a:lnTo>
                  <a:pt x="18293" y="292681"/>
                </a:lnTo>
                <a:lnTo>
                  <a:pt x="0" y="292681"/>
                </a:lnTo>
                <a:lnTo>
                  <a:pt x="0" y="0"/>
                </a:lnTo>
                <a:close/>
              </a:path>
            </a:pathLst>
          </a:custGeom>
          <a:solidFill>
            <a:srgbClr val="FFD54F"/>
          </a:solidFill>
          <a:ln/>
        </p:spPr>
      </p:sp>
      <p:sp>
        <p:nvSpPr>
          <p:cNvPr id="45" name="Shape 43"/>
          <p:cNvSpPr/>
          <p:nvPr/>
        </p:nvSpPr>
        <p:spPr>
          <a:xfrm>
            <a:off x="8709837" y="4646314"/>
            <a:ext cx="1179871" cy="365851"/>
          </a:xfrm>
          <a:custGeom>
            <a:avLst/>
            <a:gdLst/>
            <a:ahLst/>
            <a:cxnLst/>
            <a:rect l="l" t="t" r="r" b="b"/>
            <a:pathLst>
              <a:path w="1179871" h="365851">
                <a:moveTo>
                  <a:pt x="73170" y="0"/>
                </a:moveTo>
                <a:lnTo>
                  <a:pt x="1106701" y="0"/>
                </a:lnTo>
                <a:cubicBezTo>
                  <a:pt x="1147084" y="0"/>
                  <a:pt x="1179871" y="32787"/>
                  <a:pt x="1179871" y="73170"/>
                </a:cubicBezTo>
                <a:lnTo>
                  <a:pt x="1179871" y="292681"/>
                </a:lnTo>
                <a:cubicBezTo>
                  <a:pt x="1179871" y="333065"/>
                  <a:pt x="1147084" y="365851"/>
                  <a:pt x="1106701" y="365851"/>
                </a:cubicBezTo>
                <a:lnTo>
                  <a:pt x="73170" y="365851"/>
                </a:lnTo>
                <a:cubicBezTo>
                  <a:pt x="32759" y="365851"/>
                  <a:pt x="0" y="333092"/>
                  <a:pt x="0" y="292681"/>
                </a:cubicBezTo>
                <a:lnTo>
                  <a:pt x="0" y="73170"/>
                </a:lnTo>
                <a:cubicBezTo>
                  <a:pt x="0" y="32787"/>
                  <a:pt x="32787" y="0"/>
                  <a:pt x="73170" y="0"/>
                </a:cubicBezTo>
                <a:close/>
              </a:path>
            </a:pathLst>
          </a:custGeom>
          <a:solidFill>
            <a:srgbClr val="FFD54F"/>
          </a:solidFill>
          <a:ln/>
        </p:spPr>
      </p:sp>
      <p:sp>
        <p:nvSpPr>
          <p:cNvPr id="46" name="Text 44"/>
          <p:cNvSpPr/>
          <p:nvPr/>
        </p:nvSpPr>
        <p:spPr>
          <a:xfrm>
            <a:off x="8709837" y="4646314"/>
            <a:ext cx="1253041" cy="365851"/>
          </a:xfrm>
          <a:prstGeom prst="rect">
            <a:avLst/>
          </a:prstGeom>
          <a:noFill/>
          <a:ln/>
        </p:spPr>
        <p:txBody>
          <a:bodyPr wrap="square" lIns="146341" tIns="73170" rIns="146341" bIns="73170" rtlCol="0" anchor="ctr"/>
          <a:lstStyle/>
          <a:p>
            <a:pPr>
              <a:lnSpc>
                <a:spcPct val="130000"/>
              </a:lnSpc>
            </a:pPr>
            <a:r>
              <a:rPr lang="en-US" sz="1152" b="1" dirty="0">
                <a:solidFill>
                  <a:srgbClr val="1A1D21"/>
                </a:solidFill>
                <a:latin typeface="Quattrocento Sans" pitchFamily="34" charset="0"/>
                <a:ea typeface="Quattrocento Sans" pitchFamily="34" charset="-122"/>
                <a:cs typeface="Quattrocento Sans" pitchFamily="34" charset="-120"/>
              </a:rPr>
              <a:t>f(Σ) → Output</a:t>
            </a:r>
            <a:endParaRPr lang="en-US" sz="1600" dirty="0"/>
          </a:p>
        </p:txBody>
      </p:sp>
      <p:sp>
        <p:nvSpPr>
          <p:cNvPr id="47" name="Shape 45"/>
          <p:cNvSpPr/>
          <p:nvPr/>
        </p:nvSpPr>
        <p:spPr>
          <a:xfrm>
            <a:off x="6773968" y="5309419"/>
            <a:ext cx="5048750" cy="1545722"/>
          </a:xfrm>
          <a:custGeom>
            <a:avLst/>
            <a:gdLst/>
            <a:ahLst/>
            <a:cxnLst/>
            <a:rect l="l" t="t" r="r" b="b"/>
            <a:pathLst>
              <a:path w="5048750" h="1545722">
                <a:moveTo>
                  <a:pt x="73174" y="0"/>
                </a:moveTo>
                <a:lnTo>
                  <a:pt x="4975576" y="0"/>
                </a:lnTo>
                <a:cubicBezTo>
                  <a:pt x="5015989" y="0"/>
                  <a:pt x="5048750" y="32761"/>
                  <a:pt x="5048750" y="73174"/>
                </a:cubicBezTo>
                <a:lnTo>
                  <a:pt x="5048750" y="1472548"/>
                </a:lnTo>
                <a:cubicBezTo>
                  <a:pt x="5048750" y="1512961"/>
                  <a:pt x="5015989" y="1545722"/>
                  <a:pt x="4975576" y="1545722"/>
                </a:cubicBezTo>
                <a:lnTo>
                  <a:pt x="73174" y="1545722"/>
                </a:lnTo>
                <a:cubicBezTo>
                  <a:pt x="32761" y="1545722"/>
                  <a:pt x="0" y="1512961"/>
                  <a:pt x="0" y="1472548"/>
                </a:cubicBezTo>
                <a:lnTo>
                  <a:pt x="0" y="73174"/>
                </a:lnTo>
                <a:cubicBezTo>
                  <a:pt x="0" y="32788"/>
                  <a:pt x="32788" y="0"/>
                  <a:pt x="73174" y="0"/>
                </a:cubicBezTo>
                <a:close/>
              </a:path>
            </a:pathLst>
          </a:custGeom>
          <a:solidFill>
            <a:srgbClr val="FFD54F">
              <a:alpha val="10196"/>
            </a:srgbClr>
          </a:solidFill>
          <a:ln w="12700">
            <a:solidFill>
              <a:srgbClr val="FFD54F">
                <a:alpha val="30196"/>
              </a:srgbClr>
            </a:solidFill>
            <a:prstDash val="solid"/>
          </a:ln>
        </p:spPr>
      </p:sp>
      <p:sp>
        <p:nvSpPr>
          <p:cNvPr id="48" name="Text 46"/>
          <p:cNvSpPr/>
          <p:nvPr/>
        </p:nvSpPr>
        <p:spPr>
          <a:xfrm>
            <a:off x="6924882" y="5460333"/>
            <a:ext cx="4820093" cy="219511"/>
          </a:xfrm>
          <a:prstGeom prst="rect">
            <a:avLst/>
          </a:prstGeom>
          <a:noFill/>
          <a:ln/>
        </p:spPr>
        <p:txBody>
          <a:bodyPr wrap="square" lIns="0" tIns="0" rIns="0" bIns="0" rtlCol="0" anchor="ctr"/>
          <a:lstStyle/>
          <a:p>
            <a:pPr>
              <a:lnSpc>
                <a:spcPct val="130000"/>
              </a:lnSpc>
            </a:pPr>
            <a:r>
              <a:rPr lang="en-US" sz="1152" b="1" dirty="0">
                <a:solidFill>
                  <a:srgbClr val="ECEFF1"/>
                </a:solidFill>
                <a:latin typeface="Liter" pitchFamily="34" charset="0"/>
                <a:ea typeface="Liter" pitchFamily="34" charset="-122"/>
                <a:cs typeface="Liter" pitchFamily="34" charset="-120"/>
              </a:rPr>
              <a:t>Key Characteristics</a:t>
            </a:r>
            <a:endParaRPr lang="en-US" sz="1600" dirty="0"/>
          </a:p>
        </p:txBody>
      </p:sp>
      <p:sp>
        <p:nvSpPr>
          <p:cNvPr id="49" name="Shape 47"/>
          <p:cNvSpPr/>
          <p:nvPr/>
        </p:nvSpPr>
        <p:spPr>
          <a:xfrm>
            <a:off x="6943175" y="5789599"/>
            <a:ext cx="128048" cy="128048"/>
          </a:xfrm>
          <a:custGeom>
            <a:avLst/>
            <a:gdLst/>
            <a:ahLst/>
            <a:cxnLst/>
            <a:rect l="l" t="t" r="r" b="b"/>
            <a:pathLst>
              <a:path w="128048" h="128048">
                <a:moveTo>
                  <a:pt x="64024" y="128048"/>
                </a:moveTo>
                <a:cubicBezTo>
                  <a:pt x="99360" y="128048"/>
                  <a:pt x="128048" y="99360"/>
                  <a:pt x="128048" y="64024"/>
                </a:cubicBezTo>
                <a:cubicBezTo>
                  <a:pt x="128048" y="28688"/>
                  <a:pt x="99360" y="0"/>
                  <a:pt x="64024" y="0"/>
                </a:cubicBezTo>
                <a:cubicBezTo>
                  <a:pt x="28688" y="0"/>
                  <a:pt x="0" y="28688"/>
                  <a:pt x="0" y="64024"/>
                </a:cubicBezTo>
                <a:cubicBezTo>
                  <a:pt x="0" y="99360"/>
                  <a:pt x="28688" y="128048"/>
                  <a:pt x="64024" y="128048"/>
                </a:cubicBezTo>
                <a:close/>
                <a:moveTo>
                  <a:pt x="85132" y="53195"/>
                </a:moveTo>
                <a:lnTo>
                  <a:pt x="65124" y="85207"/>
                </a:lnTo>
                <a:cubicBezTo>
                  <a:pt x="64074" y="86883"/>
                  <a:pt x="62273" y="87933"/>
                  <a:pt x="60298" y="88033"/>
                </a:cubicBezTo>
                <a:cubicBezTo>
                  <a:pt x="58322" y="88133"/>
                  <a:pt x="56421" y="87233"/>
                  <a:pt x="55246" y="85632"/>
                </a:cubicBezTo>
                <a:lnTo>
                  <a:pt x="43241" y="69626"/>
                </a:lnTo>
                <a:cubicBezTo>
                  <a:pt x="41240" y="66975"/>
                  <a:pt x="41791" y="63224"/>
                  <a:pt x="44442" y="61223"/>
                </a:cubicBezTo>
                <a:cubicBezTo>
                  <a:pt x="47093" y="59222"/>
                  <a:pt x="50844" y="59772"/>
                  <a:pt x="52845" y="62423"/>
                </a:cubicBezTo>
                <a:lnTo>
                  <a:pt x="59597" y="71427"/>
                </a:lnTo>
                <a:lnTo>
                  <a:pt x="74953" y="46843"/>
                </a:lnTo>
                <a:cubicBezTo>
                  <a:pt x="76704" y="44042"/>
                  <a:pt x="80405" y="43166"/>
                  <a:pt x="83231" y="44942"/>
                </a:cubicBezTo>
                <a:cubicBezTo>
                  <a:pt x="86057" y="46718"/>
                  <a:pt x="86908" y="50394"/>
                  <a:pt x="85132" y="53220"/>
                </a:cubicBezTo>
                <a:close/>
              </a:path>
            </a:pathLst>
          </a:custGeom>
          <a:solidFill>
            <a:srgbClr val="4DB6AC"/>
          </a:solidFill>
          <a:ln/>
        </p:spPr>
      </p:sp>
      <p:sp>
        <p:nvSpPr>
          <p:cNvPr id="50" name="Text 48"/>
          <p:cNvSpPr/>
          <p:nvPr/>
        </p:nvSpPr>
        <p:spPr>
          <a:xfrm>
            <a:off x="7158113" y="5753014"/>
            <a:ext cx="2085353" cy="182926"/>
          </a:xfrm>
          <a:prstGeom prst="rect">
            <a:avLst/>
          </a:prstGeom>
          <a:noFill/>
          <a:ln/>
        </p:spPr>
        <p:txBody>
          <a:bodyPr wrap="square" lIns="0" tIns="0" rIns="0" bIns="0" rtlCol="0" anchor="ctr"/>
          <a:lstStyle/>
          <a:p>
            <a:pPr>
              <a:lnSpc>
                <a:spcPct val="120000"/>
              </a:lnSpc>
            </a:pPr>
            <a:r>
              <a:rPr lang="en-US" sz="1008" b="1" dirty="0">
                <a:solidFill>
                  <a:srgbClr val="ECEFF1"/>
                </a:solidFill>
                <a:latin typeface="Quattrocento Sans" pitchFamily="34" charset="0"/>
                <a:ea typeface="Quattrocento Sans" pitchFamily="34" charset="-122"/>
                <a:cs typeface="Quattrocento Sans" pitchFamily="34" charset="-120"/>
              </a:rPr>
              <a:t>Parallel Processing:</a:t>
            </a:r>
            <a:r>
              <a:rPr lang="en-US" sz="1008" dirty="0">
                <a:solidFill>
                  <a:srgbClr val="ECEFF1"/>
                </a:solidFill>
                <a:latin typeface="Quattrocento Sans" pitchFamily="34" charset="0"/>
                <a:ea typeface="Quattrocento Sans" pitchFamily="34" charset="-122"/>
                <a:cs typeface="Quattrocento Sans" pitchFamily="34" charset="-120"/>
              </a:rPr>
              <a:t> Përpunim paralel</a:t>
            </a:r>
            <a:endParaRPr lang="en-US" sz="1600" dirty="0"/>
          </a:p>
        </p:txBody>
      </p:sp>
      <p:sp>
        <p:nvSpPr>
          <p:cNvPr id="51" name="Shape 49"/>
          <p:cNvSpPr/>
          <p:nvPr/>
        </p:nvSpPr>
        <p:spPr>
          <a:xfrm>
            <a:off x="6943175" y="6045695"/>
            <a:ext cx="128048" cy="128048"/>
          </a:xfrm>
          <a:custGeom>
            <a:avLst/>
            <a:gdLst/>
            <a:ahLst/>
            <a:cxnLst/>
            <a:rect l="l" t="t" r="r" b="b"/>
            <a:pathLst>
              <a:path w="128048" h="128048">
                <a:moveTo>
                  <a:pt x="64024" y="128048"/>
                </a:moveTo>
                <a:cubicBezTo>
                  <a:pt x="99360" y="128048"/>
                  <a:pt x="128048" y="99360"/>
                  <a:pt x="128048" y="64024"/>
                </a:cubicBezTo>
                <a:cubicBezTo>
                  <a:pt x="128048" y="28688"/>
                  <a:pt x="99360" y="0"/>
                  <a:pt x="64024" y="0"/>
                </a:cubicBezTo>
                <a:cubicBezTo>
                  <a:pt x="28688" y="0"/>
                  <a:pt x="0" y="28688"/>
                  <a:pt x="0" y="64024"/>
                </a:cubicBezTo>
                <a:cubicBezTo>
                  <a:pt x="0" y="99360"/>
                  <a:pt x="28688" y="128048"/>
                  <a:pt x="64024" y="128048"/>
                </a:cubicBezTo>
                <a:close/>
                <a:moveTo>
                  <a:pt x="85132" y="53195"/>
                </a:moveTo>
                <a:lnTo>
                  <a:pt x="65124" y="85207"/>
                </a:lnTo>
                <a:cubicBezTo>
                  <a:pt x="64074" y="86883"/>
                  <a:pt x="62273" y="87933"/>
                  <a:pt x="60298" y="88033"/>
                </a:cubicBezTo>
                <a:cubicBezTo>
                  <a:pt x="58322" y="88133"/>
                  <a:pt x="56421" y="87233"/>
                  <a:pt x="55246" y="85632"/>
                </a:cubicBezTo>
                <a:lnTo>
                  <a:pt x="43241" y="69626"/>
                </a:lnTo>
                <a:cubicBezTo>
                  <a:pt x="41240" y="66975"/>
                  <a:pt x="41791" y="63224"/>
                  <a:pt x="44442" y="61223"/>
                </a:cubicBezTo>
                <a:cubicBezTo>
                  <a:pt x="47093" y="59222"/>
                  <a:pt x="50844" y="59772"/>
                  <a:pt x="52845" y="62423"/>
                </a:cubicBezTo>
                <a:lnTo>
                  <a:pt x="59597" y="71427"/>
                </a:lnTo>
                <a:lnTo>
                  <a:pt x="74953" y="46843"/>
                </a:lnTo>
                <a:cubicBezTo>
                  <a:pt x="76704" y="44042"/>
                  <a:pt x="80405" y="43166"/>
                  <a:pt x="83231" y="44942"/>
                </a:cubicBezTo>
                <a:cubicBezTo>
                  <a:pt x="86057" y="46718"/>
                  <a:pt x="86908" y="50394"/>
                  <a:pt x="85132" y="53220"/>
                </a:cubicBezTo>
                <a:close/>
              </a:path>
            </a:pathLst>
          </a:custGeom>
          <a:solidFill>
            <a:srgbClr val="4DB6AC"/>
          </a:solidFill>
          <a:ln/>
        </p:spPr>
      </p:sp>
      <p:sp>
        <p:nvSpPr>
          <p:cNvPr id="52" name="Text 50"/>
          <p:cNvSpPr/>
          <p:nvPr/>
        </p:nvSpPr>
        <p:spPr>
          <a:xfrm>
            <a:off x="7158113" y="6009110"/>
            <a:ext cx="2332303" cy="182926"/>
          </a:xfrm>
          <a:prstGeom prst="rect">
            <a:avLst/>
          </a:prstGeom>
          <a:noFill/>
          <a:ln/>
        </p:spPr>
        <p:txBody>
          <a:bodyPr wrap="square" lIns="0" tIns="0" rIns="0" bIns="0" rtlCol="0" anchor="ctr"/>
          <a:lstStyle/>
          <a:p>
            <a:pPr>
              <a:lnSpc>
                <a:spcPct val="120000"/>
              </a:lnSpc>
            </a:pPr>
            <a:r>
              <a:rPr lang="en-US" sz="1008" b="1" dirty="0">
                <a:solidFill>
                  <a:srgbClr val="ECEFF1"/>
                </a:solidFill>
                <a:latin typeface="Quattrocento Sans" pitchFamily="34" charset="0"/>
                <a:ea typeface="Quattrocento Sans" pitchFamily="34" charset="-122"/>
                <a:cs typeface="Quattrocento Sans" pitchFamily="34" charset="-120"/>
              </a:rPr>
              <a:t>Learning from Data:</a:t>
            </a:r>
            <a:r>
              <a:rPr lang="en-US" sz="1008" dirty="0">
                <a:solidFill>
                  <a:srgbClr val="ECEFF1"/>
                </a:solidFill>
                <a:latin typeface="Quattrocento Sans" pitchFamily="34" charset="0"/>
                <a:ea typeface="Quattrocento Sans" pitchFamily="34" charset="-122"/>
                <a:cs typeface="Quattrocento Sans" pitchFamily="34" charset="-120"/>
              </a:rPr>
              <a:t> Mësim nga të dhënat</a:t>
            </a:r>
            <a:endParaRPr lang="en-US" sz="1600" dirty="0"/>
          </a:p>
        </p:txBody>
      </p:sp>
      <p:sp>
        <p:nvSpPr>
          <p:cNvPr id="53" name="Shape 51"/>
          <p:cNvSpPr/>
          <p:nvPr/>
        </p:nvSpPr>
        <p:spPr>
          <a:xfrm>
            <a:off x="6943175" y="6301791"/>
            <a:ext cx="128048" cy="128048"/>
          </a:xfrm>
          <a:custGeom>
            <a:avLst/>
            <a:gdLst/>
            <a:ahLst/>
            <a:cxnLst/>
            <a:rect l="l" t="t" r="r" b="b"/>
            <a:pathLst>
              <a:path w="128048" h="128048">
                <a:moveTo>
                  <a:pt x="64024" y="128048"/>
                </a:moveTo>
                <a:cubicBezTo>
                  <a:pt x="99360" y="128048"/>
                  <a:pt x="128048" y="99360"/>
                  <a:pt x="128048" y="64024"/>
                </a:cubicBezTo>
                <a:cubicBezTo>
                  <a:pt x="128048" y="28688"/>
                  <a:pt x="99360" y="0"/>
                  <a:pt x="64024" y="0"/>
                </a:cubicBezTo>
                <a:cubicBezTo>
                  <a:pt x="28688" y="0"/>
                  <a:pt x="0" y="28688"/>
                  <a:pt x="0" y="64024"/>
                </a:cubicBezTo>
                <a:cubicBezTo>
                  <a:pt x="0" y="99360"/>
                  <a:pt x="28688" y="128048"/>
                  <a:pt x="64024" y="128048"/>
                </a:cubicBezTo>
                <a:close/>
                <a:moveTo>
                  <a:pt x="85132" y="53195"/>
                </a:moveTo>
                <a:lnTo>
                  <a:pt x="65124" y="85207"/>
                </a:lnTo>
                <a:cubicBezTo>
                  <a:pt x="64074" y="86883"/>
                  <a:pt x="62273" y="87933"/>
                  <a:pt x="60298" y="88033"/>
                </a:cubicBezTo>
                <a:cubicBezTo>
                  <a:pt x="58322" y="88133"/>
                  <a:pt x="56421" y="87233"/>
                  <a:pt x="55246" y="85632"/>
                </a:cubicBezTo>
                <a:lnTo>
                  <a:pt x="43241" y="69626"/>
                </a:lnTo>
                <a:cubicBezTo>
                  <a:pt x="41240" y="66975"/>
                  <a:pt x="41791" y="63224"/>
                  <a:pt x="44442" y="61223"/>
                </a:cubicBezTo>
                <a:cubicBezTo>
                  <a:pt x="47093" y="59222"/>
                  <a:pt x="50844" y="59772"/>
                  <a:pt x="52845" y="62423"/>
                </a:cubicBezTo>
                <a:lnTo>
                  <a:pt x="59597" y="71427"/>
                </a:lnTo>
                <a:lnTo>
                  <a:pt x="74953" y="46843"/>
                </a:lnTo>
                <a:cubicBezTo>
                  <a:pt x="76704" y="44042"/>
                  <a:pt x="80405" y="43166"/>
                  <a:pt x="83231" y="44942"/>
                </a:cubicBezTo>
                <a:cubicBezTo>
                  <a:pt x="86057" y="46718"/>
                  <a:pt x="86908" y="50394"/>
                  <a:pt x="85132" y="53220"/>
                </a:cubicBezTo>
                <a:close/>
              </a:path>
            </a:pathLst>
          </a:custGeom>
          <a:solidFill>
            <a:srgbClr val="4DB6AC"/>
          </a:solidFill>
          <a:ln/>
        </p:spPr>
      </p:sp>
      <p:sp>
        <p:nvSpPr>
          <p:cNvPr id="54" name="Text 52"/>
          <p:cNvSpPr/>
          <p:nvPr/>
        </p:nvSpPr>
        <p:spPr>
          <a:xfrm>
            <a:off x="7158113" y="6265206"/>
            <a:ext cx="2359742" cy="182926"/>
          </a:xfrm>
          <a:prstGeom prst="rect">
            <a:avLst/>
          </a:prstGeom>
          <a:noFill/>
          <a:ln/>
        </p:spPr>
        <p:txBody>
          <a:bodyPr wrap="square" lIns="0" tIns="0" rIns="0" bIns="0" rtlCol="0" anchor="ctr"/>
          <a:lstStyle/>
          <a:p>
            <a:pPr>
              <a:lnSpc>
                <a:spcPct val="120000"/>
              </a:lnSpc>
            </a:pPr>
            <a:r>
              <a:rPr lang="en-US" sz="1008" b="1" dirty="0">
                <a:solidFill>
                  <a:srgbClr val="ECEFF1"/>
                </a:solidFill>
                <a:latin typeface="Quattrocento Sans" pitchFamily="34" charset="0"/>
                <a:ea typeface="Quattrocento Sans" pitchFamily="34" charset="-122"/>
                <a:cs typeface="Quattrocento Sans" pitchFamily="34" charset="-120"/>
              </a:rPr>
              <a:t>Fault Tolerance:</a:t>
            </a:r>
            <a:r>
              <a:rPr lang="en-US" sz="1008" dirty="0">
                <a:solidFill>
                  <a:srgbClr val="ECEFF1"/>
                </a:solidFill>
                <a:latin typeface="Quattrocento Sans" pitchFamily="34" charset="0"/>
                <a:ea typeface="Quattrocento Sans" pitchFamily="34" charset="-122"/>
                <a:cs typeface="Quattrocento Sans" pitchFamily="34" charset="-120"/>
              </a:rPr>
              <a:t> Tolerancë ndaj gabimeve</a:t>
            </a:r>
            <a:endParaRPr lang="en-US" sz="1600" dirty="0"/>
          </a:p>
        </p:txBody>
      </p:sp>
      <p:sp>
        <p:nvSpPr>
          <p:cNvPr id="55" name="Shape 53"/>
          <p:cNvSpPr/>
          <p:nvPr/>
        </p:nvSpPr>
        <p:spPr>
          <a:xfrm>
            <a:off x="6943175" y="6557887"/>
            <a:ext cx="128048" cy="128048"/>
          </a:xfrm>
          <a:custGeom>
            <a:avLst/>
            <a:gdLst/>
            <a:ahLst/>
            <a:cxnLst/>
            <a:rect l="l" t="t" r="r" b="b"/>
            <a:pathLst>
              <a:path w="128048" h="128048">
                <a:moveTo>
                  <a:pt x="64024" y="128048"/>
                </a:moveTo>
                <a:cubicBezTo>
                  <a:pt x="99360" y="128048"/>
                  <a:pt x="128048" y="99360"/>
                  <a:pt x="128048" y="64024"/>
                </a:cubicBezTo>
                <a:cubicBezTo>
                  <a:pt x="128048" y="28688"/>
                  <a:pt x="99360" y="0"/>
                  <a:pt x="64024" y="0"/>
                </a:cubicBezTo>
                <a:cubicBezTo>
                  <a:pt x="28688" y="0"/>
                  <a:pt x="0" y="28688"/>
                  <a:pt x="0" y="64024"/>
                </a:cubicBezTo>
                <a:cubicBezTo>
                  <a:pt x="0" y="99360"/>
                  <a:pt x="28688" y="128048"/>
                  <a:pt x="64024" y="128048"/>
                </a:cubicBezTo>
                <a:close/>
                <a:moveTo>
                  <a:pt x="85132" y="53195"/>
                </a:moveTo>
                <a:lnTo>
                  <a:pt x="65124" y="85207"/>
                </a:lnTo>
                <a:cubicBezTo>
                  <a:pt x="64074" y="86883"/>
                  <a:pt x="62273" y="87933"/>
                  <a:pt x="60298" y="88033"/>
                </a:cubicBezTo>
                <a:cubicBezTo>
                  <a:pt x="58322" y="88133"/>
                  <a:pt x="56421" y="87233"/>
                  <a:pt x="55246" y="85632"/>
                </a:cubicBezTo>
                <a:lnTo>
                  <a:pt x="43241" y="69626"/>
                </a:lnTo>
                <a:cubicBezTo>
                  <a:pt x="41240" y="66975"/>
                  <a:pt x="41791" y="63224"/>
                  <a:pt x="44442" y="61223"/>
                </a:cubicBezTo>
                <a:cubicBezTo>
                  <a:pt x="47093" y="59222"/>
                  <a:pt x="50844" y="59772"/>
                  <a:pt x="52845" y="62423"/>
                </a:cubicBezTo>
                <a:lnTo>
                  <a:pt x="59597" y="71427"/>
                </a:lnTo>
                <a:lnTo>
                  <a:pt x="74953" y="46843"/>
                </a:lnTo>
                <a:cubicBezTo>
                  <a:pt x="76704" y="44042"/>
                  <a:pt x="80405" y="43166"/>
                  <a:pt x="83231" y="44942"/>
                </a:cubicBezTo>
                <a:cubicBezTo>
                  <a:pt x="86057" y="46718"/>
                  <a:pt x="86908" y="50394"/>
                  <a:pt x="85132" y="53220"/>
                </a:cubicBezTo>
                <a:close/>
              </a:path>
            </a:pathLst>
          </a:custGeom>
          <a:solidFill>
            <a:srgbClr val="4DB6AC"/>
          </a:solidFill>
          <a:ln/>
        </p:spPr>
      </p:sp>
      <p:sp>
        <p:nvSpPr>
          <p:cNvPr id="56" name="Text 54"/>
          <p:cNvSpPr/>
          <p:nvPr/>
        </p:nvSpPr>
        <p:spPr>
          <a:xfrm>
            <a:off x="7158113" y="6521302"/>
            <a:ext cx="2121938" cy="182926"/>
          </a:xfrm>
          <a:prstGeom prst="rect">
            <a:avLst/>
          </a:prstGeom>
          <a:noFill/>
          <a:ln/>
        </p:spPr>
        <p:txBody>
          <a:bodyPr wrap="square" lIns="0" tIns="0" rIns="0" bIns="0" rtlCol="0" anchor="ctr"/>
          <a:lstStyle/>
          <a:p>
            <a:pPr>
              <a:lnSpc>
                <a:spcPct val="120000"/>
              </a:lnSpc>
            </a:pPr>
            <a:r>
              <a:rPr lang="en-US" sz="1008" b="1" dirty="0">
                <a:solidFill>
                  <a:srgbClr val="ECEFF1"/>
                </a:solidFill>
                <a:latin typeface="Quattrocento Sans" pitchFamily="34" charset="0"/>
                <a:ea typeface="Quattrocento Sans" pitchFamily="34" charset="-122"/>
                <a:cs typeface="Quattrocento Sans" pitchFamily="34" charset="-120"/>
              </a:rPr>
              <a:t>Non-linear Mapping:</a:t>
            </a:r>
            <a:r>
              <a:rPr lang="en-US" sz="1008" dirty="0">
                <a:solidFill>
                  <a:srgbClr val="ECEFF1"/>
                </a:solidFill>
                <a:latin typeface="Quattrocento Sans" pitchFamily="34" charset="0"/>
                <a:ea typeface="Quattrocento Sans" pitchFamily="34" charset="-122"/>
                <a:cs typeface="Quattrocento Sans" pitchFamily="34" charset="-120"/>
              </a:rPr>
              <a:t> Hartim jo-linear</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61780" y="361780"/>
            <a:ext cx="11631240" cy="361780"/>
          </a:xfrm>
          <a:prstGeom prst="rect">
            <a:avLst/>
          </a:prstGeom>
          <a:noFill/>
          <a:ln/>
        </p:spPr>
        <p:txBody>
          <a:bodyPr wrap="square" lIns="0" tIns="0" rIns="0" bIns="0" rtlCol="0" anchor="ctr"/>
          <a:lstStyle/>
          <a:p>
            <a:pPr>
              <a:lnSpc>
                <a:spcPct val="90000"/>
              </a:lnSpc>
            </a:pPr>
            <a:r>
              <a:rPr lang="en-US" sz="2564" b="1" dirty="0">
                <a:solidFill>
                  <a:srgbClr val="ECEFF1"/>
                </a:solidFill>
                <a:latin typeface="Liter" pitchFamily="34" charset="0"/>
                <a:ea typeface="Liter" pitchFamily="34" charset="-122"/>
                <a:cs typeface="Liter" pitchFamily="34" charset="-120"/>
              </a:rPr>
              <a:t>The Perceptron</a:t>
            </a:r>
            <a:endParaRPr lang="en-US" sz="1600" dirty="0"/>
          </a:p>
        </p:txBody>
      </p:sp>
      <p:sp>
        <p:nvSpPr>
          <p:cNvPr id="3" name="Text 1"/>
          <p:cNvSpPr/>
          <p:nvPr/>
        </p:nvSpPr>
        <p:spPr>
          <a:xfrm>
            <a:off x="361780" y="759739"/>
            <a:ext cx="11576973" cy="289424"/>
          </a:xfrm>
          <a:prstGeom prst="rect">
            <a:avLst/>
          </a:prstGeom>
          <a:noFill/>
          <a:ln/>
        </p:spPr>
        <p:txBody>
          <a:bodyPr wrap="square" lIns="0" tIns="0" rIns="0" bIns="0" rtlCol="0" anchor="ctr"/>
          <a:lstStyle/>
          <a:p>
            <a:pPr>
              <a:lnSpc>
                <a:spcPct val="110000"/>
              </a:lnSpc>
            </a:pPr>
            <a:r>
              <a:rPr lang="en-US" sz="1709" b="1" dirty="0">
                <a:solidFill>
                  <a:srgbClr val="4DB6AC"/>
                </a:solidFill>
                <a:latin typeface="Hedvig Letters Sans" pitchFamily="34" charset="0"/>
                <a:ea typeface="Hedvig Letters Sans" pitchFamily="34" charset="-122"/>
                <a:cs typeface="Hedvig Letters Sans" pitchFamily="34" charset="-120"/>
              </a:rPr>
              <a:t>Perceptroni</a:t>
            </a:r>
            <a:endParaRPr lang="en-US" sz="1600" dirty="0"/>
          </a:p>
        </p:txBody>
      </p:sp>
      <p:sp>
        <p:nvSpPr>
          <p:cNvPr id="4" name="Shape 2"/>
          <p:cNvSpPr/>
          <p:nvPr/>
        </p:nvSpPr>
        <p:spPr>
          <a:xfrm>
            <a:off x="379869" y="1121519"/>
            <a:ext cx="5643774" cy="1447122"/>
          </a:xfrm>
          <a:custGeom>
            <a:avLst/>
            <a:gdLst/>
            <a:ahLst/>
            <a:cxnLst/>
            <a:rect l="l" t="t" r="r" b="b"/>
            <a:pathLst>
              <a:path w="5643774" h="1447122">
                <a:moveTo>
                  <a:pt x="0" y="0"/>
                </a:moveTo>
                <a:lnTo>
                  <a:pt x="5571418" y="0"/>
                </a:lnTo>
                <a:cubicBezTo>
                  <a:pt x="5611380" y="0"/>
                  <a:pt x="5643774" y="32395"/>
                  <a:pt x="5643774" y="72356"/>
                </a:cubicBezTo>
                <a:lnTo>
                  <a:pt x="5643774" y="1374766"/>
                </a:lnTo>
                <a:cubicBezTo>
                  <a:pt x="5643774" y="1414727"/>
                  <a:pt x="5611380" y="1447122"/>
                  <a:pt x="5571418" y="1447122"/>
                </a:cubicBezTo>
                <a:lnTo>
                  <a:pt x="0" y="1447122"/>
                </a:lnTo>
                <a:lnTo>
                  <a:pt x="0" y="0"/>
                </a:lnTo>
                <a:close/>
              </a:path>
            </a:pathLst>
          </a:custGeom>
          <a:solidFill>
            <a:srgbClr val="4DB6AC">
              <a:alpha val="10196"/>
            </a:srgbClr>
          </a:solidFill>
          <a:ln/>
        </p:spPr>
      </p:sp>
      <p:sp>
        <p:nvSpPr>
          <p:cNvPr id="5" name="Shape 3"/>
          <p:cNvSpPr/>
          <p:nvPr/>
        </p:nvSpPr>
        <p:spPr>
          <a:xfrm>
            <a:off x="379869" y="1121519"/>
            <a:ext cx="36178" cy="1447122"/>
          </a:xfrm>
          <a:custGeom>
            <a:avLst/>
            <a:gdLst/>
            <a:ahLst/>
            <a:cxnLst/>
            <a:rect l="l" t="t" r="r" b="b"/>
            <a:pathLst>
              <a:path w="36178" h="1447122">
                <a:moveTo>
                  <a:pt x="0" y="0"/>
                </a:moveTo>
                <a:lnTo>
                  <a:pt x="36178" y="0"/>
                </a:lnTo>
                <a:lnTo>
                  <a:pt x="36178" y="1447122"/>
                </a:lnTo>
                <a:lnTo>
                  <a:pt x="0" y="1447122"/>
                </a:lnTo>
                <a:lnTo>
                  <a:pt x="0" y="0"/>
                </a:lnTo>
                <a:close/>
              </a:path>
            </a:pathLst>
          </a:custGeom>
          <a:solidFill>
            <a:srgbClr val="4DB6AC"/>
          </a:solidFill>
          <a:ln/>
        </p:spPr>
      </p:sp>
      <p:sp>
        <p:nvSpPr>
          <p:cNvPr id="6" name="Text 4"/>
          <p:cNvSpPr/>
          <p:nvPr/>
        </p:nvSpPr>
        <p:spPr>
          <a:xfrm>
            <a:off x="506493" y="1230053"/>
            <a:ext cx="5480973" cy="596938"/>
          </a:xfrm>
          <a:prstGeom prst="rect">
            <a:avLst/>
          </a:prstGeom>
          <a:noFill/>
          <a:ln/>
        </p:spPr>
        <p:txBody>
          <a:bodyPr wrap="square" lIns="0" tIns="0" rIns="0" bIns="0" rtlCol="0" anchor="ctr"/>
          <a:lstStyle/>
          <a:p>
            <a:pPr>
              <a:lnSpc>
                <a:spcPct val="110000"/>
              </a:lnSpc>
            </a:pPr>
            <a:r>
              <a:rPr lang="en-US" sz="1139" b="1" dirty="0">
                <a:solidFill>
                  <a:srgbClr val="4DB6AC"/>
                </a:solidFill>
                <a:latin typeface="Quattrocento Sans" pitchFamily="34" charset="0"/>
                <a:ea typeface="Quattrocento Sans" pitchFamily="34" charset="-122"/>
                <a:cs typeface="Quattrocento Sans" pitchFamily="34" charset="-120"/>
              </a:rPr>
              <a:t>English:</a:t>
            </a:r>
            <a:r>
              <a:rPr lang="en-US" sz="1139" dirty="0">
                <a:solidFill>
                  <a:srgbClr val="ECEFF1"/>
                </a:solidFill>
                <a:latin typeface="Quattrocento Sans" pitchFamily="34" charset="0"/>
                <a:ea typeface="Quattrocento Sans" pitchFamily="34" charset="-122"/>
                <a:cs typeface="Quattrocento Sans" pitchFamily="34" charset="-120"/>
              </a:rPr>
              <a:t> The perceptron, introduced by Frank Rosenblatt in 1958, is the simplest form of a neural network. It's a binary classifier that makes predictions based on a linear predictor function combining weights with the feature vector.</a:t>
            </a:r>
            <a:endParaRPr lang="en-US" sz="1600" dirty="0"/>
          </a:p>
        </p:txBody>
      </p:sp>
      <p:sp>
        <p:nvSpPr>
          <p:cNvPr id="7" name="Text 5"/>
          <p:cNvSpPr/>
          <p:nvPr/>
        </p:nvSpPr>
        <p:spPr>
          <a:xfrm>
            <a:off x="506493" y="1863169"/>
            <a:ext cx="5480973" cy="596938"/>
          </a:xfrm>
          <a:prstGeom prst="rect">
            <a:avLst/>
          </a:prstGeom>
          <a:noFill/>
          <a:ln/>
        </p:spPr>
        <p:txBody>
          <a:bodyPr wrap="square" lIns="0" tIns="0" rIns="0" bIns="0" rtlCol="0" anchor="ctr"/>
          <a:lstStyle/>
          <a:p>
            <a:pPr>
              <a:lnSpc>
                <a:spcPct val="110000"/>
              </a:lnSpc>
            </a:pPr>
            <a:r>
              <a:rPr lang="en-US" sz="1139" b="1" dirty="0">
                <a:solidFill>
                  <a:srgbClr val="FFD54F"/>
                </a:solidFill>
                <a:latin typeface="Quattrocento Sans" pitchFamily="34" charset="0"/>
                <a:ea typeface="Quattrocento Sans" pitchFamily="34" charset="-122"/>
                <a:cs typeface="Quattrocento Sans" pitchFamily="34" charset="-120"/>
              </a:rPr>
              <a:t>Shqip:</a:t>
            </a:r>
            <a:r>
              <a:rPr lang="en-US" sz="1139" dirty="0">
                <a:solidFill>
                  <a:srgbClr val="78909C"/>
                </a:solidFill>
                <a:latin typeface="Quattrocento Sans" pitchFamily="34" charset="0"/>
                <a:ea typeface="Quattrocento Sans" pitchFamily="34" charset="-122"/>
                <a:cs typeface="Quattrocento Sans" pitchFamily="34" charset="-120"/>
              </a:rPr>
              <a:t> Perceptroni, prezantuar nga Frank Rosenblatt në 1958, është forma më e thjeshtë e një rrjeti nervor. Është një klasifikues binar që bën parashikime bazuar në një funksion linear parashikues që kombinon peshat me vektorin e karakteristikave.</a:t>
            </a:r>
            <a:endParaRPr lang="en-US" sz="1600" dirty="0"/>
          </a:p>
        </p:txBody>
      </p:sp>
      <p:sp>
        <p:nvSpPr>
          <p:cNvPr id="8" name="Shape 6"/>
          <p:cNvSpPr/>
          <p:nvPr/>
        </p:nvSpPr>
        <p:spPr>
          <a:xfrm>
            <a:off x="366303" y="2645519"/>
            <a:ext cx="5652819" cy="2324439"/>
          </a:xfrm>
          <a:custGeom>
            <a:avLst/>
            <a:gdLst/>
            <a:ahLst/>
            <a:cxnLst/>
            <a:rect l="l" t="t" r="r" b="b"/>
            <a:pathLst>
              <a:path w="5652819" h="2324439">
                <a:moveTo>
                  <a:pt x="72360" y="0"/>
                </a:moveTo>
                <a:lnTo>
                  <a:pt x="5580459" y="0"/>
                </a:lnTo>
                <a:cubicBezTo>
                  <a:pt x="5620422" y="0"/>
                  <a:pt x="5652819" y="32397"/>
                  <a:pt x="5652819" y="72360"/>
                </a:cubicBezTo>
                <a:lnTo>
                  <a:pt x="5652819" y="2252079"/>
                </a:lnTo>
                <a:cubicBezTo>
                  <a:pt x="5652819" y="2292043"/>
                  <a:pt x="5620422" y="2324439"/>
                  <a:pt x="5580459" y="2324439"/>
                </a:cubicBezTo>
                <a:lnTo>
                  <a:pt x="72360" y="2324439"/>
                </a:lnTo>
                <a:cubicBezTo>
                  <a:pt x="32397" y="2324439"/>
                  <a:pt x="0" y="2292043"/>
                  <a:pt x="0" y="2252079"/>
                </a:cubicBezTo>
                <a:lnTo>
                  <a:pt x="0" y="72360"/>
                </a:lnTo>
                <a:cubicBezTo>
                  <a:pt x="0" y="32397"/>
                  <a:pt x="32397" y="0"/>
                  <a:pt x="72360"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79359" y="2758576"/>
            <a:ext cx="5508107" cy="253246"/>
          </a:xfrm>
          <a:prstGeom prst="rect">
            <a:avLst/>
          </a:prstGeom>
          <a:noFill/>
          <a:ln/>
        </p:spPr>
        <p:txBody>
          <a:bodyPr wrap="square" lIns="0" tIns="0" rIns="0" bIns="0" rtlCol="0" anchor="ctr"/>
          <a:lstStyle/>
          <a:p>
            <a:pPr>
              <a:lnSpc>
                <a:spcPct val="130000"/>
              </a:lnSpc>
            </a:pPr>
            <a:r>
              <a:rPr lang="en-US" sz="1282" b="1" dirty="0">
                <a:solidFill>
                  <a:srgbClr val="ECEFF1"/>
                </a:solidFill>
                <a:latin typeface="Liter" pitchFamily="34" charset="0"/>
                <a:ea typeface="Liter" pitchFamily="34" charset="-122"/>
                <a:cs typeface="Liter" pitchFamily="34" charset="-120"/>
              </a:rPr>
              <a:t>Mathematical Formulation</a:t>
            </a:r>
            <a:endParaRPr lang="en-US" sz="1600" dirty="0"/>
          </a:p>
        </p:txBody>
      </p:sp>
      <p:sp>
        <p:nvSpPr>
          <p:cNvPr id="10" name="Shape 8"/>
          <p:cNvSpPr/>
          <p:nvPr/>
        </p:nvSpPr>
        <p:spPr>
          <a:xfrm>
            <a:off x="479359" y="3084178"/>
            <a:ext cx="5426706" cy="615027"/>
          </a:xfrm>
          <a:custGeom>
            <a:avLst/>
            <a:gdLst/>
            <a:ahLst/>
            <a:cxnLst/>
            <a:rect l="l" t="t" r="r" b="b"/>
            <a:pathLst>
              <a:path w="5426706" h="615027">
                <a:moveTo>
                  <a:pt x="72358" y="0"/>
                </a:moveTo>
                <a:lnTo>
                  <a:pt x="5354348" y="0"/>
                </a:lnTo>
                <a:cubicBezTo>
                  <a:pt x="5394310" y="0"/>
                  <a:pt x="5426706" y="32396"/>
                  <a:pt x="5426706" y="72358"/>
                </a:cubicBezTo>
                <a:lnTo>
                  <a:pt x="5426706" y="542669"/>
                </a:lnTo>
                <a:cubicBezTo>
                  <a:pt x="5426706" y="582631"/>
                  <a:pt x="5394310" y="615027"/>
                  <a:pt x="5354348" y="615027"/>
                </a:cubicBezTo>
                <a:lnTo>
                  <a:pt x="72358" y="615027"/>
                </a:lnTo>
                <a:cubicBezTo>
                  <a:pt x="32396" y="615027"/>
                  <a:pt x="0" y="582631"/>
                  <a:pt x="0" y="542669"/>
                </a:cubicBezTo>
                <a:lnTo>
                  <a:pt x="0" y="72358"/>
                </a:lnTo>
                <a:cubicBezTo>
                  <a:pt x="0" y="32422"/>
                  <a:pt x="32422" y="0"/>
                  <a:pt x="72358" y="0"/>
                </a:cubicBezTo>
                <a:close/>
              </a:path>
            </a:pathLst>
          </a:custGeom>
          <a:solidFill>
            <a:srgbClr val="1A1D21"/>
          </a:solidFill>
          <a:ln/>
        </p:spPr>
      </p:sp>
      <p:sp>
        <p:nvSpPr>
          <p:cNvPr id="11" name="Text 9"/>
          <p:cNvSpPr/>
          <p:nvPr/>
        </p:nvSpPr>
        <p:spPr>
          <a:xfrm>
            <a:off x="506493" y="3156534"/>
            <a:ext cx="5372439" cy="253246"/>
          </a:xfrm>
          <a:prstGeom prst="rect">
            <a:avLst/>
          </a:prstGeom>
          <a:noFill/>
          <a:ln/>
        </p:spPr>
        <p:txBody>
          <a:bodyPr wrap="square" lIns="0" tIns="0" rIns="0" bIns="0" rtlCol="0" anchor="ctr"/>
          <a:lstStyle/>
          <a:p>
            <a:pPr algn="ctr">
              <a:lnSpc>
                <a:spcPct val="120000"/>
              </a:lnSpc>
            </a:pPr>
            <a:r>
              <a:rPr lang="en-US" sz="1424" dirty="0">
                <a:solidFill>
                  <a:srgbClr val="FFD54F"/>
                </a:solidFill>
                <a:latin typeface="Noto Sans SC" pitchFamily="34" charset="0"/>
                <a:ea typeface="Noto Sans SC" pitchFamily="34" charset="-122"/>
                <a:cs typeface="Noto Sans SC" pitchFamily="34" charset="-120"/>
              </a:rPr>
              <a:t>output = f(Σ(wᵢ × xᵢ) + b)</a:t>
            </a:r>
            <a:endParaRPr lang="en-US" sz="1600" dirty="0"/>
          </a:p>
        </p:txBody>
      </p:sp>
      <p:sp>
        <p:nvSpPr>
          <p:cNvPr id="12" name="Text 10"/>
          <p:cNvSpPr/>
          <p:nvPr/>
        </p:nvSpPr>
        <p:spPr>
          <a:xfrm>
            <a:off x="520059" y="3445958"/>
            <a:ext cx="5345306" cy="180890"/>
          </a:xfrm>
          <a:prstGeom prst="rect">
            <a:avLst/>
          </a:prstGeom>
          <a:noFill/>
          <a:ln/>
        </p:spPr>
        <p:txBody>
          <a:bodyPr wrap="square" lIns="0" tIns="0" rIns="0" bIns="0" rtlCol="0" anchor="ctr"/>
          <a:lstStyle/>
          <a:p>
            <a:pPr algn="ctr">
              <a:lnSpc>
                <a:spcPct val="120000"/>
              </a:lnSpc>
            </a:pPr>
            <a:r>
              <a:rPr lang="en-US" sz="997" dirty="0">
                <a:solidFill>
                  <a:srgbClr val="78909C"/>
                </a:solidFill>
                <a:latin typeface="Quattrocento Sans" pitchFamily="34" charset="0"/>
                <a:ea typeface="Quattrocento Sans" pitchFamily="34" charset="-122"/>
                <a:cs typeface="Quattrocento Sans" pitchFamily="34" charset="-120"/>
              </a:rPr>
              <a:t>where f is the step function</a:t>
            </a:r>
            <a:endParaRPr lang="en-US" sz="1600" dirty="0"/>
          </a:p>
        </p:txBody>
      </p:sp>
      <p:sp>
        <p:nvSpPr>
          <p:cNvPr id="13" name="Shape 11"/>
          <p:cNvSpPr/>
          <p:nvPr/>
        </p:nvSpPr>
        <p:spPr>
          <a:xfrm>
            <a:off x="479359" y="3771561"/>
            <a:ext cx="2677175" cy="506493"/>
          </a:xfrm>
          <a:custGeom>
            <a:avLst/>
            <a:gdLst/>
            <a:ahLst/>
            <a:cxnLst/>
            <a:rect l="l" t="t" r="r" b="b"/>
            <a:pathLst>
              <a:path w="2677175" h="506493">
                <a:moveTo>
                  <a:pt x="36179" y="0"/>
                </a:moveTo>
                <a:lnTo>
                  <a:pt x="2640996" y="0"/>
                </a:lnTo>
                <a:cubicBezTo>
                  <a:pt x="2660977" y="0"/>
                  <a:pt x="2677175" y="16198"/>
                  <a:pt x="2677175" y="36179"/>
                </a:cubicBezTo>
                <a:lnTo>
                  <a:pt x="2677175" y="470314"/>
                </a:lnTo>
                <a:cubicBezTo>
                  <a:pt x="2677175" y="490295"/>
                  <a:pt x="2660977" y="506493"/>
                  <a:pt x="2640996" y="506493"/>
                </a:cubicBezTo>
                <a:lnTo>
                  <a:pt x="36179" y="506493"/>
                </a:lnTo>
                <a:cubicBezTo>
                  <a:pt x="16198" y="506493"/>
                  <a:pt x="0" y="490295"/>
                  <a:pt x="0" y="470314"/>
                </a:cubicBezTo>
                <a:lnTo>
                  <a:pt x="0" y="36179"/>
                </a:lnTo>
                <a:cubicBezTo>
                  <a:pt x="0" y="16198"/>
                  <a:pt x="16198" y="0"/>
                  <a:pt x="36179" y="0"/>
                </a:cubicBezTo>
                <a:close/>
              </a:path>
            </a:pathLst>
          </a:custGeom>
          <a:solidFill>
            <a:srgbClr val="4DB6AC">
              <a:alpha val="10196"/>
            </a:srgbClr>
          </a:solidFill>
          <a:ln/>
        </p:spPr>
      </p:sp>
      <p:sp>
        <p:nvSpPr>
          <p:cNvPr id="14" name="Text 12"/>
          <p:cNvSpPr/>
          <p:nvPr/>
        </p:nvSpPr>
        <p:spPr>
          <a:xfrm>
            <a:off x="551715" y="3843917"/>
            <a:ext cx="2595774" cy="180890"/>
          </a:xfrm>
          <a:prstGeom prst="rect">
            <a:avLst/>
          </a:prstGeom>
          <a:noFill/>
          <a:ln/>
        </p:spPr>
        <p:txBody>
          <a:bodyPr wrap="square" lIns="0" tIns="0" rIns="0" bIns="0" rtlCol="0" anchor="ctr"/>
          <a:lstStyle/>
          <a:p>
            <a:pPr>
              <a:lnSpc>
                <a:spcPct val="120000"/>
              </a:lnSpc>
            </a:pPr>
            <a:r>
              <a:rPr lang="en-US" sz="997" b="1" dirty="0">
                <a:solidFill>
                  <a:srgbClr val="4DB6AC"/>
                </a:solidFill>
                <a:latin typeface="Quattrocento Sans" pitchFamily="34" charset="0"/>
                <a:ea typeface="Quattrocento Sans" pitchFamily="34" charset="-122"/>
                <a:cs typeface="Quattrocento Sans" pitchFamily="34" charset="-120"/>
              </a:rPr>
              <a:t>xᵢ</a:t>
            </a:r>
            <a:endParaRPr lang="en-US" sz="1600" dirty="0"/>
          </a:p>
        </p:txBody>
      </p:sp>
      <p:sp>
        <p:nvSpPr>
          <p:cNvPr id="15" name="Text 13"/>
          <p:cNvSpPr/>
          <p:nvPr/>
        </p:nvSpPr>
        <p:spPr>
          <a:xfrm>
            <a:off x="551715" y="4024807"/>
            <a:ext cx="2595774"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Input features</a:t>
            </a:r>
            <a:endParaRPr lang="en-US" sz="1600" dirty="0"/>
          </a:p>
        </p:txBody>
      </p:sp>
      <p:sp>
        <p:nvSpPr>
          <p:cNvPr id="16" name="Shape 14"/>
          <p:cNvSpPr/>
          <p:nvPr/>
        </p:nvSpPr>
        <p:spPr>
          <a:xfrm>
            <a:off x="3227760" y="3771561"/>
            <a:ext cx="2677175" cy="506493"/>
          </a:xfrm>
          <a:custGeom>
            <a:avLst/>
            <a:gdLst/>
            <a:ahLst/>
            <a:cxnLst/>
            <a:rect l="l" t="t" r="r" b="b"/>
            <a:pathLst>
              <a:path w="2677175" h="506493">
                <a:moveTo>
                  <a:pt x="36179" y="0"/>
                </a:moveTo>
                <a:lnTo>
                  <a:pt x="2640996" y="0"/>
                </a:lnTo>
                <a:cubicBezTo>
                  <a:pt x="2660977" y="0"/>
                  <a:pt x="2677175" y="16198"/>
                  <a:pt x="2677175" y="36179"/>
                </a:cubicBezTo>
                <a:lnTo>
                  <a:pt x="2677175" y="470314"/>
                </a:lnTo>
                <a:cubicBezTo>
                  <a:pt x="2677175" y="490295"/>
                  <a:pt x="2660977" y="506493"/>
                  <a:pt x="2640996" y="506493"/>
                </a:cubicBezTo>
                <a:lnTo>
                  <a:pt x="36179" y="506493"/>
                </a:lnTo>
                <a:cubicBezTo>
                  <a:pt x="16198" y="506493"/>
                  <a:pt x="0" y="490295"/>
                  <a:pt x="0" y="470314"/>
                </a:cubicBezTo>
                <a:lnTo>
                  <a:pt x="0" y="36179"/>
                </a:lnTo>
                <a:cubicBezTo>
                  <a:pt x="0" y="16198"/>
                  <a:pt x="16198" y="0"/>
                  <a:pt x="36179" y="0"/>
                </a:cubicBezTo>
                <a:close/>
              </a:path>
            </a:pathLst>
          </a:custGeom>
          <a:solidFill>
            <a:srgbClr val="4DB6AC">
              <a:alpha val="10196"/>
            </a:srgbClr>
          </a:solidFill>
          <a:ln/>
        </p:spPr>
      </p:sp>
      <p:sp>
        <p:nvSpPr>
          <p:cNvPr id="17" name="Text 15"/>
          <p:cNvSpPr/>
          <p:nvPr/>
        </p:nvSpPr>
        <p:spPr>
          <a:xfrm>
            <a:off x="3300116" y="3843917"/>
            <a:ext cx="2595774" cy="180890"/>
          </a:xfrm>
          <a:prstGeom prst="rect">
            <a:avLst/>
          </a:prstGeom>
          <a:noFill/>
          <a:ln/>
        </p:spPr>
        <p:txBody>
          <a:bodyPr wrap="square" lIns="0" tIns="0" rIns="0" bIns="0" rtlCol="0" anchor="ctr"/>
          <a:lstStyle/>
          <a:p>
            <a:pPr>
              <a:lnSpc>
                <a:spcPct val="120000"/>
              </a:lnSpc>
            </a:pPr>
            <a:r>
              <a:rPr lang="en-US" sz="997" b="1" dirty="0">
                <a:solidFill>
                  <a:srgbClr val="4DB6AC"/>
                </a:solidFill>
                <a:latin typeface="Quattrocento Sans" pitchFamily="34" charset="0"/>
                <a:ea typeface="Quattrocento Sans" pitchFamily="34" charset="-122"/>
                <a:cs typeface="Quattrocento Sans" pitchFamily="34" charset="-120"/>
              </a:rPr>
              <a:t>wᵢ</a:t>
            </a:r>
            <a:endParaRPr lang="en-US" sz="1600" dirty="0"/>
          </a:p>
        </p:txBody>
      </p:sp>
      <p:sp>
        <p:nvSpPr>
          <p:cNvPr id="18" name="Text 16"/>
          <p:cNvSpPr/>
          <p:nvPr/>
        </p:nvSpPr>
        <p:spPr>
          <a:xfrm>
            <a:off x="3300116" y="4024807"/>
            <a:ext cx="2595774"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Weights</a:t>
            </a:r>
            <a:endParaRPr lang="en-US" sz="1600" dirty="0"/>
          </a:p>
        </p:txBody>
      </p:sp>
      <p:sp>
        <p:nvSpPr>
          <p:cNvPr id="19" name="Shape 17"/>
          <p:cNvSpPr/>
          <p:nvPr/>
        </p:nvSpPr>
        <p:spPr>
          <a:xfrm>
            <a:off x="479359" y="4350409"/>
            <a:ext cx="2677175" cy="506493"/>
          </a:xfrm>
          <a:custGeom>
            <a:avLst/>
            <a:gdLst/>
            <a:ahLst/>
            <a:cxnLst/>
            <a:rect l="l" t="t" r="r" b="b"/>
            <a:pathLst>
              <a:path w="2677175" h="506493">
                <a:moveTo>
                  <a:pt x="36179" y="0"/>
                </a:moveTo>
                <a:lnTo>
                  <a:pt x="2640996" y="0"/>
                </a:lnTo>
                <a:cubicBezTo>
                  <a:pt x="2660977" y="0"/>
                  <a:pt x="2677175" y="16198"/>
                  <a:pt x="2677175" y="36179"/>
                </a:cubicBezTo>
                <a:lnTo>
                  <a:pt x="2677175" y="470314"/>
                </a:lnTo>
                <a:cubicBezTo>
                  <a:pt x="2677175" y="490295"/>
                  <a:pt x="2660977" y="506493"/>
                  <a:pt x="2640996" y="506493"/>
                </a:cubicBezTo>
                <a:lnTo>
                  <a:pt x="36179" y="506493"/>
                </a:lnTo>
                <a:cubicBezTo>
                  <a:pt x="16198" y="506493"/>
                  <a:pt x="0" y="490295"/>
                  <a:pt x="0" y="470314"/>
                </a:cubicBezTo>
                <a:lnTo>
                  <a:pt x="0" y="36179"/>
                </a:lnTo>
                <a:cubicBezTo>
                  <a:pt x="0" y="16198"/>
                  <a:pt x="16198" y="0"/>
                  <a:pt x="36179" y="0"/>
                </a:cubicBezTo>
                <a:close/>
              </a:path>
            </a:pathLst>
          </a:custGeom>
          <a:solidFill>
            <a:srgbClr val="FFD54F">
              <a:alpha val="10196"/>
            </a:srgbClr>
          </a:solidFill>
          <a:ln/>
        </p:spPr>
      </p:sp>
      <p:sp>
        <p:nvSpPr>
          <p:cNvPr id="20" name="Text 18"/>
          <p:cNvSpPr/>
          <p:nvPr/>
        </p:nvSpPr>
        <p:spPr>
          <a:xfrm>
            <a:off x="551715" y="4422766"/>
            <a:ext cx="2595774" cy="180890"/>
          </a:xfrm>
          <a:prstGeom prst="rect">
            <a:avLst/>
          </a:prstGeom>
          <a:noFill/>
          <a:ln/>
        </p:spPr>
        <p:txBody>
          <a:bodyPr wrap="square" lIns="0" tIns="0" rIns="0" bIns="0" rtlCol="0" anchor="ctr"/>
          <a:lstStyle/>
          <a:p>
            <a:pPr>
              <a:lnSpc>
                <a:spcPct val="120000"/>
              </a:lnSpc>
            </a:pPr>
            <a:r>
              <a:rPr lang="en-US" sz="997" b="1" dirty="0">
                <a:solidFill>
                  <a:srgbClr val="FFD54F"/>
                </a:solidFill>
                <a:latin typeface="Quattrocento Sans" pitchFamily="34" charset="0"/>
                <a:ea typeface="Quattrocento Sans" pitchFamily="34" charset="-122"/>
                <a:cs typeface="Quattrocento Sans" pitchFamily="34" charset="-120"/>
              </a:rPr>
              <a:t>b</a:t>
            </a:r>
            <a:endParaRPr lang="en-US" sz="1600" dirty="0"/>
          </a:p>
        </p:txBody>
      </p:sp>
      <p:sp>
        <p:nvSpPr>
          <p:cNvPr id="21" name="Text 19"/>
          <p:cNvSpPr/>
          <p:nvPr/>
        </p:nvSpPr>
        <p:spPr>
          <a:xfrm>
            <a:off x="551715" y="4603656"/>
            <a:ext cx="2595774"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Bias</a:t>
            </a:r>
            <a:endParaRPr lang="en-US" sz="1600" dirty="0"/>
          </a:p>
        </p:txBody>
      </p:sp>
      <p:sp>
        <p:nvSpPr>
          <p:cNvPr id="22" name="Shape 20"/>
          <p:cNvSpPr/>
          <p:nvPr/>
        </p:nvSpPr>
        <p:spPr>
          <a:xfrm>
            <a:off x="3227760" y="4350409"/>
            <a:ext cx="2677175" cy="506493"/>
          </a:xfrm>
          <a:custGeom>
            <a:avLst/>
            <a:gdLst/>
            <a:ahLst/>
            <a:cxnLst/>
            <a:rect l="l" t="t" r="r" b="b"/>
            <a:pathLst>
              <a:path w="2677175" h="506493">
                <a:moveTo>
                  <a:pt x="36179" y="0"/>
                </a:moveTo>
                <a:lnTo>
                  <a:pt x="2640996" y="0"/>
                </a:lnTo>
                <a:cubicBezTo>
                  <a:pt x="2660977" y="0"/>
                  <a:pt x="2677175" y="16198"/>
                  <a:pt x="2677175" y="36179"/>
                </a:cubicBezTo>
                <a:lnTo>
                  <a:pt x="2677175" y="470314"/>
                </a:lnTo>
                <a:cubicBezTo>
                  <a:pt x="2677175" y="490295"/>
                  <a:pt x="2660977" y="506493"/>
                  <a:pt x="2640996" y="506493"/>
                </a:cubicBezTo>
                <a:lnTo>
                  <a:pt x="36179" y="506493"/>
                </a:lnTo>
                <a:cubicBezTo>
                  <a:pt x="16198" y="506493"/>
                  <a:pt x="0" y="490295"/>
                  <a:pt x="0" y="470314"/>
                </a:cubicBezTo>
                <a:lnTo>
                  <a:pt x="0" y="36179"/>
                </a:lnTo>
                <a:cubicBezTo>
                  <a:pt x="0" y="16198"/>
                  <a:pt x="16198" y="0"/>
                  <a:pt x="36179" y="0"/>
                </a:cubicBezTo>
                <a:close/>
              </a:path>
            </a:pathLst>
          </a:custGeom>
          <a:solidFill>
            <a:srgbClr val="FFD54F">
              <a:alpha val="10196"/>
            </a:srgbClr>
          </a:solidFill>
          <a:ln/>
        </p:spPr>
      </p:sp>
      <p:sp>
        <p:nvSpPr>
          <p:cNvPr id="23" name="Text 21"/>
          <p:cNvSpPr/>
          <p:nvPr/>
        </p:nvSpPr>
        <p:spPr>
          <a:xfrm>
            <a:off x="3300116" y="4422766"/>
            <a:ext cx="2595774" cy="180890"/>
          </a:xfrm>
          <a:prstGeom prst="rect">
            <a:avLst/>
          </a:prstGeom>
          <a:noFill/>
          <a:ln/>
        </p:spPr>
        <p:txBody>
          <a:bodyPr wrap="square" lIns="0" tIns="0" rIns="0" bIns="0" rtlCol="0" anchor="ctr"/>
          <a:lstStyle/>
          <a:p>
            <a:pPr>
              <a:lnSpc>
                <a:spcPct val="120000"/>
              </a:lnSpc>
            </a:pPr>
            <a:r>
              <a:rPr lang="en-US" sz="997" b="1" dirty="0">
                <a:solidFill>
                  <a:srgbClr val="FFD54F"/>
                </a:solidFill>
                <a:latin typeface="Quattrocento Sans" pitchFamily="34" charset="0"/>
                <a:ea typeface="Quattrocento Sans" pitchFamily="34" charset="-122"/>
                <a:cs typeface="Quattrocento Sans" pitchFamily="34" charset="-120"/>
              </a:rPr>
              <a:t>f</a:t>
            </a:r>
            <a:endParaRPr lang="en-US" sz="1600" dirty="0"/>
          </a:p>
        </p:txBody>
      </p:sp>
      <p:sp>
        <p:nvSpPr>
          <p:cNvPr id="24" name="Text 22"/>
          <p:cNvSpPr/>
          <p:nvPr/>
        </p:nvSpPr>
        <p:spPr>
          <a:xfrm>
            <a:off x="3300116" y="4603656"/>
            <a:ext cx="2595774"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Activation</a:t>
            </a:r>
            <a:endParaRPr lang="en-US" sz="1600" dirty="0"/>
          </a:p>
        </p:txBody>
      </p:sp>
      <p:sp>
        <p:nvSpPr>
          <p:cNvPr id="25" name="Shape 23"/>
          <p:cNvSpPr/>
          <p:nvPr/>
        </p:nvSpPr>
        <p:spPr>
          <a:xfrm>
            <a:off x="366303" y="5051359"/>
            <a:ext cx="5652819" cy="1600878"/>
          </a:xfrm>
          <a:custGeom>
            <a:avLst/>
            <a:gdLst/>
            <a:ahLst/>
            <a:cxnLst/>
            <a:rect l="l" t="t" r="r" b="b"/>
            <a:pathLst>
              <a:path w="5652819" h="1600878">
                <a:moveTo>
                  <a:pt x="72360" y="0"/>
                </a:moveTo>
                <a:lnTo>
                  <a:pt x="5580459" y="0"/>
                </a:lnTo>
                <a:cubicBezTo>
                  <a:pt x="5620422" y="0"/>
                  <a:pt x="5652819" y="32397"/>
                  <a:pt x="5652819" y="72360"/>
                </a:cubicBezTo>
                <a:lnTo>
                  <a:pt x="5652819" y="1528519"/>
                </a:lnTo>
                <a:cubicBezTo>
                  <a:pt x="5652819" y="1568482"/>
                  <a:pt x="5620422" y="1600878"/>
                  <a:pt x="5580459" y="1600878"/>
                </a:cubicBezTo>
                <a:lnTo>
                  <a:pt x="72360" y="1600878"/>
                </a:lnTo>
                <a:cubicBezTo>
                  <a:pt x="32397" y="1600878"/>
                  <a:pt x="0" y="1568482"/>
                  <a:pt x="0" y="1528519"/>
                </a:cubicBezTo>
                <a:lnTo>
                  <a:pt x="0" y="72360"/>
                </a:lnTo>
                <a:cubicBezTo>
                  <a:pt x="0" y="32423"/>
                  <a:pt x="32423" y="0"/>
                  <a:pt x="72360" y="0"/>
                </a:cubicBezTo>
                <a:close/>
              </a:path>
            </a:pathLst>
          </a:custGeom>
          <a:solidFill>
            <a:srgbClr val="FFD54F">
              <a:alpha val="10196"/>
            </a:srgbClr>
          </a:solidFill>
          <a:ln w="12700">
            <a:solidFill>
              <a:srgbClr val="FFD54F">
                <a:alpha val="30196"/>
              </a:srgbClr>
            </a:solidFill>
            <a:prstDash val="solid"/>
          </a:ln>
        </p:spPr>
      </p:sp>
      <p:sp>
        <p:nvSpPr>
          <p:cNvPr id="26" name="Text 24"/>
          <p:cNvSpPr/>
          <p:nvPr/>
        </p:nvSpPr>
        <p:spPr>
          <a:xfrm>
            <a:off x="479359" y="5164415"/>
            <a:ext cx="5508107" cy="253246"/>
          </a:xfrm>
          <a:prstGeom prst="rect">
            <a:avLst/>
          </a:prstGeom>
          <a:noFill/>
          <a:ln/>
        </p:spPr>
        <p:txBody>
          <a:bodyPr wrap="square" lIns="0" tIns="0" rIns="0" bIns="0" rtlCol="0" anchor="ctr"/>
          <a:lstStyle/>
          <a:p>
            <a:pPr>
              <a:lnSpc>
                <a:spcPct val="130000"/>
              </a:lnSpc>
            </a:pPr>
            <a:r>
              <a:rPr lang="en-US" sz="1282" b="1" dirty="0">
                <a:solidFill>
                  <a:srgbClr val="ECEFF1"/>
                </a:solidFill>
                <a:latin typeface="Liter" pitchFamily="34" charset="0"/>
                <a:ea typeface="Liter" pitchFamily="34" charset="-122"/>
                <a:cs typeface="Liter" pitchFamily="34" charset="-120"/>
              </a:rPr>
              <a:t>Perceptron Learning Rule</a:t>
            </a:r>
            <a:endParaRPr lang="en-US" sz="1600" dirty="0"/>
          </a:p>
        </p:txBody>
      </p:sp>
      <p:sp>
        <p:nvSpPr>
          <p:cNvPr id="27" name="Text 25"/>
          <p:cNvSpPr/>
          <p:nvPr/>
        </p:nvSpPr>
        <p:spPr>
          <a:xfrm>
            <a:off x="479359" y="5490018"/>
            <a:ext cx="5490018" cy="180890"/>
          </a:xfrm>
          <a:prstGeom prst="rect">
            <a:avLst/>
          </a:prstGeom>
          <a:noFill/>
          <a:ln/>
        </p:spPr>
        <p:txBody>
          <a:bodyPr wrap="square" lIns="0" tIns="0" rIns="0" bIns="0" rtlCol="0" anchor="ctr"/>
          <a:lstStyle/>
          <a:p>
            <a:pPr>
              <a:lnSpc>
                <a:spcPct val="120000"/>
              </a:lnSpc>
            </a:pPr>
            <a:r>
              <a:rPr lang="en-US" sz="997" b="1" dirty="0">
                <a:solidFill>
                  <a:srgbClr val="4DB6AC"/>
                </a:solidFill>
                <a:latin typeface="Quattrocento Sans" pitchFamily="34" charset="0"/>
                <a:ea typeface="Quattrocento Sans" pitchFamily="34" charset="-122"/>
                <a:cs typeface="Quattrocento Sans" pitchFamily="34" charset="-120"/>
              </a:rPr>
              <a:t>1.</a:t>
            </a:r>
            <a:r>
              <a:rPr lang="en-US" sz="997" dirty="0">
                <a:solidFill>
                  <a:srgbClr val="ECEFF1"/>
                </a:solidFill>
                <a:latin typeface="Quattrocento Sans" pitchFamily="34" charset="0"/>
                <a:ea typeface="Quattrocento Sans" pitchFamily="34" charset="-122"/>
                <a:cs typeface="Quattrocento Sans" pitchFamily="34" charset="-120"/>
              </a:rPr>
              <a:t> Initialize weights randomly</a:t>
            </a:r>
            <a:endParaRPr lang="en-US" sz="1600" dirty="0"/>
          </a:p>
        </p:txBody>
      </p:sp>
      <p:sp>
        <p:nvSpPr>
          <p:cNvPr id="28" name="Text 26"/>
          <p:cNvSpPr/>
          <p:nvPr/>
        </p:nvSpPr>
        <p:spPr>
          <a:xfrm>
            <a:off x="479359" y="5707086"/>
            <a:ext cx="5490018" cy="180890"/>
          </a:xfrm>
          <a:prstGeom prst="rect">
            <a:avLst/>
          </a:prstGeom>
          <a:noFill/>
          <a:ln/>
        </p:spPr>
        <p:txBody>
          <a:bodyPr wrap="square" lIns="0" tIns="0" rIns="0" bIns="0" rtlCol="0" anchor="ctr"/>
          <a:lstStyle/>
          <a:p>
            <a:pPr>
              <a:lnSpc>
                <a:spcPct val="120000"/>
              </a:lnSpc>
            </a:pPr>
            <a:r>
              <a:rPr lang="en-US" sz="997" b="1" dirty="0">
                <a:solidFill>
                  <a:srgbClr val="4DB6AC"/>
                </a:solidFill>
                <a:latin typeface="Quattrocento Sans" pitchFamily="34" charset="0"/>
                <a:ea typeface="Quattrocento Sans" pitchFamily="34" charset="-122"/>
                <a:cs typeface="Quattrocento Sans" pitchFamily="34" charset="-120"/>
              </a:rPr>
              <a:t>2.</a:t>
            </a:r>
            <a:r>
              <a:rPr lang="en-US" sz="997" dirty="0">
                <a:solidFill>
                  <a:srgbClr val="ECEFF1"/>
                </a:solidFill>
                <a:latin typeface="Quattrocento Sans" pitchFamily="34" charset="0"/>
                <a:ea typeface="Quattrocento Sans" pitchFamily="34" charset="-122"/>
                <a:cs typeface="Quattrocento Sans" pitchFamily="34" charset="-120"/>
              </a:rPr>
              <a:t> For each training sample:</a:t>
            </a:r>
            <a:endParaRPr lang="en-US" sz="1600" dirty="0"/>
          </a:p>
        </p:txBody>
      </p:sp>
      <p:sp>
        <p:nvSpPr>
          <p:cNvPr id="29" name="Text 27"/>
          <p:cNvSpPr/>
          <p:nvPr/>
        </p:nvSpPr>
        <p:spPr>
          <a:xfrm>
            <a:off x="624071" y="5924154"/>
            <a:ext cx="5345306"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 Calculate output</a:t>
            </a:r>
            <a:endParaRPr lang="en-US" sz="1600" dirty="0"/>
          </a:p>
        </p:txBody>
      </p:sp>
      <p:sp>
        <p:nvSpPr>
          <p:cNvPr id="30" name="Text 28"/>
          <p:cNvSpPr/>
          <p:nvPr/>
        </p:nvSpPr>
        <p:spPr>
          <a:xfrm>
            <a:off x="624071" y="6141223"/>
            <a:ext cx="5345306" cy="180890"/>
          </a:xfrm>
          <a:prstGeom prst="rect">
            <a:avLst/>
          </a:prstGeom>
          <a:noFill/>
          <a:ln/>
        </p:spPr>
        <p:txBody>
          <a:bodyPr wrap="square" lIns="0" tIns="0" rIns="0" bIns="0" rtlCol="0" anchor="ctr"/>
          <a:lstStyle/>
          <a:p>
            <a:pP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 Update: wᵢ = wᵢ + η(y - ŷ)xᵢ</a:t>
            </a:r>
            <a:endParaRPr lang="en-US" sz="1600" dirty="0"/>
          </a:p>
        </p:txBody>
      </p:sp>
      <p:sp>
        <p:nvSpPr>
          <p:cNvPr id="31" name="Text 29"/>
          <p:cNvSpPr/>
          <p:nvPr/>
        </p:nvSpPr>
        <p:spPr>
          <a:xfrm>
            <a:off x="479359" y="6358291"/>
            <a:ext cx="5490018" cy="180890"/>
          </a:xfrm>
          <a:prstGeom prst="rect">
            <a:avLst/>
          </a:prstGeom>
          <a:noFill/>
          <a:ln/>
        </p:spPr>
        <p:txBody>
          <a:bodyPr wrap="square" lIns="0" tIns="0" rIns="0" bIns="0" rtlCol="0" anchor="ctr"/>
          <a:lstStyle/>
          <a:p>
            <a:pPr>
              <a:lnSpc>
                <a:spcPct val="120000"/>
              </a:lnSpc>
            </a:pPr>
            <a:r>
              <a:rPr lang="en-US" sz="997" b="1" dirty="0">
                <a:solidFill>
                  <a:srgbClr val="4DB6AC"/>
                </a:solidFill>
                <a:latin typeface="Quattrocento Sans" pitchFamily="34" charset="0"/>
                <a:ea typeface="Quattrocento Sans" pitchFamily="34" charset="-122"/>
                <a:cs typeface="Quattrocento Sans" pitchFamily="34" charset="-120"/>
              </a:rPr>
              <a:t>3.</a:t>
            </a:r>
            <a:r>
              <a:rPr lang="en-US" sz="997" dirty="0">
                <a:solidFill>
                  <a:srgbClr val="ECEFF1"/>
                </a:solidFill>
                <a:latin typeface="Quattrocento Sans" pitchFamily="34" charset="0"/>
                <a:ea typeface="Quattrocento Sans" pitchFamily="34" charset="-122"/>
                <a:cs typeface="Quattrocento Sans" pitchFamily="34" charset="-120"/>
              </a:rPr>
              <a:t> Repeat until convergence</a:t>
            </a:r>
            <a:endParaRPr lang="en-US" sz="1600" dirty="0"/>
          </a:p>
        </p:txBody>
      </p:sp>
      <p:sp>
        <p:nvSpPr>
          <p:cNvPr id="32" name="Shape 30"/>
          <p:cNvSpPr/>
          <p:nvPr/>
        </p:nvSpPr>
        <p:spPr>
          <a:xfrm>
            <a:off x="6166236" y="1121519"/>
            <a:ext cx="5661864" cy="3617804"/>
          </a:xfrm>
          <a:custGeom>
            <a:avLst/>
            <a:gdLst/>
            <a:ahLst/>
            <a:cxnLst/>
            <a:rect l="l" t="t" r="r" b="b"/>
            <a:pathLst>
              <a:path w="5661864" h="3617804">
                <a:moveTo>
                  <a:pt x="72356" y="0"/>
                </a:moveTo>
                <a:lnTo>
                  <a:pt x="5589507" y="0"/>
                </a:lnTo>
                <a:cubicBezTo>
                  <a:pt x="5629469" y="0"/>
                  <a:pt x="5661864" y="32395"/>
                  <a:pt x="5661864" y="72356"/>
                </a:cubicBezTo>
                <a:lnTo>
                  <a:pt x="5661864" y="3545448"/>
                </a:lnTo>
                <a:cubicBezTo>
                  <a:pt x="5661864" y="3585409"/>
                  <a:pt x="5629469" y="3617804"/>
                  <a:pt x="5589507" y="3617804"/>
                </a:cubicBezTo>
                <a:lnTo>
                  <a:pt x="72356" y="3617804"/>
                </a:lnTo>
                <a:cubicBezTo>
                  <a:pt x="32395" y="3617804"/>
                  <a:pt x="0" y="3585409"/>
                  <a:pt x="0" y="3545448"/>
                </a:cubicBezTo>
                <a:lnTo>
                  <a:pt x="0" y="72356"/>
                </a:lnTo>
                <a:cubicBezTo>
                  <a:pt x="0" y="32422"/>
                  <a:pt x="32422" y="0"/>
                  <a:pt x="72356" y="0"/>
                </a:cubicBezTo>
                <a:close/>
              </a:path>
            </a:pathLst>
          </a:custGeom>
          <a:solidFill>
            <a:srgbClr val="4DB6AC">
              <a:alpha val="10196"/>
            </a:srgbClr>
          </a:solidFill>
          <a:ln/>
        </p:spPr>
      </p:sp>
      <p:sp>
        <p:nvSpPr>
          <p:cNvPr id="33" name="Text 31"/>
          <p:cNvSpPr/>
          <p:nvPr/>
        </p:nvSpPr>
        <p:spPr>
          <a:xfrm>
            <a:off x="6234070" y="1230053"/>
            <a:ext cx="5526196" cy="253246"/>
          </a:xfrm>
          <a:prstGeom prst="rect">
            <a:avLst/>
          </a:prstGeom>
          <a:noFill/>
          <a:ln/>
        </p:spPr>
        <p:txBody>
          <a:bodyPr wrap="square" lIns="0" tIns="0" rIns="0" bIns="0" rtlCol="0" anchor="ctr"/>
          <a:lstStyle/>
          <a:p>
            <a:pPr algn="ctr">
              <a:lnSpc>
                <a:spcPct val="130000"/>
              </a:lnSpc>
            </a:pPr>
            <a:r>
              <a:rPr lang="en-US" sz="1282" b="1" dirty="0">
                <a:solidFill>
                  <a:srgbClr val="ECEFF1"/>
                </a:solidFill>
                <a:latin typeface="Liter" pitchFamily="34" charset="0"/>
                <a:ea typeface="Liter" pitchFamily="34" charset="-122"/>
                <a:cs typeface="Liter" pitchFamily="34" charset="-120"/>
              </a:rPr>
              <a:t>Perceptron Architecture</a:t>
            </a:r>
            <a:endParaRPr lang="en-US" sz="1600" dirty="0"/>
          </a:p>
        </p:txBody>
      </p:sp>
      <p:sp>
        <p:nvSpPr>
          <p:cNvPr id="34" name="Shape 32"/>
          <p:cNvSpPr/>
          <p:nvPr/>
        </p:nvSpPr>
        <p:spPr>
          <a:xfrm>
            <a:off x="6274770" y="1555656"/>
            <a:ext cx="434136" cy="434136"/>
          </a:xfrm>
          <a:custGeom>
            <a:avLst/>
            <a:gdLst/>
            <a:ahLst/>
            <a:cxnLst/>
            <a:rect l="l" t="t" r="r" b="b"/>
            <a:pathLst>
              <a:path w="434136" h="434136">
                <a:moveTo>
                  <a:pt x="217068" y="0"/>
                </a:moveTo>
                <a:lnTo>
                  <a:pt x="217068" y="0"/>
                </a:lnTo>
                <a:cubicBezTo>
                  <a:pt x="336871" y="0"/>
                  <a:pt x="434136" y="97265"/>
                  <a:pt x="434136" y="217068"/>
                </a:cubicBezTo>
                <a:lnTo>
                  <a:pt x="434136" y="217068"/>
                </a:lnTo>
                <a:cubicBezTo>
                  <a:pt x="434136" y="336871"/>
                  <a:pt x="336871" y="434136"/>
                  <a:pt x="217068" y="434136"/>
                </a:cubicBezTo>
                <a:lnTo>
                  <a:pt x="217068" y="434136"/>
                </a:lnTo>
                <a:cubicBezTo>
                  <a:pt x="97265" y="434136"/>
                  <a:pt x="0" y="336871"/>
                  <a:pt x="0" y="217068"/>
                </a:cubicBezTo>
                <a:lnTo>
                  <a:pt x="0" y="217068"/>
                </a:lnTo>
                <a:cubicBezTo>
                  <a:pt x="0" y="97265"/>
                  <a:pt x="97265" y="0"/>
                  <a:pt x="217068" y="0"/>
                </a:cubicBezTo>
                <a:close/>
              </a:path>
            </a:pathLst>
          </a:custGeom>
          <a:solidFill>
            <a:srgbClr val="4DB6AC"/>
          </a:solidFill>
          <a:ln/>
        </p:spPr>
      </p:sp>
      <p:sp>
        <p:nvSpPr>
          <p:cNvPr id="35" name="Text 33"/>
          <p:cNvSpPr/>
          <p:nvPr/>
        </p:nvSpPr>
        <p:spPr>
          <a:xfrm>
            <a:off x="6243115" y="1555656"/>
            <a:ext cx="497448" cy="434136"/>
          </a:xfrm>
          <a:prstGeom prst="rect">
            <a:avLst/>
          </a:prstGeom>
          <a:noFill/>
          <a:ln/>
        </p:spPr>
        <p:txBody>
          <a:bodyPr wrap="square" lIns="0" tIns="0" rIns="0" bIns="0" rtlCol="0" anchor="ctr"/>
          <a:lstStyle/>
          <a:p>
            <a:pPr algn="ctr">
              <a:lnSpc>
                <a:spcPct val="120000"/>
              </a:lnSpc>
            </a:pPr>
            <a:r>
              <a:rPr lang="en-US" sz="997" b="1" dirty="0">
                <a:solidFill>
                  <a:srgbClr val="1A1D21"/>
                </a:solidFill>
                <a:latin typeface="Quattrocento Sans" pitchFamily="34" charset="0"/>
                <a:ea typeface="Quattrocento Sans" pitchFamily="34" charset="-122"/>
                <a:cs typeface="Quattrocento Sans" pitchFamily="34" charset="-120"/>
              </a:rPr>
              <a:t>x₁</a:t>
            </a:r>
            <a:endParaRPr lang="en-US" sz="1600" dirty="0"/>
          </a:p>
        </p:txBody>
      </p:sp>
      <p:sp>
        <p:nvSpPr>
          <p:cNvPr id="36" name="Shape 34"/>
          <p:cNvSpPr/>
          <p:nvPr/>
        </p:nvSpPr>
        <p:spPr>
          <a:xfrm>
            <a:off x="6781263" y="1763680"/>
            <a:ext cx="4748368" cy="18089"/>
          </a:xfrm>
          <a:custGeom>
            <a:avLst/>
            <a:gdLst/>
            <a:ahLst/>
            <a:cxnLst/>
            <a:rect l="l" t="t" r="r" b="b"/>
            <a:pathLst>
              <a:path w="4748368" h="18089">
                <a:moveTo>
                  <a:pt x="0" y="0"/>
                </a:moveTo>
                <a:lnTo>
                  <a:pt x="4748368" y="0"/>
                </a:lnTo>
                <a:lnTo>
                  <a:pt x="4748368" y="18089"/>
                </a:lnTo>
                <a:lnTo>
                  <a:pt x="0" y="18089"/>
                </a:lnTo>
                <a:lnTo>
                  <a:pt x="0" y="0"/>
                </a:lnTo>
                <a:close/>
              </a:path>
            </a:pathLst>
          </a:custGeom>
          <a:solidFill>
            <a:srgbClr val="4DB6AC"/>
          </a:solidFill>
          <a:ln/>
        </p:spPr>
      </p:sp>
      <p:sp>
        <p:nvSpPr>
          <p:cNvPr id="37" name="Text 35"/>
          <p:cNvSpPr/>
          <p:nvPr/>
        </p:nvSpPr>
        <p:spPr>
          <a:xfrm>
            <a:off x="11600432" y="1700368"/>
            <a:ext cx="171846" cy="144712"/>
          </a:xfrm>
          <a:prstGeom prst="rect">
            <a:avLst/>
          </a:prstGeom>
          <a:noFill/>
          <a:ln/>
        </p:spPr>
        <p:txBody>
          <a:bodyPr wrap="square" lIns="0" tIns="0" rIns="0" bIns="0" rtlCol="0" anchor="ctr"/>
          <a:lstStyle/>
          <a:p>
            <a:pPr>
              <a:lnSpc>
                <a:spcPct val="110000"/>
              </a:lnSpc>
            </a:pPr>
            <a:r>
              <a:rPr lang="en-US" sz="855" dirty="0">
                <a:solidFill>
                  <a:srgbClr val="78909C"/>
                </a:solidFill>
                <a:latin typeface="Quattrocento Sans" pitchFamily="34" charset="0"/>
                <a:ea typeface="Quattrocento Sans" pitchFamily="34" charset="-122"/>
                <a:cs typeface="Quattrocento Sans" pitchFamily="34" charset="-120"/>
              </a:rPr>
              <a:t>w₁</a:t>
            </a:r>
            <a:endParaRPr lang="en-US" sz="1600" dirty="0"/>
          </a:p>
        </p:txBody>
      </p:sp>
      <p:sp>
        <p:nvSpPr>
          <p:cNvPr id="38" name="Shape 36"/>
          <p:cNvSpPr/>
          <p:nvPr/>
        </p:nvSpPr>
        <p:spPr>
          <a:xfrm>
            <a:off x="6274770" y="2025970"/>
            <a:ext cx="434136" cy="434136"/>
          </a:xfrm>
          <a:custGeom>
            <a:avLst/>
            <a:gdLst/>
            <a:ahLst/>
            <a:cxnLst/>
            <a:rect l="l" t="t" r="r" b="b"/>
            <a:pathLst>
              <a:path w="434136" h="434136">
                <a:moveTo>
                  <a:pt x="217068" y="0"/>
                </a:moveTo>
                <a:lnTo>
                  <a:pt x="217068" y="0"/>
                </a:lnTo>
                <a:cubicBezTo>
                  <a:pt x="336871" y="0"/>
                  <a:pt x="434136" y="97265"/>
                  <a:pt x="434136" y="217068"/>
                </a:cubicBezTo>
                <a:lnTo>
                  <a:pt x="434136" y="217068"/>
                </a:lnTo>
                <a:cubicBezTo>
                  <a:pt x="434136" y="336871"/>
                  <a:pt x="336871" y="434136"/>
                  <a:pt x="217068" y="434136"/>
                </a:cubicBezTo>
                <a:lnTo>
                  <a:pt x="217068" y="434136"/>
                </a:lnTo>
                <a:cubicBezTo>
                  <a:pt x="97265" y="434136"/>
                  <a:pt x="0" y="336871"/>
                  <a:pt x="0" y="217068"/>
                </a:cubicBezTo>
                <a:lnTo>
                  <a:pt x="0" y="217068"/>
                </a:lnTo>
                <a:cubicBezTo>
                  <a:pt x="0" y="97265"/>
                  <a:pt x="97265" y="0"/>
                  <a:pt x="217068" y="0"/>
                </a:cubicBezTo>
                <a:close/>
              </a:path>
            </a:pathLst>
          </a:custGeom>
          <a:solidFill>
            <a:srgbClr val="4DB6AC"/>
          </a:solidFill>
          <a:ln/>
        </p:spPr>
      </p:sp>
      <p:sp>
        <p:nvSpPr>
          <p:cNvPr id="39" name="Text 37"/>
          <p:cNvSpPr/>
          <p:nvPr/>
        </p:nvSpPr>
        <p:spPr>
          <a:xfrm>
            <a:off x="6243115" y="2025970"/>
            <a:ext cx="497448" cy="434136"/>
          </a:xfrm>
          <a:prstGeom prst="rect">
            <a:avLst/>
          </a:prstGeom>
          <a:noFill/>
          <a:ln/>
        </p:spPr>
        <p:txBody>
          <a:bodyPr wrap="square" lIns="0" tIns="0" rIns="0" bIns="0" rtlCol="0" anchor="ctr"/>
          <a:lstStyle/>
          <a:p>
            <a:pPr algn="ctr">
              <a:lnSpc>
                <a:spcPct val="120000"/>
              </a:lnSpc>
            </a:pPr>
            <a:r>
              <a:rPr lang="en-US" sz="997" b="1" dirty="0">
                <a:solidFill>
                  <a:srgbClr val="1A1D21"/>
                </a:solidFill>
                <a:latin typeface="Quattrocento Sans" pitchFamily="34" charset="0"/>
                <a:ea typeface="Quattrocento Sans" pitchFamily="34" charset="-122"/>
                <a:cs typeface="Quattrocento Sans" pitchFamily="34" charset="-120"/>
              </a:rPr>
              <a:t>x₂</a:t>
            </a:r>
            <a:endParaRPr lang="en-US" sz="1600" dirty="0"/>
          </a:p>
        </p:txBody>
      </p:sp>
      <p:sp>
        <p:nvSpPr>
          <p:cNvPr id="40" name="Shape 38"/>
          <p:cNvSpPr/>
          <p:nvPr/>
        </p:nvSpPr>
        <p:spPr>
          <a:xfrm>
            <a:off x="6781263" y="2233994"/>
            <a:ext cx="4739323" cy="18089"/>
          </a:xfrm>
          <a:custGeom>
            <a:avLst/>
            <a:gdLst/>
            <a:ahLst/>
            <a:cxnLst/>
            <a:rect l="l" t="t" r="r" b="b"/>
            <a:pathLst>
              <a:path w="4739323" h="18089">
                <a:moveTo>
                  <a:pt x="0" y="0"/>
                </a:moveTo>
                <a:lnTo>
                  <a:pt x="4739323" y="0"/>
                </a:lnTo>
                <a:lnTo>
                  <a:pt x="4739323" y="18089"/>
                </a:lnTo>
                <a:lnTo>
                  <a:pt x="0" y="18089"/>
                </a:lnTo>
                <a:lnTo>
                  <a:pt x="0" y="0"/>
                </a:lnTo>
                <a:close/>
              </a:path>
            </a:pathLst>
          </a:custGeom>
          <a:solidFill>
            <a:srgbClr val="4DB6AC"/>
          </a:solidFill>
          <a:ln/>
        </p:spPr>
      </p:sp>
      <p:sp>
        <p:nvSpPr>
          <p:cNvPr id="41" name="Text 39"/>
          <p:cNvSpPr/>
          <p:nvPr/>
        </p:nvSpPr>
        <p:spPr>
          <a:xfrm>
            <a:off x="11589833" y="2170682"/>
            <a:ext cx="180890" cy="144712"/>
          </a:xfrm>
          <a:prstGeom prst="rect">
            <a:avLst/>
          </a:prstGeom>
          <a:noFill/>
          <a:ln/>
        </p:spPr>
        <p:txBody>
          <a:bodyPr wrap="square" lIns="0" tIns="0" rIns="0" bIns="0" rtlCol="0" anchor="ctr"/>
          <a:lstStyle/>
          <a:p>
            <a:pPr>
              <a:lnSpc>
                <a:spcPct val="110000"/>
              </a:lnSpc>
            </a:pPr>
            <a:r>
              <a:rPr lang="en-US" sz="855" dirty="0">
                <a:solidFill>
                  <a:srgbClr val="78909C"/>
                </a:solidFill>
                <a:latin typeface="Quattrocento Sans" pitchFamily="34" charset="0"/>
                <a:ea typeface="Quattrocento Sans" pitchFamily="34" charset="-122"/>
                <a:cs typeface="Quattrocento Sans" pitchFamily="34" charset="-120"/>
              </a:rPr>
              <a:t>w₂</a:t>
            </a:r>
            <a:endParaRPr lang="en-US" sz="1600" dirty="0"/>
          </a:p>
        </p:txBody>
      </p:sp>
      <p:sp>
        <p:nvSpPr>
          <p:cNvPr id="42" name="Shape 40"/>
          <p:cNvSpPr/>
          <p:nvPr/>
        </p:nvSpPr>
        <p:spPr>
          <a:xfrm>
            <a:off x="6274770" y="2496285"/>
            <a:ext cx="434136" cy="434136"/>
          </a:xfrm>
          <a:custGeom>
            <a:avLst/>
            <a:gdLst/>
            <a:ahLst/>
            <a:cxnLst/>
            <a:rect l="l" t="t" r="r" b="b"/>
            <a:pathLst>
              <a:path w="434136" h="434136">
                <a:moveTo>
                  <a:pt x="217068" y="0"/>
                </a:moveTo>
                <a:lnTo>
                  <a:pt x="217068" y="0"/>
                </a:lnTo>
                <a:cubicBezTo>
                  <a:pt x="336871" y="0"/>
                  <a:pt x="434136" y="97265"/>
                  <a:pt x="434136" y="217068"/>
                </a:cubicBezTo>
                <a:lnTo>
                  <a:pt x="434136" y="217068"/>
                </a:lnTo>
                <a:cubicBezTo>
                  <a:pt x="434136" y="336871"/>
                  <a:pt x="336871" y="434136"/>
                  <a:pt x="217068" y="434136"/>
                </a:cubicBezTo>
                <a:lnTo>
                  <a:pt x="217068" y="434136"/>
                </a:lnTo>
                <a:cubicBezTo>
                  <a:pt x="97265" y="434136"/>
                  <a:pt x="0" y="336871"/>
                  <a:pt x="0" y="217068"/>
                </a:cubicBezTo>
                <a:lnTo>
                  <a:pt x="0" y="217068"/>
                </a:lnTo>
                <a:cubicBezTo>
                  <a:pt x="0" y="97265"/>
                  <a:pt x="97265" y="0"/>
                  <a:pt x="217068" y="0"/>
                </a:cubicBezTo>
                <a:close/>
              </a:path>
            </a:pathLst>
          </a:custGeom>
          <a:solidFill>
            <a:srgbClr val="4DB6AC"/>
          </a:solidFill>
          <a:ln/>
        </p:spPr>
      </p:sp>
      <p:sp>
        <p:nvSpPr>
          <p:cNvPr id="43" name="Text 41"/>
          <p:cNvSpPr/>
          <p:nvPr/>
        </p:nvSpPr>
        <p:spPr>
          <a:xfrm>
            <a:off x="6243115" y="2496285"/>
            <a:ext cx="497448" cy="434136"/>
          </a:xfrm>
          <a:prstGeom prst="rect">
            <a:avLst/>
          </a:prstGeom>
          <a:noFill/>
          <a:ln/>
        </p:spPr>
        <p:txBody>
          <a:bodyPr wrap="square" lIns="0" tIns="0" rIns="0" bIns="0" rtlCol="0" anchor="ctr"/>
          <a:lstStyle/>
          <a:p>
            <a:pPr algn="ctr">
              <a:lnSpc>
                <a:spcPct val="120000"/>
              </a:lnSpc>
            </a:pPr>
            <a:r>
              <a:rPr lang="en-US" sz="997" b="1" dirty="0">
                <a:solidFill>
                  <a:srgbClr val="1A1D21"/>
                </a:solidFill>
                <a:latin typeface="Quattrocento Sans" pitchFamily="34" charset="0"/>
                <a:ea typeface="Quattrocento Sans" pitchFamily="34" charset="-122"/>
                <a:cs typeface="Quattrocento Sans" pitchFamily="34" charset="-120"/>
              </a:rPr>
              <a:t>x₃</a:t>
            </a:r>
            <a:endParaRPr lang="en-US" sz="1600" dirty="0"/>
          </a:p>
        </p:txBody>
      </p:sp>
      <p:sp>
        <p:nvSpPr>
          <p:cNvPr id="44" name="Shape 42"/>
          <p:cNvSpPr/>
          <p:nvPr/>
        </p:nvSpPr>
        <p:spPr>
          <a:xfrm>
            <a:off x="6781263" y="2704309"/>
            <a:ext cx="4739323" cy="18089"/>
          </a:xfrm>
          <a:custGeom>
            <a:avLst/>
            <a:gdLst/>
            <a:ahLst/>
            <a:cxnLst/>
            <a:rect l="l" t="t" r="r" b="b"/>
            <a:pathLst>
              <a:path w="4739323" h="18089">
                <a:moveTo>
                  <a:pt x="0" y="0"/>
                </a:moveTo>
                <a:lnTo>
                  <a:pt x="4739323" y="0"/>
                </a:lnTo>
                <a:lnTo>
                  <a:pt x="4739323" y="18089"/>
                </a:lnTo>
                <a:lnTo>
                  <a:pt x="0" y="18089"/>
                </a:lnTo>
                <a:lnTo>
                  <a:pt x="0" y="0"/>
                </a:lnTo>
                <a:close/>
              </a:path>
            </a:pathLst>
          </a:custGeom>
          <a:solidFill>
            <a:srgbClr val="4DB6AC"/>
          </a:solidFill>
          <a:ln/>
        </p:spPr>
      </p:sp>
      <p:sp>
        <p:nvSpPr>
          <p:cNvPr id="45" name="Text 43"/>
          <p:cNvSpPr/>
          <p:nvPr/>
        </p:nvSpPr>
        <p:spPr>
          <a:xfrm>
            <a:off x="11589409" y="2640997"/>
            <a:ext cx="180890" cy="144712"/>
          </a:xfrm>
          <a:prstGeom prst="rect">
            <a:avLst/>
          </a:prstGeom>
          <a:noFill/>
          <a:ln/>
        </p:spPr>
        <p:txBody>
          <a:bodyPr wrap="square" lIns="0" tIns="0" rIns="0" bIns="0" rtlCol="0" anchor="ctr"/>
          <a:lstStyle/>
          <a:p>
            <a:pPr>
              <a:lnSpc>
                <a:spcPct val="110000"/>
              </a:lnSpc>
            </a:pPr>
            <a:r>
              <a:rPr lang="en-US" sz="855" dirty="0">
                <a:solidFill>
                  <a:srgbClr val="78909C"/>
                </a:solidFill>
                <a:latin typeface="Quattrocento Sans" pitchFamily="34" charset="0"/>
                <a:ea typeface="Quattrocento Sans" pitchFamily="34" charset="-122"/>
                <a:cs typeface="Quattrocento Sans" pitchFamily="34" charset="-120"/>
              </a:rPr>
              <a:t>w₃</a:t>
            </a:r>
            <a:endParaRPr lang="en-US" sz="1600" dirty="0"/>
          </a:p>
        </p:txBody>
      </p:sp>
      <p:sp>
        <p:nvSpPr>
          <p:cNvPr id="46" name="Shape 44"/>
          <p:cNvSpPr/>
          <p:nvPr/>
        </p:nvSpPr>
        <p:spPr>
          <a:xfrm>
            <a:off x="8634398" y="3038955"/>
            <a:ext cx="723561" cy="723561"/>
          </a:xfrm>
          <a:custGeom>
            <a:avLst/>
            <a:gdLst/>
            <a:ahLst/>
            <a:cxnLst/>
            <a:rect l="l" t="t" r="r" b="b"/>
            <a:pathLst>
              <a:path w="723561" h="723561">
                <a:moveTo>
                  <a:pt x="361780" y="0"/>
                </a:moveTo>
                <a:lnTo>
                  <a:pt x="361780" y="0"/>
                </a:lnTo>
                <a:cubicBezTo>
                  <a:pt x="561452" y="0"/>
                  <a:pt x="723561" y="162108"/>
                  <a:pt x="723561" y="361780"/>
                </a:cubicBezTo>
                <a:lnTo>
                  <a:pt x="723561" y="361780"/>
                </a:lnTo>
                <a:cubicBezTo>
                  <a:pt x="723561" y="561452"/>
                  <a:pt x="561452" y="723561"/>
                  <a:pt x="361780" y="723561"/>
                </a:cubicBezTo>
                <a:lnTo>
                  <a:pt x="361780" y="723561"/>
                </a:lnTo>
                <a:cubicBezTo>
                  <a:pt x="162108" y="723561"/>
                  <a:pt x="0" y="561452"/>
                  <a:pt x="0" y="361780"/>
                </a:cubicBezTo>
                <a:lnTo>
                  <a:pt x="0" y="361780"/>
                </a:lnTo>
                <a:cubicBezTo>
                  <a:pt x="0" y="162108"/>
                  <a:pt x="162108" y="0"/>
                  <a:pt x="361780" y="0"/>
                </a:cubicBezTo>
                <a:close/>
              </a:path>
            </a:pathLst>
          </a:custGeom>
          <a:gradFill flip="none" rotWithShape="1">
            <a:gsLst>
              <a:gs pos="0">
                <a:srgbClr val="FFD54F"/>
              </a:gs>
              <a:gs pos="100000">
                <a:srgbClr val="4DB6AC"/>
              </a:gs>
            </a:gsLst>
            <a:lin ang="2700000" scaled="1"/>
          </a:gradFill>
          <a:ln/>
        </p:spPr>
      </p:sp>
      <p:sp>
        <p:nvSpPr>
          <p:cNvPr id="47" name="Text 45"/>
          <p:cNvSpPr/>
          <p:nvPr/>
        </p:nvSpPr>
        <p:spPr>
          <a:xfrm>
            <a:off x="8593698" y="3038955"/>
            <a:ext cx="804961" cy="723561"/>
          </a:xfrm>
          <a:prstGeom prst="rect">
            <a:avLst/>
          </a:prstGeom>
          <a:noFill/>
          <a:ln/>
        </p:spPr>
        <p:txBody>
          <a:bodyPr wrap="square" lIns="0" tIns="0" rIns="0" bIns="0" rtlCol="0" anchor="ctr"/>
          <a:lstStyle/>
          <a:p>
            <a:pPr algn="ctr">
              <a:lnSpc>
                <a:spcPct val="130000"/>
              </a:lnSpc>
            </a:pPr>
            <a:r>
              <a:rPr lang="en-US" sz="1282" b="1" dirty="0">
                <a:solidFill>
                  <a:srgbClr val="1A1D21"/>
                </a:solidFill>
                <a:latin typeface="Quattrocento Sans" pitchFamily="34" charset="0"/>
                <a:ea typeface="Quattrocento Sans" pitchFamily="34" charset="-122"/>
                <a:cs typeface="Quattrocento Sans" pitchFamily="34" charset="-120"/>
              </a:rPr>
              <a:t>Σ</a:t>
            </a:r>
            <a:endParaRPr lang="en-US" sz="1600" dirty="0"/>
          </a:p>
        </p:txBody>
      </p:sp>
      <p:sp>
        <p:nvSpPr>
          <p:cNvPr id="48" name="Shape 46"/>
          <p:cNvSpPr/>
          <p:nvPr/>
        </p:nvSpPr>
        <p:spPr>
          <a:xfrm>
            <a:off x="8513145" y="3871050"/>
            <a:ext cx="967763" cy="253246"/>
          </a:xfrm>
          <a:custGeom>
            <a:avLst/>
            <a:gdLst/>
            <a:ahLst/>
            <a:cxnLst/>
            <a:rect l="l" t="t" r="r" b="b"/>
            <a:pathLst>
              <a:path w="967763" h="253246">
                <a:moveTo>
                  <a:pt x="36179" y="0"/>
                </a:moveTo>
                <a:lnTo>
                  <a:pt x="931584" y="0"/>
                </a:lnTo>
                <a:cubicBezTo>
                  <a:pt x="951565" y="0"/>
                  <a:pt x="967763" y="16198"/>
                  <a:pt x="967763" y="36179"/>
                </a:cubicBezTo>
                <a:lnTo>
                  <a:pt x="967763" y="217068"/>
                </a:lnTo>
                <a:cubicBezTo>
                  <a:pt x="967763" y="237049"/>
                  <a:pt x="951565" y="253246"/>
                  <a:pt x="931584" y="253246"/>
                </a:cubicBezTo>
                <a:lnTo>
                  <a:pt x="36179" y="253246"/>
                </a:lnTo>
                <a:cubicBezTo>
                  <a:pt x="16198" y="253246"/>
                  <a:pt x="0" y="237049"/>
                  <a:pt x="0" y="217068"/>
                </a:cubicBezTo>
                <a:lnTo>
                  <a:pt x="0" y="36179"/>
                </a:lnTo>
                <a:cubicBezTo>
                  <a:pt x="0" y="16198"/>
                  <a:pt x="16198" y="0"/>
                  <a:pt x="36179" y="0"/>
                </a:cubicBezTo>
                <a:close/>
              </a:path>
            </a:pathLst>
          </a:custGeom>
          <a:solidFill>
            <a:srgbClr val="FFD54F"/>
          </a:solidFill>
          <a:ln/>
        </p:spPr>
      </p:sp>
      <p:sp>
        <p:nvSpPr>
          <p:cNvPr id="49" name="Text 47"/>
          <p:cNvSpPr/>
          <p:nvPr/>
        </p:nvSpPr>
        <p:spPr>
          <a:xfrm>
            <a:off x="8513145" y="3871050"/>
            <a:ext cx="1031074" cy="253246"/>
          </a:xfrm>
          <a:prstGeom prst="rect">
            <a:avLst/>
          </a:prstGeom>
          <a:noFill/>
          <a:ln/>
        </p:spPr>
        <p:txBody>
          <a:bodyPr wrap="square" lIns="108534" tIns="36178" rIns="108534" bIns="36178" rtlCol="0" anchor="ctr"/>
          <a:lstStyle/>
          <a:p>
            <a:pPr>
              <a:lnSpc>
                <a:spcPct val="120000"/>
              </a:lnSpc>
            </a:pPr>
            <a:r>
              <a:rPr lang="en-US" sz="997" b="1" dirty="0">
                <a:solidFill>
                  <a:srgbClr val="1A1D21"/>
                </a:solidFill>
                <a:latin typeface="Quattrocento Sans" pitchFamily="34" charset="0"/>
                <a:ea typeface="Quattrocento Sans" pitchFamily="34" charset="-122"/>
                <a:cs typeface="Quattrocento Sans" pitchFamily="34" charset="-120"/>
              </a:rPr>
              <a:t>Step Function</a:t>
            </a:r>
            <a:endParaRPr lang="en-US" sz="1600" dirty="0"/>
          </a:p>
        </p:txBody>
      </p:sp>
      <p:sp>
        <p:nvSpPr>
          <p:cNvPr id="50" name="Shape 48"/>
          <p:cNvSpPr/>
          <p:nvPr/>
        </p:nvSpPr>
        <p:spPr>
          <a:xfrm>
            <a:off x="8779111" y="4196653"/>
            <a:ext cx="434136" cy="434136"/>
          </a:xfrm>
          <a:custGeom>
            <a:avLst/>
            <a:gdLst/>
            <a:ahLst/>
            <a:cxnLst/>
            <a:rect l="l" t="t" r="r" b="b"/>
            <a:pathLst>
              <a:path w="434136" h="434136">
                <a:moveTo>
                  <a:pt x="217068" y="0"/>
                </a:moveTo>
                <a:lnTo>
                  <a:pt x="217068" y="0"/>
                </a:lnTo>
                <a:cubicBezTo>
                  <a:pt x="336871" y="0"/>
                  <a:pt x="434136" y="97265"/>
                  <a:pt x="434136" y="217068"/>
                </a:cubicBezTo>
                <a:lnTo>
                  <a:pt x="434136" y="217068"/>
                </a:lnTo>
                <a:cubicBezTo>
                  <a:pt x="434136" y="336871"/>
                  <a:pt x="336871" y="434136"/>
                  <a:pt x="217068" y="434136"/>
                </a:cubicBezTo>
                <a:lnTo>
                  <a:pt x="217068" y="434136"/>
                </a:lnTo>
                <a:cubicBezTo>
                  <a:pt x="97265" y="434136"/>
                  <a:pt x="0" y="336871"/>
                  <a:pt x="0" y="217068"/>
                </a:cubicBezTo>
                <a:lnTo>
                  <a:pt x="0" y="217068"/>
                </a:lnTo>
                <a:cubicBezTo>
                  <a:pt x="0" y="97265"/>
                  <a:pt x="97265" y="0"/>
                  <a:pt x="217068" y="0"/>
                </a:cubicBezTo>
                <a:close/>
              </a:path>
            </a:pathLst>
          </a:custGeom>
          <a:solidFill>
            <a:srgbClr val="4DB6AC"/>
          </a:solidFill>
          <a:ln/>
        </p:spPr>
      </p:sp>
      <p:sp>
        <p:nvSpPr>
          <p:cNvPr id="51" name="Text 49"/>
          <p:cNvSpPr/>
          <p:nvPr/>
        </p:nvSpPr>
        <p:spPr>
          <a:xfrm>
            <a:off x="8738410" y="4196653"/>
            <a:ext cx="515537" cy="434136"/>
          </a:xfrm>
          <a:prstGeom prst="rect">
            <a:avLst/>
          </a:prstGeom>
          <a:noFill/>
          <a:ln/>
        </p:spPr>
        <p:txBody>
          <a:bodyPr wrap="square" lIns="0" tIns="0" rIns="0" bIns="0" rtlCol="0" anchor="ctr"/>
          <a:lstStyle/>
          <a:p>
            <a:pPr algn="ctr">
              <a:lnSpc>
                <a:spcPct val="130000"/>
              </a:lnSpc>
            </a:pPr>
            <a:r>
              <a:rPr lang="en-US" sz="1282" b="1" dirty="0">
                <a:solidFill>
                  <a:srgbClr val="1A1D21"/>
                </a:solidFill>
                <a:latin typeface="Quattrocento Sans" pitchFamily="34" charset="0"/>
                <a:ea typeface="Quattrocento Sans" pitchFamily="34" charset="-122"/>
                <a:cs typeface="Quattrocento Sans" pitchFamily="34" charset="-120"/>
              </a:rPr>
              <a:t>ŷ</a:t>
            </a:r>
            <a:endParaRPr lang="en-US" sz="1600" dirty="0"/>
          </a:p>
        </p:txBody>
      </p:sp>
      <p:sp>
        <p:nvSpPr>
          <p:cNvPr id="52" name="Shape 50"/>
          <p:cNvSpPr/>
          <p:nvPr/>
        </p:nvSpPr>
        <p:spPr>
          <a:xfrm>
            <a:off x="6166236" y="4811680"/>
            <a:ext cx="5661864" cy="904451"/>
          </a:xfrm>
          <a:custGeom>
            <a:avLst/>
            <a:gdLst/>
            <a:ahLst/>
            <a:cxnLst/>
            <a:rect l="l" t="t" r="r" b="b"/>
            <a:pathLst>
              <a:path w="5661864" h="904451">
                <a:moveTo>
                  <a:pt x="72356" y="0"/>
                </a:moveTo>
                <a:lnTo>
                  <a:pt x="5589507" y="0"/>
                </a:lnTo>
                <a:cubicBezTo>
                  <a:pt x="5629469" y="0"/>
                  <a:pt x="5661864" y="32395"/>
                  <a:pt x="5661864" y="72356"/>
                </a:cubicBezTo>
                <a:lnTo>
                  <a:pt x="5661864" y="832095"/>
                </a:lnTo>
                <a:cubicBezTo>
                  <a:pt x="5661864" y="872056"/>
                  <a:pt x="5629469" y="904451"/>
                  <a:pt x="5589507" y="904451"/>
                </a:cubicBezTo>
                <a:lnTo>
                  <a:pt x="72356" y="904451"/>
                </a:lnTo>
                <a:cubicBezTo>
                  <a:pt x="32422" y="904451"/>
                  <a:pt x="0" y="872029"/>
                  <a:pt x="0" y="832095"/>
                </a:cubicBezTo>
                <a:lnTo>
                  <a:pt x="0" y="72356"/>
                </a:lnTo>
                <a:cubicBezTo>
                  <a:pt x="0" y="32422"/>
                  <a:pt x="32422" y="0"/>
                  <a:pt x="72356" y="0"/>
                </a:cubicBezTo>
                <a:close/>
              </a:path>
            </a:pathLst>
          </a:custGeom>
          <a:solidFill>
            <a:srgbClr val="78909C">
              <a:alpha val="10196"/>
            </a:srgbClr>
          </a:solidFill>
          <a:ln/>
        </p:spPr>
      </p:sp>
      <p:sp>
        <p:nvSpPr>
          <p:cNvPr id="53" name="Text 51"/>
          <p:cNvSpPr/>
          <p:nvPr/>
        </p:nvSpPr>
        <p:spPr>
          <a:xfrm>
            <a:off x="6274770" y="4920214"/>
            <a:ext cx="5517151" cy="217068"/>
          </a:xfrm>
          <a:prstGeom prst="rect">
            <a:avLst/>
          </a:prstGeom>
          <a:noFill/>
          <a:ln/>
        </p:spPr>
        <p:txBody>
          <a:bodyPr wrap="square" lIns="0" tIns="0" rIns="0" bIns="0" rtlCol="0" anchor="ctr"/>
          <a:lstStyle/>
          <a:p>
            <a:pPr>
              <a:lnSpc>
                <a:spcPct val="130000"/>
              </a:lnSpc>
            </a:pPr>
            <a:r>
              <a:rPr lang="en-US" sz="1139" b="1" dirty="0">
                <a:solidFill>
                  <a:srgbClr val="ECEFF1"/>
                </a:solidFill>
                <a:latin typeface="Liter" pitchFamily="34" charset="0"/>
                <a:ea typeface="Liter" pitchFamily="34" charset="-122"/>
                <a:cs typeface="Liter" pitchFamily="34" charset="-120"/>
              </a:rPr>
              <a:t>Limitations</a:t>
            </a:r>
            <a:endParaRPr lang="en-US" sz="1600" dirty="0"/>
          </a:p>
        </p:txBody>
      </p:sp>
      <p:sp>
        <p:nvSpPr>
          <p:cNvPr id="54" name="Shape 52"/>
          <p:cNvSpPr/>
          <p:nvPr/>
        </p:nvSpPr>
        <p:spPr>
          <a:xfrm>
            <a:off x="6292859" y="5245816"/>
            <a:ext cx="126623" cy="126623"/>
          </a:xfrm>
          <a:custGeom>
            <a:avLst/>
            <a:gdLst/>
            <a:ahLst/>
            <a:cxnLst/>
            <a:rect l="l" t="t" r="r" b="b"/>
            <a:pathLst>
              <a:path w="126623" h="126623">
                <a:moveTo>
                  <a:pt x="63312" y="0"/>
                </a:moveTo>
                <a:cubicBezTo>
                  <a:pt x="66947" y="0"/>
                  <a:pt x="70286" y="2003"/>
                  <a:pt x="72017" y="5194"/>
                </a:cubicBezTo>
                <a:lnTo>
                  <a:pt x="125436" y="104118"/>
                </a:lnTo>
                <a:cubicBezTo>
                  <a:pt x="127093" y="107185"/>
                  <a:pt x="127019" y="110894"/>
                  <a:pt x="125238" y="113887"/>
                </a:cubicBezTo>
                <a:cubicBezTo>
                  <a:pt x="123458" y="116879"/>
                  <a:pt x="120218" y="118709"/>
                  <a:pt x="116731" y="118709"/>
                </a:cubicBezTo>
                <a:lnTo>
                  <a:pt x="9892" y="118709"/>
                </a:lnTo>
                <a:cubicBezTo>
                  <a:pt x="6405" y="118709"/>
                  <a:pt x="3190" y="116879"/>
                  <a:pt x="1385" y="113887"/>
                </a:cubicBezTo>
                <a:cubicBezTo>
                  <a:pt x="-420" y="110894"/>
                  <a:pt x="-470" y="107185"/>
                  <a:pt x="1187" y="104118"/>
                </a:cubicBezTo>
                <a:lnTo>
                  <a:pt x="54606" y="5194"/>
                </a:lnTo>
                <a:cubicBezTo>
                  <a:pt x="56337" y="2003"/>
                  <a:pt x="59676" y="0"/>
                  <a:pt x="63312" y="0"/>
                </a:cubicBezTo>
                <a:close/>
                <a:moveTo>
                  <a:pt x="63312" y="41548"/>
                </a:moveTo>
                <a:cubicBezTo>
                  <a:pt x="60022" y="41548"/>
                  <a:pt x="57376" y="44194"/>
                  <a:pt x="57376" y="47484"/>
                </a:cubicBezTo>
                <a:lnTo>
                  <a:pt x="57376" y="75182"/>
                </a:lnTo>
                <a:cubicBezTo>
                  <a:pt x="57376" y="78472"/>
                  <a:pt x="60022" y="81118"/>
                  <a:pt x="63312" y="81118"/>
                </a:cubicBezTo>
                <a:cubicBezTo>
                  <a:pt x="66601" y="81118"/>
                  <a:pt x="69247" y="78472"/>
                  <a:pt x="69247" y="75182"/>
                </a:cubicBezTo>
                <a:lnTo>
                  <a:pt x="69247" y="47484"/>
                </a:lnTo>
                <a:cubicBezTo>
                  <a:pt x="69247" y="44194"/>
                  <a:pt x="66601" y="41548"/>
                  <a:pt x="63312" y="41548"/>
                </a:cubicBezTo>
                <a:close/>
                <a:moveTo>
                  <a:pt x="69915" y="94967"/>
                </a:moveTo>
                <a:cubicBezTo>
                  <a:pt x="70065" y="92516"/>
                  <a:pt x="68843" y="90184"/>
                  <a:pt x="66742" y="88913"/>
                </a:cubicBezTo>
                <a:cubicBezTo>
                  <a:pt x="64640" y="87643"/>
                  <a:pt x="62008" y="87643"/>
                  <a:pt x="59906" y="88913"/>
                </a:cubicBezTo>
                <a:cubicBezTo>
                  <a:pt x="57805" y="90184"/>
                  <a:pt x="56583" y="92516"/>
                  <a:pt x="56733" y="94967"/>
                </a:cubicBezTo>
                <a:cubicBezTo>
                  <a:pt x="56583" y="97418"/>
                  <a:pt x="57805" y="99750"/>
                  <a:pt x="59906" y="101021"/>
                </a:cubicBezTo>
                <a:cubicBezTo>
                  <a:pt x="62008" y="102292"/>
                  <a:pt x="64640" y="102292"/>
                  <a:pt x="66742" y="101021"/>
                </a:cubicBezTo>
                <a:cubicBezTo>
                  <a:pt x="68843" y="99750"/>
                  <a:pt x="70065" y="97418"/>
                  <a:pt x="69915" y="94967"/>
                </a:cubicBezTo>
                <a:close/>
              </a:path>
            </a:pathLst>
          </a:custGeom>
          <a:solidFill>
            <a:srgbClr val="FFD54F"/>
          </a:solidFill>
          <a:ln/>
        </p:spPr>
      </p:sp>
      <p:sp>
        <p:nvSpPr>
          <p:cNvPr id="55" name="Text 53"/>
          <p:cNvSpPr/>
          <p:nvPr/>
        </p:nvSpPr>
        <p:spPr>
          <a:xfrm>
            <a:off x="6505405" y="5209638"/>
            <a:ext cx="4341365" cy="180890"/>
          </a:xfrm>
          <a:prstGeom prst="rect">
            <a:avLst/>
          </a:prstGeom>
          <a:noFill/>
          <a:ln/>
        </p:spPr>
        <p:txBody>
          <a:bodyPr wrap="square" lIns="0" tIns="0" rIns="0" bIns="0" rtlCol="0" anchor="ctr"/>
          <a:lstStyle/>
          <a:p>
            <a:pPr>
              <a:lnSpc>
                <a:spcPct val="120000"/>
              </a:lnSpc>
            </a:pPr>
            <a:r>
              <a:rPr lang="en-US" sz="997" b="1" dirty="0">
                <a:solidFill>
                  <a:srgbClr val="ECEFF1"/>
                </a:solidFill>
                <a:latin typeface="Quattrocento Sans" pitchFamily="34" charset="0"/>
                <a:ea typeface="Quattrocento Sans" pitchFamily="34" charset="-122"/>
                <a:cs typeface="Quattrocento Sans" pitchFamily="34" charset="-120"/>
              </a:rPr>
              <a:t>Linear Separability:</a:t>
            </a:r>
            <a:r>
              <a:rPr lang="en-US" sz="997" dirty="0">
                <a:solidFill>
                  <a:srgbClr val="ECEFF1"/>
                </a:solidFill>
                <a:latin typeface="Quattrocento Sans" pitchFamily="34" charset="0"/>
                <a:ea typeface="Quattrocento Sans" pitchFamily="34" charset="-122"/>
                <a:cs typeface="Quattrocento Sans" pitchFamily="34" charset="-120"/>
              </a:rPr>
              <a:t> Can only solve linearly separable problems (XOR problem)</a:t>
            </a:r>
            <a:endParaRPr lang="en-US" sz="1600" dirty="0"/>
          </a:p>
        </p:txBody>
      </p:sp>
      <p:sp>
        <p:nvSpPr>
          <p:cNvPr id="56" name="Shape 54"/>
          <p:cNvSpPr/>
          <p:nvPr/>
        </p:nvSpPr>
        <p:spPr>
          <a:xfrm>
            <a:off x="6292859" y="5462884"/>
            <a:ext cx="126623" cy="126623"/>
          </a:xfrm>
          <a:custGeom>
            <a:avLst/>
            <a:gdLst/>
            <a:ahLst/>
            <a:cxnLst/>
            <a:rect l="l" t="t" r="r" b="b"/>
            <a:pathLst>
              <a:path w="126623" h="126623">
                <a:moveTo>
                  <a:pt x="63312" y="0"/>
                </a:moveTo>
                <a:cubicBezTo>
                  <a:pt x="66947" y="0"/>
                  <a:pt x="70286" y="2003"/>
                  <a:pt x="72017" y="5194"/>
                </a:cubicBezTo>
                <a:lnTo>
                  <a:pt x="125436" y="104118"/>
                </a:lnTo>
                <a:cubicBezTo>
                  <a:pt x="127093" y="107185"/>
                  <a:pt x="127019" y="110894"/>
                  <a:pt x="125238" y="113887"/>
                </a:cubicBezTo>
                <a:cubicBezTo>
                  <a:pt x="123458" y="116879"/>
                  <a:pt x="120218" y="118709"/>
                  <a:pt x="116731" y="118709"/>
                </a:cubicBezTo>
                <a:lnTo>
                  <a:pt x="9892" y="118709"/>
                </a:lnTo>
                <a:cubicBezTo>
                  <a:pt x="6405" y="118709"/>
                  <a:pt x="3190" y="116879"/>
                  <a:pt x="1385" y="113887"/>
                </a:cubicBezTo>
                <a:cubicBezTo>
                  <a:pt x="-420" y="110894"/>
                  <a:pt x="-470" y="107185"/>
                  <a:pt x="1187" y="104118"/>
                </a:cubicBezTo>
                <a:lnTo>
                  <a:pt x="54606" y="5194"/>
                </a:lnTo>
                <a:cubicBezTo>
                  <a:pt x="56337" y="2003"/>
                  <a:pt x="59676" y="0"/>
                  <a:pt x="63312" y="0"/>
                </a:cubicBezTo>
                <a:close/>
                <a:moveTo>
                  <a:pt x="63312" y="41548"/>
                </a:moveTo>
                <a:cubicBezTo>
                  <a:pt x="60022" y="41548"/>
                  <a:pt x="57376" y="44194"/>
                  <a:pt x="57376" y="47484"/>
                </a:cubicBezTo>
                <a:lnTo>
                  <a:pt x="57376" y="75182"/>
                </a:lnTo>
                <a:cubicBezTo>
                  <a:pt x="57376" y="78472"/>
                  <a:pt x="60022" y="81118"/>
                  <a:pt x="63312" y="81118"/>
                </a:cubicBezTo>
                <a:cubicBezTo>
                  <a:pt x="66601" y="81118"/>
                  <a:pt x="69247" y="78472"/>
                  <a:pt x="69247" y="75182"/>
                </a:cubicBezTo>
                <a:lnTo>
                  <a:pt x="69247" y="47484"/>
                </a:lnTo>
                <a:cubicBezTo>
                  <a:pt x="69247" y="44194"/>
                  <a:pt x="66601" y="41548"/>
                  <a:pt x="63312" y="41548"/>
                </a:cubicBezTo>
                <a:close/>
                <a:moveTo>
                  <a:pt x="69915" y="94967"/>
                </a:moveTo>
                <a:cubicBezTo>
                  <a:pt x="70065" y="92516"/>
                  <a:pt x="68843" y="90184"/>
                  <a:pt x="66742" y="88913"/>
                </a:cubicBezTo>
                <a:cubicBezTo>
                  <a:pt x="64640" y="87643"/>
                  <a:pt x="62008" y="87643"/>
                  <a:pt x="59906" y="88913"/>
                </a:cubicBezTo>
                <a:cubicBezTo>
                  <a:pt x="57805" y="90184"/>
                  <a:pt x="56583" y="92516"/>
                  <a:pt x="56733" y="94967"/>
                </a:cubicBezTo>
                <a:cubicBezTo>
                  <a:pt x="56583" y="97418"/>
                  <a:pt x="57805" y="99750"/>
                  <a:pt x="59906" y="101021"/>
                </a:cubicBezTo>
                <a:cubicBezTo>
                  <a:pt x="62008" y="102292"/>
                  <a:pt x="64640" y="102292"/>
                  <a:pt x="66742" y="101021"/>
                </a:cubicBezTo>
                <a:cubicBezTo>
                  <a:pt x="68843" y="99750"/>
                  <a:pt x="70065" y="97418"/>
                  <a:pt x="69915" y="94967"/>
                </a:cubicBezTo>
                <a:close/>
              </a:path>
            </a:pathLst>
          </a:custGeom>
          <a:solidFill>
            <a:srgbClr val="FFD54F"/>
          </a:solidFill>
          <a:ln/>
        </p:spPr>
      </p:sp>
      <p:sp>
        <p:nvSpPr>
          <p:cNvPr id="57" name="Text 55"/>
          <p:cNvSpPr/>
          <p:nvPr/>
        </p:nvSpPr>
        <p:spPr>
          <a:xfrm>
            <a:off x="6505405" y="5426706"/>
            <a:ext cx="3192712" cy="180890"/>
          </a:xfrm>
          <a:prstGeom prst="rect">
            <a:avLst/>
          </a:prstGeom>
          <a:noFill/>
          <a:ln/>
        </p:spPr>
        <p:txBody>
          <a:bodyPr wrap="square" lIns="0" tIns="0" rIns="0" bIns="0" rtlCol="0" anchor="ctr"/>
          <a:lstStyle/>
          <a:p>
            <a:pPr>
              <a:lnSpc>
                <a:spcPct val="120000"/>
              </a:lnSpc>
            </a:pPr>
            <a:r>
              <a:rPr lang="en-US" sz="997" b="1" dirty="0">
                <a:solidFill>
                  <a:srgbClr val="ECEFF1"/>
                </a:solidFill>
                <a:latin typeface="Quattrocento Sans" pitchFamily="34" charset="0"/>
                <a:ea typeface="Quattrocento Sans" pitchFamily="34" charset="-122"/>
                <a:cs typeface="Quattrocento Sans" pitchFamily="34" charset="-120"/>
              </a:rPr>
              <a:t>Single Layer:</a:t>
            </a:r>
            <a:r>
              <a:rPr lang="en-US" sz="997" dirty="0">
                <a:solidFill>
                  <a:srgbClr val="ECEFF1"/>
                </a:solidFill>
                <a:latin typeface="Quattrocento Sans" pitchFamily="34" charset="0"/>
                <a:ea typeface="Quattrocento Sans" pitchFamily="34" charset="-122"/>
                <a:cs typeface="Quattrocento Sans" pitchFamily="34" charset="-120"/>
              </a:rPr>
              <a:t> No hidden layers limit representation power</a:t>
            </a:r>
            <a:endParaRPr lang="en-US" sz="1600" dirty="0"/>
          </a:p>
        </p:txBody>
      </p:sp>
      <p:sp>
        <p:nvSpPr>
          <p:cNvPr id="58" name="Shape 56"/>
          <p:cNvSpPr/>
          <p:nvPr/>
        </p:nvSpPr>
        <p:spPr>
          <a:xfrm>
            <a:off x="6170759" y="5793009"/>
            <a:ext cx="5652819" cy="949674"/>
          </a:xfrm>
          <a:custGeom>
            <a:avLst/>
            <a:gdLst/>
            <a:ahLst/>
            <a:cxnLst/>
            <a:rect l="l" t="t" r="r" b="b"/>
            <a:pathLst>
              <a:path w="5652819" h="949674">
                <a:moveTo>
                  <a:pt x="72356" y="0"/>
                </a:moveTo>
                <a:lnTo>
                  <a:pt x="5580463" y="0"/>
                </a:lnTo>
                <a:cubicBezTo>
                  <a:pt x="5620424" y="0"/>
                  <a:pt x="5652819" y="32395"/>
                  <a:pt x="5652819" y="72356"/>
                </a:cubicBezTo>
                <a:lnTo>
                  <a:pt x="5652819" y="877318"/>
                </a:lnTo>
                <a:cubicBezTo>
                  <a:pt x="5652819" y="917279"/>
                  <a:pt x="5620424" y="949674"/>
                  <a:pt x="5580463" y="949674"/>
                </a:cubicBezTo>
                <a:lnTo>
                  <a:pt x="72356" y="949674"/>
                </a:lnTo>
                <a:cubicBezTo>
                  <a:pt x="32395" y="949674"/>
                  <a:pt x="0" y="917279"/>
                  <a:pt x="0" y="877318"/>
                </a:cubicBezTo>
                <a:lnTo>
                  <a:pt x="0" y="72356"/>
                </a:lnTo>
                <a:cubicBezTo>
                  <a:pt x="0" y="32421"/>
                  <a:pt x="32421" y="0"/>
                  <a:pt x="72356" y="0"/>
                </a:cubicBezTo>
                <a:close/>
              </a:path>
            </a:pathLst>
          </a:custGeom>
          <a:solidFill>
            <a:srgbClr val="4DB6AC">
              <a:alpha val="10196"/>
            </a:srgbClr>
          </a:solidFill>
          <a:ln w="12700">
            <a:solidFill>
              <a:srgbClr val="4DB6AC">
                <a:alpha val="30196"/>
              </a:srgbClr>
            </a:solidFill>
            <a:prstDash val="solid"/>
          </a:ln>
        </p:spPr>
      </p:sp>
      <p:sp>
        <p:nvSpPr>
          <p:cNvPr id="59" name="Text 57"/>
          <p:cNvSpPr/>
          <p:nvPr/>
        </p:nvSpPr>
        <p:spPr>
          <a:xfrm>
            <a:off x="6215981" y="5906065"/>
            <a:ext cx="5562374" cy="325602"/>
          </a:xfrm>
          <a:prstGeom prst="rect">
            <a:avLst/>
          </a:prstGeom>
          <a:noFill/>
          <a:ln/>
        </p:spPr>
        <p:txBody>
          <a:bodyPr wrap="square" lIns="0" tIns="0" rIns="0" bIns="0" rtlCol="0" anchor="ctr"/>
          <a:lstStyle/>
          <a:p>
            <a:pPr algn="ctr">
              <a:lnSpc>
                <a:spcPct val="100000"/>
              </a:lnSpc>
            </a:pPr>
            <a:r>
              <a:rPr lang="en-US" sz="2137" b="1" dirty="0">
                <a:solidFill>
                  <a:srgbClr val="4DB6AC"/>
                </a:solidFill>
                <a:latin typeface="Liter" pitchFamily="34" charset="0"/>
                <a:ea typeface="Liter" pitchFamily="34" charset="-122"/>
                <a:cs typeface="Liter" pitchFamily="34" charset="-120"/>
              </a:rPr>
              <a:t>1958</a:t>
            </a:r>
            <a:endParaRPr lang="en-US" sz="1600" dirty="0"/>
          </a:p>
        </p:txBody>
      </p:sp>
      <p:sp>
        <p:nvSpPr>
          <p:cNvPr id="60" name="Text 58"/>
          <p:cNvSpPr/>
          <p:nvPr/>
        </p:nvSpPr>
        <p:spPr>
          <a:xfrm>
            <a:off x="6252159" y="6267846"/>
            <a:ext cx="5490018" cy="180890"/>
          </a:xfrm>
          <a:prstGeom prst="rect">
            <a:avLst/>
          </a:prstGeom>
          <a:noFill/>
          <a:ln/>
        </p:spPr>
        <p:txBody>
          <a:bodyPr wrap="square" lIns="0" tIns="0" rIns="0" bIns="0" rtlCol="0" anchor="ctr"/>
          <a:lstStyle/>
          <a:p>
            <a:pPr algn="ctr">
              <a:lnSpc>
                <a:spcPct val="120000"/>
              </a:lnSpc>
            </a:pPr>
            <a:r>
              <a:rPr lang="en-US" sz="997" dirty="0">
                <a:solidFill>
                  <a:srgbClr val="ECEFF1"/>
                </a:solidFill>
                <a:latin typeface="Quattrocento Sans" pitchFamily="34" charset="0"/>
                <a:ea typeface="Quattrocento Sans" pitchFamily="34" charset="-122"/>
                <a:cs typeface="Quattrocento Sans" pitchFamily="34" charset="-120"/>
              </a:rPr>
              <a:t>Year Introduced</a:t>
            </a:r>
            <a:endParaRPr lang="en-US" sz="1600" dirty="0"/>
          </a:p>
        </p:txBody>
      </p:sp>
      <p:sp>
        <p:nvSpPr>
          <p:cNvPr id="61" name="Text 59"/>
          <p:cNvSpPr/>
          <p:nvPr/>
        </p:nvSpPr>
        <p:spPr>
          <a:xfrm>
            <a:off x="6256681" y="6484914"/>
            <a:ext cx="5480973" cy="144712"/>
          </a:xfrm>
          <a:prstGeom prst="rect">
            <a:avLst/>
          </a:prstGeom>
          <a:noFill/>
          <a:ln/>
        </p:spPr>
        <p:txBody>
          <a:bodyPr wrap="square" lIns="0" tIns="0" rIns="0" bIns="0" rtlCol="0" anchor="ctr"/>
          <a:lstStyle/>
          <a:p>
            <a:pPr algn="ctr">
              <a:lnSpc>
                <a:spcPct val="110000"/>
              </a:lnSpc>
            </a:pPr>
            <a:r>
              <a:rPr lang="en-US" sz="855" dirty="0">
                <a:solidFill>
                  <a:srgbClr val="78909C"/>
                </a:solidFill>
                <a:latin typeface="Quattrocento Sans" pitchFamily="34" charset="0"/>
                <a:ea typeface="Quattrocento Sans" pitchFamily="34" charset="-122"/>
                <a:cs typeface="Quattrocento Sans" pitchFamily="34" charset="-120"/>
              </a:rPr>
              <a:t>Viti i Prezantimit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Multi-Layer Perceptron (MLP)</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Perceptroni me Shtresa të Shumëfishta</a:t>
            </a:r>
            <a:endParaRPr lang="en-US" sz="1600" dirty="0"/>
          </a:p>
        </p:txBody>
      </p:sp>
      <p:sp>
        <p:nvSpPr>
          <p:cNvPr id="4" name="Shape 2"/>
          <p:cNvSpPr/>
          <p:nvPr/>
        </p:nvSpPr>
        <p:spPr>
          <a:xfrm>
            <a:off x="400050" y="1181100"/>
            <a:ext cx="5619750" cy="1943100"/>
          </a:xfrm>
          <a:custGeom>
            <a:avLst/>
            <a:gdLst/>
            <a:ahLst/>
            <a:cxnLst/>
            <a:rect l="l" t="t" r="r" b="b"/>
            <a:pathLst>
              <a:path w="5619750" h="1943100">
                <a:moveTo>
                  <a:pt x="0" y="0"/>
                </a:moveTo>
                <a:lnTo>
                  <a:pt x="5543542" y="0"/>
                </a:lnTo>
                <a:cubicBezTo>
                  <a:pt x="5585630" y="0"/>
                  <a:pt x="5619750" y="34120"/>
                  <a:pt x="5619750" y="76208"/>
                </a:cubicBezTo>
                <a:lnTo>
                  <a:pt x="5619750" y="1866892"/>
                </a:lnTo>
                <a:cubicBezTo>
                  <a:pt x="5619750" y="1908980"/>
                  <a:pt x="5585630" y="1943100"/>
                  <a:pt x="5543542" y="1943100"/>
                </a:cubicBezTo>
                <a:lnTo>
                  <a:pt x="0" y="1943100"/>
                </a:lnTo>
                <a:lnTo>
                  <a:pt x="0" y="0"/>
                </a:lnTo>
                <a:close/>
              </a:path>
            </a:pathLst>
          </a:custGeom>
          <a:solidFill>
            <a:srgbClr val="4DB6AC">
              <a:alpha val="10196"/>
            </a:srgbClr>
          </a:solidFill>
          <a:ln/>
        </p:spPr>
      </p:sp>
      <p:sp>
        <p:nvSpPr>
          <p:cNvPr id="5" name="Shape 3"/>
          <p:cNvSpPr/>
          <p:nvPr/>
        </p:nvSpPr>
        <p:spPr>
          <a:xfrm>
            <a:off x="400050" y="1181100"/>
            <a:ext cx="38100" cy="1943100"/>
          </a:xfrm>
          <a:custGeom>
            <a:avLst/>
            <a:gdLst/>
            <a:ahLst/>
            <a:cxnLst/>
            <a:rect l="l" t="t" r="r" b="b"/>
            <a:pathLst>
              <a:path w="38100" h="1943100">
                <a:moveTo>
                  <a:pt x="0" y="0"/>
                </a:moveTo>
                <a:lnTo>
                  <a:pt x="38100" y="0"/>
                </a:lnTo>
                <a:lnTo>
                  <a:pt x="38100" y="1943100"/>
                </a:lnTo>
                <a:lnTo>
                  <a:pt x="0" y="1943100"/>
                </a:lnTo>
                <a:lnTo>
                  <a:pt x="0" y="0"/>
                </a:lnTo>
                <a:close/>
              </a:path>
            </a:pathLst>
          </a:custGeom>
          <a:solidFill>
            <a:srgbClr val="4DB6AC"/>
          </a:solidFill>
          <a:ln/>
        </p:spPr>
      </p:sp>
      <p:sp>
        <p:nvSpPr>
          <p:cNvPr id="6" name="Text 4"/>
          <p:cNvSpPr/>
          <p:nvPr/>
        </p:nvSpPr>
        <p:spPr>
          <a:xfrm>
            <a:off x="533400" y="1295400"/>
            <a:ext cx="5448300"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An MLP is a feedforward neural network with at least three layers: input, hidden, and output. Multiple hidden layers enable the network to learn non-linear relationships and approximate any continuous function (Universal Approximation Theorem).</a:t>
            </a:r>
            <a:endParaRPr lang="en-US" sz="1600" dirty="0"/>
          </a:p>
        </p:txBody>
      </p:sp>
      <p:sp>
        <p:nvSpPr>
          <p:cNvPr id="7" name="Text 5"/>
          <p:cNvSpPr/>
          <p:nvPr/>
        </p:nvSpPr>
        <p:spPr>
          <a:xfrm>
            <a:off x="533400" y="2171700"/>
            <a:ext cx="5448300"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Një MLP është një rrjet nervor feedforward me të paktën tre shtresa: hyrëse, të fshehura dhe dalëse. Shtresat e shumëfishta të fshehura i mundësojnë rrjetit të mësojë marrëdhënie jo-lineare dhe të aproksimojë çdo funksion të vazhdueshëm (Teorema e Aproksimit Universal).</a:t>
            </a:r>
            <a:endParaRPr lang="en-US" sz="1600" dirty="0"/>
          </a:p>
        </p:txBody>
      </p:sp>
      <p:sp>
        <p:nvSpPr>
          <p:cNvPr id="8" name="Shape 6"/>
          <p:cNvSpPr/>
          <p:nvPr/>
        </p:nvSpPr>
        <p:spPr>
          <a:xfrm>
            <a:off x="381000" y="3200400"/>
            <a:ext cx="1828800" cy="914400"/>
          </a:xfrm>
          <a:custGeom>
            <a:avLst/>
            <a:gdLst/>
            <a:ahLst/>
            <a:cxnLst/>
            <a:rect l="l" t="t" r="r" b="b"/>
            <a:pathLst>
              <a:path w="1828800" h="914400">
                <a:moveTo>
                  <a:pt x="76197" y="0"/>
                </a:moveTo>
                <a:lnTo>
                  <a:pt x="1752603" y="0"/>
                </a:lnTo>
                <a:cubicBezTo>
                  <a:pt x="1794685" y="0"/>
                  <a:pt x="1828800" y="34115"/>
                  <a:pt x="1828800" y="76197"/>
                </a:cubicBezTo>
                <a:lnTo>
                  <a:pt x="1828800" y="838203"/>
                </a:lnTo>
                <a:cubicBezTo>
                  <a:pt x="1828800" y="880285"/>
                  <a:pt x="1794685" y="914400"/>
                  <a:pt x="1752603" y="914400"/>
                </a:cubicBezTo>
                <a:lnTo>
                  <a:pt x="76197" y="914400"/>
                </a:lnTo>
                <a:cubicBezTo>
                  <a:pt x="34115" y="914400"/>
                  <a:pt x="0" y="880285"/>
                  <a:pt x="0" y="838203"/>
                </a:cubicBezTo>
                <a:lnTo>
                  <a:pt x="0" y="76197"/>
                </a:lnTo>
                <a:cubicBezTo>
                  <a:pt x="0" y="34143"/>
                  <a:pt x="34143" y="0"/>
                  <a:pt x="76197" y="0"/>
                </a:cubicBezTo>
                <a:close/>
              </a:path>
            </a:pathLst>
          </a:custGeom>
          <a:solidFill>
            <a:srgbClr val="4DB6AC">
              <a:alpha val="10196"/>
            </a:srgbClr>
          </a:solidFill>
          <a:ln/>
        </p:spPr>
      </p:sp>
      <p:sp>
        <p:nvSpPr>
          <p:cNvPr id="9" name="Shape 7"/>
          <p:cNvSpPr/>
          <p:nvPr/>
        </p:nvSpPr>
        <p:spPr>
          <a:xfrm>
            <a:off x="1200150" y="3276600"/>
            <a:ext cx="190500" cy="190500"/>
          </a:xfrm>
          <a:custGeom>
            <a:avLst/>
            <a:gdLst/>
            <a:ahLst/>
            <a:cxnLst/>
            <a:rect l="l" t="t" r="r" b="b"/>
            <a:pathLst>
              <a:path w="190500" h="190500">
                <a:moveTo>
                  <a:pt x="187003" y="103659"/>
                </a:moveTo>
                <a:cubicBezTo>
                  <a:pt x="191653" y="99008"/>
                  <a:pt x="191653" y="91455"/>
                  <a:pt x="187003" y="86804"/>
                </a:cubicBezTo>
                <a:lnTo>
                  <a:pt x="127471" y="27273"/>
                </a:lnTo>
                <a:cubicBezTo>
                  <a:pt x="122820" y="22622"/>
                  <a:pt x="115267" y="22622"/>
                  <a:pt x="110617" y="27273"/>
                </a:cubicBezTo>
                <a:cubicBezTo>
                  <a:pt x="105966" y="31924"/>
                  <a:pt x="105966" y="39477"/>
                  <a:pt x="110617" y="44128"/>
                </a:cubicBezTo>
                <a:lnTo>
                  <a:pt x="149833" y="83344"/>
                </a:lnTo>
                <a:lnTo>
                  <a:pt x="11906" y="83344"/>
                </a:lnTo>
                <a:cubicBezTo>
                  <a:pt x="5321" y="83344"/>
                  <a:pt x="0" y="88664"/>
                  <a:pt x="0" y="95250"/>
                </a:cubicBezTo>
                <a:cubicBezTo>
                  <a:pt x="0" y="101836"/>
                  <a:pt x="5321" y="107156"/>
                  <a:pt x="11906" y="107156"/>
                </a:cubicBezTo>
                <a:lnTo>
                  <a:pt x="149833" y="107156"/>
                </a:lnTo>
                <a:lnTo>
                  <a:pt x="110617" y="146372"/>
                </a:lnTo>
                <a:cubicBezTo>
                  <a:pt x="105966" y="151023"/>
                  <a:pt x="105966" y="158576"/>
                  <a:pt x="110617" y="163227"/>
                </a:cubicBezTo>
                <a:cubicBezTo>
                  <a:pt x="115267" y="167878"/>
                  <a:pt x="122820" y="167878"/>
                  <a:pt x="127471" y="163227"/>
                </a:cubicBezTo>
                <a:lnTo>
                  <a:pt x="187003" y="103696"/>
                </a:lnTo>
                <a:close/>
              </a:path>
            </a:pathLst>
          </a:custGeom>
          <a:solidFill>
            <a:srgbClr val="4DB6AC"/>
          </a:solidFill>
          <a:ln/>
        </p:spPr>
      </p:sp>
      <p:sp>
        <p:nvSpPr>
          <p:cNvPr id="10" name="Text 8"/>
          <p:cNvSpPr/>
          <p:nvPr/>
        </p:nvSpPr>
        <p:spPr>
          <a:xfrm>
            <a:off x="423863" y="3505200"/>
            <a:ext cx="17430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Input Layer</a:t>
            </a:r>
            <a:endParaRPr lang="en-US" sz="1600" dirty="0"/>
          </a:p>
        </p:txBody>
      </p:sp>
      <p:sp>
        <p:nvSpPr>
          <p:cNvPr id="11" name="Text 9"/>
          <p:cNvSpPr/>
          <p:nvPr/>
        </p:nvSpPr>
        <p:spPr>
          <a:xfrm>
            <a:off x="428625" y="3695700"/>
            <a:ext cx="17335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Shtresa Hyrëse</a:t>
            </a:r>
            <a:endParaRPr lang="en-US" sz="1600" dirty="0"/>
          </a:p>
        </p:txBody>
      </p:sp>
      <p:sp>
        <p:nvSpPr>
          <p:cNvPr id="12" name="Text 10"/>
          <p:cNvSpPr/>
          <p:nvPr/>
        </p:nvSpPr>
        <p:spPr>
          <a:xfrm>
            <a:off x="428625" y="3886200"/>
            <a:ext cx="1733550" cy="152400"/>
          </a:xfrm>
          <a:prstGeom prst="rect">
            <a:avLst/>
          </a:prstGeom>
          <a:noFill/>
          <a:ln/>
        </p:spPr>
        <p:txBody>
          <a:bodyPr wrap="square" lIns="0" tIns="0" rIns="0" bIns="0" rtlCol="0" anchor="ctr"/>
          <a:lstStyle/>
          <a:p>
            <a:pPr algn="ct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Receives raw data</a:t>
            </a:r>
            <a:endParaRPr lang="en-US" sz="1600" dirty="0"/>
          </a:p>
        </p:txBody>
      </p:sp>
      <p:sp>
        <p:nvSpPr>
          <p:cNvPr id="13" name="Shape 11"/>
          <p:cNvSpPr/>
          <p:nvPr/>
        </p:nvSpPr>
        <p:spPr>
          <a:xfrm>
            <a:off x="2286000" y="3200400"/>
            <a:ext cx="1828800" cy="914400"/>
          </a:xfrm>
          <a:custGeom>
            <a:avLst/>
            <a:gdLst/>
            <a:ahLst/>
            <a:cxnLst/>
            <a:rect l="l" t="t" r="r" b="b"/>
            <a:pathLst>
              <a:path w="1828800" h="914400">
                <a:moveTo>
                  <a:pt x="76197" y="0"/>
                </a:moveTo>
                <a:lnTo>
                  <a:pt x="1752603" y="0"/>
                </a:lnTo>
                <a:cubicBezTo>
                  <a:pt x="1794685" y="0"/>
                  <a:pt x="1828800" y="34115"/>
                  <a:pt x="1828800" y="76197"/>
                </a:cubicBezTo>
                <a:lnTo>
                  <a:pt x="1828800" y="838203"/>
                </a:lnTo>
                <a:cubicBezTo>
                  <a:pt x="1828800" y="880285"/>
                  <a:pt x="1794685" y="914400"/>
                  <a:pt x="1752603" y="914400"/>
                </a:cubicBezTo>
                <a:lnTo>
                  <a:pt x="76197" y="914400"/>
                </a:lnTo>
                <a:cubicBezTo>
                  <a:pt x="34115" y="914400"/>
                  <a:pt x="0" y="880285"/>
                  <a:pt x="0" y="838203"/>
                </a:cubicBezTo>
                <a:lnTo>
                  <a:pt x="0" y="76197"/>
                </a:lnTo>
                <a:cubicBezTo>
                  <a:pt x="0" y="34143"/>
                  <a:pt x="34143" y="0"/>
                  <a:pt x="76197" y="0"/>
                </a:cubicBezTo>
                <a:close/>
              </a:path>
            </a:pathLst>
          </a:custGeom>
          <a:solidFill>
            <a:srgbClr val="FFD54F">
              <a:alpha val="10196"/>
            </a:srgbClr>
          </a:solidFill>
          <a:ln/>
        </p:spPr>
      </p:sp>
      <p:sp>
        <p:nvSpPr>
          <p:cNvPr id="14" name="Shape 12"/>
          <p:cNvSpPr/>
          <p:nvPr/>
        </p:nvSpPr>
        <p:spPr>
          <a:xfrm>
            <a:off x="3105150" y="32766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FFD54F"/>
          </a:solidFill>
          <a:ln/>
        </p:spPr>
      </p:sp>
      <p:sp>
        <p:nvSpPr>
          <p:cNvPr id="15" name="Text 13"/>
          <p:cNvSpPr/>
          <p:nvPr/>
        </p:nvSpPr>
        <p:spPr>
          <a:xfrm>
            <a:off x="2328863" y="3505200"/>
            <a:ext cx="17430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Hidden Layers</a:t>
            </a:r>
            <a:endParaRPr lang="en-US" sz="1600" dirty="0"/>
          </a:p>
        </p:txBody>
      </p:sp>
      <p:sp>
        <p:nvSpPr>
          <p:cNvPr id="16" name="Text 14"/>
          <p:cNvSpPr/>
          <p:nvPr/>
        </p:nvSpPr>
        <p:spPr>
          <a:xfrm>
            <a:off x="2333625" y="3695700"/>
            <a:ext cx="17335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Shtresat e Fshehura</a:t>
            </a:r>
            <a:endParaRPr lang="en-US" sz="1600" dirty="0"/>
          </a:p>
        </p:txBody>
      </p:sp>
      <p:sp>
        <p:nvSpPr>
          <p:cNvPr id="17" name="Text 15"/>
          <p:cNvSpPr/>
          <p:nvPr/>
        </p:nvSpPr>
        <p:spPr>
          <a:xfrm>
            <a:off x="2333625" y="3886200"/>
            <a:ext cx="1733550" cy="152400"/>
          </a:xfrm>
          <a:prstGeom prst="rect">
            <a:avLst/>
          </a:prstGeom>
          <a:noFill/>
          <a:ln/>
        </p:spPr>
        <p:txBody>
          <a:bodyPr wrap="square" lIns="0" tIns="0" rIns="0" bIns="0" rtlCol="0" anchor="ctr"/>
          <a:lstStyle/>
          <a:p>
            <a:pPr algn="ct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Extract features</a:t>
            </a:r>
            <a:endParaRPr lang="en-US" sz="1600" dirty="0"/>
          </a:p>
        </p:txBody>
      </p:sp>
      <p:sp>
        <p:nvSpPr>
          <p:cNvPr id="18" name="Shape 16"/>
          <p:cNvSpPr/>
          <p:nvPr/>
        </p:nvSpPr>
        <p:spPr>
          <a:xfrm>
            <a:off x="4191000" y="3200400"/>
            <a:ext cx="1828800" cy="914400"/>
          </a:xfrm>
          <a:custGeom>
            <a:avLst/>
            <a:gdLst/>
            <a:ahLst/>
            <a:cxnLst/>
            <a:rect l="l" t="t" r="r" b="b"/>
            <a:pathLst>
              <a:path w="1828800" h="914400">
                <a:moveTo>
                  <a:pt x="76197" y="0"/>
                </a:moveTo>
                <a:lnTo>
                  <a:pt x="1752603" y="0"/>
                </a:lnTo>
                <a:cubicBezTo>
                  <a:pt x="1794685" y="0"/>
                  <a:pt x="1828800" y="34115"/>
                  <a:pt x="1828800" y="76197"/>
                </a:cubicBezTo>
                <a:lnTo>
                  <a:pt x="1828800" y="838203"/>
                </a:lnTo>
                <a:cubicBezTo>
                  <a:pt x="1828800" y="880285"/>
                  <a:pt x="1794685" y="914400"/>
                  <a:pt x="1752603" y="914400"/>
                </a:cubicBezTo>
                <a:lnTo>
                  <a:pt x="76197" y="914400"/>
                </a:lnTo>
                <a:cubicBezTo>
                  <a:pt x="34115" y="914400"/>
                  <a:pt x="0" y="880285"/>
                  <a:pt x="0" y="838203"/>
                </a:cubicBezTo>
                <a:lnTo>
                  <a:pt x="0" y="76197"/>
                </a:lnTo>
                <a:cubicBezTo>
                  <a:pt x="0" y="34143"/>
                  <a:pt x="34143" y="0"/>
                  <a:pt x="76197" y="0"/>
                </a:cubicBezTo>
                <a:close/>
              </a:path>
            </a:pathLst>
          </a:custGeom>
          <a:solidFill>
            <a:srgbClr val="4DB6AC">
              <a:alpha val="10196"/>
            </a:srgbClr>
          </a:solidFill>
          <a:ln/>
        </p:spPr>
      </p:sp>
      <p:sp>
        <p:nvSpPr>
          <p:cNvPr id="19" name="Shape 17"/>
          <p:cNvSpPr/>
          <p:nvPr/>
        </p:nvSpPr>
        <p:spPr>
          <a:xfrm>
            <a:off x="5010150" y="3276600"/>
            <a:ext cx="190500" cy="190500"/>
          </a:xfrm>
          <a:custGeom>
            <a:avLst/>
            <a:gdLst/>
            <a:ahLst/>
            <a:cxnLst/>
            <a:rect l="l" t="t" r="r" b="b"/>
            <a:pathLst>
              <a:path w="190500" h="190500">
                <a:moveTo>
                  <a:pt x="3497" y="86841"/>
                </a:moveTo>
                <a:cubicBezTo>
                  <a:pt x="-1153" y="91492"/>
                  <a:pt x="-1153" y="99045"/>
                  <a:pt x="3497" y="103696"/>
                </a:cubicBezTo>
                <a:lnTo>
                  <a:pt x="63029" y="163227"/>
                </a:lnTo>
                <a:cubicBezTo>
                  <a:pt x="67680" y="167878"/>
                  <a:pt x="75233" y="167878"/>
                  <a:pt x="79883" y="163227"/>
                </a:cubicBezTo>
                <a:cubicBezTo>
                  <a:pt x="84534" y="158576"/>
                  <a:pt x="84534" y="151023"/>
                  <a:pt x="79883" y="146372"/>
                </a:cubicBezTo>
                <a:lnTo>
                  <a:pt x="40667" y="107156"/>
                </a:lnTo>
                <a:lnTo>
                  <a:pt x="178594" y="107156"/>
                </a:lnTo>
                <a:cubicBezTo>
                  <a:pt x="185179" y="107156"/>
                  <a:pt x="190500" y="101836"/>
                  <a:pt x="190500" y="95250"/>
                </a:cubicBezTo>
                <a:cubicBezTo>
                  <a:pt x="190500" y="88664"/>
                  <a:pt x="185179" y="83344"/>
                  <a:pt x="178594" y="83344"/>
                </a:cubicBezTo>
                <a:lnTo>
                  <a:pt x="40667" y="83344"/>
                </a:lnTo>
                <a:lnTo>
                  <a:pt x="79883" y="44128"/>
                </a:lnTo>
                <a:cubicBezTo>
                  <a:pt x="84534" y="39477"/>
                  <a:pt x="84534" y="31924"/>
                  <a:pt x="79883" y="27273"/>
                </a:cubicBezTo>
                <a:cubicBezTo>
                  <a:pt x="75233" y="22622"/>
                  <a:pt x="67680" y="22622"/>
                  <a:pt x="63029" y="27273"/>
                </a:cubicBezTo>
                <a:lnTo>
                  <a:pt x="3497" y="86804"/>
                </a:lnTo>
                <a:close/>
              </a:path>
            </a:pathLst>
          </a:custGeom>
          <a:solidFill>
            <a:srgbClr val="4DB6AC"/>
          </a:solidFill>
          <a:ln/>
        </p:spPr>
      </p:sp>
      <p:sp>
        <p:nvSpPr>
          <p:cNvPr id="20" name="Text 18"/>
          <p:cNvSpPr/>
          <p:nvPr/>
        </p:nvSpPr>
        <p:spPr>
          <a:xfrm>
            <a:off x="4233863" y="3505200"/>
            <a:ext cx="17430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Output Layer</a:t>
            </a:r>
            <a:endParaRPr lang="en-US" sz="1600" dirty="0"/>
          </a:p>
        </p:txBody>
      </p:sp>
      <p:sp>
        <p:nvSpPr>
          <p:cNvPr id="21" name="Text 19"/>
          <p:cNvSpPr/>
          <p:nvPr/>
        </p:nvSpPr>
        <p:spPr>
          <a:xfrm>
            <a:off x="4238625" y="3695700"/>
            <a:ext cx="17335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Shtresa Dalëse</a:t>
            </a:r>
            <a:endParaRPr lang="en-US" sz="1600" dirty="0"/>
          </a:p>
        </p:txBody>
      </p:sp>
      <p:sp>
        <p:nvSpPr>
          <p:cNvPr id="22" name="Text 20"/>
          <p:cNvSpPr/>
          <p:nvPr/>
        </p:nvSpPr>
        <p:spPr>
          <a:xfrm>
            <a:off x="4238625" y="3886200"/>
            <a:ext cx="1733550" cy="152400"/>
          </a:xfrm>
          <a:prstGeom prst="rect">
            <a:avLst/>
          </a:prstGeom>
          <a:noFill/>
          <a:ln/>
        </p:spPr>
        <p:txBody>
          <a:bodyPr wrap="square" lIns="0" tIns="0" rIns="0" bIns="0" rtlCol="0" anchor="ctr"/>
          <a:lstStyle/>
          <a:p>
            <a:pPr algn="ct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Produces results</a:t>
            </a:r>
            <a:endParaRPr lang="en-US" sz="1600" dirty="0"/>
          </a:p>
        </p:txBody>
      </p:sp>
      <p:sp>
        <p:nvSpPr>
          <p:cNvPr id="23" name="Shape 21"/>
          <p:cNvSpPr/>
          <p:nvPr/>
        </p:nvSpPr>
        <p:spPr>
          <a:xfrm>
            <a:off x="381000" y="4191000"/>
            <a:ext cx="5638800" cy="1600200"/>
          </a:xfrm>
          <a:custGeom>
            <a:avLst/>
            <a:gdLst/>
            <a:ahLst/>
            <a:cxnLst/>
            <a:rect l="l" t="t" r="r" b="b"/>
            <a:pathLst>
              <a:path w="5638800" h="1600200">
                <a:moveTo>
                  <a:pt x="76202" y="0"/>
                </a:moveTo>
                <a:lnTo>
                  <a:pt x="5562598" y="0"/>
                </a:lnTo>
                <a:cubicBezTo>
                  <a:pt x="5604683" y="0"/>
                  <a:pt x="5638800" y="34117"/>
                  <a:pt x="5638800" y="76202"/>
                </a:cubicBezTo>
                <a:lnTo>
                  <a:pt x="5638800" y="1523998"/>
                </a:lnTo>
                <a:cubicBezTo>
                  <a:pt x="5638800" y="1566083"/>
                  <a:pt x="5604683" y="1600200"/>
                  <a:pt x="5562598" y="1600200"/>
                </a:cubicBezTo>
                <a:lnTo>
                  <a:pt x="76202" y="1600200"/>
                </a:lnTo>
                <a:cubicBezTo>
                  <a:pt x="34117" y="1600200"/>
                  <a:pt x="0" y="1566083"/>
                  <a:pt x="0" y="1523998"/>
                </a:cubicBezTo>
                <a:lnTo>
                  <a:pt x="0" y="76202"/>
                </a:lnTo>
                <a:cubicBezTo>
                  <a:pt x="0" y="34145"/>
                  <a:pt x="34145" y="0"/>
                  <a:pt x="76202" y="0"/>
                </a:cubicBezTo>
                <a:close/>
              </a:path>
            </a:pathLst>
          </a:custGeom>
          <a:solidFill>
            <a:srgbClr val="78909C">
              <a:alpha val="10196"/>
            </a:srgbClr>
          </a:solidFill>
          <a:ln/>
        </p:spPr>
      </p:sp>
      <p:sp>
        <p:nvSpPr>
          <p:cNvPr id="24" name="Text 22"/>
          <p:cNvSpPr/>
          <p:nvPr/>
        </p:nvSpPr>
        <p:spPr>
          <a:xfrm>
            <a:off x="495300" y="4305300"/>
            <a:ext cx="549592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Why Depth Matters</a:t>
            </a:r>
            <a:endParaRPr lang="en-US" sz="1600" dirty="0"/>
          </a:p>
        </p:txBody>
      </p:sp>
      <p:sp>
        <p:nvSpPr>
          <p:cNvPr id="25" name="Text 23"/>
          <p:cNvSpPr/>
          <p:nvPr/>
        </p:nvSpPr>
        <p:spPr>
          <a:xfrm>
            <a:off x="495300" y="464820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Hierarchical Features:</a:t>
            </a:r>
            <a:r>
              <a:rPr lang="en-US" sz="1050" dirty="0">
                <a:solidFill>
                  <a:srgbClr val="ECEFF1"/>
                </a:solidFill>
                <a:latin typeface="Quattrocento Sans" pitchFamily="34" charset="0"/>
                <a:ea typeface="Quattrocento Sans" pitchFamily="34" charset="-122"/>
                <a:cs typeface="Quattrocento Sans" pitchFamily="34" charset="-120"/>
              </a:rPr>
              <a:t> Each layer learns increasingly abstract representations</a:t>
            </a:r>
            <a:endParaRPr lang="en-US" sz="1600" dirty="0"/>
          </a:p>
        </p:txBody>
      </p:sp>
      <p:sp>
        <p:nvSpPr>
          <p:cNvPr id="26" name="Text 24"/>
          <p:cNvSpPr/>
          <p:nvPr/>
        </p:nvSpPr>
        <p:spPr>
          <a:xfrm>
            <a:off x="495300" y="4876800"/>
            <a:ext cx="5476875" cy="3810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Non-linearity:</a:t>
            </a:r>
            <a:r>
              <a:rPr lang="en-US" sz="1050" dirty="0">
                <a:solidFill>
                  <a:srgbClr val="ECEFF1"/>
                </a:solidFill>
                <a:latin typeface="Quattrocento Sans" pitchFamily="34" charset="0"/>
                <a:ea typeface="Quattrocento Sans" pitchFamily="34" charset="-122"/>
                <a:cs typeface="Quattrocento Sans" pitchFamily="34" charset="-120"/>
              </a:rPr>
              <a:t> Multiple layers with non-linear activations create complex decision boundaries</a:t>
            </a:r>
            <a:endParaRPr lang="en-US" sz="1600" dirty="0"/>
          </a:p>
        </p:txBody>
      </p:sp>
      <p:sp>
        <p:nvSpPr>
          <p:cNvPr id="27" name="Text 25"/>
          <p:cNvSpPr/>
          <p:nvPr/>
        </p:nvSpPr>
        <p:spPr>
          <a:xfrm>
            <a:off x="495300" y="5295900"/>
            <a:ext cx="5476875" cy="3810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Expressiveness:</a:t>
            </a:r>
            <a:r>
              <a:rPr lang="en-US" sz="1050" dirty="0">
                <a:solidFill>
                  <a:srgbClr val="ECEFF1"/>
                </a:solidFill>
                <a:latin typeface="Quattrocento Sans" pitchFamily="34" charset="0"/>
                <a:ea typeface="Quattrocento Sans" pitchFamily="34" charset="-122"/>
                <a:cs typeface="Quattrocento Sans" pitchFamily="34" charset="-120"/>
              </a:rPr>
              <a:t> Deeper networks can represent more complex functions with fewer parameters</a:t>
            </a:r>
            <a:endParaRPr lang="en-US" sz="1600" dirty="0"/>
          </a:p>
        </p:txBody>
      </p:sp>
      <p:sp>
        <p:nvSpPr>
          <p:cNvPr id="28" name="Shape 26"/>
          <p:cNvSpPr/>
          <p:nvPr/>
        </p:nvSpPr>
        <p:spPr>
          <a:xfrm>
            <a:off x="385763" y="5872163"/>
            <a:ext cx="5629275" cy="923925"/>
          </a:xfrm>
          <a:custGeom>
            <a:avLst/>
            <a:gdLst/>
            <a:ahLst/>
            <a:cxnLst/>
            <a:rect l="l" t="t" r="r" b="b"/>
            <a:pathLst>
              <a:path w="5629275" h="923925">
                <a:moveTo>
                  <a:pt x="76196" y="0"/>
                </a:moveTo>
                <a:lnTo>
                  <a:pt x="5553079" y="0"/>
                </a:lnTo>
                <a:cubicBezTo>
                  <a:pt x="5595161" y="0"/>
                  <a:pt x="5629275" y="34114"/>
                  <a:pt x="5629275" y="76196"/>
                </a:cubicBezTo>
                <a:lnTo>
                  <a:pt x="5629275" y="847729"/>
                </a:lnTo>
                <a:cubicBezTo>
                  <a:pt x="5629275" y="889811"/>
                  <a:pt x="5595161" y="923925"/>
                  <a:pt x="5553079" y="923925"/>
                </a:cubicBezTo>
                <a:lnTo>
                  <a:pt x="76196" y="923925"/>
                </a:lnTo>
                <a:cubicBezTo>
                  <a:pt x="34114" y="923925"/>
                  <a:pt x="0" y="889811"/>
                  <a:pt x="0" y="847729"/>
                </a:cubicBezTo>
                <a:lnTo>
                  <a:pt x="0" y="76196"/>
                </a:lnTo>
                <a:cubicBezTo>
                  <a:pt x="0" y="34114"/>
                  <a:pt x="34114" y="0"/>
                  <a:pt x="76196" y="0"/>
                </a:cubicBezTo>
                <a:close/>
              </a:path>
            </a:pathLst>
          </a:custGeom>
          <a:solidFill>
            <a:srgbClr val="FFD54F">
              <a:alpha val="10196"/>
            </a:srgbClr>
          </a:solidFill>
          <a:ln w="12700">
            <a:solidFill>
              <a:srgbClr val="FFD54F">
                <a:alpha val="30196"/>
              </a:srgbClr>
            </a:solidFill>
            <a:prstDash val="solid"/>
          </a:ln>
        </p:spPr>
      </p:sp>
      <p:sp>
        <p:nvSpPr>
          <p:cNvPr id="29" name="Text 27"/>
          <p:cNvSpPr/>
          <p:nvPr/>
        </p:nvSpPr>
        <p:spPr>
          <a:xfrm>
            <a:off x="504825" y="599122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Universal Approximation Theorem</a:t>
            </a:r>
            <a:endParaRPr lang="en-US" sz="1600" dirty="0"/>
          </a:p>
        </p:txBody>
      </p:sp>
      <p:sp>
        <p:nvSpPr>
          <p:cNvPr id="30" name="Text 28"/>
          <p:cNvSpPr/>
          <p:nvPr/>
        </p:nvSpPr>
        <p:spPr>
          <a:xfrm>
            <a:off x="504825" y="6296025"/>
            <a:ext cx="545782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 feedforward network with a single hidden layer containing a finite number of neurons can approximate any continuous function on compact subsets of ℝⁿ"</a:t>
            </a:r>
            <a:endParaRPr lang="en-US" sz="1600" dirty="0"/>
          </a:p>
        </p:txBody>
      </p:sp>
      <p:sp>
        <p:nvSpPr>
          <p:cNvPr id="31" name="Shape 29"/>
          <p:cNvSpPr/>
          <p:nvPr/>
        </p:nvSpPr>
        <p:spPr>
          <a:xfrm>
            <a:off x="6172200" y="1181100"/>
            <a:ext cx="5638800" cy="4572000"/>
          </a:xfrm>
          <a:custGeom>
            <a:avLst/>
            <a:gdLst/>
            <a:ahLst/>
            <a:cxnLst/>
            <a:rect l="l" t="t" r="r" b="b"/>
            <a:pathLst>
              <a:path w="5638800" h="4572000">
                <a:moveTo>
                  <a:pt x="76215" y="0"/>
                </a:moveTo>
                <a:lnTo>
                  <a:pt x="5562585" y="0"/>
                </a:lnTo>
                <a:cubicBezTo>
                  <a:pt x="5604677" y="0"/>
                  <a:pt x="5638800" y="34123"/>
                  <a:pt x="5638800" y="76215"/>
                </a:cubicBezTo>
                <a:lnTo>
                  <a:pt x="5638800" y="4495785"/>
                </a:lnTo>
                <a:cubicBezTo>
                  <a:pt x="5638800" y="4537877"/>
                  <a:pt x="5604677" y="4572000"/>
                  <a:pt x="5562585" y="4572000"/>
                </a:cubicBezTo>
                <a:lnTo>
                  <a:pt x="76215" y="4572000"/>
                </a:lnTo>
                <a:cubicBezTo>
                  <a:pt x="34123" y="4572000"/>
                  <a:pt x="0" y="4537877"/>
                  <a:pt x="0" y="4495785"/>
                </a:cubicBezTo>
                <a:lnTo>
                  <a:pt x="0" y="76215"/>
                </a:lnTo>
                <a:cubicBezTo>
                  <a:pt x="0" y="34151"/>
                  <a:pt x="34151" y="0"/>
                  <a:pt x="76215" y="0"/>
                </a:cubicBezTo>
                <a:close/>
              </a:path>
            </a:pathLst>
          </a:custGeom>
          <a:solidFill>
            <a:srgbClr val="4DB6AC">
              <a:alpha val="10196"/>
            </a:srgbClr>
          </a:solidFill>
          <a:ln/>
        </p:spPr>
      </p:sp>
      <p:sp>
        <p:nvSpPr>
          <p:cNvPr id="32" name="Text 30"/>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MLP Architecture</a:t>
            </a:r>
            <a:endParaRPr lang="en-US" sz="1600" dirty="0"/>
          </a:p>
        </p:txBody>
      </p:sp>
      <p:sp>
        <p:nvSpPr>
          <p:cNvPr id="33" name="Text 31"/>
          <p:cNvSpPr/>
          <p:nvPr/>
        </p:nvSpPr>
        <p:spPr>
          <a:xfrm>
            <a:off x="6403181" y="3009900"/>
            <a:ext cx="3714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Input</a:t>
            </a:r>
            <a:endParaRPr lang="en-US" sz="1600" dirty="0"/>
          </a:p>
        </p:txBody>
      </p:sp>
      <p:sp>
        <p:nvSpPr>
          <p:cNvPr id="34" name="Shape 32"/>
          <p:cNvSpPr/>
          <p:nvPr/>
        </p:nvSpPr>
        <p:spPr>
          <a:xfrm>
            <a:off x="6362700" y="33147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DB6AC"/>
          </a:solidFill>
          <a:ln/>
        </p:spPr>
      </p:sp>
      <p:sp>
        <p:nvSpPr>
          <p:cNvPr id="35" name="Text 33"/>
          <p:cNvSpPr/>
          <p:nvPr/>
        </p:nvSpPr>
        <p:spPr>
          <a:xfrm>
            <a:off x="6329363" y="3314700"/>
            <a:ext cx="447675" cy="381000"/>
          </a:xfrm>
          <a:prstGeom prst="rect">
            <a:avLst/>
          </a:prstGeom>
          <a:noFill/>
          <a:ln/>
        </p:spPr>
        <p:txBody>
          <a:bodyPr wrap="square" lIns="0" tIns="0" rIns="0" bIns="0" rtlCol="0" anchor="ctr"/>
          <a:lstStyle/>
          <a:p>
            <a:pPr algn="ctr">
              <a:lnSpc>
                <a:spcPct val="120000"/>
              </a:lnSpc>
            </a:pPr>
            <a:r>
              <a:rPr lang="en-US" sz="1050" b="1" dirty="0">
                <a:solidFill>
                  <a:srgbClr val="1A1D21"/>
                </a:solidFill>
                <a:latin typeface="Quattrocento Sans" pitchFamily="34" charset="0"/>
                <a:ea typeface="Quattrocento Sans" pitchFamily="34" charset="-122"/>
                <a:cs typeface="Quattrocento Sans" pitchFamily="34" charset="-120"/>
              </a:rPr>
              <a:t>x₁</a:t>
            </a:r>
            <a:endParaRPr lang="en-US" sz="1600" dirty="0"/>
          </a:p>
        </p:txBody>
      </p:sp>
      <p:sp>
        <p:nvSpPr>
          <p:cNvPr id="36" name="Shape 34"/>
          <p:cNvSpPr/>
          <p:nvPr/>
        </p:nvSpPr>
        <p:spPr>
          <a:xfrm>
            <a:off x="6362700" y="37719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DB6AC"/>
          </a:solidFill>
          <a:ln/>
        </p:spPr>
      </p:sp>
      <p:sp>
        <p:nvSpPr>
          <p:cNvPr id="37" name="Text 35"/>
          <p:cNvSpPr/>
          <p:nvPr/>
        </p:nvSpPr>
        <p:spPr>
          <a:xfrm>
            <a:off x="6329363" y="3771900"/>
            <a:ext cx="447675" cy="381000"/>
          </a:xfrm>
          <a:prstGeom prst="rect">
            <a:avLst/>
          </a:prstGeom>
          <a:noFill/>
          <a:ln/>
        </p:spPr>
        <p:txBody>
          <a:bodyPr wrap="square" lIns="0" tIns="0" rIns="0" bIns="0" rtlCol="0" anchor="ctr"/>
          <a:lstStyle/>
          <a:p>
            <a:pPr algn="ctr">
              <a:lnSpc>
                <a:spcPct val="120000"/>
              </a:lnSpc>
            </a:pPr>
            <a:r>
              <a:rPr lang="en-US" sz="1050" b="1" dirty="0">
                <a:solidFill>
                  <a:srgbClr val="1A1D21"/>
                </a:solidFill>
                <a:latin typeface="Quattrocento Sans" pitchFamily="34" charset="0"/>
                <a:ea typeface="Quattrocento Sans" pitchFamily="34" charset="-122"/>
                <a:cs typeface="Quattrocento Sans" pitchFamily="34" charset="-120"/>
              </a:rPr>
              <a:t>x₂</a:t>
            </a:r>
            <a:endParaRPr lang="en-US" sz="1600" dirty="0"/>
          </a:p>
        </p:txBody>
      </p:sp>
      <p:sp>
        <p:nvSpPr>
          <p:cNvPr id="38" name="Shape 36"/>
          <p:cNvSpPr/>
          <p:nvPr/>
        </p:nvSpPr>
        <p:spPr>
          <a:xfrm>
            <a:off x="6362700" y="42291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DB6AC"/>
          </a:solidFill>
          <a:ln/>
        </p:spPr>
      </p:sp>
      <p:sp>
        <p:nvSpPr>
          <p:cNvPr id="39" name="Text 37"/>
          <p:cNvSpPr/>
          <p:nvPr/>
        </p:nvSpPr>
        <p:spPr>
          <a:xfrm>
            <a:off x="6329363" y="4229100"/>
            <a:ext cx="447675" cy="381000"/>
          </a:xfrm>
          <a:prstGeom prst="rect">
            <a:avLst/>
          </a:prstGeom>
          <a:noFill/>
          <a:ln/>
        </p:spPr>
        <p:txBody>
          <a:bodyPr wrap="square" lIns="0" tIns="0" rIns="0" bIns="0" rtlCol="0" anchor="ctr"/>
          <a:lstStyle/>
          <a:p>
            <a:pPr algn="ctr">
              <a:lnSpc>
                <a:spcPct val="120000"/>
              </a:lnSpc>
            </a:pPr>
            <a:r>
              <a:rPr lang="en-US" sz="1050" b="1" dirty="0">
                <a:solidFill>
                  <a:srgbClr val="1A1D21"/>
                </a:solidFill>
                <a:latin typeface="Quattrocento Sans" pitchFamily="34" charset="0"/>
                <a:ea typeface="Quattrocento Sans" pitchFamily="34" charset="-122"/>
                <a:cs typeface="Quattrocento Sans" pitchFamily="34" charset="-120"/>
              </a:rPr>
              <a:t>x₃</a:t>
            </a:r>
            <a:endParaRPr lang="en-US" sz="1600" dirty="0"/>
          </a:p>
        </p:txBody>
      </p:sp>
      <p:sp>
        <p:nvSpPr>
          <p:cNvPr id="40" name="Shape 38"/>
          <p:cNvSpPr/>
          <p:nvPr/>
        </p:nvSpPr>
        <p:spPr>
          <a:xfrm>
            <a:off x="8483650" y="33147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41" name="Text 39"/>
          <p:cNvSpPr/>
          <p:nvPr/>
        </p:nvSpPr>
        <p:spPr>
          <a:xfrm>
            <a:off x="8455075" y="33147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h₁</a:t>
            </a:r>
            <a:endParaRPr lang="en-US" sz="1600" dirty="0"/>
          </a:p>
        </p:txBody>
      </p:sp>
      <p:sp>
        <p:nvSpPr>
          <p:cNvPr id="42" name="Shape 40"/>
          <p:cNvSpPr/>
          <p:nvPr/>
        </p:nvSpPr>
        <p:spPr>
          <a:xfrm>
            <a:off x="8483650" y="3657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43" name="Text 41"/>
          <p:cNvSpPr/>
          <p:nvPr/>
        </p:nvSpPr>
        <p:spPr>
          <a:xfrm>
            <a:off x="8455075" y="36576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h₂</a:t>
            </a:r>
            <a:endParaRPr lang="en-US" sz="1600" dirty="0"/>
          </a:p>
        </p:txBody>
      </p:sp>
      <p:sp>
        <p:nvSpPr>
          <p:cNvPr id="44" name="Shape 42"/>
          <p:cNvSpPr/>
          <p:nvPr/>
        </p:nvSpPr>
        <p:spPr>
          <a:xfrm>
            <a:off x="8483650" y="40005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45" name="Text 43"/>
          <p:cNvSpPr/>
          <p:nvPr/>
        </p:nvSpPr>
        <p:spPr>
          <a:xfrm>
            <a:off x="8455075" y="40005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h₃</a:t>
            </a:r>
            <a:endParaRPr lang="en-US" sz="1600" dirty="0"/>
          </a:p>
        </p:txBody>
      </p:sp>
      <p:sp>
        <p:nvSpPr>
          <p:cNvPr id="46" name="Shape 44"/>
          <p:cNvSpPr/>
          <p:nvPr/>
        </p:nvSpPr>
        <p:spPr>
          <a:xfrm>
            <a:off x="8826550" y="33147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47" name="Text 45"/>
          <p:cNvSpPr/>
          <p:nvPr/>
        </p:nvSpPr>
        <p:spPr>
          <a:xfrm>
            <a:off x="8797975" y="33147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h₄</a:t>
            </a:r>
            <a:endParaRPr lang="en-US" sz="1600" dirty="0"/>
          </a:p>
        </p:txBody>
      </p:sp>
      <p:sp>
        <p:nvSpPr>
          <p:cNvPr id="48" name="Shape 46"/>
          <p:cNvSpPr/>
          <p:nvPr/>
        </p:nvSpPr>
        <p:spPr>
          <a:xfrm>
            <a:off x="8826550" y="3657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49" name="Text 47"/>
          <p:cNvSpPr/>
          <p:nvPr/>
        </p:nvSpPr>
        <p:spPr>
          <a:xfrm>
            <a:off x="8797975" y="36576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h₅</a:t>
            </a:r>
            <a:endParaRPr lang="en-US" sz="1600" dirty="0"/>
          </a:p>
        </p:txBody>
      </p:sp>
      <p:sp>
        <p:nvSpPr>
          <p:cNvPr id="50" name="Shape 48"/>
          <p:cNvSpPr/>
          <p:nvPr/>
        </p:nvSpPr>
        <p:spPr>
          <a:xfrm>
            <a:off x="8826550" y="40005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51" name="Text 49"/>
          <p:cNvSpPr/>
          <p:nvPr/>
        </p:nvSpPr>
        <p:spPr>
          <a:xfrm>
            <a:off x="8797975" y="40005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h₆</a:t>
            </a:r>
            <a:endParaRPr lang="en-US" sz="1600" dirty="0"/>
          </a:p>
        </p:txBody>
      </p:sp>
      <p:sp>
        <p:nvSpPr>
          <p:cNvPr id="52" name="Shape 50"/>
          <p:cNvSpPr/>
          <p:nvPr/>
        </p:nvSpPr>
        <p:spPr>
          <a:xfrm>
            <a:off x="9169450" y="33147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53" name="Text 51"/>
          <p:cNvSpPr/>
          <p:nvPr/>
        </p:nvSpPr>
        <p:spPr>
          <a:xfrm>
            <a:off x="9140875" y="33147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h₇</a:t>
            </a:r>
            <a:endParaRPr lang="en-US" sz="1600" dirty="0"/>
          </a:p>
        </p:txBody>
      </p:sp>
      <p:sp>
        <p:nvSpPr>
          <p:cNvPr id="54" name="Shape 52"/>
          <p:cNvSpPr/>
          <p:nvPr/>
        </p:nvSpPr>
        <p:spPr>
          <a:xfrm>
            <a:off x="9169450" y="36576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55" name="Text 53"/>
          <p:cNvSpPr/>
          <p:nvPr/>
        </p:nvSpPr>
        <p:spPr>
          <a:xfrm>
            <a:off x="9140875" y="36576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h₈</a:t>
            </a:r>
            <a:endParaRPr lang="en-US" sz="1600" dirty="0"/>
          </a:p>
        </p:txBody>
      </p:sp>
      <p:sp>
        <p:nvSpPr>
          <p:cNvPr id="56" name="Shape 54"/>
          <p:cNvSpPr/>
          <p:nvPr/>
        </p:nvSpPr>
        <p:spPr>
          <a:xfrm>
            <a:off x="9169450" y="40005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57" name="Text 55"/>
          <p:cNvSpPr/>
          <p:nvPr/>
        </p:nvSpPr>
        <p:spPr>
          <a:xfrm>
            <a:off x="9140875" y="4000500"/>
            <a:ext cx="361950" cy="304800"/>
          </a:xfrm>
          <a:prstGeom prst="rect">
            <a:avLst/>
          </a:prstGeom>
          <a:noFill/>
          <a:ln/>
        </p:spPr>
        <p:txBody>
          <a:bodyPr wrap="square" lIns="0" tIns="0" rIns="0" bIns="0" rtlCol="0" anchor="ctr"/>
          <a:lstStyle/>
          <a:p>
            <a:pPr algn="ctr">
              <a:lnSpc>
                <a:spcPct val="110000"/>
              </a:lnSpc>
            </a:pPr>
            <a:r>
              <a:rPr lang="en-US" sz="900" b="1" dirty="0">
                <a:solidFill>
                  <a:srgbClr val="1A1D21"/>
                </a:solidFill>
                <a:latin typeface="Quattrocento Sans" pitchFamily="34" charset="0"/>
                <a:ea typeface="Quattrocento Sans" pitchFamily="34" charset="-122"/>
                <a:cs typeface="Quattrocento Sans" pitchFamily="34" charset="-120"/>
              </a:rPr>
              <a:t>h₉</a:t>
            </a:r>
            <a:endParaRPr lang="en-US" sz="1600" dirty="0"/>
          </a:p>
        </p:txBody>
      </p:sp>
      <p:sp>
        <p:nvSpPr>
          <p:cNvPr id="58" name="Text 56"/>
          <p:cNvSpPr/>
          <p:nvPr/>
        </p:nvSpPr>
        <p:spPr>
          <a:xfrm>
            <a:off x="11214348" y="3238500"/>
            <a:ext cx="476250"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Output</a:t>
            </a:r>
            <a:endParaRPr lang="en-US" sz="1600" dirty="0"/>
          </a:p>
        </p:txBody>
      </p:sp>
      <p:sp>
        <p:nvSpPr>
          <p:cNvPr id="59" name="Shape 57"/>
          <p:cNvSpPr/>
          <p:nvPr/>
        </p:nvSpPr>
        <p:spPr>
          <a:xfrm>
            <a:off x="11226850" y="35433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DB6AC"/>
          </a:solidFill>
          <a:ln/>
        </p:spPr>
      </p:sp>
      <p:sp>
        <p:nvSpPr>
          <p:cNvPr id="60" name="Text 58"/>
          <p:cNvSpPr/>
          <p:nvPr/>
        </p:nvSpPr>
        <p:spPr>
          <a:xfrm>
            <a:off x="11193512" y="3543300"/>
            <a:ext cx="447675" cy="381000"/>
          </a:xfrm>
          <a:prstGeom prst="rect">
            <a:avLst/>
          </a:prstGeom>
          <a:noFill/>
          <a:ln/>
        </p:spPr>
        <p:txBody>
          <a:bodyPr wrap="square" lIns="0" tIns="0" rIns="0" bIns="0" rtlCol="0" anchor="ctr"/>
          <a:lstStyle/>
          <a:p>
            <a:pPr algn="ctr">
              <a:lnSpc>
                <a:spcPct val="120000"/>
              </a:lnSpc>
            </a:pPr>
            <a:r>
              <a:rPr lang="en-US" sz="1050" b="1" dirty="0">
                <a:solidFill>
                  <a:srgbClr val="1A1D21"/>
                </a:solidFill>
                <a:latin typeface="Quattrocento Sans" pitchFamily="34" charset="0"/>
                <a:ea typeface="Quattrocento Sans" pitchFamily="34" charset="-122"/>
                <a:cs typeface="Quattrocento Sans" pitchFamily="34" charset="-120"/>
              </a:rPr>
              <a:t>y₁</a:t>
            </a:r>
            <a:endParaRPr lang="en-US" sz="1600" dirty="0"/>
          </a:p>
        </p:txBody>
      </p:sp>
      <p:sp>
        <p:nvSpPr>
          <p:cNvPr id="61" name="Shape 59"/>
          <p:cNvSpPr/>
          <p:nvPr/>
        </p:nvSpPr>
        <p:spPr>
          <a:xfrm>
            <a:off x="11226850" y="40005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DB6AC"/>
          </a:solidFill>
          <a:ln/>
        </p:spPr>
      </p:sp>
      <p:sp>
        <p:nvSpPr>
          <p:cNvPr id="62" name="Text 60"/>
          <p:cNvSpPr/>
          <p:nvPr/>
        </p:nvSpPr>
        <p:spPr>
          <a:xfrm>
            <a:off x="11193512" y="4000500"/>
            <a:ext cx="447675" cy="381000"/>
          </a:xfrm>
          <a:prstGeom prst="rect">
            <a:avLst/>
          </a:prstGeom>
          <a:noFill/>
          <a:ln/>
        </p:spPr>
        <p:txBody>
          <a:bodyPr wrap="square" lIns="0" tIns="0" rIns="0" bIns="0" rtlCol="0" anchor="ctr"/>
          <a:lstStyle/>
          <a:p>
            <a:pPr algn="ctr">
              <a:lnSpc>
                <a:spcPct val="120000"/>
              </a:lnSpc>
            </a:pPr>
            <a:r>
              <a:rPr lang="en-US" sz="1050" b="1" dirty="0">
                <a:solidFill>
                  <a:srgbClr val="1A1D21"/>
                </a:solidFill>
                <a:latin typeface="Quattrocento Sans" pitchFamily="34" charset="0"/>
                <a:ea typeface="Quattrocento Sans" pitchFamily="34" charset="-122"/>
                <a:cs typeface="Quattrocento Sans" pitchFamily="34" charset="-120"/>
              </a:rPr>
              <a:t>y₂</a:t>
            </a:r>
            <a:endParaRPr lang="en-US" sz="1600" dirty="0"/>
          </a:p>
        </p:txBody>
      </p:sp>
      <p:sp>
        <p:nvSpPr>
          <p:cNvPr id="63" name="Shape 61"/>
          <p:cNvSpPr/>
          <p:nvPr/>
        </p:nvSpPr>
        <p:spPr>
          <a:xfrm>
            <a:off x="6176963" y="5834063"/>
            <a:ext cx="2771775" cy="962025"/>
          </a:xfrm>
          <a:custGeom>
            <a:avLst/>
            <a:gdLst/>
            <a:ahLst/>
            <a:cxnLst/>
            <a:rect l="l" t="t" r="r" b="b"/>
            <a:pathLst>
              <a:path w="2771775" h="962025">
                <a:moveTo>
                  <a:pt x="76202" y="0"/>
                </a:moveTo>
                <a:lnTo>
                  <a:pt x="2695573" y="0"/>
                </a:lnTo>
                <a:cubicBezTo>
                  <a:pt x="2737630" y="0"/>
                  <a:pt x="2771775" y="34145"/>
                  <a:pt x="2771775" y="76202"/>
                </a:cubicBezTo>
                <a:lnTo>
                  <a:pt x="2771775" y="885823"/>
                </a:lnTo>
                <a:cubicBezTo>
                  <a:pt x="2771775" y="927880"/>
                  <a:pt x="2737630" y="962025"/>
                  <a:pt x="2695573" y="962025"/>
                </a:cubicBezTo>
                <a:lnTo>
                  <a:pt x="76202" y="962025"/>
                </a:lnTo>
                <a:cubicBezTo>
                  <a:pt x="34145" y="962025"/>
                  <a:pt x="0" y="927880"/>
                  <a:pt x="0" y="885823"/>
                </a:cubicBezTo>
                <a:lnTo>
                  <a:pt x="0" y="76202"/>
                </a:lnTo>
                <a:cubicBezTo>
                  <a:pt x="0" y="34145"/>
                  <a:pt x="34145" y="0"/>
                  <a:pt x="76202" y="0"/>
                </a:cubicBezTo>
                <a:close/>
              </a:path>
            </a:pathLst>
          </a:custGeom>
          <a:solidFill>
            <a:srgbClr val="4DB6AC">
              <a:alpha val="10196"/>
            </a:srgbClr>
          </a:solidFill>
          <a:ln w="12700">
            <a:solidFill>
              <a:srgbClr val="4DB6AC">
                <a:alpha val="30196"/>
              </a:srgbClr>
            </a:solidFill>
            <a:prstDash val="solid"/>
          </a:ln>
        </p:spPr>
      </p:sp>
      <p:sp>
        <p:nvSpPr>
          <p:cNvPr id="64" name="Text 62"/>
          <p:cNvSpPr/>
          <p:nvPr/>
        </p:nvSpPr>
        <p:spPr>
          <a:xfrm>
            <a:off x="6224588" y="5953125"/>
            <a:ext cx="2676525" cy="342900"/>
          </a:xfrm>
          <a:prstGeom prst="rect">
            <a:avLst/>
          </a:prstGeom>
          <a:noFill/>
          <a:ln/>
        </p:spPr>
        <p:txBody>
          <a:bodyPr wrap="square" lIns="0" tIns="0" rIns="0" bIns="0" rtlCol="0" anchor="ctr"/>
          <a:lstStyle/>
          <a:p>
            <a:pPr algn="ctr">
              <a:lnSpc>
                <a:spcPct val="100000"/>
              </a:lnSpc>
            </a:pPr>
            <a:r>
              <a:rPr lang="en-US" sz="2250" b="1" dirty="0">
                <a:solidFill>
                  <a:srgbClr val="4DB6AC"/>
                </a:solidFill>
                <a:latin typeface="Liter" pitchFamily="34" charset="0"/>
                <a:ea typeface="Liter" pitchFamily="34" charset="-122"/>
                <a:cs typeface="Liter" pitchFamily="34" charset="-120"/>
              </a:rPr>
              <a:t>3+</a:t>
            </a:r>
            <a:endParaRPr lang="en-US" sz="1600" dirty="0"/>
          </a:p>
        </p:txBody>
      </p:sp>
      <p:sp>
        <p:nvSpPr>
          <p:cNvPr id="65" name="Text 63"/>
          <p:cNvSpPr/>
          <p:nvPr/>
        </p:nvSpPr>
        <p:spPr>
          <a:xfrm>
            <a:off x="6262688" y="633412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Minimum Layers</a:t>
            </a:r>
            <a:endParaRPr lang="en-US" sz="1600" dirty="0"/>
          </a:p>
        </p:txBody>
      </p:sp>
      <p:sp>
        <p:nvSpPr>
          <p:cNvPr id="66" name="Text 64"/>
          <p:cNvSpPr/>
          <p:nvPr/>
        </p:nvSpPr>
        <p:spPr>
          <a:xfrm>
            <a:off x="6267450" y="65246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Shtresat Minimale</a:t>
            </a:r>
            <a:endParaRPr lang="en-US" sz="1600" dirty="0"/>
          </a:p>
        </p:txBody>
      </p:sp>
      <p:sp>
        <p:nvSpPr>
          <p:cNvPr id="67" name="Shape 65"/>
          <p:cNvSpPr/>
          <p:nvPr/>
        </p:nvSpPr>
        <p:spPr>
          <a:xfrm>
            <a:off x="9034463" y="5834063"/>
            <a:ext cx="2771775" cy="962025"/>
          </a:xfrm>
          <a:custGeom>
            <a:avLst/>
            <a:gdLst/>
            <a:ahLst/>
            <a:cxnLst/>
            <a:rect l="l" t="t" r="r" b="b"/>
            <a:pathLst>
              <a:path w="2771775" h="962025">
                <a:moveTo>
                  <a:pt x="76202" y="0"/>
                </a:moveTo>
                <a:lnTo>
                  <a:pt x="2695573" y="0"/>
                </a:lnTo>
                <a:cubicBezTo>
                  <a:pt x="2737630" y="0"/>
                  <a:pt x="2771775" y="34145"/>
                  <a:pt x="2771775" y="76202"/>
                </a:cubicBezTo>
                <a:lnTo>
                  <a:pt x="2771775" y="885823"/>
                </a:lnTo>
                <a:cubicBezTo>
                  <a:pt x="2771775" y="927880"/>
                  <a:pt x="2737630" y="962025"/>
                  <a:pt x="2695573" y="962025"/>
                </a:cubicBezTo>
                <a:lnTo>
                  <a:pt x="76202" y="962025"/>
                </a:lnTo>
                <a:cubicBezTo>
                  <a:pt x="34145" y="962025"/>
                  <a:pt x="0" y="927880"/>
                  <a:pt x="0" y="885823"/>
                </a:cubicBezTo>
                <a:lnTo>
                  <a:pt x="0" y="76202"/>
                </a:lnTo>
                <a:cubicBezTo>
                  <a:pt x="0" y="34145"/>
                  <a:pt x="34145" y="0"/>
                  <a:pt x="76202" y="0"/>
                </a:cubicBezTo>
                <a:close/>
              </a:path>
            </a:pathLst>
          </a:custGeom>
          <a:solidFill>
            <a:srgbClr val="FFD54F">
              <a:alpha val="10196"/>
            </a:srgbClr>
          </a:solidFill>
          <a:ln w="12700">
            <a:solidFill>
              <a:srgbClr val="FFD54F">
                <a:alpha val="30196"/>
              </a:srgbClr>
            </a:solidFill>
            <a:prstDash val="solid"/>
          </a:ln>
        </p:spPr>
      </p:sp>
      <p:sp>
        <p:nvSpPr>
          <p:cNvPr id="68" name="Text 66"/>
          <p:cNvSpPr/>
          <p:nvPr/>
        </p:nvSpPr>
        <p:spPr>
          <a:xfrm>
            <a:off x="9082088" y="5953125"/>
            <a:ext cx="2676525" cy="342900"/>
          </a:xfrm>
          <a:prstGeom prst="rect">
            <a:avLst/>
          </a:prstGeom>
          <a:noFill/>
          <a:ln/>
        </p:spPr>
        <p:txBody>
          <a:bodyPr wrap="square" lIns="0" tIns="0" rIns="0" bIns="0" rtlCol="0" anchor="ctr"/>
          <a:lstStyle/>
          <a:p>
            <a:pPr algn="ctr">
              <a:lnSpc>
                <a:spcPct val="100000"/>
              </a:lnSpc>
            </a:pPr>
            <a:r>
              <a:rPr lang="en-US" sz="2250" b="1" dirty="0">
                <a:solidFill>
                  <a:srgbClr val="FFD54F"/>
                </a:solidFill>
                <a:latin typeface="Liter" pitchFamily="34" charset="0"/>
                <a:ea typeface="Liter" pitchFamily="34" charset="-122"/>
                <a:cs typeface="Liter" pitchFamily="34" charset="-120"/>
              </a:rPr>
              <a:t>Any</a:t>
            </a:r>
            <a:endParaRPr lang="en-US" sz="1600" dirty="0"/>
          </a:p>
        </p:txBody>
      </p:sp>
      <p:sp>
        <p:nvSpPr>
          <p:cNvPr id="69" name="Text 67"/>
          <p:cNvSpPr/>
          <p:nvPr/>
        </p:nvSpPr>
        <p:spPr>
          <a:xfrm>
            <a:off x="9120188" y="633412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Function</a:t>
            </a:r>
            <a:endParaRPr lang="en-US" sz="1600" dirty="0"/>
          </a:p>
        </p:txBody>
      </p:sp>
      <p:sp>
        <p:nvSpPr>
          <p:cNvPr id="70" name="Text 68"/>
          <p:cNvSpPr/>
          <p:nvPr/>
        </p:nvSpPr>
        <p:spPr>
          <a:xfrm>
            <a:off x="9124950" y="65246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Funksioni</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Activation Functions</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Funksionet e Aktivizimit</a:t>
            </a:r>
            <a:endParaRPr lang="en-US" sz="1600" dirty="0"/>
          </a:p>
        </p:txBody>
      </p:sp>
      <p:sp>
        <p:nvSpPr>
          <p:cNvPr id="4" name="Shape 2"/>
          <p:cNvSpPr/>
          <p:nvPr/>
        </p:nvSpPr>
        <p:spPr>
          <a:xfrm>
            <a:off x="400050" y="1181100"/>
            <a:ext cx="5057775" cy="1524000"/>
          </a:xfrm>
          <a:custGeom>
            <a:avLst/>
            <a:gdLst/>
            <a:ahLst/>
            <a:cxnLst/>
            <a:rect l="l" t="t" r="r" b="b"/>
            <a:pathLst>
              <a:path w="5057775" h="1524000">
                <a:moveTo>
                  <a:pt x="0" y="0"/>
                </a:moveTo>
                <a:lnTo>
                  <a:pt x="4981575" y="0"/>
                </a:lnTo>
                <a:cubicBezTo>
                  <a:pt x="5023631" y="0"/>
                  <a:pt x="5057775" y="34144"/>
                  <a:pt x="5057775" y="76200"/>
                </a:cubicBezTo>
                <a:lnTo>
                  <a:pt x="5057775" y="1447800"/>
                </a:lnTo>
                <a:cubicBezTo>
                  <a:pt x="5057775" y="1489856"/>
                  <a:pt x="5023631" y="1524000"/>
                  <a:pt x="4981575" y="1524000"/>
                </a:cubicBezTo>
                <a:lnTo>
                  <a:pt x="0" y="1524000"/>
                </a:lnTo>
                <a:lnTo>
                  <a:pt x="0" y="0"/>
                </a:lnTo>
                <a:close/>
              </a:path>
            </a:pathLst>
          </a:custGeom>
          <a:solidFill>
            <a:srgbClr val="4DB6AC">
              <a:alpha val="10196"/>
            </a:srgbClr>
          </a:solidFill>
          <a:ln/>
        </p:spPr>
      </p:sp>
      <p:sp>
        <p:nvSpPr>
          <p:cNvPr id="5" name="Shape 3"/>
          <p:cNvSpPr/>
          <p:nvPr/>
        </p:nvSpPr>
        <p:spPr>
          <a:xfrm>
            <a:off x="400050" y="1181100"/>
            <a:ext cx="38100" cy="1524000"/>
          </a:xfrm>
          <a:custGeom>
            <a:avLst/>
            <a:gdLst/>
            <a:ahLst/>
            <a:cxnLst/>
            <a:rect l="l" t="t" r="r" b="b"/>
            <a:pathLst>
              <a:path w="38100" h="1524000">
                <a:moveTo>
                  <a:pt x="0" y="0"/>
                </a:moveTo>
                <a:lnTo>
                  <a:pt x="38100" y="0"/>
                </a:lnTo>
                <a:lnTo>
                  <a:pt x="38100" y="1524000"/>
                </a:lnTo>
                <a:lnTo>
                  <a:pt x="0" y="1524000"/>
                </a:lnTo>
                <a:lnTo>
                  <a:pt x="0" y="0"/>
                </a:lnTo>
                <a:close/>
              </a:path>
            </a:pathLst>
          </a:custGeom>
          <a:solidFill>
            <a:srgbClr val="4DB6AC"/>
          </a:solidFill>
          <a:ln/>
        </p:spPr>
      </p:sp>
      <p:sp>
        <p:nvSpPr>
          <p:cNvPr id="6" name="Text 4"/>
          <p:cNvSpPr/>
          <p:nvPr/>
        </p:nvSpPr>
        <p:spPr>
          <a:xfrm>
            <a:off x="533400" y="1295400"/>
            <a:ext cx="4886325" cy="62865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Activation functions introduce non-linearity into neural networks, enabling them to learn complex patterns. Without them, even deep networks would behave like simple linear models.</a:t>
            </a:r>
            <a:endParaRPr lang="en-US" sz="1600" dirty="0"/>
          </a:p>
        </p:txBody>
      </p:sp>
      <p:sp>
        <p:nvSpPr>
          <p:cNvPr id="7" name="Text 5"/>
          <p:cNvSpPr/>
          <p:nvPr/>
        </p:nvSpPr>
        <p:spPr>
          <a:xfrm>
            <a:off x="533400" y="1962150"/>
            <a:ext cx="4886325" cy="62865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Funksionet e aktivizimit futin jo-linearitetin në rrjetet nervore, duke u mundësuar atyre të mësojnë modele komplekse. Pa to, edhe rrjetet e thella do të silleshin si modele të thjeshta lineare.</a:t>
            </a:r>
            <a:endParaRPr lang="en-US" sz="1600" dirty="0"/>
          </a:p>
        </p:txBody>
      </p:sp>
      <p:sp>
        <p:nvSpPr>
          <p:cNvPr id="8" name="Shape 6"/>
          <p:cNvSpPr/>
          <p:nvPr/>
        </p:nvSpPr>
        <p:spPr>
          <a:xfrm>
            <a:off x="381000" y="2781300"/>
            <a:ext cx="5076825" cy="1181100"/>
          </a:xfrm>
          <a:custGeom>
            <a:avLst/>
            <a:gdLst/>
            <a:ahLst/>
            <a:cxnLst/>
            <a:rect l="l" t="t" r="r" b="b"/>
            <a:pathLst>
              <a:path w="5076825" h="1181100">
                <a:moveTo>
                  <a:pt x="76205" y="0"/>
                </a:moveTo>
                <a:lnTo>
                  <a:pt x="5000620" y="0"/>
                </a:lnTo>
                <a:cubicBezTo>
                  <a:pt x="5042679" y="0"/>
                  <a:pt x="5076825" y="34146"/>
                  <a:pt x="5076825" y="76205"/>
                </a:cubicBezTo>
                <a:lnTo>
                  <a:pt x="5076825" y="1104895"/>
                </a:lnTo>
                <a:cubicBezTo>
                  <a:pt x="5076825" y="1146982"/>
                  <a:pt x="5042707" y="1181100"/>
                  <a:pt x="5000620" y="1181100"/>
                </a:cubicBezTo>
                <a:lnTo>
                  <a:pt x="76205" y="1181100"/>
                </a:lnTo>
                <a:cubicBezTo>
                  <a:pt x="34146" y="1181100"/>
                  <a:pt x="0" y="1146954"/>
                  <a:pt x="0" y="1104895"/>
                </a:cubicBezTo>
                <a:lnTo>
                  <a:pt x="0" y="76205"/>
                </a:lnTo>
                <a:cubicBezTo>
                  <a:pt x="0" y="34146"/>
                  <a:pt x="34146" y="0"/>
                  <a:pt x="76205" y="0"/>
                </a:cubicBezTo>
                <a:close/>
              </a:path>
            </a:pathLst>
          </a:custGeom>
          <a:solidFill>
            <a:srgbClr val="78909C">
              <a:alpha val="10196"/>
            </a:srgbClr>
          </a:solidFill>
          <a:ln/>
        </p:spPr>
      </p:sp>
      <p:sp>
        <p:nvSpPr>
          <p:cNvPr id="9" name="Text 7"/>
          <p:cNvSpPr/>
          <p:nvPr/>
        </p:nvSpPr>
        <p:spPr>
          <a:xfrm>
            <a:off x="495300" y="2895600"/>
            <a:ext cx="492442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Why Non-Linearity Matters</a:t>
            </a:r>
            <a:endParaRPr lang="en-US" sz="1600" dirty="0"/>
          </a:p>
        </p:txBody>
      </p:sp>
      <p:sp>
        <p:nvSpPr>
          <p:cNvPr id="10" name="Text 8"/>
          <p:cNvSpPr/>
          <p:nvPr/>
        </p:nvSpPr>
        <p:spPr>
          <a:xfrm>
            <a:off x="495300" y="3200400"/>
            <a:ext cx="4914900"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Real-world data</a:t>
            </a:r>
            <a:r>
              <a:rPr lang="en-US" sz="1050" dirty="0">
                <a:solidFill>
                  <a:srgbClr val="ECEFF1"/>
                </a:solidFill>
                <a:latin typeface="Quattrocento Sans" pitchFamily="34" charset="0"/>
                <a:ea typeface="Quattrocento Sans" pitchFamily="34" charset="-122"/>
                <a:cs typeface="Quattrocento Sans" pitchFamily="34" charset="-120"/>
              </a:rPr>
              <a:t> is rarely linearly separable</a:t>
            </a:r>
            <a:endParaRPr lang="en-US" sz="1600" dirty="0"/>
          </a:p>
        </p:txBody>
      </p:sp>
      <p:sp>
        <p:nvSpPr>
          <p:cNvPr id="11" name="Text 9"/>
          <p:cNvSpPr/>
          <p:nvPr/>
        </p:nvSpPr>
        <p:spPr>
          <a:xfrm>
            <a:off x="495300" y="3429000"/>
            <a:ext cx="4914900"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Curved decision boundaries</a:t>
            </a:r>
            <a:r>
              <a:rPr lang="en-US" sz="1050" dirty="0">
                <a:solidFill>
                  <a:srgbClr val="ECEFF1"/>
                </a:solidFill>
                <a:latin typeface="Quattrocento Sans" pitchFamily="34" charset="0"/>
                <a:ea typeface="Quattrocento Sans" pitchFamily="34" charset="-122"/>
                <a:cs typeface="Quattrocento Sans" pitchFamily="34" charset="-120"/>
              </a:rPr>
              <a:t> enable complex pattern recognition</a:t>
            </a:r>
            <a:endParaRPr lang="en-US" sz="1600" dirty="0"/>
          </a:p>
        </p:txBody>
      </p:sp>
      <p:sp>
        <p:nvSpPr>
          <p:cNvPr id="12" name="Text 10"/>
          <p:cNvSpPr/>
          <p:nvPr/>
        </p:nvSpPr>
        <p:spPr>
          <a:xfrm>
            <a:off x="495300" y="3657600"/>
            <a:ext cx="4914900"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Multi-layer composition</a:t>
            </a:r>
            <a:r>
              <a:rPr lang="en-US" sz="1050" dirty="0">
                <a:solidFill>
                  <a:srgbClr val="ECEFF1"/>
                </a:solidFill>
                <a:latin typeface="Quattrocento Sans" pitchFamily="34" charset="0"/>
                <a:ea typeface="Quattrocento Sans" pitchFamily="34" charset="-122"/>
                <a:cs typeface="Quattrocento Sans" pitchFamily="34" charset="-120"/>
              </a:rPr>
              <a:t> creates powerful representations</a:t>
            </a:r>
            <a:endParaRPr lang="en-US" sz="1600" dirty="0"/>
          </a:p>
        </p:txBody>
      </p:sp>
      <p:sp>
        <p:nvSpPr>
          <p:cNvPr id="13" name="Shape 11"/>
          <p:cNvSpPr/>
          <p:nvPr/>
        </p:nvSpPr>
        <p:spPr>
          <a:xfrm>
            <a:off x="385763" y="4043363"/>
            <a:ext cx="5067300" cy="1114425"/>
          </a:xfrm>
          <a:custGeom>
            <a:avLst/>
            <a:gdLst/>
            <a:ahLst/>
            <a:cxnLst/>
            <a:rect l="l" t="t" r="r" b="b"/>
            <a:pathLst>
              <a:path w="5067300" h="1114425">
                <a:moveTo>
                  <a:pt x="76204" y="0"/>
                </a:moveTo>
                <a:lnTo>
                  <a:pt x="4991096" y="0"/>
                </a:lnTo>
                <a:cubicBezTo>
                  <a:pt x="5033182" y="0"/>
                  <a:pt x="5067300" y="34118"/>
                  <a:pt x="5067300" y="76204"/>
                </a:cubicBezTo>
                <a:lnTo>
                  <a:pt x="5067300" y="1038221"/>
                </a:lnTo>
                <a:cubicBezTo>
                  <a:pt x="5067300" y="1080307"/>
                  <a:pt x="5033182" y="1114425"/>
                  <a:pt x="4991096" y="1114425"/>
                </a:cubicBezTo>
                <a:lnTo>
                  <a:pt x="76204" y="1114425"/>
                </a:lnTo>
                <a:cubicBezTo>
                  <a:pt x="34118" y="1114425"/>
                  <a:pt x="0" y="1080307"/>
                  <a:pt x="0" y="1038221"/>
                </a:cubicBezTo>
                <a:lnTo>
                  <a:pt x="0" y="76204"/>
                </a:lnTo>
                <a:cubicBezTo>
                  <a:pt x="0" y="34146"/>
                  <a:pt x="34146" y="0"/>
                  <a:pt x="76204" y="0"/>
                </a:cubicBezTo>
                <a:close/>
              </a:path>
            </a:pathLst>
          </a:custGeom>
          <a:solidFill>
            <a:srgbClr val="FFD54F">
              <a:alpha val="10196"/>
            </a:srgbClr>
          </a:solidFill>
          <a:ln w="12700">
            <a:solidFill>
              <a:srgbClr val="FFD54F">
                <a:alpha val="30196"/>
              </a:srgbClr>
            </a:solidFill>
            <a:prstDash val="solid"/>
          </a:ln>
        </p:spPr>
      </p:sp>
      <p:sp>
        <p:nvSpPr>
          <p:cNvPr id="14" name="Text 12"/>
          <p:cNvSpPr/>
          <p:nvPr/>
        </p:nvSpPr>
        <p:spPr>
          <a:xfrm>
            <a:off x="504825" y="4162425"/>
            <a:ext cx="490537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Vanishing Gradient Problem</a:t>
            </a:r>
            <a:endParaRPr lang="en-US" sz="1600" dirty="0"/>
          </a:p>
        </p:txBody>
      </p:sp>
      <p:sp>
        <p:nvSpPr>
          <p:cNvPr id="15" name="Text 13"/>
          <p:cNvSpPr/>
          <p:nvPr/>
        </p:nvSpPr>
        <p:spPr>
          <a:xfrm>
            <a:off x="504825" y="4467225"/>
            <a:ext cx="4895850"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When gradients become extremely small in deep networks, learning stops. Sigmoid and tanh suffer from this in deep architectures.</a:t>
            </a:r>
            <a:endParaRPr lang="en-US" sz="1600" dirty="0"/>
          </a:p>
        </p:txBody>
      </p:sp>
      <p:sp>
        <p:nvSpPr>
          <p:cNvPr id="16" name="Text 14"/>
          <p:cNvSpPr/>
          <p:nvPr/>
        </p:nvSpPr>
        <p:spPr>
          <a:xfrm>
            <a:off x="504825" y="4886325"/>
            <a:ext cx="488632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Kur gradientët bëhen jashtëzakonisht të vegjël në rrjete të thella, mësimi ndalet.</a:t>
            </a:r>
            <a:endParaRPr lang="en-US" sz="1600" dirty="0"/>
          </a:p>
        </p:txBody>
      </p:sp>
      <p:sp>
        <p:nvSpPr>
          <p:cNvPr id="17" name="Shape 15"/>
          <p:cNvSpPr/>
          <p:nvPr/>
        </p:nvSpPr>
        <p:spPr>
          <a:xfrm>
            <a:off x="5608290" y="1181100"/>
            <a:ext cx="3067050" cy="1104900"/>
          </a:xfrm>
          <a:custGeom>
            <a:avLst/>
            <a:gdLst/>
            <a:ahLst/>
            <a:cxnLst/>
            <a:rect l="l" t="t" r="r" b="b"/>
            <a:pathLst>
              <a:path w="3067050" h="1104900">
                <a:moveTo>
                  <a:pt x="76205" y="0"/>
                </a:moveTo>
                <a:lnTo>
                  <a:pt x="2990845" y="0"/>
                </a:lnTo>
                <a:cubicBezTo>
                  <a:pt x="3032932" y="0"/>
                  <a:pt x="3067050" y="34118"/>
                  <a:pt x="3067050" y="76205"/>
                </a:cubicBezTo>
                <a:lnTo>
                  <a:pt x="3067050" y="1028695"/>
                </a:lnTo>
                <a:cubicBezTo>
                  <a:pt x="3067050" y="1070782"/>
                  <a:pt x="3032932" y="1104900"/>
                  <a:pt x="2990845" y="1104900"/>
                </a:cubicBezTo>
                <a:lnTo>
                  <a:pt x="76205" y="1104900"/>
                </a:lnTo>
                <a:cubicBezTo>
                  <a:pt x="34118" y="1104900"/>
                  <a:pt x="0" y="1070782"/>
                  <a:pt x="0" y="1028695"/>
                </a:cubicBezTo>
                <a:lnTo>
                  <a:pt x="0" y="76205"/>
                </a:lnTo>
                <a:cubicBezTo>
                  <a:pt x="0" y="34146"/>
                  <a:pt x="34146" y="0"/>
                  <a:pt x="76205" y="0"/>
                </a:cubicBezTo>
                <a:close/>
              </a:path>
            </a:pathLst>
          </a:custGeom>
          <a:solidFill>
            <a:srgbClr val="4DB6AC">
              <a:alpha val="10196"/>
            </a:srgbClr>
          </a:solidFill>
          <a:ln/>
        </p:spPr>
      </p:sp>
      <p:sp>
        <p:nvSpPr>
          <p:cNvPr id="18" name="Text 16"/>
          <p:cNvSpPr/>
          <p:nvPr/>
        </p:nvSpPr>
        <p:spPr>
          <a:xfrm>
            <a:off x="5684490" y="1257300"/>
            <a:ext cx="298132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Liter" pitchFamily="34" charset="0"/>
                <a:ea typeface="Liter" pitchFamily="34" charset="-122"/>
                <a:cs typeface="Liter" pitchFamily="34" charset="-120"/>
              </a:rPr>
              <a:t>Sigmoid</a:t>
            </a:r>
            <a:endParaRPr lang="en-US" sz="1600" dirty="0"/>
          </a:p>
        </p:txBody>
      </p:sp>
      <p:sp>
        <p:nvSpPr>
          <p:cNvPr id="19" name="Shape 17"/>
          <p:cNvSpPr/>
          <p:nvPr/>
        </p:nvSpPr>
        <p:spPr>
          <a:xfrm>
            <a:off x="5684490" y="1485900"/>
            <a:ext cx="2914650" cy="228600"/>
          </a:xfrm>
          <a:custGeom>
            <a:avLst/>
            <a:gdLst/>
            <a:ahLst/>
            <a:cxnLst/>
            <a:rect l="l" t="t" r="r" b="b"/>
            <a:pathLst>
              <a:path w="2914650" h="228600">
                <a:moveTo>
                  <a:pt x="38101" y="0"/>
                </a:moveTo>
                <a:lnTo>
                  <a:pt x="2876549" y="0"/>
                </a:lnTo>
                <a:cubicBezTo>
                  <a:pt x="2897592" y="0"/>
                  <a:pt x="2914650" y="17058"/>
                  <a:pt x="2914650" y="38101"/>
                </a:cubicBezTo>
                <a:lnTo>
                  <a:pt x="2914650" y="190499"/>
                </a:lnTo>
                <a:cubicBezTo>
                  <a:pt x="2914650" y="211542"/>
                  <a:pt x="2897592" y="228600"/>
                  <a:pt x="2876549" y="228600"/>
                </a:cubicBezTo>
                <a:lnTo>
                  <a:pt x="38101" y="228600"/>
                </a:lnTo>
                <a:cubicBezTo>
                  <a:pt x="17072" y="228600"/>
                  <a:pt x="0" y="211528"/>
                  <a:pt x="0" y="190499"/>
                </a:cubicBezTo>
                <a:lnTo>
                  <a:pt x="0" y="38101"/>
                </a:lnTo>
                <a:cubicBezTo>
                  <a:pt x="0" y="17072"/>
                  <a:pt x="17072" y="0"/>
                  <a:pt x="38101" y="0"/>
                </a:cubicBezTo>
                <a:close/>
              </a:path>
            </a:pathLst>
          </a:custGeom>
          <a:solidFill>
            <a:srgbClr val="1A1D21"/>
          </a:solidFill>
          <a:ln/>
        </p:spPr>
      </p:sp>
      <p:sp>
        <p:nvSpPr>
          <p:cNvPr id="20" name="Text 18"/>
          <p:cNvSpPr/>
          <p:nvPr/>
        </p:nvSpPr>
        <p:spPr>
          <a:xfrm>
            <a:off x="5694015" y="1524000"/>
            <a:ext cx="2895600" cy="152400"/>
          </a:xfrm>
          <a:prstGeom prst="rect">
            <a:avLst/>
          </a:prstGeom>
          <a:noFill/>
          <a:ln/>
        </p:spPr>
        <p:txBody>
          <a:bodyPr wrap="square" lIns="0" tIns="0" rIns="0" bIns="0" rtlCol="0" anchor="ctr"/>
          <a:lstStyle/>
          <a:p>
            <a:pPr algn="ctr">
              <a:lnSpc>
                <a:spcPct val="110000"/>
              </a:lnSpc>
            </a:pPr>
            <a:r>
              <a:rPr lang="en-US" sz="900" dirty="0">
                <a:solidFill>
                  <a:srgbClr val="FFD54F"/>
                </a:solidFill>
                <a:latin typeface="MiSans" pitchFamily="34" charset="0"/>
                <a:ea typeface="MiSans" pitchFamily="34" charset="-122"/>
                <a:cs typeface="MiSans" pitchFamily="34" charset="-120"/>
              </a:rPr>
              <a:t>σ(x) = 1/(1+e⁻ˣ)</a:t>
            </a:r>
            <a:endParaRPr lang="en-US" sz="1600" dirty="0"/>
          </a:p>
        </p:txBody>
      </p:sp>
      <p:sp>
        <p:nvSpPr>
          <p:cNvPr id="21" name="Text 19"/>
          <p:cNvSpPr/>
          <p:nvPr/>
        </p:nvSpPr>
        <p:spPr>
          <a:xfrm>
            <a:off x="5684490" y="17526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Range:</a:t>
            </a:r>
            <a:r>
              <a:rPr lang="en-US" sz="900" dirty="0">
                <a:solidFill>
                  <a:srgbClr val="ECEFF1"/>
                </a:solidFill>
                <a:latin typeface="Quattrocento Sans" pitchFamily="34" charset="0"/>
                <a:ea typeface="Quattrocento Sans" pitchFamily="34" charset="-122"/>
                <a:cs typeface="Quattrocento Sans" pitchFamily="34" charset="-120"/>
              </a:rPr>
              <a:t> (0, 1)</a:t>
            </a:r>
            <a:endParaRPr lang="en-US" sz="1600" dirty="0"/>
          </a:p>
        </p:txBody>
      </p:sp>
      <p:sp>
        <p:nvSpPr>
          <p:cNvPr id="22" name="Text 20"/>
          <p:cNvSpPr/>
          <p:nvPr/>
        </p:nvSpPr>
        <p:spPr>
          <a:xfrm>
            <a:off x="5684490" y="19050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Use:</a:t>
            </a:r>
            <a:r>
              <a:rPr lang="en-US" sz="900" dirty="0">
                <a:solidFill>
                  <a:srgbClr val="ECEFF1"/>
                </a:solidFill>
                <a:latin typeface="Quattrocento Sans" pitchFamily="34" charset="0"/>
                <a:ea typeface="Quattrocento Sans" pitchFamily="34" charset="-122"/>
                <a:cs typeface="Quattrocento Sans" pitchFamily="34" charset="-120"/>
              </a:rPr>
              <a:t> Binary classification output</a:t>
            </a:r>
            <a:endParaRPr lang="en-US" sz="1600" dirty="0"/>
          </a:p>
        </p:txBody>
      </p:sp>
      <p:sp>
        <p:nvSpPr>
          <p:cNvPr id="23" name="Text 21"/>
          <p:cNvSpPr/>
          <p:nvPr/>
        </p:nvSpPr>
        <p:spPr>
          <a:xfrm>
            <a:off x="5684490" y="20574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Issue:</a:t>
            </a:r>
            <a:r>
              <a:rPr lang="en-US" sz="900" dirty="0">
                <a:solidFill>
                  <a:srgbClr val="FFD54F"/>
                </a:solidFill>
                <a:latin typeface="Quattrocento Sans" pitchFamily="34" charset="0"/>
                <a:ea typeface="Quattrocento Sans" pitchFamily="34" charset="-122"/>
                <a:cs typeface="Quattrocento Sans" pitchFamily="34" charset="-120"/>
              </a:rPr>
              <a:t> Vanishing gradients</a:t>
            </a:r>
            <a:endParaRPr lang="en-US" sz="1600" dirty="0"/>
          </a:p>
        </p:txBody>
      </p:sp>
      <p:sp>
        <p:nvSpPr>
          <p:cNvPr id="24" name="Shape 22"/>
          <p:cNvSpPr/>
          <p:nvPr/>
        </p:nvSpPr>
        <p:spPr>
          <a:xfrm>
            <a:off x="8747671" y="1181100"/>
            <a:ext cx="3067050" cy="1104900"/>
          </a:xfrm>
          <a:custGeom>
            <a:avLst/>
            <a:gdLst/>
            <a:ahLst/>
            <a:cxnLst/>
            <a:rect l="l" t="t" r="r" b="b"/>
            <a:pathLst>
              <a:path w="3067050" h="1104900">
                <a:moveTo>
                  <a:pt x="76205" y="0"/>
                </a:moveTo>
                <a:lnTo>
                  <a:pt x="2990845" y="0"/>
                </a:lnTo>
                <a:cubicBezTo>
                  <a:pt x="3032932" y="0"/>
                  <a:pt x="3067050" y="34118"/>
                  <a:pt x="3067050" y="76205"/>
                </a:cubicBezTo>
                <a:lnTo>
                  <a:pt x="3067050" y="1028695"/>
                </a:lnTo>
                <a:cubicBezTo>
                  <a:pt x="3067050" y="1070782"/>
                  <a:pt x="3032932" y="1104900"/>
                  <a:pt x="2990845" y="1104900"/>
                </a:cubicBezTo>
                <a:lnTo>
                  <a:pt x="76205" y="1104900"/>
                </a:lnTo>
                <a:cubicBezTo>
                  <a:pt x="34118" y="1104900"/>
                  <a:pt x="0" y="1070782"/>
                  <a:pt x="0" y="1028695"/>
                </a:cubicBezTo>
                <a:lnTo>
                  <a:pt x="0" y="76205"/>
                </a:lnTo>
                <a:cubicBezTo>
                  <a:pt x="0" y="34146"/>
                  <a:pt x="34146" y="0"/>
                  <a:pt x="76205" y="0"/>
                </a:cubicBezTo>
                <a:close/>
              </a:path>
            </a:pathLst>
          </a:custGeom>
          <a:solidFill>
            <a:srgbClr val="4DB6AC">
              <a:alpha val="10196"/>
            </a:srgbClr>
          </a:solidFill>
          <a:ln/>
        </p:spPr>
      </p:sp>
      <p:sp>
        <p:nvSpPr>
          <p:cNvPr id="25" name="Text 23"/>
          <p:cNvSpPr/>
          <p:nvPr/>
        </p:nvSpPr>
        <p:spPr>
          <a:xfrm>
            <a:off x="8823871" y="1257300"/>
            <a:ext cx="298132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Liter" pitchFamily="34" charset="0"/>
                <a:ea typeface="Liter" pitchFamily="34" charset="-122"/>
                <a:cs typeface="Liter" pitchFamily="34" charset="-120"/>
              </a:rPr>
              <a:t>Tanh</a:t>
            </a:r>
            <a:endParaRPr lang="en-US" sz="1600" dirty="0"/>
          </a:p>
        </p:txBody>
      </p:sp>
      <p:sp>
        <p:nvSpPr>
          <p:cNvPr id="26" name="Shape 24"/>
          <p:cNvSpPr/>
          <p:nvPr/>
        </p:nvSpPr>
        <p:spPr>
          <a:xfrm>
            <a:off x="8823871" y="1485900"/>
            <a:ext cx="2914650" cy="228600"/>
          </a:xfrm>
          <a:custGeom>
            <a:avLst/>
            <a:gdLst/>
            <a:ahLst/>
            <a:cxnLst/>
            <a:rect l="l" t="t" r="r" b="b"/>
            <a:pathLst>
              <a:path w="2914650" h="228600">
                <a:moveTo>
                  <a:pt x="38101" y="0"/>
                </a:moveTo>
                <a:lnTo>
                  <a:pt x="2876549" y="0"/>
                </a:lnTo>
                <a:cubicBezTo>
                  <a:pt x="2897592" y="0"/>
                  <a:pt x="2914650" y="17058"/>
                  <a:pt x="2914650" y="38101"/>
                </a:cubicBezTo>
                <a:lnTo>
                  <a:pt x="2914650" y="190499"/>
                </a:lnTo>
                <a:cubicBezTo>
                  <a:pt x="2914650" y="211542"/>
                  <a:pt x="2897592" y="228600"/>
                  <a:pt x="2876549" y="228600"/>
                </a:cubicBezTo>
                <a:lnTo>
                  <a:pt x="38101" y="228600"/>
                </a:lnTo>
                <a:cubicBezTo>
                  <a:pt x="17072" y="228600"/>
                  <a:pt x="0" y="211528"/>
                  <a:pt x="0" y="190499"/>
                </a:cubicBezTo>
                <a:lnTo>
                  <a:pt x="0" y="38101"/>
                </a:lnTo>
                <a:cubicBezTo>
                  <a:pt x="0" y="17072"/>
                  <a:pt x="17072" y="0"/>
                  <a:pt x="38101" y="0"/>
                </a:cubicBezTo>
                <a:close/>
              </a:path>
            </a:pathLst>
          </a:custGeom>
          <a:solidFill>
            <a:srgbClr val="1A1D21"/>
          </a:solidFill>
          <a:ln/>
        </p:spPr>
      </p:sp>
      <p:sp>
        <p:nvSpPr>
          <p:cNvPr id="27" name="Text 25"/>
          <p:cNvSpPr/>
          <p:nvPr/>
        </p:nvSpPr>
        <p:spPr>
          <a:xfrm>
            <a:off x="8833396" y="1524000"/>
            <a:ext cx="2895600" cy="152400"/>
          </a:xfrm>
          <a:prstGeom prst="rect">
            <a:avLst/>
          </a:prstGeom>
          <a:noFill/>
          <a:ln/>
        </p:spPr>
        <p:txBody>
          <a:bodyPr wrap="square" lIns="0" tIns="0" rIns="0" bIns="0" rtlCol="0" anchor="ctr"/>
          <a:lstStyle/>
          <a:p>
            <a:pPr algn="ctr">
              <a:lnSpc>
                <a:spcPct val="110000"/>
              </a:lnSpc>
            </a:pPr>
            <a:r>
              <a:rPr lang="en-US" sz="900" dirty="0">
                <a:solidFill>
                  <a:srgbClr val="FFD54F"/>
                </a:solidFill>
                <a:latin typeface="MiSans" pitchFamily="34" charset="0"/>
                <a:ea typeface="MiSans" pitchFamily="34" charset="-122"/>
                <a:cs typeface="MiSans" pitchFamily="34" charset="-120"/>
              </a:rPr>
              <a:t>tanh(x) = 2/(1+e⁻²ˣ)-1</a:t>
            </a:r>
            <a:endParaRPr lang="en-US" sz="1600" dirty="0"/>
          </a:p>
        </p:txBody>
      </p:sp>
      <p:sp>
        <p:nvSpPr>
          <p:cNvPr id="28" name="Text 26"/>
          <p:cNvSpPr/>
          <p:nvPr/>
        </p:nvSpPr>
        <p:spPr>
          <a:xfrm>
            <a:off x="8823871" y="17526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Range:</a:t>
            </a:r>
            <a:r>
              <a:rPr lang="en-US" sz="900" dirty="0">
                <a:solidFill>
                  <a:srgbClr val="ECEFF1"/>
                </a:solidFill>
                <a:latin typeface="Quattrocento Sans" pitchFamily="34" charset="0"/>
                <a:ea typeface="Quattrocento Sans" pitchFamily="34" charset="-122"/>
                <a:cs typeface="Quattrocento Sans" pitchFamily="34" charset="-120"/>
              </a:rPr>
              <a:t> (-1, 1)</a:t>
            </a:r>
            <a:endParaRPr lang="en-US" sz="1600" dirty="0"/>
          </a:p>
        </p:txBody>
      </p:sp>
      <p:sp>
        <p:nvSpPr>
          <p:cNvPr id="29" name="Text 27"/>
          <p:cNvSpPr/>
          <p:nvPr/>
        </p:nvSpPr>
        <p:spPr>
          <a:xfrm>
            <a:off x="8823871" y="19050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Use:</a:t>
            </a:r>
            <a:r>
              <a:rPr lang="en-US" sz="900" dirty="0">
                <a:solidFill>
                  <a:srgbClr val="ECEFF1"/>
                </a:solidFill>
                <a:latin typeface="Quattrocento Sans" pitchFamily="34" charset="0"/>
                <a:ea typeface="Quattrocento Sans" pitchFamily="34" charset="-122"/>
                <a:cs typeface="Quattrocento Sans" pitchFamily="34" charset="-120"/>
              </a:rPr>
              <a:t> Hidden layers</a:t>
            </a:r>
            <a:endParaRPr lang="en-US" sz="1600" dirty="0"/>
          </a:p>
        </p:txBody>
      </p:sp>
      <p:sp>
        <p:nvSpPr>
          <p:cNvPr id="30" name="Text 28"/>
          <p:cNvSpPr/>
          <p:nvPr/>
        </p:nvSpPr>
        <p:spPr>
          <a:xfrm>
            <a:off x="8823871" y="20574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Issue:</a:t>
            </a:r>
            <a:r>
              <a:rPr lang="en-US" sz="900" dirty="0">
                <a:solidFill>
                  <a:srgbClr val="FFD54F"/>
                </a:solidFill>
                <a:latin typeface="Quattrocento Sans" pitchFamily="34" charset="0"/>
                <a:ea typeface="Quattrocento Sans" pitchFamily="34" charset="-122"/>
                <a:cs typeface="Quattrocento Sans" pitchFamily="34" charset="-120"/>
              </a:rPr>
              <a:t> Still vanishes</a:t>
            </a:r>
            <a:endParaRPr lang="en-US" sz="1600" dirty="0"/>
          </a:p>
        </p:txBody>
      </p:sp>
      <p:sp>
        <p:nvSpPr>
          <p:cNvPr id="31" name="Shape 29"/>
          <p:cNvSpPr/>
          <p:nvPr/>
        </p:nvSpPr>
        <p:spPr>
          <a:xfrm>
            <a:off x="5608290" y="2362200"/>
            <a:ext cx="3067050" cy="1104900"/>
          </a:xfrm>
          <a:custGeom>
            <a:avLst/>
            <a:gdLst/>
            <a:ahLst/>
            <a:cxnLst/>
            <a:rect l="l" t="t" r="r" b="b"/>
            <a:pathLst>
              <a:path w="3067050" h="1104900">
                <a:moveTo>
                  <a:pt x="76205" y="0"/>
                </a:moveTo>
                <a:lnTo>
                  <a:pt x="2990845" y="0"/>
                </a:lnTo>
                <a:cubicBezTo>
                  <a:pt x="3032932" y="0"/>
                  <a:pt x="3067050" y="34118"/>
                  <a:pt x="3067050" y="76205"/>
                </a:cubicBezTo>
                <a:lnTo>
                  <a:pt x="3067050" y="1028695"/>
                </a:lnTo>
                <a:cubicBezTo>
                  <a:pt x="3067050" y="1070782"/>
                  <a:pt x="3032932" y="1104900"/>
                  <a:pt x="2990845" y="1104900"/>
                </a:cubicBezTo>
                <a:lnTo>
                  <a:pt x="76205" y="1104900"/>
                </a:lnTo>
                <a:cubicBezTo>
                  <a:pt x="34118" y="1104900"/>
                  <a:pt x="0" y="1070782"/>
                  <a:pt x="0" y="1028695"/>
                </a:cubicBezTo>
                <a:lnTo>
                  <a:pt x="0" y="76205"/>
                </a:lnTo>
                <a:cubicBezTo>
                  <a:pt x="0" y="34146"/>
                  <a:pt x="34146" y="0"/>
                  <a:pt x="76205" y="0"/>
                </a:cubicBezTo>
                <a:close/>
              </a:path>
            </a:pathLst>
          </a:custGeom>
          <a:solidFill>
            <a:srgbClr val="FFD54F">
              <a:alpha val="10196"/>
            </a:srgbClr>
          </a:solidFill>
          <a:ln/>
        </p:spPr>
      </p:sp>
      <p:sp>
        <p:nvSpPr>
          <p:cNvPr id="32" name="Text 30"/>
          <p:cNvSpPr/>
          <p:nvPr/>
        </p:nvSpPr>
        <p:spPr>
          <a:xfrm>
            <a:off x="5684490" y="2438400"/>
            <a:ext cx="298132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Liter" pitchFamily="34" charset="0"/>
                <a:ea typeface="Liter" pitchFamily="34" charset="-122"/>
                <a:cs typeface="Liter" pitchFamily="34" charset="-120"/>
              </a:rPr>
              <a:t>ReLU</a:t>
            </a:r>
            <a:endParaRPr lang="en-US" sz="1600" dirty="0"/>
          </a:p>
        </p:txBody>
      </p:sp>
      <p:sp>
        <p:nvSpPr>
          <p:cNvPr id="33" name="Shape 31"/>
          <p:cNvSpPr/>
          <p:nvPr/>
        </p:nvSpPr>
        <p:spPr>
          <a:xfrm>
            <a:off x="5684490" y="2667000"/>
            <a:ext cx="2914650" cy="228600"/>
          </a:xfrm>
          <a:custGeom>
            <a:avLst/>
            <a:gdLst/>
            <a:ahLst/>
            <a:cxnLst/>
            <a:rect l="l" t="t" r="r" b="b"/>
            <a:pathLst>
              <a:path w="2914650" h="228600">
                <a:moveTo>
                  <a:pt x="38101" y="0"/>
                </a:moveTo>
                <a:lnTo>
                  <a:pt x="2876549" y="0"/>
                </a:lnTo>
                <a:cubicBezTo>
                  <a:pt x="2897592" y="0"/>
                  <a:pt x="2914650" y="17058"/>
                  <a:pt x="2914650" y="38101"/>
                </a:cubicBezTo>
                <a:lnTo>
                  <a:pt x="2914650" y="190499"/>
                </a:lnTo>
                <a:cubicBezTo>
                  <a:pt x="2914650" y="211542"/>
                  <a:pt x="2897592" y="228600"/>
                  <a:pt x="2876549" y="228600"/>
                </a:cubicBezTo>
                <a:lnTo>
                  <a:pt x="38101" y="228600"/>
                </a:lnTo>
                <a:cubicBezTo>
                  <a:pt x="17072" y="228600"/>
                  <a:pt x="0" y="211528"/>
                  <a:pt x="0" y="190499"/>
                </a:cubicBezTo>
                <a:lnTo>
                  <a:pt x="0" y="38101"/>
                </a:lnTo>
                <a:cubicBezTo>
                  <a:pt x="0" y="17072"/>
                  <a:pt x="17072" y="0"/>
                  <a:pt x="38101" y="0"/>
                </a:cubicBezTo>
                <a:close/>
              </a:path>
            </a:pathLst>
          </a:custGeom>
          <a:solidFill>
            <a:srgbClr val="1A1D21"/>
          </a:solidFill>
          <a:ln/>
        </p:spPr>
      </p:sp>
      <p:sp>
        <p:nvSpPr>
          <p:cNvPr id="34" name="Text 32"/>
          <p:cNvSpPr/>
          <p:nvPr/>
        </p:nvSpPr>
        <p:spPr>
          <a:xfrm>
            <a:off x="5694015" y="2705100"/>
            <a:ext cx="2895600" cy="152400"/>
          </a:xfrm>
          <a:prstGeom prst="rect">
            <a:avLst/>
          </a:prstGeom>
          <a:noFill/>
          <a:ln/>
        </p:spPr>
        <p:txBody>
          <a:bodyPr wrap="square" lIns="0" tIns="0" rIns="0" bIns="0" rtlCol="0" anchor="ctr"/>
          <a:lstStyle/>
          <a:p>
            <a:pPr algn="ctr">
              <a:lnSpc>
                <a:spcPct val="110000"/>
              </a:lnSpc>
            </a:pPr>
            <a:r>
              <a:rPr lang="en-US" sz="900" dirty="0">
                <a:solidFill>
                  <a:srgbClr val="FFD54F"/>
                </a:solidFill>
                <a:latin typeface="MiSans" pitchFamily="34" charset="0"/>
                <a:ea typeface="MiSans" pitchFamily="34" charset="-122"/>
                <a:cs typeface="MiSans" pitchFamily="34" charset="-120"/>
              </a:rPr>
              <a:t>f(x) = max(0, x)</a:t>
            </a:r>
            <a:endParaRPr lang="en-US" sz="1600" dirty="0"/>
          </a:p>
        </p:txBody>
      </p:sp>
      <p:sp>
        <p:nvSpPr>
          <p:cNvPr id="35" name="Text 33"/>
          <p:cNvSpPr/>
          <p:nvPr/>
        </p:nvSpPr>
        <p:spPr>
          <a:xfrm>
            <a:off x="5684490" y="29337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Range:</a:t>
            </a:r>
            <a:r>
              <a:rPr lang="en-US" sz="900" dirty="0">
                <a:solidFill>
                  <a:srgbClr val="ECEFF1"/>
                </a:solidFill>
                <a:latin typeface="Quattrocento Sans" pitchFamily="34" charset="0"/>
                <a:ea typeface="Quattrocento Sans" pitchFamily="34" charset="-122"/>
                <a:cs typeface="Quattrocento Sans" pitchFamily="34" charset="-120"/>
              </a:rPr>
              <a:t> [0, ∞)</a:t>
            </a:r>
            <a:endParaRPr lang="en-US" sz="1600" dirty="0"/>
          </a:p>
        </p:txBody>
      </p:sp>
      <p:sp>
        <p:nvSpPr>
          <p:cNvPr id="36" name="Text 34"/>
          <p:cNvSpPr/>
          <p:nvPr/>
        </p:nvSpPr>
        <p:spPr>
          <a:xfrm>
            <a:off x="5684490" y="30861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Use:</a:t>
            </a:r>
            <a:r>
              <a:rPr lang="en-US" sz="900" dirty="0">
                <a:solidFill>
                  <a:srgbClr val="ECEFF1"/>
                </a:solidFill>
                <a:latin typeface="Quattrocento Sans" pitchFamily="34" charset="0"/>
                <a:ea typeface="Quattrocento Sans" pitchFamily="34" charset="-122"/>
                <a:cs typeface="Quattrocento Sans" pitchFamily="34" charset="-120"/>
              </a:rPr>
              <a:t> Default choice</a:t>
            </a:r>
            <a:endParaRPr lang="en-US" sz="1600" dirty="0"/>
          </a:p>
        </p:txBody>
      </p:sp>
      <p:sp>
        <p:nvSpPr>
          <p:cNvPr id="37" name="Text 35"/>
          <p:cNvSpPr/>
          <p:nvPr/>
        </p:nvSpPr>
        <p:spPr>
          <a:xfrm>
            <a:off x="5684490" y="32385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Issue:</a:t>
            </a:r>
            <a:r>
              <a:rPr lang="en-US" sz="900" dirty="0">
                <a:solidFill>
                  <a:srgbClr val="FFD54F"/>
                </a:solidFill>
                <a:latin typeface="Quattrocento Sans" pitchFamily="34" charset="0"/>
                <a:ea typeface="Quattrocento Sans" pitchFamily="34" charset="-122"/>
                <a:cs typeface="Quattrocento Sans" pitchFamily="34" charset="-120"/>
              </a:rPr>
              <a:t> Dying ReLU</a:t>
            </a:r>
            <a:endParaRPr lang="en-US" sz="1600" dirty="0"/>
          </a:p>
        </p:txBody>
      </p:sp>
      <p:sp>
        <p:nvSpPr>
          <p:cNvPr id="38" name="Shape 36"/>
          <p:cNvSpPr/>
          <p:nvPr/>
        </p:nvSpPr>
        <p:spPr>
          <a:xfrm>
            <a:off x="8747671" y="2362200"/>
            <a:ext cx="3067050" cy="1104900"/>
          </a:xfrm>
          <a:custGeom>
            <a:avLst/>
            <a:gdLst/>
            <a:ahLst/>
            <a:cxnLst/>
            <a:rect l="l" t="t" r="r" b="b"/>
            <a:pathLst>
              <a:path w="3067050" h="1104900">
                <a:moveTo>
                  <a:pt x="76205" y="0"/>
                </a:moveTo>
                <a:lnTo>
                  <a:pt x="2990845" y="0"/>
                </a:lnTo>
                <a:cubicBezTo>
                  <a:pt x="3032932" y="0"/>
                  <a:pt x="3067050" y="34118"/>
                  <a:pt x="3067050" y="76205"/>
                </a:cubicBezTo>
                <a:lnTo>
                  <a:pt x="3067050" y="1028695"/>
                </a:lnTo>
                <a:cubicBezTo>
                  <a:pt x="3067050" y="1070782"/>
                  <a:pt x="3032932" y="1104900"/>
                  <a:pt x="2990845" y="1104900"/>
                </a:cubicBezTo>
                <a:lnTo>
                  <a:pt x="76205" y="1104900"/>
                </a:lnTo>
                <a:cubicBezTo>
                  <a:pt x="34118" y="1104900"/>
                  <a:pt x="0" y="1070782"/>
                  <a:pt x="0" y="1028695"/>
                </a:cubicBezTo>
                <a:lnTo>
                  <a:pt x="0" y="76205"/>
                </a:lnTo>
                <a:cubicBezTo>
                  <a:pt x="0" y="34146"/>
                  <a:pt x="34146" y="0"/>
                  <a:pt x="76205" y="0"/>
                </a:cubicBezTo>
                <a:close/>
              </a:path>
            </a:pathLst>
          </a:custGeom>
          <a:solidFill>
            <a:srgbClr val="FFD54F">
              <a:alpha val="10196"/>
            </a:srgbClr>
          </a:solidFill>
          <a:ln/>
        </p:spPr>
      </p:sp>
      <p:sp>
        <p:nvSpPr>
          <p:cNvPr id="39" name="Text 37"/>
          <p:cNvSpPr/>
          <p:nvPr/>
        </p:nvSpPr>
        <p:spPr>
          <a:xfrm>
            <a:off x="8823871" y="2438400"/>
            <a:ext cx="298132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Liter" pitchFamily="34" charset="0"/>
                <a:ea typeface="Liter" pitchFamily="34" charset="-122"/>
                <a:cs typeface="Liter" pitchFamily="34" charset="-120"/>
              </a:rPr>
              <a:t>Leaky ReLU</a:t>
            </a:r>
            <a:endParaRPr lang="en-US" sz="1600" dirty="0"/>
          </a:p>
        </p:txBody>
      </p:sp>
      <p:sp>
        <p:nvSpPr>
          <p:cNvPr id="40" name="Shape 38"/>
          <p:cNvSpPr/>
          <p:nvPr/>
        </p:nvSpPr>
        <p:spPr>
          <a:xfrm>
            <a:off x="8823871" y="2667000"/>
            <a:ext cx="2914650" cy="228600"/>
          </a:xfrm>
          <a:custGeom>
            <a:avLst/>
            <a:gdLst/>
            <a:ahLst/>
            <a:cxnLst/>
            <a:rect l="l" t="t" r="r" b="b"/>
            <a:pathLst>
              <a:path w="2914650" h="228600">
                <a:moveTo>
                  <a:pt x="38101" y="0"/>
                </a:moveTo>
                <a:lnTo>
                  <a:pt x="2876549" y="0"/>
                </a:lnTo>
                <a:cubicBezTo>
                  <a:pt x="2897592" y="0"/>
                  <a:pt x="2914650" y="17058"/>
                  <a:pt x="2914650" y="38101"/>
                </a:cubicBezTo>
                <a:lnTo>
                  <a:pt x="2914650" y="190499"/>
                </a:lnTo>
                <a:cubicBezTo>
                  <a:pt x="2914650" y="211542"/>
                  <a:pt x="2897592" y="228600"/>
                  <a:pt x="2876549" y="228600"/>
                </a:cubicBezTo>
                <a:lnTo>
                  <a:pt x="38101" y="228600"/>
                </a:lnTo>
                <a:cubicBezTo>
                  <a:pt x="17072" y="228600"/>
                  <a:pt x="0" y="211528"/>
                  <a:pt x="0" y="190499"/>
                </a:cubicBezTo>
                <a:lnTo>
                  <a:pt x="0" y="38101"/>
                </a:lnTo>
                <a:cubicBezTo>
                  <a:pt x="0" y="17072"/>
                  <a:pt x="17072" y="0"/>
                  <a:pt x="38101" y="0"/>
                </a:cubicBezTo>
                <a:close/>
              </a:path>
            </a:pathLst>
          </a:custGeom>
          <a:solidFill>
            <a:srgbClr val="1A1D21"/>
          </a:solidFill>
          <a:ln/>
        </p:spPr>
      </p:sp>
      <p:sp>
        <p:nvSpPr>
          <p:cNvPr id="41" name="Text 39"/>
          <p:cNvSpPr/>
          <p:nvPr/>
        </p:nvSpPr>
        <p:spPr>
          <a:xfrm>
            <a:off x="8833396" y="2705100"/>
            <a:ext cx="2895600" cy="152400"/>
          </a:xfrm>
          <a:prstGeom prst="rect">
            <a:avLst/>
          </a:prstGeom>
          <a:noFill/>
          <a:ln/>
        </p:spPr>
        <p:txBody>
          <a:bodyPr wrap="square" lIns="0" tIns="0" rIns="0" bIns="0" rtlCol="0" anchor="ctr"/>
          <a:lstStyle/>
          <a:p>
            <a:pPr algn="ctr">
              <a:lnSpc>
                <a:spcPct val="110000"/>
              </a:lnSpc>
            </a:pPr>
            <a:r>
              <a:rPr lang="en-US" sz="900" dirty="0">
                <a:solidFill>
                  <a:srgbClr val="FFD54F"/>
                </a:solidFill>
                <a:latin typeface="MiSans" pitchFamily="34" charset="0"/>
                <a:ea typeface="MiSans" pitchFamily="34" charset="-122"/>
                <a:cs typeface="MiSans" pitchFamily="34" charset="-120"/>
              </a:rPr>
              <a:t>f(x)=max(αx,x)</a:t>
            </a:r>
            <a:endParaRPr lang="en-US" sz="1600" dirty="0"/>
          </a:p>
        </p:txBody>
      </p:sp>
      <p:sp>
        <p:nvSpPr>
          <p:cNvPr id="42" name="Text 40"/>
          <p:cNvSpPr/>
          <p:nvPr/>
        </p:nvSpPr>
        <p:spPr>
          <a:xfrm>
            <a:off x="8823871" y="29337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Range:</a:t>
            </a:r>
            <a:r>
              <a:rPr lang="en-US" sz="900" dirty="0">
                <a:solidFill>
                  <a:srgbClr val="ECEFF1"/>
                </a:solidFill>
                <a:latin typeface="Quattrocento Sans" pitchFamily="34" charset="0"/>
                <a:ea typeface="Quattrocento Sans" pitchFamily="34" charset="-122"/>
                <a:cs typeface="Quattrocento Sans" pitchFamily="34" charset="-120"/>
              </a:rPr>
              <a:t> (-∞, ∞)</a:t>
            </a:r>
            <a:endParaRPr lang="en-US" sz="1600" dirty="0"/>
          </a:p>
        </p:txBody>
      </p:sp>
      <p:sp>
        <p:nvSpPr>
          <p:cNvPr id="43" name="Text 41"/>
          <p:cNvSpPr/>
          <p:nvPr/>
        </p:nvSpPr>
        <p:spPr>
          <a:xfrm>
            <a:off x="8823871" y="30861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Use:</a:t>
            </a:r>
            <a:r>
              <a:rPr lang="en-US" sz="900" dirty="0">
                <a:solidFill>
                  <a:srgbClr val="ECEFF1"/>
                </a:solidFill>
                <a:latin typeface="Quattrocento Sans" pitchFamily="34" charset="0"/>
                <a:ea typeface="Quattrocento Sans" pitchFamily="34" charset="-122"/>
                <a:cs typeface="Quattrocento Sans" pitchFamily="34" charset="-120"/>
              </a:rPr>
              <a:t> Fixes dying ReLU</a:t>
            </a:r>
            <a:endParaRPr lang="en-US" sz="1600" dirty="0"/>
          </a:p>
        </p:txBody>
      </p:sp>
      <p:sp>
        <p:nvSpPr>
          <p:cNvPr id="44" name="Text 42"/>
          <p:cNvSpPr/>
          <p:nvPr/>
        </p:nvSpPr>
        <p:spPr>
          <a:xfrm>
            <a:off x="8823871" y="3238500"/>
            <a:ext cx="297180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Adv:</a:t>
            </a:r>
            <a:r>
              <a:rPr lang="en-US" sz="900" dirty="0">
                <a:solidFill>
                  <a:srgbClr val="4DB6AC"/>
                </a:solidFill>
                <a:latin typeface="Quattrocento Sans" pitchFamily="34" charset="0"/>
                <a:ea typeface="Quattrocento Sans" pitchFamily="34" charset="-122"/>
                <a:cs typeface="Quattrocento Sans" pitchFamily="34" charset="-120"/>
              </a:rPr>
              <a:t> No dead neurons</a:t>
            </a:r>
            <a:endParaRPr lang="en-US" sz="1600" dirty="0"/>
          </a:p>
        </p:txBody>
      </p:sp>
      <p:sp>
        <p:nvSpPr>
          <p:cNvPr id="45" name="Shape 43"/>
          <p:cNvSpPr/>
          <p:nvPr/>
        </p:nvSpPr>
        <p:spPr>
          <a:xfrm>
            <a:off x="5608290" y="3543300"/>
            <a:ext cx="6200775" cy="1219200"/>
          </a:xfrm>
          <a:custGeom>
            <a:avLst/>
            <a:gdLst/>
            <a:ahLst/>
            <a:cxnLst/>
            <a:rect l="l" t="t" r="r" b="b"/>
            <a:pathLst>
              <a:path w="6200775" h="1219200">
                <a:moveTo>
                  <a:pt x="76200" y="0"/>
                </a:moveTo>
                <a:lnTo>
                  <a:pt x="6124575" y="0"/>
                </a:lnTo>
                <a:cubicBezTo>
                  <a:pt x="6166631" y="0"/>
                  <a:pt x="6200775" y="34144"/>
                  <a:pt x="6200775" y="76200"/>
                </a:cubicBezTo>
                <a:lnTo>
                  <a:pt x="6200775" y="1143000"/>
                </a:lnTo>
                <a:cubicBezTo>
                  <a:pt x="6200775" y="1185056"/>
                  <a:pt x="6166631" y="1219200"/>
                  <a:pt x="6124575" y="1219200"/>
                </a:cubicBezTo>
                <a:lnTo>
                  <a:pt x="76200" y="1219200"/>
                </a:lnTo>
                <a:cubicBezTo>
                  <a:pt x="34144" y="1219200"/>
                  <a:pt x="0" y="1185056"/>
                  <a:pt x="0" y="1143000"/>
                </a:cubicBezTo>
                <a:lnTo>
                  <a:pt x="0" y="76200"/>
                </a:lnTo>
                <a:cubicBezTo>
                  <a:pt x="0" y="34144"/>
                  <a:pt x="34144" y="0"/>
                  <a:pt x="76200" y="0"/>
                </a:cubicBezTo>
                <a:close/>
              </a:path>
            </a:pathLst>
          </a:custGeom>
          <a:solidFill>
            <a:srgbClr val="4DB6AC">
              <a:alpha val="10196"/>
            </a:srgbClr>
          </a:solidFill>
          <a:ln/>
        </p:spPr>
      </p:sp>
      <p:sp>
        <p:nvSpPr>
          <p:cNvPr id="46" name="Text 44"/>
          <p:cNvSpPr/>
          <p:nvPr/>
        </p:nvSpPr>
        <p:spPr>
          <a:xfrm>
            <a:off x="5684490" y="3619500"/>
            <a:ext cx="6115050"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Liter" pitchFamily="34" charset="0"/>
                <a:ea typeface="Liter" pitchFamily="34" charset="-122"/>
                <a:cs typeface="Liter" pitchFamily="34" charset="-120"/>
              </a:rPr>
              <a:t>Other Functions</a:t>
            </a:r>
            <a:endParaRPr lang="en-US" sz="1600" dirty="0"/>
          </a:p>
        </p:txBody>
      </p:sp>
      <p:sp>
        <p:nvSpPr>
          <p:cNvPr id="47" name="Shape 45"/>
          <p:cNvSpPr/>
          <p:nvPr/>
        </p:nvSpPr>
        <p:spPr>
          <a:xfrm>
            <a:off x="5684490" y="3848100"/>
            <a:ext cx="2990850" cy="381000"/>
          </a:xfrm>
          <a:custGeom>
            <a:avLst/>
            <a:gdLst/>
            <a:ahLst/>
            <a:cxnLst/>
            <a:rect l="l" t="t" r="r" b="b"/>
            <a:pathLst>
              <a:path w="2990850" h="381000">
                <a:moveTo>
                  <a:pt x="38100" y="0"/>
                </a:moveTo>
                <a:lnTo>
                  <a:pt x="2952750" y="0"/>
                </a:lnTo>
                <a:cubicBezTo>
                  <a:pt x="2973778" y="0"/>
                  <a:pt x="2990850" y="17072"/>
                  <a:pt x="2990850" y="38100"/>
                </a:cubicBezTo>
                <a:lnTo>
                  <a:pt x="2990850" y="342900"/>
                </a:lnTo>
                <a:cubicBezTo>
                  <a:pt x="2990850" y="363928"/>
                  <a:pt x="2973778" y="381000"/>
                  <a:pt x="2952750" y="381000"/>
                </a:cubicBezTo>
                <a:lnTo>
                  <a:pt x="38100" y="381000"/>
                </a:lnTo>
                <a:cubicBezTo>
                  <a:pt x="17072" y="381000"/>
                  <a:pt x="0" y="363928"/>
                  <a:pt x="0" y="342900"/>
                </a:cubicBezTo>
                <a:lnTo>
                  <a:pt x="0" y="38100"/>
                </a:lnTo>
                <a:cubicBezTo>
                  <a:pt x="0" y="17072"/>
                  <a:pt x="17072" y="0"/>
                  <a:pt x="38100" y="0"/>
                </a:cubicBezTo>
                <a:close/>
              </a:path>
            </a:pathLst>
          </a:custGeom>
          <a:solidFill>
            <a:srgbClr val="1A1D21"/>
          </a:solidFill>
          <a:ln/>
        </p:spPr>
      </p:sp>
      <p:sp>
        <p:nvSpPr>
          <p:cNvPr id="48" name="Text 46"/>
          <p:cNvSpPr/>
          <p:nvPr/>
        </p:nvSpPr>
        <p:spPr>
          <a:xfrm>
            <a:off x="5722590" y="38862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ELU</a:t>
            </a:r>
            <a:endParaRPr lang="en-US" sz="1600" dirty="0"/>
          </a:p>
        </p:txBody>
      </p:sp>
      <p:sp>
        <p:nvSpPr>
          <p:cNvPr id="49" name="Text 47"/>
          <p:cNvSpPr/>
          <p:nvPr/>
        </p:nvSpPr>
        <p:spPr>
          <a:xfrm>
            <a:off x="5722590" y="4038600"/>
            <a:ext cx="297180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Smooth negative values</a:t>
            </a:r>
            <a:endParaRPr lang="en-US" sz="1600" dirty="0"/>
          </a:p>
        </p:txBody>
      </p:sp>
      <p:sp>
        <p:nvSpPr>
          <p:cNvPr id="50" name="Shape 48"/>
          <p:cNvSpPr/>
          <p:nvPr/>
        </p:nvSpPr>
        <p:spPr>
          <a:xfrm>
            <a:off x="8747671" y="3848100"/>
            <a:ext cx="2990850" cy="381000"/>
          </a:xfrm>
          <a:custGeom>
            <a:avLst/>
            <a:gdLst/>
            <a:ahLst/>
            <a:cxnLst/>
            <a:rect l="l" t="t" r="r" b="b"/>
            <a:pathLst>
              <a:path w="2990850" h="381000">
                <a:moveTo>
                  <a:pt x="38100" y="0"/>
                </a:moveTo>
                <a:lnTo>
                  <a:pt x="2952750" y="0"/>
                </a:lnTo>
                <a:cubicBezTo>
                  <a:pt x="2973778" y="0"/>
                  <a:pt x="2990850" y="17072"/>
                  <a:pt x="2990850" y="38100"/>
                </a:cubicBezTo>
                <a:lnTo>
                  <a:pt x="2990850" y="342900"/>
                </a:lnTo>
                <a:cubicBezTo>
                  <a:pt x="2990850" y="363928"/>
                  <a:pt x="2973778" y="381000"/>
                  <a:pt x="2952750" y="381000"/>
                </a:cubicBezTo>
                <a:lnTo>
                  <a:pt x="38100" y="381000"/>
                </a:lnTo>
                <a:cubicBezTo>
                  <a:pt x="17072" y="381000"/>
                  <a:pt x="0" y="363928"/>
                  <a:pt x="0" y="342900"/>
                </a:cubicBezTo>
                <a:lnTo>
                  <a:pt x="0" y="38100"/>
                </a:lnTo>
                <a:cubicBezTo>
                  <a:pt x="0" y="17072"/>
                  <a:pt x="17072" y="0"/>
                  <a:pt x="38100" y="0"/>
                </a:cubicBezTo>
                <a:close/>
              </a:path>
            </a:pathLst>
          </a:custGeom>
          <a:solidFill>
            <a:srgbClr val="1A1D21"/>
          </a:solidFill>
          <a:ln/>
        </p:spPr>
      </p:sp>
      <p:sp>
        <p:nvSpPr>
          <p:cNvPr id="51" name="Text 49"/>
          <p:cNvSpPr/>
          <p:nvPr/>
        </p:nvSpPr>
        <p:spPr>
          <a:xfrm>
            <a:off x="8785771" y="38862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SELU</a:t>
            </a:r>
            <a:endParaRPr lang="en-US" sz="1600" dirty="0"/>
          </a:p>
        </p:txBody>
      </p:sp>
      <p:sp>
        <p:nvSpPr>
          <p:cNvPr id="52" name="Text 50"/>
          <p:cNvSpPr/>
          <p:nvPr/>
        </p:nvSpPr>
        <p:spPr>
          <a:xfrm>
            <a:off x="8785771" y="4038600"/>
            <a:ext cx="297180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Self-normalizing</a:t>
            </a:r>
            <a:endParaRPr lang="en-US" sz="1600" dirty="0"/>
          </a:p>
        </p:txBody>
      </p:sp>
      <p:sp>
        <p:nvSpPr>
          <p:cNvPr id="53" name="Shape 51"/>
          <p:cNvSpPr/>
          <p:nvPr/>
        </p:nvSpPr>
        <p:spPr>
          <a:xfrm>
            <a:off x="5684490" y="4305300"/>
            <a:ext cx="2990850" cy="381000"/>
          </a:xfrm>
          <a:custGeom>
            <a:avLst/>
            <a:gdLst/>
            <a:ahLst/>
            <a:cxnLst/>
            <a:rect l="l" t="t" r="r" b="b"/>
            <a:pathLst>
              <a:path w="2990850" h="381000">
                <a:moveTo>
                  <a:pt x="38100" y="0"/>
                </a:moveTo>
                <a:lnTo>
                  <a:pt x="2952750" y="0"/>
                </a:lnTo>
                <a:cubicBezTo>
                  <a:pt x="2973778" y="0"/>
                  <a:pt x="2990850" y="17072"/>
                  <a:pt x="2990850" y="38100"/>
                </a:cubicBezTo>
                <a:lnTo>
                  <a:pt x="2990850" y="342900"/>
                </a:lnTo>
                <a:cubicBezTo>
                  <a:pt x="2990850" y="363928"/>
                  <a:pt x="2973778" y="381000"/>
                  <a:pt x="2952750" y="381000"/>
                </a:cubicBezTo>
                <a:lnTo>
                  <a:pt x="38100" y="381000"/>
                </a:lnTo>
                <a:cubicBezTo>
                  <a:pt x="17072" y="381000"/>
                  <a:pt x="0" y="363928"/>
                  <a:pt x="0" y="342900"/>
                </a:cubicBezTo>
                <a:lnTo>
                  <a:pt x="0" y="38100"/>
                </a:lnTo>
                <a:cubicBezTo>
                  <a:pt x="0" y="17072"/>
                  <a:pt x="17072" y="0"/>
                  <a:pt x="38100" y="0"/>
                </a:cubicBezTo>
                <a:close/>
              </a:path>
            </a:pathLst>
          </a:custGeom>
          <a:solidFill>
            <a:srgbClr val="1A1D21"/>
          </a:solidFill>
          <a:ln/>
        </p:spPr>
      </p:sp>
      <p:sp>
        <p:nvSpPr>
          <p:cNvPr id="54" name="Text 52"/>
          <p:cNvSpPr/>
          <p:nvPr/>
        </p:nvSpPr>
        <p:spPr>
          <a:xfrm>
            <a:off x="5722590" y="43434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Softmax</a:t>
            </a:r>
            <a:endParaRPr lang="en-US" sz="1600" dirty="0"/>
          </a:p>
        </p:txBody>
      </p:sp>
      <p:sp>
        <p:nvSpPr>
          <p:cNvPr id="55" name="Text 53"/>
          <p:cNvSpPr/>
          <p:nvPr/>
        </p:nvSpPr>
        <p:spPr>
          <a:xfrm>
            <a:off x="5722590" y="4495800"/>
            <a:ext cx="297180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Multi-class output</a:t>
            </a:r>
            <a:endParaRPr lang="en-US" sz="1600" dirty="0"/>
          </a:p>
        </p:txBody>
      </p:sp>
      <p:sp>
        <p:nvSpPr>
          <p:cNvPr id="56" name="Shape 54"/>
          <p:cNvSpPr/>
          <p:nvPr/>
        </p:nvSpPr>
        <p:spPr>
          <a:xfrm>
            <a:off x="8747671" y="4305300"/>
            <a:ext cx="2990850" cy="381000"/>
          </a:xfrm>
          <a:custGeom>
            <a:avLst/>
            <a:gdLst/>
            <a:ahLst/>
            <a:cxnLst/>
            <a:rect l="l" t="t" r="r" b="b"/>
            <a:pathLst>
              <a:path w="2990850" h="381000">
                <a:moveTo>
                  <a:pt x="38100" y="0"/>
                </a:moveTo>
                <a:lnTo>
                  <a:pt x="2952750" y="0"/>
                </a:lnTo>
                <a:cubicBezTo>
                  <a:pt x="2973778" y="0"/>
                  <a:pt x="2990850" y="17072"/>
                  <a:pt x="2990850" y="38100"/>
                </a:cubicBezTo>
                <a:lnTo>
                  <a:pt x="2990850" y="342900"/>
                </a:lnTo>
                <a:cubicBezTo>
                  <a:pt x="2990850" y="363928"/>
                  <a:pt x="2973778" y="381000"/>
                  <a:pt x="2952750" y="381000"/>
                </a:cubicBezTo>
                <a:lnTo>
                  <a:pt x="38100" y="381000"/>
                </a:lnTo>
                <a:cubicBezTo>
                  <a:pt x="17072" y="381000"/>
                  <a:pt x="0" y="363928"/>
                  <a:pt x="0" y="342900"/>
                </a:cubicBezTo>
                <a:lnTo>
                  <a:pt x="0" y="38100"/>
                </a:lnTo>
                <a:cubicBezTo>
                  <a:pt x="0" y="17072"/>
                  <a:pt x="17072" y="0"/>
                  <a:pt x="38100" y="0"/>
                </a:cubicBezTo>
                <a:close/>
              </a:path>
            </a:pathLst>
          </a:custGeom>
          <a:solidFill>
            <a:srgbClr val="1A1D21"/>
          </a:solidFill>
          <a:ln/>
        </p:spPr>
      </p:sp>
      <p:sp>
        <p:nvSpPr>
          <p:cNvPr id="57" name="Text 55"/>
          <p:cNvSpPr/>
          <p:nvPr/>
        </p:nvSpPr>
        <p:spPr>
          <a:xfrm>
            <a:off x="8785771" y="4343400"/>
            <a:ext cx="297180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GELU</a:t>
            </a:r>
            <a:endParaRPr lang="en-US" sz="1600" dirty="0"/>
          </a:p>
        </p:txBody>
      </p:sp>
      <p:sp>
        <p:nvSpPr>
          <p:cNvPr id="58" name="Text 56"/>
          <p:cNvSpPr/>
          <p:nvPr/>
        </p:nvSpPr>
        <p:spPr>
          <a:xfrm>
            <a:off x="8785771" y="4495800"/>
            <a:ext cx="297180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Transformer models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c8.alamy.com/a6849cb801000c91087d4e308c17bb0ad8db7fe0.jpg"/>
          <p:cNvPicPr>
            <a:picLocks noChangeAspect="1"/>
          </p:cNvPicPr>
          <p:nvPr/>
        </p:nvPicPr>
        <p:blipFill>
          <a:blip r:embed="rId3">
            <a:alphaModFix amt="30000"/>
          </a:blip>
          <a:srcRect l="4325" r="432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sp>
      <p:sp>
        <p:nvSpPr>
          <p:cNvPr id="4" name="Shape 1"/>
          <p:cNvSpPr/>
          <p:nvPr/>
        </p:nvSpPr>
        <p:spPr>
          <a:xfrm>
            <a:off x="385763" y="1157288"/>
            <a:ext cx="3028950" cy="428625"/>
          </a:xfrm>
          <a:custGeom>
            <a:avLst/>
            <a:gdLst/>
            <a:ahLst/>
            <a:cxnLst/>
            <a:rect l="l" t="t" r="r" b="b"/>
            <a:pathLst>
              <a:path w="3028950" h="428625">
                <a:moveTo>
                  <a:pt x="214313" y="0"/>
                </a:moveTo>
                <a:lnTo>
                  <a:pt x="2814638" y="0"/>
                </a:lnTo>
                <a:cubicBezTo>
                  <a:pt x="2932920" y="0"/>
                  <a:pt x="3028950" y="96030"/>
                  <a:pt x="3028950" y="214313"/>
                </a:cubicBezTo>
                <a:lnTo>
                  <a:pt x="3028950" y="214313"/>
                </a:lnTo>
                <a:cubicBezTo>
                  <a:pt x="3028950" y="332595"/>
                  <a:pt x="2932920" y="428625"/>
                  <a:pt x="2814638" y="428625"/>
                </a:cubicBezTo>
                <a:lnTo>
                  <a:pt x="214313" y="428625"/>
                </a:lnTo>
                <a:cubicBezTo>
                  <a:pt x="96030" y="428625"/>
                  <a:pt x="0" y="332595"/>
                  <a:pt x="0" y="214313"/>
                </a:cubicBezTo>
                <a:lnTo>
                  <a:pt x="0" y="214313"/>
                </a:lnTo>
                <a:cubicBezTo>
                  <a:pt x="0" y="96030"/>
                  <a:pt x="96030" y="0"/>
                  <a:pt x="214312"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619125" y="1266825"/>
            <a:ext cx="2659707" cy="209550"/>
          </a:xfrm>
          <a:prstGeom prst="rect">
            <a:avLst/>
          </a:prstGeom>
          <a:noFill/>
          <a:ln/>
        </p:spPr>
        <p:txBody>
          <a:bodyPr wrap="square" lIns="0" tIns="0" rIns="0" bIns="0" rtlCol="0" anchor="ctr"/>
          <a:lstStyle/>
          <a:p>
            <a:pPr>
              <a:lnSpc>
                <a:spcPct val="120000"/>
              </a:lnSpc>
            </a:pPr>
            <a:r>
              <a:rPr lang="en-US" sz="1500" b="1" kern="0" spc="75" dirty="0">
                <a:solidFill>
                  <a:srgbClr val="4DB6AC"/>
                </a:solidFill>
                <a:latin typeface="Quattrocento Sans" pitchFamily="34" charset="0"/>
                <a:ea typeface="Quattrocento Sans" pitchFamily="34" charset="-122"/>
                <a:cs typeface="Quattrocento Sans" pitchFamily="34" charset="-120"/>
              </a:rPr>
              <a:t>CHAPTER 02 | KAPITULLI 02</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Deep Learning</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Fundamentals</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Bazat e Mësimit të Thellë</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Core concepts that power modern AI systems</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Konceptet kryesore që fuqizojnë sistemet moderne të IA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What is Deep Learning?</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Çfarë është Mësimi i Thellë?</a:t>
            </a:r>
            <a:endParaRPr lang="en-US" sz="1600" dirty="0"/>
          </a:p>
        </p:txBody>
      </p:sp>
      <p:sp>
        <p:nvSpPr>
          <p:cNvPr id="4" name="Shape 2"/>
          <p:cNvSpPr/>
          <p:nvPr/>
        </p:nvSpPr>
        <p:spPr>
          <a:xfrm>
            <a:off x="400050" y="1181100"/>
            <a:ext cx="5619750" cy="2152650"/>
          </a:xfrm>
          <a:custGeom>
            <a:avLst/>
            <a:gdLst/>
            <a:ahLst/>
            <a:cxnLst/>
            <a:rect l="l" t="t" r="r" b="b"/>
            <a:pathLst>
              <a:path w="5619750" h="2152650">
                <a:moveTo>
                  <a:pt x="0" y="0"/>
                </a:moveTo>
                <a:lnTo>
                  <a:pt x="5543546" y="0"/>
                </a:lnTo>
                <a:cubicBezTo>
                  <a:pt x="5585632" y="0"/>
                  <a:pt x="5619750" y="34118"/>
                  <a:pt x="5619750" y="76204"/>
                </a:cubicBezTo>
                <a:lnTo>
                  <a:pt x="5619750" y="2076446"/>
                </a:lnTo>
                <a:cubicBezTo>
                  <a:pt x="5619750" y="2118532"/>
                  <a:pt x="5585632" y="2152650"/>
                  <a:pt x="5543546" y="2152650"/>
                </a:cubicBezTo>
                <a:lnTo>
                  <a:pt x="0" y="2152650"/>
                </a:lnTo>
                <a:lnTo>
                  <a:pt x="0" y="0"/>
                </a:lnTo>
                <a:close/>
              </a:path>
            </a:pathLst>
          </a:custGeom>
          <a:solidFill>
            <a:srgbClr val="4DB6AC">
              <a:alpha val="10196"/>
            </a:srgbClr>
          </a:solidFill>
          <a:ln/>
        </p:spPr>
      </p:sp>
      <p:sp>
        <p:nvSpPr>
          <p:cNvPr id="5" name="Shape 3"/>
          <p:cNvSpPr/>
          <p:nvPr/>
        </p:nvSpPr>
        <p:spPr>
          <a:xfrm>
            <a:off x="400050" y="1181100"/>
            <a:ext cx="38100" cy="2152650"/>
          </a:xfrm>
          <a:custGeom>
            <a:avLst/>
            <a:gdLst/>
            <a:ahLst/>
            <a:cxnLst/>
            <a:rect l="l" t="t" r="r" b="b"/>
            <a:pathLst>
              <a:path w="38100" h="2152650">
                <a:moveTo>
                  <a:pt x="0" y="0"/>
                </a:moveTo>
                <a:lnTo>
                  <a:pt x="38100" y="0"/>
                </a:lnTo>
                <a:lnTo>
                  <a:pt x="38100" y="2152650"/>
                </a:lnTo>
                <a:lnTo>
                  <a:pt x="0" y="2152650"/>
                </a:lnTo>
                <a:lnTo>
                  <a:pt x="0" y="0"/>
                </a:lnTo>
                <a:close/>
              </a:path>
            </a:pathLst>
          </a:custGeom>
          <a:solidFill>
            <a:srgbClr val="4DB6AC"/>
          </a:solidFill>
          <a:ln/>
        </p:spPr>
      </p:sp>
      <p:sp>
        <p:nvSpPr>
          <p:cNvPr id="6" name="Text 4"/>
          <p:cNvSpPr/>
          <p:nvPr/>
        </p:nvSpPr>
        <p:spPr>
          <a:xfrm>
            <a:off x="533400" y="1295400"/>
            <a:ext cx="5448300"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Deep learning is a subset of machine learning that uses neural networks with multiple hidden layers (hence "deep") to automatically learn hierarchical representations from data. It has revolutionized AI by achieving human-level performance in vision, language, and decision-making tasks.</a:t>
            </a:r>
            <a:endParaRPr lang="en-US" sz="1600" dirty="0"/>
          </a:p>
        </p:txBody>
      </p:sp>
      <p:sp>
        <p:nvSpPr>
          <p:cNvPr id="7" name="Text 5"/>
          <p:cNvSpPr/>
          <p:nvPr/>
        </p:nvSpPr>
        <p:spPr>
          <a:xfrm>
            <a:off x="533400" y="2171700"/>
            <a:ext cx="5448300" cy="104775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Mësimi i thellë është një nëngrup i mësimit me makinë që përdor rrjete nervore me shtresa të shumëfishta të fshehura (prandaj "thellë") për të mësuar automatikisht përfaqësime hierarkike nga të dhënat. Ai ka revolucionarizuar IA-në duke arritur performancë në nivel njerëzor në detyrat e shikimit, gjuhës dhe vendimmarrjes.</a:t>
            </a:r>
            <a:endParaRPr lang="en-US" sz="1600" dirty="0"/>
          </a:p>
        </p:txBody>
      </p:sp>
      <p:sp>
        <p:nvSpPr>
          <p:cNvPr id="8" name="Shape 6"/>
          <p:cNvSpPr/>
          <p:nvPr/>
        </p:nvSpPr>
        <p:spPr>
          <a:xfrm>
            <a:off x="385763" y="3414713"/>
            <a:ext cx="5629275" cy="1800225"/>
          </a:xfrm>
          <a:custGeom>
            <a:avLst/>
            <a:gdLst/>
            <a:ahLst/>
            <a:cxnLst/>
            <a:rect l="l" t="t" r="r" b="b"/>
            <a:pathLst>
              <a:path w="5629275" h="1800225">
                <a:moveTo>
                  <a:pt x="76204" y="0"/>
                </a:moveTo>
                <a:lnTo>
                  <a:pt x="5553071" y="0"/>
                </a:lnTo>
                <a:cubicBezTo>
                  <a:pt x="5595158" y="0"/>
                  <a:pt x="5629275" y="34117"/>
                  <a:pt x="5629275" y="76204"/>
                </a:cubicBezTo>
                <a:lnTo>
                  <a:pt x="5629275" y="1724021"/>
                </a:lnTo>
                <a:cubicBezTo>
                  <a:pt x="5629275" y="1766108"/>
                  <a:pt x="5595158" y="1800225"/>
                  <a:pt x="5553071" y="1800225"/>
                </a:cubicBezTo>
                <a:lnTo>
                  <a:pt x="76204" y="1800225"/>
                </a:lnTo>
                <a:cubicBezTo>
                  <a:pt x="34117" y="1800225"/>
                  <a:pt x="0" y="1766108"/>
                  <a:pt x="0" y="1724021"/>
                </a:cubicBezTo>
                <a:lnTo>
                  <a:pt x="0" y="76204"/>
                </a:lnTo>
                <a:cubicBezTo>
                  <a:pt x="0" y="34146"/>
                  <a:pt x="34146" y="0"/>
                  <a:pt x="76204"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504825" y="353377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Deep Learning vs Traditional ML</a:t>
            </a:r>
            <a:endParaRPr lang="en-US" sz="1600" dirty="0"/>
          </a:p>
        </p:txBody>
      </p:sp>
      <p:sp>
        <p:nvSpPr>
          <p:cNvPr id="10" name="Text 8"/>
          <p:cNvSpPr/>
          <p:nvPr/>
        </p:nvSpPr>
        <p:spPr>
          <a:xfrm>
            <a:off x="504825" y="3876675"/>
            <a:ext cx="9810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Feature Eng.</a:t>
            </a:r>
            <a:endParaRPr lang="en-US" sz="1600" dirty="0"/>
          </a:p>
        </p:txBody>
      </p:sp>
      <p:sp>
        <p:nvSpPr>
          <p:cNvPr id="11" name="Text 9"/>
          <p:cNvSpPr/>
          <p:nvPr/>
        </p:nvSpPr>
        <p:spPr>
          <a:xfrm>
            <a:off x="1495425" y="3876675"/>
            <a:ext cx="4467225" cy="3810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Traditional:</a:t>
            </a:r>
            <a:r>
              <a:rPr lang="en-US" sz="1050" dirty="0">
                <a:solidFill>
                  <a:srgbClr val="ECEFF1"/>
                </a:solidFill>
                <a:latin typeface="Quattrocento Sans" pitchFamily="34" charset="0"/>
                <a:ea typeface="Quattrocento Sans" pitchFamily="34" charset="-122"/>
                <a:cs typeface="Quattrocento Sans" pitchFamily="34" charset="-120"/>
              </a:rPr>
              <a:t> Hand-crafted features</a:t>
            </a:r>
            <a:endParaRPr lang="en-US" sz="1600" dirty="0"/>
          </a:p>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Deep:</a:t>
            </a:r>
            <a:r>
              <a:rPr lang="en-US" sz="1050" dirty="0">
                <a:solidFill>
                  <a:srgbClr val="ECEFF1"/>
                </a:solidFill>
                <a:latin typeface="Quattrocento Sans" pitchFamily="34" charset="0"/>
                <a:ea typeface="Quattrocento Sans" pitchFamily="34" charset="-122"/>
                <a:cs typeface="Quattrocento Sans" pitchFamily="34" charset="-120"/>
              </a:rPr>
              <a:t> Automatic feature learning</a:t>
            </a:r>
            <a:endParaRPr lang="en-US" sz="1600" dirty="0"/>
          </a:p>
        </p:txBody>
      </p:sp>
      <p:sp>
        <p:nvSpPr>
          <p:cNvPr id="12" name="Text 10"/>
          <p:cNvSpPr/>
          <p:nvPr/>
        </p:nvSpPr>
        <p:spPr>
          <a:xfrm>
            <a:off x="504825" y="4295775"/>
            <a:ext cx="9810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Data Needs</a:t>
            </a:r>
            <a:endParaRPr lang="en-US" sz="1600" dirty="0"/>
          </a:p>
        </p:txBody>
      </p:sp>
      <p:sp>
        <p:nvSpPr>
          <p:cNvPr id="13" name="Text 11"/>
          <p:cNvSpPr/>
          <p:nvPr/>
        </p:nvSpPr>
        <p:spPr>
          <a:xfrm>
            <a:off x="1495425" y="4295775"/>
            <a:ext cx="4467225" cy="3810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Traditional:</a:t>
            </a:r>
            <a:r>
              <a:rPr lang="en-US" sz="1050" dirty="0">
                <a:solidFill>
                  <a:srgbClr val="ECEFF1"/>
                </a:solidFill>
                <a:latin typeface="Quattrocento Sans" pitchFamily="34" charset="0"/>
                <a:ea typeface="Quattrocento Sans" pitchFamily="34" charset="-122"/>
                <a:cs typeface="Quattrocento Sans" pitchFamily="34" charset="-120"/>
              </a:rPr>
              <a:t> Works with small data</a:t>
            </a:r>
            <a:endParaRPr lang="en-US" sz="1600" dirty="0"/>
          </a:p>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Deep:</a:t>
            </a:r>
            <a:r>
              <a:rPr lang="en-US" sz="1050" dirty="0">
                <a:solidFill>
                  <a:srgbClr val="ECEFF1"/>
                </a:solidFill>
                <a:latin typeface="Quattrocento Sans" pitchFamily="34" charset="0"/>
                <a:ea typeface="Quattrocento Sans" pitchFamily="34" charset="-122"/>
                <a:cs typeface="Quattrocento Sans" pitchFamily="34" charset="-120"/>
              </a:rPr>
              <a:t> Requires large datasets</a:t>
            </a:r>
            <a:endParaRPr lang="en-US" sz="1600" dirty="0"/>
          </a:p>
        </p:txBody>
      </p:sp>
      <p:sp>
        <p:nvSpPr>
          <p:cNvPr id="14" name="Text 12"/>
          <p:cNvSpPr/>
          <p:nvPr/>
        </p:nvSpPr>
        <p:spPr>
          <a:xfrm>
            <a:off x="504825" y="4714875"/>
            <a:ext cx="9810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Performance</a:t>
            </a:r>
            <a:endParaRPr lang="en-US" sz="1600" dirty="0"/>
          </a:p>
        </p:txBody>
      </p:sp>
      <p:sp>
        <p:nvSpPr>
          <p:cNvPr id="15" name="Text 13"/>
          <p:cNvSpPr/>
          <p:nvPr/>
        </p:nvSpPr>
        <p:spPr>
          <a:xfrm>
            <a:off x="1495425" y="4714875"/>
            <a:ext cx="4467225" cy="3810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Traditional:</a:t>
            </a:r>
            <a:r>
              <a:rPr lang="en-US" sz="1050" dirty="0">
                <a:solidFill>
                  <a:srgbClr val="ECEFF1"/>
                </a:solidFill>
                <a:latin typeface="Quattrocento Sans" pitchFamily="34" charset="0"/>
                <a:ea typeface="Quattrocento Sans" pitchFamily="34" charset="-122"/>
                <a:cs typeface="Quattrocento Sans" pitchFamily="34" charset="-120"/>
              </a:rPr>
              <a:t> Plateaus with complexity</a:t>
            </a:r>
            <a:endParaRPr lang="en-US" sz="1600" dirty="0"/>
          </a:p>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Deep:</a:t>
            </a:r>
            <a:r>
              <a:rPr lang="en-US" sz="1050" dirty="0">
                <a:solidFill>
                  <a:srgbClr val="ECEFF1"/>
                </a:solidFill>
                <a:latin typeface="Quattrocento Sans" pitchFamily="34" charset="0"/>
                <a:ea typeface="Quattrocento Sans" pitchFamily="34" charset="-122"/>
                <a:cs typeface="Quattrocento Sans" pitchFamily="34" charset="-120"/>
              </a:rPr>
              <a:t> Scales with data &amp; depth</a:t>
            </a:r>
            <a:endParaRPr lang="en-US" sz="1600" dirty="0"/>
          </a:p>
        </p:txBody>
      </p:sp>
      <p:sp>
        <p:nvSpPr>
          <p:cNvPr id="16" name="Shape 14"/>
          <p:cNvSpPr/>
          <p:nvPr/>
        </p:nvSpPr>
        <p:spPr>
          <a:xfrm>
            <a:off x="385763" y="5300663"/>
            <a:ext cx="5629275" cy="1114425"/>
          </a:xfrm>
          <a:custGeom>
            <a:avLst/>
            <a:gdLst/>
            <a:ahLst/>
            <a:cxnLst/>
            <a:rect l="l" t="t" r="r" b="b"/>
            <a:pathLst>
              <a:path w="5629275" h="1114425">
                <a:moveTo>
                  <a:pt x="76204" y="0"/>
                </a:moveTo>
                <a:lnTo>
                  <a:pt x="5553071" y="0"/>
                </a:lnTo>
                <a:cubicBezTo>
                  <a:pt x="5595157" y="0"/>
                  <a:pt x="5629275" y="34118"/>
                  <a:pt x="5629275" y="76204"/>
                </a:cubicBezTo>
                <a:lnTo>
                  <a:pt x="5629275" y="1038221"/>
                </a:lnTo>
                <a:cubicBezTo>
                  <a:pt x="5629275" y="1080307"/>
                  <a:pt x="5595157" y="1114425"/>
                  <a:pt x="5553071" y="1114425"/>
                </a:cubicBezTo>
                <a:lnTo>
                  <a:pt x="76204" y="1114425"/>
                </a:lnTo>
                <a:cubicBezTo>
                  <a:pt x="34118" y="1114425"/>
                  <a:pt x="0" y="1080307"/>
                  <a:pt x="0" y="1038221"/>
                </a:cubicBezTo>
                <a:lnTo>
                  <a:pt x="0" y="76204"/>
                </a:lnTo>
                <a:cubicBezTo>
                  <a:pt x="0" y="34146"/>
                  <a:pt x="34146" y="0"/>
                  <a:pt x="76204" y="0"/>
                </a:cubicBezTo>
                <a:close/>
              </a:path>
            </a:pathLst>
          </a:custGeom>
          <a:solidFill>
            <a:srgbClr val="FFD54F">
              <a:alpha val="10196"/>
            </a:srgbClr>
          </a:solidFill>
          <a:ln w="12700">
            <a:solidFill>
              <a:srgbClr val="FFD54F">
                <a:alpha val="30196"/>
              </a:srgbClr>
            </a:solidFill>
            <a:prstDash val="solid"/>
          </a:ln>
        </p:spPr>
      </p:sp>
      <p:sp>
        <p:nvSpPr>
          <p:cNvPr id="17" name="Text 15"/>
          <p:cNvSpPr/>
          <p:nvPr/>
        </p:nvSpPr>
        <p:spPr>
          <a:xfrm>
            <a:off x="504825" y="541972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Representation Learning</a:t>
            </a:r>
            <a:endParaRPr lang="en-US" sz="1600" dirty="0"/>
          </a:p>
        </p:txBody>
      </p:sp>
      <p:sp>
        <p:nvSpPr>
          <p:cNvPr id="18" name="Text 16"/>
          <p:cNvSpPr/>
          <p:nvPr/>
        </p:nvSpPr>
        <p:spPr>
          <a:xfrm>
            <a:off x="504825" y="5724525"/>
            <a:ext cx="5457825" cy="571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Deep learning automatically discovers the representations needed for feature detection or classification from raw data. Each layer transforms the data into increasingly abstract representations.</a:t>
            </a:r>
            <a:endParaRPr lang="en-US" sz="1600" dirty="0"/>
          </a:p>
        </p:txBody>
      </p:sp>
      <p:sp>
        <p:nvSpPr>
          <p:cNvPr id="19" name="Shape 17"/>
          <p:cNvSpPr/>
          <p:nvPr/>
        </p:nvSpPr>
        <p:spPr>
          <a:xfrm>
            <a:off x="6172200" y="1181100"/>
            <a:ext cx="5638800" cy="3352800"/>
          </a:xfrm>
          <a:custGeom>
            <a:avLst/>
            <a:gdLst/>
            <a:ahLst/>
            <a:cxnLst/>
            <a:rect l="l" t="t" r="r" b="b"/>
            <a:pathLst>
              <a:path w="5638800" h="3352800">
                <a:moveTo>
                  <a:pt x="76209" y="0"/>
                </a:moveTo>
                <a:lnTo>
                  <a:pt x="5562591" y="0"/>
                </a:lnTo>
                <a:cubicBezTo>
                  <a:pt x="5604680" y="0"/>
                  <a:pt x="5638800" y="34120"/>
                  <a:pt x="5638800" y="76209"/>
                </a:cubicBezTo>
                <a:lnTo>
                  <a:pt x="5638800" y="3276591"/>
                </a:lnTo>
                <a:cubicBezTo>
                  <a:pt x="5638800" y="3318680"/>
                  <a:pt x="5604680" y="3352800"/>
                  <a:pt x="5562591" y="3352800"/>
                </a:cubicBezTo>
                <a:lnTo>
                  <a:pt x="76209" y="3352800"/>
                </a:lnTo>
                <a:cubicBezTo>
                  <a:pt x="34120" y="3352800"/>
                  <a:pt x="0" y="3318680"/>
                  <a:pt x="0" y="3276591"/>
                </a:cubicBezTo>
                <a:lnTo>
                  <a:pt x="0" y="76209"/>
                </a:lnTo>
                <a:cubicBezTo>
                  <a:pt x="0" y="34148"/>
                  <a:pt x="34148" y="0"/>
                  <a:pt x="76209" y="0"/>
                </a:cubicBezTo>
                <a:close/>
              </a:path>
            </a:pathLst>
          </a:custGeom>
          <a:solidFill>
            <a:srgbClr val="4DB6AC">
              <a:alpha val="10196"/>
            </a:srgbClr>
          </a:solidFill>
          <a:ln/>
        </p:spPr>
      </p:sp>
      <p:sp>
        <p:nvSpPr>
          <p:cNvPr id="20" name="Text 18"/>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AI, ML &amp; Deep Learning</a:t>
            </a:r>
            <a:endParaRPr lang="en-US" sz="1600" dirty="0"/>
          </a:p>
        </p:txBody>
      </p:sp>
      <p:sp>
        <p:nvSpPr>
          <p:cNvPr id="21" name="Shape 19"/>
          <p:cNvSpPr/>
          <p:nvPr/>
        </p:nvSpPr>
        <p:spPr>
          <a:xfrm>
            <a:off x="6867525" y="2105025"/>
            <a:ext cx="4248150" cy="704850"/>
          </a:xfrm>
          <a:custGeom>
            <a:avLst/>
            <a:gdLst/>
            <a:ahLst/>
            <a:cxnLst/>
            <a:rect l="l" t="t" r="r" b="b"/>
            <a:pathLst>
              <a:path w="4248150" h="704850">
                <a:moveTo>
                  <a:pt x="76201" y="0"/>
                </a:moveTo>
                <a:lnTo>
                  <a:pt x="4171949" y="0"/>
                </a:lnTo>
                <a:cubicBezTo>
                  <a:pt x="4214034" y="0"/>
                  <a:pt x="4248150" y="34116"/>
                  <a:pt x="4248150" y="76201"/>
                </a:cubicBezTo>
                <a:lnTo>
                  <a:pt x="4248150" y="628649"/>
                </a:lnTo>
                <a:cubicBezTo>
                  <a:pt x="4248150" y="670734"/>
                  <a:pt x="4214034" y="704850"/>
                  <a:pt x="4171949" y="704850"/>
                </a:cubicBezTo>
                <a:lnTo>
                  <a:pt x="76201" y="704850"/>
                </a:lnTo>
                <a:cubicBezTo>
                  <a:pt x="34116" y="704850"/>
                  <a:pt x="0" y="670734"/>
                  <a:pt x="0" y="628649"/>
                </a:cubicBezTo>
                <a:lnTo>
                  <a:pt x="0" y="76201"/>
                </a:lnTo>
                <a:cubicBezTo>
                  <a:pt x="0" y="34145"/>
                  <a:pt x="34145" y="0"/>
                  <a:pt x="76201" y="0"/>
                </a:cubicBezTo>
                <a:close/>
              </a:path>
            </a:pathLst>
          </a:custGeom>
          <a:solidFill>
            <a:srgbClr val="000000">
              <a:alpha val="0"/>
            </a:srgbClr>
          </a:solidFill>
          <a:ln w="25400">
            <a:solidFill>
              <a:srgbClr val="78909C"/>
            </a:solidFill>
            <a:prstDash val="solid"/>
          </a:ln>
        </p:spPr>
      </p:sp>
      <p:sp>
        <p:nvSpPr>
          <p:cNvPr id="22" name="Text 20"/>
          <p:cNvSpPr/>
          <p:nvPr/>
        </p:nvSpPr>
        <p:spPr>
          <a:xfrm>
            <a:off x="6943725" y="2228850"/>
            <a:ext cx="4095750" cy="266700"/>
          </a:xfrm>
          <a:prstGeom prst="rect">
            <a:avLst/>
          </a:prstGeom>
          <a:noFill/>
          <a:ln/>
        </p:spPr>
        <p:txBody>
          <a:bodyPr wrap="square" lIns="0" tIns="0" rIns="0" bIns="0" rtlCol="0" anchor="ctr"/>
          <a:lstStyle/>
          <a:p>
            <a:pPr algn="ctr">
              <a:lnSpc>
                <a:spcPct val="120000"/>
              </a:lnSpc>
            </a:pPr>
            <a:r>
              <a:rPr lang="en-US" sz="1500" b="1" dirty="0">
                <a:solidFill>
                  <a:srgbClr val="78909C"/>
                </a:solidFill>
                <a:latin typeface="Liter" pitchFamily="34" charset="0"/>
                <a:ea typeface="Liter" pitchFamily="34" charset="-122"/>
                <a:cs typeface="Liter" pitchFamily="34" charset="-120"/>
              </a:rPr>
              <a:t>Artificial Intelligence</a:t>
            </a:r>
            <a:endParaRPr lang="en-US" sz="1600" dirty="0"/>
          </a:p>
        </p:txBody>
      </p:sp>
      <p:sp>
        <p:nvSpPr>
          <p:cNvPr id="23" name="Text 21"/>
          <p:cNvSpPr/>
          <p:nvPr/>
        </p:nvSpPr>
        <p:spPr>
          <a:xfrm>
            <a:off x="6958013" y="2495550"/>
            <a:ext cx="4067175" cy="190500"/>
          </a:xfrm>
          <a:prstGeom prst="rect">
            <a:avLst/>
          </a:prstGeom>
          <a:noFill/>
          <a:ln/>
        </p:spPr>
        <p:txBody>
          <a:bodyPr wrap="square" lIns="0" tIns="0" rIns="0" bIns="0" rtlCol="0" anchor="ctr"/>
          <a:lstStyle/>
          <a:p>
            <a:pPr algn="ct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Inteligjenca Artificiale</a:t>
            </a:r>
            <a:endParaRPr lang="en-US" sz="1600" dirty="0"/>
          </a:p>
        </p:txBody>
      </p:sp>
      <p:sp>
        <p:nvSpPr>
          <p:cNvPr id="24" name="Shape 22"/>
          <p:cNvSpPr/>
          <p:nvPr/>
        </p:nvSpPr>
        <p:spPr>
          <a:xfrm>
            <a:off x="7172325" y="2905125"/>
            <a:ext cx="3638550" cy="704850"/>
          </a:xfrm>
          <a:custGeom>
            <a:avLst/>
            <a:gdLst/>
            <a:ahLst/>
            <a:cxnLst/>
            <a:rect l="l" t="t" r="r" b="b"/>
            <a:pathLst>
              <a:path w="3638550" h="704850">
                <a:moveTo>
                  <a:pt x="76201" y="0"/>
                </a:moveTo>
                <a:lnTo>
                  <a:pt x="3562349" y="0"/>
                </a:lnTo>
                <a:cubicBezTo>
                  <a:pt x="3604434" y="0"/>
                  <a:pt x="3638550" y="34116"/>
                  <a:pt x="3638550" y="76201"/>
                </a:cubicBezTo>
                <a:lnTo>
                  <a:pt x="3638550" y="628649"/>
                </a:lnTo>
                <a:cubicBezTo>
                  <a:pt x="3638550" y="670734"/>
                  <a:pt x="3604434" y="704850"/>
                  <a:pt x="3562349" y="704850"/>
                </a:cubicBezTo>
                <a:lnTo>
                  <a:pt x="76201" y="704850"/>
                </a:lnTo>
                <a:cubicBezTo>
                  <a:pt x="34116" y="704850"/>
                  <a:pt x="0" y="670734"/>
                  <a:pt x="0" y="628649"/>
                </a:cubicBezTo>
                <a:lnTo>
                  <a:pt x="0" y="76201"/>
                </a:lnTo>
                <a:cubicBezTo>
                  <a:pt x="0" y="34145"/>
                  <a:pt x="34145" y="0"/>
                  <a:pt x="76201" y="0"/>
                </a:cubicBezTo>
                <a:close/>
              </a:path>
            </a:pathLst>
          </a:custGeom>
          <a:solidFill>
            <a:srgbClr val="000000">
              <a:alpha val="0"/>
            </a:srgbClr>
          </a:solidFill>
          <a:ln w="25400">
            <a:solidFill>
              <a:srgbClr val="4DB6AC"/>
            </a:solidFill>
            <a:prstDash val="solid"/>
          </a:ln>
        </p:spPr>
      </p:sp>
      <p:sp>
        <p:nvSpPr>
          <p:cNvPr id="25" name="Text 23"/>
          <p:cNvSpPr/>
          <p:nvPr/>
        </p:nvSpPr>
        <p:spPr>
          <a:xfrm>
            <a:off x="7253288" y="3028950"/>
            <a:ext cx="3476625" cy="266700"/>
          </a:xfrm>
          <a:prstGeom prst="rect">
            <a:avLst/>
          </a:prstGeom>
          <a:noFill/>
          <a:ln/>
        </p:spPr>
        <p:txBody>
          <a:bodyPr wrap="square" lIns="0" tIns="0" rIns="0" bIns="0" rtlCol="0" anchor="ctr"/>
          <a:lstStyle/>
          <a:p>
            <a:pPr algn="ctr">
              <a:lnSpc>
                <a:spcPct val="130000"/>
              </a:lnSpc>
            </a:pPr>
            <a:r>
              <a:rPr lang="en-US" sz="1350" b="1" dirty="0">
                <a:solidFill>
                  <a:srgbClr val="4DB6AC"/>
                </a:solidFill>
                <a:latin typeface="Liter" pitchFamily="34" charset="0"/>
                <a:ea typeface="Liter" pitchFamily="34" charset="-122"/>
                <a:cs typeface="Liter" pitchFamily="34" charset="-120"/>
              </a:rPr>
              <a:t>Machine Learning</a:t>
            </a:r>
            <a:endParaRPr lang="en-US" sz="1600" dirty="0"/>
          </a:p>
        </p:txBody>
      </p:sp>
      <p:sp>
        <p:nvSpPr>
          <p:cNvPr id="26" name="Text 24"/>
          <p:cNvSpPr/>
          <p:nvPr/>
        </p:nvSpPr>
        <p:spPr>
          <a:xfrm>
            <a:off x="7262813" y="3295650"/>
            <a:ext cx="3457575" cy="190500"/>
          </a:xfrm>
          <a:prstGeom prst="rect">
            <a:avLst/>
          </a:prstGeom>
          <a:noFill/>
          <a:ln/>
        </p:spPr>
        <p:txBody>
          <a:bodyPr wrap="square" lIns="0" tIns="0" rIns="0" bIns="0" rtlCol="0" anchor="ctr"/>
          <a:lstStyle/>
          <a:p>
            <a:pPr algn="ct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Mësimi me Makinë</a:t>
            </a:r>
            <a:endParaRPr lang="en-US" sz="1600" dirty="0"/>
          </a:p>
        </p:txBody>
      </p:sp>
      <p:sp>
        <p:nvSpPr>
          <p:cNvPr id="27" name="Shape 25"/>
          <p:cNvSpPr/>
          <p:nvPr/>
        </p:nvSpPr>
        <p:spPr>
          <a:xfrm>
            <a:off x="7477125" y="3705225"/>
            <a:ext cx="3028950" cy="666750"/>
          </a:xfrm>
          <a:custGeom>
            <a:avLst/>
            <a:gdLst/>
            <a:ahLst/>
            <a:cxnLst/>
            <a:rect l="l" t="t" r="r" b="b"/>
            <a:pathLst>
              <a:path w="3028950" h="666750">
                <a:moveTo>
                  <a:pt x="76203" y="0"/>
                </a:moveTo>
                <a:lnTo>
                  <a:pt x="2952747" y="0"/>
                </a:lnTo>
                <a:cubicBezTo>
                  <a:pt x="2994805" y="0"/>
                  <a:pt x="3028950" y="34145"/>
                  <a:pt x="3028950" y="76203"/>
                </a:cubicBezTo>
                <a:lnTo>
                  <a:pt x="3028950" y="590547"/>
                </a:lnTo>
                <a:cubicBezTo>
                  <a:pt x="3028950" y="632605"/>
                  <a:pt x="2994805" y="666750"/>
                  <a:pt x="2952747" y="666750"/>
                </a:cubicBezTo>
                <a:lnTo>
                  <a:pt x="76203" y="666750"/>
                </a:lnTo>
                <a:cubicBezTo>
                  <a:pt x="34145" y="666750"/>
                  <a:pt x="0" y="632605"/>
                  <a:pt x="0" y="590547"/>
                </a:cubicBezTo>
                <a:lnTo>
                  <a:pt x="0" y="76203"/>
                </a:lnTo>
                <a:cubicBezTo>
                  <a:pt x="0" y="34145"/>
                  <a:pt x="34145" y="0"/>
                  <a:pt x="76203" y="0"/>
                </a:cubicBezTo>
                <a:close/>
              </a:path>
            </a:pathLst>
          </a:custGeom>
          <a:solidFill>
            <a:srgbClr val="000000">
              <a:alpha val="0"/>
            </a:srgbClr>
          </a:solidFill>
          <a:ln w="25400">
            <a:solidFill>
              <a:srgbClr val="FFD54F"/>
            </a:solidFill>
            <a:prstDash val="solid"/>
          </a:ln>
        </p:spPr>
      </p:sp>
      <p:sp>
        <p:nvSpPr>
          <p:cNvPr id="28" name="Text 26"/>
          <p:cNvSpPr/>
          <p:nvPr/>
        </p:nvSpPr>
        <p:spPr>
          <a:xfrm>
            <a:off x="7562850" y="3829050"/>
            <a:ext cx="2857500" cy="228600"/>
          </a:xfrm>
          <a:prstGeom prst="rect">
            <a:avLst/>
          </a:prstGeom>
          <a:noFill/>
          <a:ln/>
        </p:spPr>
        <p:txBody>
          <a:bodyPr wrap="square" lIns="0" tIns="0" rIns="0" bIns="0" rtlCol="0" anchor="ctr"/>
          <a:lstStyle/>
          <a:p>
            <a:pPr algn="ctr">
              <a:lnSpc>
                <a:spcPct val="130000"/>
              </a:lnSpc>
            </a:pPr>
            <a:r>
              <a:rPr lang="en-US" sz="1200" b="1" dirty="0">
                <a:solidFill>
                  <a:srgbClr val="FFD54F"/>
                </a:solidFill>
                <a:latin typeface="Liter" pitchFamily="34" charset="0"/>
                <a:ea typeface="Liter" pitchFamily="34" charset="-122"/>
                <a:cs typeface="Liter" pitchFamily="34" charset="-120"/>
              </a:rPr>
              <a:t>Deep Learning</a:t>
            </a:r>
            <a:endParaRPr lang="en-US" sz="1600" dirty="0"/>
          </a:p>
        </p:txBody>
      </p:sp>
      <p:sp>
        <p:nvSpPr>
          <p:cNvPr id="29" name="Text 27"/>
          <p:cNvSpPr/>
          <p:nvPr/>
        </p:nvSpPr>
        <p:spPr>
          <a:xfrm>
            <a:off x="7567612" y="4057650"/>
            <a:ext cx="2847975" cy="190500"/>
          </a:xfrm>
          <a:prstGeom prst="rect">
            <a:avLst/>
          </a:prstGeom>
          <a:noFill/>
          <a:ln/>
        </p:spPr>
        <p:txBody>
          <a:bodyPr wrap="square" lIns="0" tIns="0" rIns="0" bIns="0" rtlCol="0" anchor="ctr"/>
          <a:lstStyle/>
          <a:p>
            <a:pPr algn="ct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Mësimi i Thellë</a:t>
            </a:r>
            <a:endParaRPr lang="en-US" sz="1600" dirty="0"/>
          </a:p>
        </p:txBody>
      </p:sp>
      <p:sp>
        <p:nvSpPr>
          <p:cNvPr id="30" name="Shape 28"/>
          <p:cNvSpPr/>
          <p:nvPr/>
        </p:nvSpPr>
        <p:spPr>
          <a:xfrm>
            <a:off x="6176963" y="461486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4DB6AC">
              <a:alpha val="10196"/>
            </a:srgbClr>
          </a:solidFill>
          <a:ln w="12700">
            <a:solidFill>
              <a:srgbClr val="4DB6AC">
                <a:alpha val="30196"/>
              </a:srgbClr>
            </a:solidFill>
            <a:prstDash val="solid"/>
          </a:ln>
        </p:spPr>
      </p:sp>
      <p:sp>
        <p:nvSpPr>
          <p:cNvPr id="31" name="Shape 29"/>
          <p:cNvSpPr/>
          <p:nvPr/>
        </p:nvSpPr>
        <p:spPr>
          <a:xfrm>
            <a:off x="7434263" y="4733925"/>
            <a:ext cx="257175" cy="228600"/>
          </a:xfrm>
          <a:custGeom>
            <a:avLst/>
            <a:gdLst/>
            <a:ahLst/>
            <a:cxnLst/>
            <a:rect l="l" t="t" r="r" b="b"/>
            <a:pathLst>
              <a:path w="257175" h="228600">
                <a:moveTo>
                  <a:pt x="128588" y="14288"/>
                </a:moveTo>
                <a:cubicBezTo>
                  <a:pt x="92512" y="14288"/>
                  <a:pt x="63624" y="30718"/>
                  <a:pt x="42595" y="50274"/>
                </a:cubicBezTo>
                <a:cubicBezTo>
                  <a:pt x="21699" y="69696"/>
                  <a:pt x="7724" y="92869"/>
                  <a:pt x="1072" y="108808"/>
                </a:cubicBezTo>
                <a:cubicBezTo>
                  <a:pt x="-402" y="112335"/>
                  <a:pt x="-402" y="116265"/>
                  <a:pt x="1072" y="119792"/>
                </a:cubicBezTo>
                <a:cubicBezTo>
                  <a:pt x="7724" y="135731"/>
                  <a:pt x="21699" y="158948"/>
                  <a:pt x="42595" y="178326"/>
                </a:cubicBezTo>
                <a:cubicBezTo>
                  <a:pt x="63624" y="197837"/>
                  <a:pt x="92512" y="214313"/>
                  <a:pt x="128588" y="214313"/>
                </a:cubicBezTo>
                <a:cubicBezTo>
                  <a:pt x="164663" y="214313"/>
                  <a:pt x="193551" y="197882"/>
                  <a:pt x="214580" y="178326"/>
                </a:cubicBezTo>
                <a:cubicBezTo>
                  <a:pt x="235476" y="158904"/>
                  <a:pt x="249451" y="135731"/>
                  <a:pt x="256103" y="119792"/>
                </a:cubicBezTo>
                <a:cubicBezTo>
                  <a:pt x="257577" y="116265"/>
                  <a:pt x="257577" y="112335"/>
                  <a:pt x="256103" y="108808"/>
                </a:cubicBezTo>
                <a:cubicBezTo>
                  <a:pt x="249451" y="92869"/>
                  <a:pt x="235476" y="69652"/>
                  <a:pt x="214580" y="50274"/>
                </a:cubicBezTo>
                <a:cubicBezTo>
                  <a:pt x="193551" y="30763"/>
                  <a:pt x="164663" y="14287"/>
                  <a:pt x="128588" y="14287"/>
                </a:cubicBezTo>
                <a:close/>
                <a:moveTo>
                  <a:pt x="64294" y="114300"/>
                </a:moveTo>
                <a:cubicBezTo>
                  <a:pt x="64294" y="78815"/>
                  <a:pt x="93103" y="50006"/>
                  <a:pt x="128588" y="50006"/>
                </a:cubicBezTo>
                <a:cubicBezTo>
                  <a:pt x="164072" y="50006"/>
                  <a:pt x="192881" y="78815"/>
                  <a:pt x="192881" y="114300"/>
                </a:cubicBezTo>
                <a:cubicBezTo>
                  <a:pt x="192881" y="149785"/>
                  <a:pt x="164072" y="178594"/>
                  <a:pt x="128588" y="178594"/>
                </a:cubicBezTo>
                <a:cubicBezTo>
                  <a:pt x="93103" y="178594"/>
                  <a:pt x="64294" y="149785"/>
                  <a:pt x="64294" y="114300"/>
                </a:cubicBezTo>
                <a:close/>
                <a:moveTo>
                  <a:pt x="128588" y="85725"/>
                </a:moveTo>
                <a:cubicBezTo>
                  <a:pt x="128588" y="101486"/>
                  <a:pt x="115773" y="114300"/>
                  <a:pt x="100013" y="114300"/>
                </a:cubicBezTo>
                <a:cubicBezTo>
                  <a:pt x="94878" y="114300"/>
                  <a:pt x="90056" y="112961"/>
                  <a:pt x="85859" y="110550"/>
                </a:cubicBezTo>
                <a:cubicBezTo>
                  <a:pt x="85412" y="115416"/>
                  <a:pt x="85814" y="120417"/>
                  <a:pt x="87154" y="125373"/>
                </a:cubicBezTo>
                <a:cubicBezTo>
                  <a:pt x="93271" y="148233"/>
                  <a:pt x="116800" y="161806"/>
                  <a:pt x="139660" y="155689"/>
                </a:cubicBezTo>
                <a:cubicBezTo>
                  <a:pt x="162520" y="149572"/>
                  <a:pt x="176093" y="126043"/>
                  <a:pt x="169977" y="103183"/>
                </a:cubicBezTo>
                <a:cubicBezTo>
                  <a:pt x="164529" y="82778"/>
                  <a:pt x="145197" y="69786"/>
                  <a:pt x="124837" y="71571"/>
                </a:cubicBezTo>
                <a:cubicBezTo>
                  <a:pt x="127203" y="75724"/>
                  <a:pt x="128588" y="80546"/>
                  <a:pt x="128588" y="85725"/>
                </a:cubicBezTo>
                <a:close/>
              </a:path>
            </a:pathLst>
          </a:custGeom>
          <a:solidFill>
            <a:srgbClr val="4DB6AC"/>
          </a:solidFill>
          <a:ln/>
        </p:spPr>
      </p:sp>
      <p:sp>
        <p:nvSpPr>
          <p:cNvPr id="32" name="Text 30"/>
          <p:cNvSpPr/>
          <p:nvPr/>
        </p:nvSpPr>
        <p:spPr>
          <a:xfrm>
            <a:off x="6262688" y="503872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Computer Vision</a:t>
            </a:r>
            <a:endParaRPr lang="en-US" sz="1600" dirty="0"/>
          </a:p>
        </p:txBody>
      </p:sp>
      <p:sp>
        <p:nvSpPr>
          <p:cNvPr id="33" name="Text 31"/>
          <p:cNvSpPr/>
          <p:nvPr/>
        </p:nvSpPr>
        <p:spPr>
          <a:xfrm>
            <a:off x="6267450" y="52292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Shikimi Kompjuterik</a:t>
            </a:r>
            <a:endParaRPr lang="en-US" sz="1600" dirty="0"/>
          </a:p>
        </p:txBody>
      </p:sp>
      <p:sp>
        <p:nvSpPr>
          <p:cNvPr id="34" name="Shape 32"/>
          <p:cNvSpPr/>
          <p:nvPr/>
        </p:nvSpPr>
        <p:spPr>
          <a:xfrm>
            <a:off x="9034463" y="461486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FFD54F">
              <a:alpha val="10196"/>
            </a:srgbClr>
          </a:solidFill>
          <a:ln w="12700">
            <a:solidFill>
              <a:srgbClr val="FFD54F">
                <a:alpha val="30196"/>
              </a:srgbClr>
            </a:solidFill>
            <a:prstDash val="solid"/>
          </a:ln>
        </p:spPr>
      </p:sp>
      <p:sp>
        <p:nvSpPr>
          <p:cNvPr id="35" name="Shape 33"/>
          <p:cNvSpPr/>
          <p:nvPr/>
        </p:nvSpPr>
        <p:spPr>
          <a:xfrm>
            <a:off x="10291763" y="4733925"/>
            <a:ext cx="257175" cy="228600"/>
          </a:xfrm>
          <a:custGeom>
            <a:avLst/>
            <a:gdLst/>
            <a:ahLst/>
            <a:cxnLst/>
            <a:rect l="l" t="t" r="r" b="b"/>
            <a:pathLst>
              <a:path w="257175" h="228600">
                <a:moveTo>
                  <a:pt x="171450" y="64294"/>
                </a:moveTo>
                <a:cubicBezTo>
                  <a:pt x="171450" y="107692"/>
                  <a:pt x="133052" y="142875"/>
                  <a:pt x="85725" y="142875"/>
                </a:cubicBezTo>
                <a:cubicBezTo>
                  <a:pt x="73804" y="142875"/>
                  <a:pt x="62463" y="140643"/>
                  <a:pt x="52149" y="136624"/>
                </a:cubicBezTo>
                <a:lnTo>
                  <a:pt x="15716" y="155912"/>
                </a:lnTo>
                <a:cubicBezTo>
                  <a:pt x="11564" y="158100"/>
                  <a:pt x="6474" y="157341"/>
                  <a:pt x="3125" y="154037"/>
                </a:cubicBezTo>
                <a:cubicBezTo>
                  <a:pt x="-223" y="150733"/>
                  <a:pt x="-982" y="145599"/>
                  <a:pt x="1250" y="141446"/>
                </a:cubicBezTo>
                <a:lnTo>
                  <a:pt x="17145" y="111443"/>
                </a:lnTo>
                <a:cubicBezTo>
                  <a:pt x="6385" y="98316"/>
                  <a:pt x="0" y="81975"/>
                  <a:pt x="0" y="64294"/>
                </a:cubicBezTo>
                <a:cubicBezTo>
                  <a:pt x="0" y="20895"/>
                  <a:pt x="38398" y="-14287"/>
                  <a:pt x="85725" y="-14287"/>
                </a:cubicBezTo>
                <a:cubicBezTo>
                  <a:pt x="133052" y="-14287"/>
                  <a:pt x="171450" y="20895"/>
                  <a:pt x="171450" y="64294"/>
                </a:cubicBezTo>
                <a:close/>
                <a:moveTo>
                  <a:pt x="171450" y="228600"/>
                </a:moveTo>
                <a:cubicBezTo>
                  <a:pt x="129436" y="228600"/>
                  <a:pt x="94476" y="200873"/>
                  <a:pt x="87154" y="164306"/>
                </a:cubicBezTo>
                <a:cubicBezTo>
                  <a:pt x="140732" y="163637"/>
                  <a:pt x="187300" y="125507"/>
                  <a:pt x="192435" y="73804"/>
                </a:cubicBezTo>
                <a:cubicBezTo>
                  <a:pt x="229627" y="82376"/>
                  <a:pt x="257175" y="113228"/>
                  <a:pt x="257175" y="150019"/>
                </a:cubicBezTo>
                <a:cubicBezTo>
                  <a:pt x="257175" y="167700"/>
                  <a:pt x="250790" y="184041"/>
                  <a:pt x="240030" y="197168"/>
                </a:cubicBezTo>
                <a:lnTo>
                  <a:pt x="255925" y="227171"/>
                </a:lnTo>
                <a:cubicBezTo>
                  <a:pt x="258113" y="231324"/>
                  <a:pt x="257354" y="236413"/>
                  <a:pt x="254050" y="239762"/>
                </a:cubicBezTo>
                <a:cubicBezTo>
                  <a:pt x="250746" y="243111"/>
                  <a:pt x="245611" y="243870"/>
                  <a:pt x="241459" y="241637"/>
                </a:cubicBezTo>
                <a:lnTo>
                  <a:pt x="205026" y="222349"/>
                </a:lnTo>
                <a:cubicBezTo>
                  <a:pt x="194712" y="226368"/>
                  <a:pt x="183371" y="228600"/>
                  <a:pt x="171450" y="228600"/>
                </a:cubicBezTo>
                <a:close/>
              </a:path>
            </a:pathLst>
          </a:custGeom>
          <a:solidFill>
            <a:srgbClr val="FFD54F"/>
          </a:solidFill>
          <a:ln/>
        </p:spPr>
      </p:sp>
      <p:sp>
        <p:nvSpPr>
          <p:cNvPr id="36" name="Text 34"/>
          <p:cNvSpPr/>
          <p:nvPr/>
        </p:nvSpPr>
        <p:spPr>
          <a:xfrm>
            <a:off x="9120188" y="503872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NLP</a:t>
            </a:r>
            <a:endParaRPr lang="en-US" sz="1600" dirty="0"/>
          </a:p>
        </p:txBody>
      </p:sp>
      <p:sp>
        <p:nvSpPr>
          <p:cNvPr id="37" name="Text 35"/>
          <p:cNvSpPr/>
          <p:nvPr/>
        </p:nvSpPr>
        <p:spPr>
          <a:xfrm>
            <a:off x="9124950" y="52292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Përpunimi i Gjuhës</a:t>
            </a:r>
            <a:endParaRPr lang="en-US" sz="1600" dirty="0"/>
          </a:p>
        </p:txBody>
      </p:sp>
      <p:sp>
        <p:nvSpPr>
          <p:cNvPr id="38" name="Shape 36"/>
          <p:cNvSpPr/>
          <p:nvPr/>
        </p:nvSpPr>
        <p:spPr>
          <a:xfrm>
            <a:off x="6176963" y="558641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4DB6AC">
              <a:alpha val="10196"/>
            </a:srgbClr>
          </a:solidFill>
          <a:ln w="12700">
            <a:solidFill>
              <a:srgbClr val="4DB6AC">
                <a:alpha val="30196"/>
              </a:srgbClr>
            </a:solidFill>
            <a:prstDash val="solid"/>
          </a:ln>
        </p:spPr>
      </p:sp>
      <p:sp>
        <p:nvSpPr>
          <p:cNvPr id="39" name="Shape 37"/>
          <p:cNvSpPr/>
          <p:nvPr/>
        </p:nvSpPr>
        <p:spPr>
          <a:xfrm>
            <a:off x="7448550" y="5705475"/>
            <a:ext cx="228600" cy="228600"/>
          </a:xfrm>
          <a:custGeom>
            <a:avLst/>
            <a:gdLst/>
            <a:ahLst/>
            <a:cxnLst/>
            <a:rect l="l" t="t" r="r" b="b"/>
            <a:pathLst>
              <a:path w="228600" h="228600">
                <a:moveTo>
                  <a:pt x="28575" y="42863"/>
                </a:moveTo>
                <a:cubicBezTo>
                  <a:pt x="28575" y="34960"/>
                  <a:pt x="34960" y="28575"/>
                  <a:pt x="42863" y="28575"/>
                </a:cubicBezTo>
                <a:lnTo>
                  <a:pt x="114300" y="28575"/>
                </a:lnTo>
                <a:cubicBezTo>
                  <a:pt x="122203" y="28575"/>
                  <a:pt x="128588" y="34960"/>
                  <a:pt x="128588" y="42863"/>
                </a:cubicBezTo>
                <a:lnTo>
                  <a:pt x="128588" y="171450"/>
                </a:lnTo>
                <a:lnTo>
                  <a:pt x="171450" y="171450"/>
                </a:lnTo>
                <a:lnTo>
                  <a:pt x="171450" y="114300"/>
                </a:lnTo>
                <a:cubicBezTo>
                  <a:pt x="171450" y="106397"/>
                  <a:pt x="177835" y="100013"/>
                  <a:pt x="185738" y="100013"/>
                </a:cubicBezTo>
                <a:lnTo>
                  <a:pt x="214313" y="100013"/>
                </a:lnTo>
                <a:cubicBezTo>
                  <a:pt x="222215" y="100013"/>
                  <a:pt x="228600" y="106397"/>
                  <a:pt x="228600" y="114300"/>
                </a:cubicBezTo>
                <a:cubicBezTo>
                  <a:pt x="228600" y="122203"/>
                  <a:pt x="222215" y="128588"/>
                  <a:pt x="214313" y="128588"/>
                </a:cubicBezTo>
                <a:lnTo>
                  <a:pt x="200025" y="128588"/>
                </a:lnTo>
                <a:lnTo>
                  <a:pt x="200025" y="185738"/>
                </a:lnTo>
                <a:cubicBezTo>
                  <a:pt x="200025" y="193640"/>
                  <a:pt x="193640" y="200025"/>
                  <a:pt x="185738" y="200025"/>
                </a:cubicBezTo>
                <a:lnTo>
                  <a:pt x="114300" y="200025"/>
                </a:lnTo>
                <a:cubicBezTo>
                  <a:pt x="106397" y="200025"/>
                  <a:pt x="100013" y="193640"/>
                  <a:pt x="100013" y="185738"/>
                </a:cubicBezTo>
                <a:lnTo>
                  <a:pt x="100013" y="57150"/>
                </a:lnTo>
                <a:lnTo>
                  <a:pt x="57150" y="57150"/>
                </a:lnTo>
                <a:lnTo>
                  <a:pt x="57150" y="114300"/>
                </a:lnTo>
                <a:cubicBezTo>
                  <a:pt x="57150" y="122203"/>
                  <a:pt x="50765" y="128588"/>
                  <a:pt x="42863" y="128588"/>
                </a:cubicBezTo>
                <a:lnTo>
                  <a:pt x="14288" y="128588"/>
                </a:lnTo>
                <a:cubicBezTo>
                  <a:pt x="6385" y="128588"/>
                  <a:pt x="0" y="122203"/>
                  <a:pt x="0" y="114300"/>
                </a:cubicBezTo>
                <a:cubicBezTo>
                  <a:pt x="0" y="106397"/>
                  <a:pt x="6385" y="100013"/>
                  <a:pt x="14288" y="100013"/>
                </a:cubicBezTo>
                <a:lnTo>
                  <a:pt x="28575" y="100013"/>
                </a:lnTo>
                <a:lnTo>
                  <a:pt x="28575" y="42863"/>
                </a:lnTo>
                <a:close/>
              </a:path>
            </a:pathLst>
          </a:custGeom>
          <a:solidFill>
            <a:srgbClr val="4DB6AC"/>
          </a:solidFill>
          <a:ln/>
        </p:spPr>
      </p:sp>
      <p:sp>
        <p:nvSpPr>
          <p:cNvPr id="40" name="Text 38"/>
          <p:cNvSpPr/>
          <p:nvPr/>
        </p:nvSpPr>
        <p:spPr>
          <a:xfrm>
            <a:off x="6262688" y="601027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Speech</a:t>
            </a:r>
            <a:endParaRPr lang="en-US" sz="1600" dirty="0"/>
          </a:p>
        </p:txBody>
      </p:sp>
      <p:sp>
        <p:nvSpPr>
          <p:cNvPr id="41" name="Text 39"/>
          <p:cNvSpPr/>
          <p:nvPr/>
        </p:nvSpPr>
        <p:spPr>
          <a:xfrm>
            <a:off x="6267450" y="620077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Të folura</a:t>
            </a:r>
            <a:endParaRPr lang="en-US" sz="1600" dirty="0"/>
          </a:p>
        </p:txBody>
      </p:sp>
      <p:sp>
        <p:nvSpPr>
          <p:cNvPr id="42" name="Shape 40"/>
          <p:cNvSpPr/>
          <p:nvPr/>
        </p:nvSpPr>
        <p:spPr>
          <a:xfrm>
            <a:off x="9034463" y="558641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FFD54F">
              <a:alpha val="10196"/>
            </a:srgbClr>
          </a:solidFill>
          <a:ln w="12700">
            <a:solidFill>
              <a:srgbClr val="FFD54F">
                <a:alpha val="30196"/>
              </a:srgbClr>
            </a:solidFill>
            <a:prstDash val="solid"/>
          </a:ln>
        </p:spPr>
      </p:sp>
      <p:sp>
        <p:nvSpPr>
          <p:cNvPr id="43" name="Shape 41"/>
          <p:cNvSpPr/>
          <p:nvPr/>
        </p:nvSpPr>
        <p:spPr>
          <a:xfrm>
            <a:off x="10277475" y="5705475"/>
            <a:ext cx="285750" cy="228600"/>
          </a:xfrm>
          <a:custGeom>
            <a:avLst/>
            <a:gdLst/>
            <a:ahLst/>
            <a:cxnLst/>
            <a:rect l="l" t="t" r="r" b="b"/>
            <a:pathLst>
              <a:path w="285750" h="228600">
                <a:moveTo>
                  <a:pt x="157163" y="0"/>
                </a:moveTo>
                <a:cubicBezTo>
                  <a:pt x="157163" y="-7903"/>
                  <a:pt x="150778" y="-14287"/>
                  <a:pt x="142875" y="-14287"/>
                </a:cubicBezTo>
                <a:cubicBezTo>
                  <a:pt x="134972" y="-14287"/>
                  <a:pt x="128588" y="-7903"/>
                  <a:pt x="128588" y="0"/>
                </a:cubicBezTo>
                <a:lnTo>
                  <a:pt x="128588" y="28575"/>
                </a:lnTo>
                <a:lnTo>
                  <a:pt x="85725" y="28575"/>
                </a:lnTo>
                <a:cubicBezTo>
                  <a:pt x="62061" y="28575"/>
                  <a:pt x="42863" y="47774"/>
                  <a:pt x="42863" y="71438"/>
                </a:cubicBezTo>
                <a:lnTo>
                  <a:pt x="42863" y="171450"/>
                </a:lnTo>
                <a:cubicBezTo>
                  <a:pt x="42863" y="195114"/>
                  <a:pt x="62061" y="214313"/>
                  <a:pt x="85725" y="214313"/>
                </a:cubicBezTo>
                <a:lnTo>
                  <a:pt x="200025" y="214313"/>
                </a:lnTo>
                <a:cubicBezTo>
                  <a:pt x="223689" y="214313"/>
                  <a:pt x="242888" y="195114"/>
                  <a:pt x="242888" y="171450"/>
                </a:cubicBezTo>
                <a:lnTo>
                  <a:pt x="242888" y="71438"/>
                </a:lnTo>
                <a:cubicBezTo>
                  <a:pt x="242888" y="47774"/>
                  <a:pt x="223689" y="28575"/>
                  <a:pt x="200025" y="28575"/>
                </a:cubicBezTo>
                <a:lnTo>
                  <a:pt x="157163" y="28575"/>
                </a:lnTo>
                <a:lnTo>
                  <a:pt x="157163" y="0"/>
                </a:lnTo>
                <a:close/>
                <a:moveTo>
                  <a:pt x="71438" y="164306"/>
                </a:moveTo>
                <a:cubicBezTo>
                  <a:pt x="71438" y="158368"/>
                  <a:pt x="76215" y="153591"/>
                  <a:pt x="82153" y="153591"/>
                </a:cubicBezTo>
                <a:lnTo>
                  <a:pt x="96441" y="153591"/>
                </a:lnTo>
                <a:cubicBezTo>
                  <a:pt x="102379" y="153591"/>
                  <a:pt x="107156" y="158368"/>
                  <a:pt x="107156" y="164306"/>
                </a:cubicBezTo>
                <a:cubicBezTo>
                  <a:pt x="107156" y="170244"/>
                  <a:pt x="102379" y="175022"/>
                  <a:pt x="96441" y="175022"/>
                </a:cubicBezTo>
                <a:lnTo>
                  <a:pt x="82153" y="175022"/>
                </a:lnTo>
                <a:cubicBezTo>
                  <a:pt x="76215" y="175022"/>
                  <a:pt x="71438" y="170244"/>
                  <a:pt x="71438" y="164306"/>
                </a:cubicBezTo>
                <a:close/>
                <a:moveTo>
                  <a:pt x="125016" y="164306"/>
                </a:moveTo>
                <a:cubicBezTo>
                  <a:pt x="125016" y="158368"/>
                  <a:pt x="129793" y="153591"/>
                  <a:pt x="135731" y="153591"/>
                </a:cubicBezTo>
                <a:lnTo>
                  <a:pt x="150019" y="153591"/>
                </a:lnTo>
                <a:cubicBezTo>
                  <a:pt x="155957" y="153591"/>
                  <a:pt x="160734" y="158368"/>
                  <a:pt x="160734" y="164306"/>
                </a:cubicBezTo>
                <a:cubicBezTo>
                  <a:pt x="160734" y="170244"/>
                  <a:pt x="155957" y="175022"/>
                  <a:pt x="150019" y="175022"/>
                </a:cubicBezTo>
                <a:lnTo>
                  <a:pt x="135731" y="175022"/>
                </a:lnTo>
                <a:cubicBezTo>
                  <a:pt x="129793" y="175022"/>
                  <a:pt x="125016" y="170244"/>
                  <a:pt x="125016" y="164306"/>
                </a:cubicBezTo>
                <a:close/>
                <a:moveTo>
                  <a:pt x="178594" y="164306"/>
                </a:moveTo>
                <a:cubicBezTo>
                  <a:pt x="178594" y="158368"/>
                  <a:pt x="183371" y="153591"/>
                  <a:pt x="189309" y="153591"/>
                </a:cubicBezTo>
                <a:lnTo>
                  <a:pt x="203597" y="153591"/>
                </a:lnTo>
                <a:cubicBezTo>
                  <a:pt x="209535" y="153591"/>
                  <a:pt x="214313" y="158368"/>
                  <a:pt x="214313" y="164306"/>
                </a:cubicBezTo>
                <a:cubicBezTo>
                  <a:pt x="214313" y="170244"/>
                  <a:pt x="209535" y="175022"/>
                  <a:pt x="203597" y="175022"/>
                </a:cubicBezTo>
                <a:lnTo>
                  <a:pt x="189309" y="175022"/>
                </a:lnTo>
                <a:cubicBezTo>
                  <a:pt x="183371" y="175022"/>
                  <a:pt x="178594" y="170244"/>
                  <a:pt x="178594" y="164306"/>
                </a:cubicBezTo>
                <a:close/>
                <a:moveTo>
                  <a:pt x="100013" y="78581"/>
                </a:moveTo>
                <a:cubicBezTo>
                  <a:pt x="111841" y="78581"/>
                  <a:pt x="121444" y="88184"/>
                  <a:pt x="121444" y="100013"/>
                </a:cubicBezTo>
                <a:cubicBezTo>
                  <a:pt x="121444" y="111841"/>
                  <a:pt x="111841" y="121444"/>
                  <a:pt x="100013" y="121444"/>
                </a:cubicBezTo>
                <a:cubicBezTo>
                  <a:pt x="88184" y="121444"/>
                  <a:pt x="78581" y="111841"/>
                  <a:pt x="78581" y="100013"/>
                </a:cubicBezTo>
                <a:cubicBezTo>
                  <a:pt x="78581" y="88184"/>
                  <a:pt x="88184" y="78581"/>
                  <a:pt x="100013" y="78581"/>
                </a:cubicBezTo>
                <a:close/>
                <a:moveTo>
                  <a:pt x="164306" y="100013"/>
                </a:moveTo>
                <a:cubicBezTo>
                  <a:pt x="164306" y="88184"/>
                  <a:pt x="173909" y="78581"/>
                  <a:pt x="185738" y="78581"/>
                </a:cubicBezTo>
                <a:cubicBezTo>
                  <a:pt x="197566" y="78581"/>
                  <a:pt x="207169" y="88184"/>
                  <a:pt x="207169" y="100013"/>
                </a:cubicBezTo>
                <a:cubicBezTo>
                  <a:pt x="207169" y="111841"/>
                  <a:pt x="197566" y="121444"/>
                  <a:pt x="185738" y="121444"/>
                </a:cubicBezTo>
                <a:cubicBezTo>
                  <a:pt x="173909" y="121444"/>
                  <a:pt x="164306" y="111841"/>
                  <a:pt x="164306" y="100013"/>
                </a:cubicBezTo>
                <a:close/>
                <a:moveTo>
                  <a:pt x="28575" y="100013"/>
                </a:moveTo>
                <a:cubicBezTo>
                  <a:pt x="28575" y="92110"/>
                  <a:pt x="22190" y="85725"/>
                  <a:pt x="14288" y="85725"/>
                </a:cubicBezTo>
                <a:cubicBezTo>
                  <a:pt x="6385" y="85725"/>
                  <a:pt x="0" y="92110"/>
                  <a:pt x="0" y="100013"/>
                </a:cubicBezTo>
                <a:lnTo>
                  <a:pt x="0" y="142875"/>
                </a:lnTo>
                <a:cubicBezTo>
                  <a:pt x="0" y="150778"/>
                  <a:pt x="6385" y="157163"/>
                  <a:pt x="14288" y="157163"/>
                </a:cubicBezTo>
                <a:cubicBezTo>
                  <a:pt x="22190" y="157163"/>
                  <a:pt x="28575" y="150778"/>
                  <a:pt x="28575" y="142875"/>
                </a:cubicBezTo>
                <a:lnTo>
                  <a:pt x="28575" y="100013"/>
                </a:lnTo>
                <a:close/>
                <a:moveTo>
                  <a:pt x="271463" y="85725"/>
                </a:moveTo>
                <a:cubicBezTo>
                  <a:pt x="263560" y="85725"/>
                  <a:pt x="257175" y="92110"/>
                  <a:pt x="257175" y="100013"/>
                </a:cubicBezTo>
                <a:lnTo>
                  <a:pt x="257175" y="142875"/>
                </a:lnTo>
                <a:cubicBezTo>
                  <a:pt x="257175" y="150778"/>
                  <a:pt x="263560" y="157163"/>
                  <a:pt x="271463" y="157163"/>
                </a:cubicBezTo>
                <a:cubicBezTo>
                  <a:pt x="279365" y="157163"/>
                  <a:pt x="285750" y="150778"/>
                  <a:pt x="285750" y="142875"/>
                </a:cubicBezTo>
                <a:lnTo>
                  <a:pt x="285750" y="100013"/>
                </a:lnTo>
                <a:cubicBezTo>
                  <a:pt x="285750" y="92110"/>
                  <a:pt x="279365" y="85725"/>
                  <a:pt x="271463" y="85725"/>
                </a:cubicBezTo>
                <a:close/>
              </a:path>
            </a:pathLst>
          </a:custGeom>
          <a:solidFill>
            <a:srgbClr val="FFD54F"/>
          </a:solidFill>
          <a:ln/>
        </p:spPr>
      </p:sp>
      <p:sp>
        <p:nvSpPr>
          <p:cNvPr id="44" name="Text 42"/>
          <p:cNvSpPr/>
          <p:nvPr/>
        </p:nvSpPr>
        <p:spPr>
          <a:xfrm>
            <a:off x="9120188" y="601027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Robotics</a:t>
            </a:r>
            <a:endParaRPr lang="en-US" sz="1600" dirty="0"/>
          </a:p>
        </p:txBody>
      </p:sp>
      <p:sp>
        <p:nvSpPr>
          <p:cNvPr id="45" name="Text 43"/>
          <p:cNvSpPr/>
          <p:nvPr/>
        </p:nvSpPr>
        <p:spPr>
          <a:xfrm>
            <a:off x="9124950" y="620077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Robotika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Deep Learning Market Growth</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Rritja e Tregut të Mësimit të Thellë</a:t>
            </a:r>
            <a:endParaRPr lang="en-US" sz="1600" dirty="0"/>
          </a:p>
        </p:txBody>
      </p:sp>
      <p:sp>
        <p:nvSpPr>
          <p:cNvPr id="4" name="Shape 2"/>
          <p:cNvSpPr/>
          <p:nvPr/>
        </p:nvSpPr>
        <p:spPr>
          <a:xfrm>
            <a:off x="400050" y="1181100"/>
            <a:ext cx="6181725" cy="1943100"/>
          </a:xfrm>
          <a:custGeom>
            <a:avLst/>
            <a:gdLst/>
            <a:ahLst/>
            <a:cxnLst/>
            <a:rect l="l" t="t" r="r" b="b"/>
            <a:pathLst>
              <a:path w="6181725" h="1943100">
                <a:moveTo>
                  <a:pt x="0" y="0"/>
                </a:moveTo>
                <a:lnTo>
                  <a:pt x="6105517" y="0"/>
                </a:lnTo>
                <a:cubicBezTo>
                  <a:pt x="6147605" y="0"/>
                  <a:pt x="6181725" y="34120"/>
                  <a:pt x="6181725" y="76208"/>
                </a:cubicBezTo>
                <a:lnTo>
                  <a:pt x="6181725" y="1866892"/>
                </a:lnTo>
                <a:cubicBezTo>
                  <a:pt x="6181725" y="1908980"/>
                  <a:pt x="6147605" y="1943100"/>
                  <a:pt x="6105517" y="1943100"/>
                </a:cubicBezTo>
                <a:lnTo>
                  <a:pt x="0" y="1943100"/>
                </a:lnTo>
                <a:lnTo>
                  <a:pt x="0" y="0"/>
                </a:lnTo>
                <a:close/>
              </a:path>
            </a:pathLst>
          </a:custGeom>
          <a:solidFill>
            <a:srgbClr val="4DB6AC">
              <a:alpha val="10196"/>
            </a:srgbClr>
          </a:solidFill>
          <a:ln/>
        </p:spPr>
      </p:sp>
      <p:sp>
        <p:nvSpPr>
          <p:cNvPr id="5" name="Shape 3"/>
          <p:cNvSpPr/>
          <p:nvPr/>
        </p:nvSpPr>
        <p:spPr>
          <a:xfrm>
            <a:off x="400050" y="1181100"/>
            <a:ext cx="38100" cy="1943100"/>
          </a:xfrm>
          <a:custGeom>
            <a:avLst/>
            <a:gdLst/>
            <a:ahLst/>
            <a:cxnLst/>
            <a:rect l="l" t="t" r="r" b="b"/>
            <a:pathLst>
              <a:path w="38100" h="1943100">
                <a:moveTo>
                  <a:pt x="0" y="0"/>
                </a:moveTo>
                <a:lnTo>
                  <a:pt x="38100" y="0"/>
                </a:lnTo>
                <a:lnTo>
                  <a:pt x="38100" y="1943100"/>
                </a:lnTo>
                <a:lnTo>
                  <a:pt x="0" y="1943100"/>
                </a:lnTo>
                <a:lnTo>
                  <a:pt x="0" y="0"/>
                </a:lnTo>
                <a:close/>
              </a:path>
            </a:pathLst>
          </a:custGeom>
          <a:solidFill>
            <a:srgbClr val="4DB6AC"/>
          </a:solidFill>
          <a:ln/>
        </p:spPr>
      </p:sp>
      <p:sp>
        <p:nvSpPr>
          <p:cNvPr id="6" name="Text 4"/>
          <p:cNvSpPr/>
          <p:nvPr/>
        </p:nvSpPr>
        <p:spPr>
          <a:xfrm>
            <a:off x="533400" y="1295400"/>
            <a:ext cx="6010275"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The global deep learning market is experiencing explosive growth, driven by increasing adoption across industries, advances in computational power, and the proliferation of big data. North America currently leads, but Asia Pacific shows the fastest growth.</a:t>
            </a:r>
            <a:endParaRPr lang="en-US" sz="1600" dirty="0"/>
          </a:p>
        </p:txBody>
      </p:sp>
      <p:sp>
        <p:nvSpPr>
          <p:cNvPr id="7" name="Text 5"/>
          <p:cNvSpPr/>
          <p:nvPr/>
        </p:nvSpPr>
        <p:spPr>
          <a:xfrm>
            <a:off x="533400" y="2171700"/>
            <a:ext cx="6010275"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Tregu global i mësimit të thellë po përjeton një rritje eksplozive, e drejtuar nga adoptimi në rritje në industri, përparimet në fuqinë komputacionale dhe proliferimi i të dhënave të mëdha. Amerika e Veriut aktualisht udhëheq, por Azia-Paqësori tregon rritjen më të shpejtë.</a:t>
            </a:r>
            <a:endParaRPr lang="en-US" sz="1600" dirty="0"/>
          </a:p>
        </p:txBody>
      </p:sp>
      <p:sp>
        <p:nvSpPr>
          <p:cNvPr id="8" name="Shape 6"/>
          <p:cNvSpPr/>
          <p:nvPr/>
        </p:nvSpPr>
        <p:spPr>
          <a:xfrm>
            <a:off x="385763" y="3205163"/>
            <a:ext cx="6191250" cy="2505075"/>
          </a:xfrm>
          <a:custGeom>
            <a:avLst/>
            <a:gdLst/>
            <a:ahLst/>
            <a:cxnLst/>
            <a:rect l="l" t="t" r="r" b="b"/>
            <a:pathLst>
              <a:path w="6191250" h="2505075">
                <a:moveTo>
                  <a:pt x="76204" y="0"/>
                </a:moveTo>
                <a:lnTo>
                  <a:pt x="6115046" y="0"/>
                </a:lnTo>
                <a:cubicBezTo>
                  <a:pt x="6157132" y="0"/>
                  <a:pt x="6191250" y="34118"/>
                  <a:pt x="6191250" y="76204"/>
                </a:cubicBezTo>
                <a:lnTo>
                  <a:pt x="6191250" y="2428871"/>
                </a:lnTo>
                <a:cubicBezTo>
                  <a:pt x="6191250" y="2470957"/>
                  <a:pt x="6157132" y="2505075"/>
                  <a:pt x="6115046" y="2505075"/>
                </a:cubicBezTo>
                <a:lnTo>
                  <a:pt x="76204" y="2505075"/>
                </a:lnTo>
                <a:cubicBezTo>
                  <a:pt x="34118" y="2505075"/>
                  <a:pt x="0" y="2470957"/>
                  <a:pt x="0" y="2428871"/>
                </a:cubicBezTo>
                <a:lnTo>
                  <a:pt x="0" y="76204"/>
                </a:lnTo>
                <a:cubicBezTo>
                  <a:pt x="0" y="34146"/>
                  <a:pt x="34146" y="0"/>
                  <a:pt x="76204"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504825" y="3324225"/>
            <a:ext cx="6038850"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Market Projections</a:t>
            </a:r>
            <a:endParaRPr lang="en-US" sz="1600" dirty="0"/>
          </a:p>
        </p:txBody>
      </p:sp>
      <p:pic>
        <p:nvPicPr>
          <p:cNvPr id="10" name="Image 0" descr="https://kimi-img.moonshot.cn/pub/slides/26-04-12-02:46:53-d7d9e7cjc3f4k3frrjk0.png"/>
          <p:cNvPicPr>
            <a:picLocks noChangeAspect="1"/>
          </p:cNvPicPr>
          <p:nvPr/>
        </p:nvPicPr>
        <p:blipFill>
          <a:blip r:embed="rId3"/>
          <a:srcRect/>
          <a:stretch/>
        </p:blipFill>
        <p:spPr>
          <a:xfrm>
            <a:off x="504825" y="3667125"/>
            <a:ext cx="5953125" cy="1905000"/>
          </a:xfrm>
          <a:prstGeom prst="roundRect">
            <a:avLst>
              <a:gd name="adj" fmla="val 0"/>
            </a:avLst>
          </a:prstGeom>
        </p:spPr>
      </p:pic>
      <p:sp>
        <p:nvSpPr>
          <p:cNvPr id="11" name="Shape 8"/>
          <p:cNvSpPr/>
          <p:nvPr/>
        </p:nvSpPr>
        <p:spPr>
          <a:xfrm>
            <a:off x="385763" y="5795963"/>
            <a:ext cx="3057525" cy="962025"/>
          </a:xfrm>
          <a:custGeom>
            <a:avLst/>
            <a:gdLst/>
            <a:ahLst/>
            <a:cxnLst/>
            <a:rect l="l" t="t" r="r" b="b"/>
            <a:pathLst>
              <a:path w="3057525" h="962025">
                <a:moveTo>
                  <a:pt x="76202" y="0"/>
                </a:moveTo>
                <a:lnTo>
                  <a:pt x="2981323" y="0"/>
                </a:lnTo>
                <a:cubicBezTo>
                  <a:pt x="3023380" y="0"/>
                  <a:pt x="3057525" y="34145"/>
                  <a:pt x="3057525" y="76202"/>
                </a:cubicBezTo>
                <a:lnTo>
                  <a:pt x="3057525" y="885823"/>
                </a:lnTo>
                <a:cubicBezTo>
                  <a:pt x="3057525" y="927880"/>
                  <a:pt x="3023380" y="962025"/>
                  <a:pt x="2981323" y="962025"/>
                </a:cubicBezTo>
                <a:lnTo>
                  <a:pt x="76202" y="962025"/>
                </a:lnTo>
                <a:cubicBezTo>
                  <a:pt x="34145" y="962025"/>
                  <a:pt x="0" y="927880"/>
                  <a:pt x="0" y="885823"/>
                </a:cubicBezTo>
                <a:lnTo>
                  <a:pt x="0" y="76202"/>
                </a:lnTo>
                <a:cubicBezTo>
                  <a:pt x="0" y="34145"/>
                  <a:pt x="34145" y="0"/>
                  <a:pt x="76202" y="0"/>
                </a:cubicBezTo>
                <a:close/>
              </a:path>
            </a:pathLst>
          </a:custGeom>
          <a:solidFill>
            <a:srgbClr val="FFD54F">
              <a:alpha val="10196"/>
            </a:srgbClr>
          </a:solidFill>
          <a:ln w="12700">
            <a:solidFill>
              <a:srgbClr val="FFD54F">
                <a:alpha val="30196"/>
              </a:srgbClr>
            </a:solidFill>
            <a:prstDash val="solid"/>
          </a:ln>
        </p:spPr>
      </p:sp>
      <p:sp>
        <p:nvSpPr>
          <p:cNvPr id="12" name="Text 9"/>
          <p:cNvSpPr/>
          <p:nvPr/>
        </p:nvSpPr>
        <p:spPr>
          <a:xfrm>
            <a:off x="433388" y="5915025"/>
            <a:ext cx="2962275" cy="342900"/>
          </a:xfrm>
          <a:prstGeom prst="rect">
            <a:avLst/>
          </a:prstGeom>
          <a:noFill/>
          <a:ln/>
        </p:spPr>
        <p:txBody>
          <a:bodyPr wrap="square" lIns="0" tIns="0" rIns="0" bIns="0" rtlCol="0" anchor="ctr"/>
          <a:lstStyle/>
          <a:p>
            <a:pPr algn="ctr">
              <a:lnSpc>
                <a:spcPct val="100000"/>
              </a:lnSpc>
            </a:pPr>
            <a:r>
              <a:rPr lang="en-US" sz="2250" b="1" dirty="0">
                <a:solidFill>
                  <a:srgbClr val="FFD54F"/>
                </a:solidFill>
                <a:latin typeface="Liter" pitchFamily="34" charset="0"/>
                <a:ea typeface="Liter" pitchFamily="34" charset="-122"/>
                <a:cs typeface="Liter" pitchFamily="34" charset="-120"/>
              </a:rPr>
              <a:t>29.26%</a:t>
            </a:r>
            <a:endParaRPr lang="en-US" sz="1600" dirty="0"/>
          </a:p>
        </p:txBody>
      </p:sp>
      <p:sp>
        <p:nvSpPr>
          <p:cNvPr id="13" name="Text 10"/>
          <p:cNvSpPr/>
          <p:nvPr/>
        </p:nvSpPr>
        <p:spPr>
          <a:xfrm>
            <a:off x="471488" y="6296025"/>
            <a:ext cx="288607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CAGR (2026-2035)</a:t>
            </a:r>
            <a:endParaRPr lang="en-US" sz="1600" dirty="0"/>
          </a:p>
        </p:txBody>
      </p:sp>
      <p:sp>
        <p:nvSpPr>
          <p:cNvPr id="14" name="Text 11"/>
          <p:cNvSpPr/>
          <p:nvPr/>
        </p:nvSpPr>
        <p:spPr>
          <a:xfrm>
            <a:off x="476250" y="6486525"/>
            <a:ext cx="28765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Rritja Vjetore</a:t>
            </a:r>
            <a:endParaRPr lang="en-US" sz="1600" dirty="0"/>
          </a:p>
        </p:txBody>
      </p:sp>
      <p:sp>
        <p:nvSpPr>
          <p:cNvPr id="15" name="Shape 12"/>
          <p:cNvSpPr/>
          <p:nvPr/>
        </p:nvSpPr>
        <p:spPr>
          <a:xfrm>
            <a:off x="3525143" y="5795963"/>
            <a:ext cx="3057525" cy="962025"/>
          </a:xfrm>
          <a:custGeom>
            <a:avLst/>
            <a:gdLst/>
            <a:ahLst/>
            <a:cxnLst/>
            <a:rect l="l" t="t" r="r" b="b"/>
            <a:pathLst>
              <a:path w="3057525" h="962025">
                <a:moveTo>
                  <a:pt x="76202" y="0"/>
                </a:moveTo>
                <a:lnTo>
                  <a:pt x="2981323" y="0"/>
                </a:lnTo>
                <a:cubicBezTo>
                  <a:pt x="3023380" y="0"/>
                  <a:pt x="3057525" y="34145"/>
                  <a:pt x="3057525" y="76202"/>
                </a:cubicBezTo>
                <a:lnTo>
                  <a:pt x="3057525" y="885823"/>
                </a:lnTo>
                <a:cubicBezTo>
                  <a:pt x="3057525" y="927880"/>
                  <a:pt x="3023380" y="962025"/>
                  <a:pt x="2981323" y="962025"/>
                </a:cubicBezTo>
                <a:lnTo>
                  <a:pt x="76202" y="962025"/>
                </a:lnTo>
                <a:cubicBezTo>
                  <a:pt x="34145" y="962025"/>
                  <a:pt x="0" y="927880"/>
                  <a:pt x="0" y="885823"/>
                </a:cubicBezTo>
                <a:lnTo>
                  <a:pt x="0" y="76202"/>
                </a:lnTo>
                <a:cubicBezTo>
                  <a:pt x="0" y="34145"/>
                  <a:pt x="34145" y="0"/>
                  <a:pt x="76202" y="0"/>
                </a:cubicBezTo>
                <a:close/>
              </a:path>
            </a:pathLst>
          </a:custGeom>
          <a:solidFill>
            <a:srgbClr val="4DB6AC">
              <a:alpha val="10196"/>
            </a:srgbClr>
          </a:solidFill>
          <a:ln w="12700">
            <a:solidFill>
              <a:srgbClr val="4DB6AC">
                <a:alpha val="30196"/>
              </a:srgbClr>
            </a:solidFill>
            <a:prstDash val="solid"/>
          </a:ln>
        </p:spPr>
      </p:sp>
      <p:sp>
        <p:nvSpPr>
          <p:cNvPr id="16" name="Text 13"/>
          <p:cNvSpPr/>
          <p:nvPr/>
        </p:nvSpPr>
        <p:spPr>
          <a:xfrm>
            <a:off x="3572768" y="5915025"/>
            <a:ext cx="2962275" cy="342900"/>
          </a:xfrm>
          <a:prstGeom prst="rect">
            <a:avLst/>
          </a:prstGeom>
          <a:noFill/>
          <a:ln/>
        </p:spPr>
        <p:txBody>
          <a:bodyPr wrap="square" lIns="0" tIns="0" rIns="0" bIns="0" rtlCol="0" anchor="ctr"/>
          <a:lstStyle/>
          <a:p>
            <a:pPr algn="ctr">
              <a:lnSpc>
                <a:spcPct val="100000"/>
              </a:lnSpc>
            </a:pPr>
            <a:r>
              <a:rPr lang="en-US" sz="2250" b="1" dirty="0">
                <a:solidFill>
                  <a:srgbClr val="4DB6AC"/>
                </a:solidFill>
                <a:latin typeface="Liter" pitchFamily="34" charset="0"/>
                <a:ea typeface="Liter" pitchFamily="34" charset="-122"/>
                <a:cs typeface="Liter" pitchFamily="34" charset="-120"/>
              </a:rPr>
              <a:t>38%</a:t>
            </a:r>
            <a:endParaRPr lang="en-US" sz="1600" dirty="0"/>
          </a:p>
        </p:txBody>
      </p:sp>
      <p:sp>
        <p:nvSpPr>
          <p:cNvPr id="17" name="Text 14"/>
          <p:cNvSpPr/>
          <p:nvPr/>
        </p:nvSpPr>
        <p:spPr>
          <a:xfrm>
            <a:off x="3610868" y="6296025"/>
            <a:ext cx="288607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North America Share</a:t>
            </a:r>
            <a:endParaRPr lang="en-US" sz="1600" dirty="0"/>
          </a:p>
        </p:txBody>
      </p:sp>
      <p:sp>
        <p:nvSpPr>
          <p:cNvPr id="18" name="Text 15"/>
          <p:cNvSpPr/>
          <p:nvPr/>
        </p:nvSpPr>
        <p:spPr>
          <a:xfrm>
            <a:off x="3615630" y="6486525"/>
            <a:ext cx="28765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Pjesë e Amerikës së V.</a:t>
            </a:r>
            <a:endParaRPr lang="en-US" sz="1600" dirty="0"/>
          </a:p>
        </p:txBody>
      </p:sp>
      <p:sp>
        <p:nvSpPr>
          <p:cNvPr id="19" name="Shape 16"/>
          <p:cNvSpPr/>
          <p:nvPr/>
        </p:nvSpPr>
        <p:spPr>
          <a:xfrm>
            <a:off x="6736110" y="1181100"/>
            <a:ext cx="5076825" cy="2819400"/>
          </a:xfrm>
          <a:custGeom>
            <a:avLst/>
            <a:gdLst/>
            <a:ahLst/>
            <a:cxnLst/>
            <a:rect l="l" t="t" r="r" b="b"/>
            <a:pathLst>
              <a:path w="5076825" h="2819400">
                <a:moveTo>
                  <a:pt x="76208" y="0"/>
                </a:moveTo>
                <a:lnTo>
                  <a:pt x="5000617" y="0"/>
                </a:lnTo>
                <a:cubicBezTo>
                  <a:pt x="5042705" y="0"/>
                  <a:pt x="5076825" y="34120"/>
                  <a:pt x="5076825" y="76208"/>
                </a:cubicBezTo>
                <a:lnTo>
                  <a:pt x="5076825" y="2743192"/>
                </a:lnTo>
                <a:cubicBezTo>
                  <a:pt x="5076825" y="2785280"/>
                  <a:pt x="5042705" y="2819400"/>
                  <a:pt x="5000617" y="2819400"/>
                </a:cubicBezTo>
                <a:lnTo>
                  <a:pt x="76208" y="2819400"/>
                </a:lnTo>
                <a:cubicBezTo>
                  <a:pt x="34120" y="2819400"/>
                  <a:pt x="0" y="2785280"/>
                  <a:pt x="0" y="2743192"/>
                </a:cubicBezTo>
                <a:lnTo>
                  <a:pt x="0" y="76208"/>
                </a:lnTo>
                <a:cubicBezTo>
                  <a:pt x="0" y="34148"/>
                  <a:pt x="34148" y="0"/>
                  <a:pt x="76208" y="0"/>
                </a:cubicBezTo>
                <a:close/>
              </a:path>
            </a:pathLst>
          </a:custGeom>
          <a:solidFill>
            <a:srgbClr val="4DB6AC">
              <a:alpha val="10196"/>
            </a:srgbClr>
          </a:solidFill>
          <a:ln/>
        </p:spPr>
      </p:sp>
      <p:sp>
        <p:nvSpPr>
          <p:cNvPr id="20" name="Text 17"/>
          <p:cNvSpPr/>
          <p:nvPr/>
        </p:nvSpPr>
        <p:spPr>
          <a:xfrm>
            <a:off x="6850410" y="1295400"/>
            <a:ext cx="4933950"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Key Market Statistics</a:t>
            </a:r>
            <a:endParaRPr lang="en-US" sz="1600" dirty="0"/>
          </a:p>
        </p:txBody>
      </p:sp>
      <p:sp>
        <p:nvSpPr>
          <p:cNvPr id="21" name="Shape 18"/>
          <p:cNvSpPr/>
          <p:nvPr/>
        </p:nvSpPr>
        <p:spPr>
          <a:xfrm>
            <a:off x="6850410" y="1676400"/>
            <a:ext cx="4848225" cy="685800"/>
          </a:xfrm>
          <a:custGeom>
            <a:avLst/>
            <a:gdLst/>
            <a:ahLst/>
            <a:cxnLst/>
            <a:rect l="l" t="t" r="r" b="b"/>
            <a:pathLst>
              <a:path w="4848225" h="685800">
                <a:moveTo>
                  <a:pt x="76199" y="0"/>
                </a:moveTo>
                <a:lnTo>
                  <a:pt x="4772026" y="0"/>
                </a:lnTo>
                <a:cubicBezTo>
                  <a:pt x="4814109" y="0"/>
                  <a:pt x="4848225" y="34116"/>
                  <a:pt x="4848225" y="76199"/>
                </a:cubicBezTo>
                <a:lnTo>
                  <a:pt x="4848225" y="609601"/>
                </a:lnTo>
                <a:cubicBezTo>
                  <a:pt x="4848225" y="651684"/>
                  <a:pt x="4814109" y="685800"/>
                  <a:pt x="47720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solidFill>
          <a:ln/>
        </p:spPr>
      </p:sp>
      <p:sp>
        <p:nvSpPr>
          <p:cNvPr id="22" name="Text 19"/>
          <p:cNvSpPr/>
          <p:nvPr/>
        </p:nvSpPr>
        <p:spPr>
          <a:xfrm>
            <a:off x="6964710" y="1828800"/>
            <a:ext cx="10572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2025 Market Size</a:t>
            </a:r>
            <a:endParaRPr lang="en-US" sz="1600" dirty="0"/>
          </a:p>
        </p:txBody>
      </p:sp>
      <p:sp>
        <p:nvSpPr>
          <p:cNvPr id="23" name="Text 20"/>
          <p:cNvSpPr/>
          <p:nvPr/>
        </p:nvSpPr>
        <p:spPr>
          <a:xfrm>
            <a:off x="10861774" y="1790700"/>
            <a:ext cx="809625" cy="266700"/>
          </a:xfrm>
          <a:prstGeom prst="rect">
            <a:avLst/>
          </a:prstGeom>
          <a:noFill/>
          <a:ln/>
        </p:spPr>
        <p:txBody>
          <a:bodyPr wrap="square" lIns="0" tIns="0" rIns="0" bIns="0" rtlCol="0" anchor="ctr"/>
          <a:lstStyle/>
          <a:p>
            <a:pPr>
              <a:lnSpc>
                <a:spcPct val="130000"/>
              </a:lnSpc>
            </a:pPr>
            <a:r>
              <a:rPr lang="en-US" sz="1350" b="1" dirty="0">
                <a:solidFill>
                  <a:srgbClr val="4DB6AC"/>
                </a:solidFill>
                <a:latin typeface="Liter" pitchFamily="34" charset="0"/>
                <a:ea typeface="Liter" pitchFamily="34" charset="-122"/>
                <a:cs typeface="Liter" pitchFamily="34" charset="-120"/>
              </a:rPr>
              <a:t>$125.65B</a:t>
            </a:r>
            <a:endParaRPr lang="en-US" sz="1600" dirty="0"/>
          </a:p>
        </p:txBody>
      </p:sp>
      <p:sp>
        <p:nvSpPr>
          <p:cNvPr id="24" name="Text 21"/>
          <p:cNvSpPr/>
          <p:nvPr/>
        </p:nvSpPr>
        <p:spPr>
          <a:xfrm>
            <a:off x="6964710" y="2095500"/>
            <a:ext cx="4676775"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Volumi i Tregut 2025</a:t>
            </a:r>
            <a:endParaRPr lang="en-US" sz="1600" dirty="0"/>
          </a:p>
        </p:txBody>
      </p:sp>
      <p:sp>
        <p:nvSpPr>
          <p:cNvPr id="25" name="Shape 22"/>
          <p:cNvSpPr/>
          <p:nvPr/>
        </p:nvSpPr>
        <p:spPr>
          <a:xfrm>
            <a:off x="6850410" y="2438400"/>
            <a:ext cx="4848225" cy="685800"/>
          </a:xfrm>
          <a:custGeom>
            <a:avLst/>
            <a:gdLst/>
            <a:ahLst/>
            <a:cxnLst/>
            <a:rect l="l" t="t" r="r" b="b"/>
            <a:pathLst>
              <a:path w="4848225" h="685800">
                <a:moveTo>
                  <a:pt x="76199" y="0"/>
                </a:moveTo>
                <a:lnTo>
                  <a:pt x="4772026" y="0"/>
                </a:lnTo>
                <a:cubicBezTo>
                  <a:pt x="4814109" y="0"/>
                  <a:pt x="4848225" y="34116"/>
                  <a:pt x="4848225" y="76199"/>
                </a:cubicBezTo>
                <a:lnTo>
                  <a:pt x="4848225" y="609601"/>
                </a:lnTo>
                <a:cubicBezTo>
                  <a:pt x="4848225" y="651684"/>
                  <a:pt x="4814109" y="685800"/>
                  <a:pt x="47720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solidFill>
          <a:ln/>
        </p:spPr>
      </p:sp>
      <p:sp>
        <p:nvSpPr>
          <p:cNvPr id="26" name="Text 23"/>
          <p:cNvSpPr/>
          <p:nvPr/>
        </p:nvSpPr>
        <p:spPr>
          <a:xfrm>
            <a:off x="6964710" y="2590800"/>
            <a:ext cx="10572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2026 Market Size</a:t>
            </a:r>
            <a:endParaRPr lang="en-US" sz="1600" dirty="0"/>
          </a:p>
        </p:txBody>
      </p:sp>
      <p:sp>
        <p:nvSpPr>
          <p:cNvPr id="27" name="Text 24"/>
          <p:cNvSpPr/>
          <p:nvPr/>
        </p:nvSpPr>
        <p:spPr>
          <a:xfrm>
            <a:off x="10847338" y="2552700"/>
            <a:ext cx="819150" cy="266700"/>
          </a:xfrm>
          <a:prstGeom prst="rect">
            <a:avLst/>
          </a:prstGeom>
          <a:noFill/>
          <a:ln/>
        </p:spPr>
        <p:txBody>
          <a:bodyPr wrap="square" lIns="0" tIns="0" rIns="0" bIns="0" rtlCol="0" anchor="ctr"/>
          <a:lstStyle/>
          <a:p>
            <a:pPr>
              <a:lnSpc>
                <a:spcPct val="130000"/>
              </a:lnSpc>
            </a:pPr>
            <a:r>
              <a:rPr lang="en-US" sz="1350" b="1" dirty="0">
                <a:solidFill>
                  <a:srgbClr val="4DB6AC"/>
                </a:solidFill>
                <a:latin typeface="Liter" pitchFamily="34" charset="0"/>
                <a:ea typeface="Liter" pitchFamily="34" charset="-122"/>
                <a:cs typeface="Liter" pitchFamily="34" charset="-120"/>
              </a:rPr>
              <a:t>$168.48B</a:t>
            </a:r>
            <a:endParaRPr lang="en-US" sz="1600" dirty="0"/>
          </a:p>
        </p:txBody>
      </p:sp>
      <p:sp>
        <p:nvSpPr>
          <p:cNvPr id="28" name="Text 25"/>
          <p:cNvSpPr/>
          <p:nvPr/>
        </p:nvSpPr>
        <p:spPr>
          <a:xfrm>
            <a:off x="6964710" y="2857500"/>
            <a:ext cx="4676775"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Volumi i Tregut 2026</a:t>
            </a:r>
            <a:endParaRPr lang="en-US" sz="1600" dirty="0"/>
          </a:p>
        </p:txBody>
      </p:sp>
      <p:sp>
        <p:nvSpPr>
          <p:cNvPr id="29" name="Shape 26"/>
          <p:cNvSpPr/>
          <p:nvPr/>
        </p:nvSpPr>
        <p:spPr>
          <a:xfrm>
            <a:off x="6850410" y="3200400"/>
            <a:ext cx="4848225" cy="685800"/>
          </a:xfrm>
          <a:custGeom>
            <a:avLst/>
            <a:gdLst/>
            <a:ahLst/>
            <a:cxnLst/>
            <a:rect l="l" t="t" r="r" b="b"/>
            <a:pathLst>
              <a:path w="4848225" h="685800">
                <a:moveTo>
                  <a:pt x="76199" y="0"/>
                </a:moveTo>
                <a:lnTo>
                  <a:pt x="4772026" y="0"/>
                </a:lnTo>
                <a:cubicBezTo>
                  <a:pt x="4814109" y="0"/>
                  <a:pt x="4848225" y="34116"/>
                  <a:pt x="4848225" y="76199"/>
                </a:cubicBezTo>
                <a:lnTo>
                  <a:pt x="4848225" y="609601"/>
                </a:lnTo>
                <a:cubicBezTo>
                  <a:pt x="4848225" y="651684"/>
                  <a:pt x="4814109" y="685800"/>
                  <a:pt x="4772026"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solidFill>
          <a:ln/>
        </p:spPr>
      </p:sp>
      <p:sp>
        <p:nvSpPr>
          <p:cNvPr id="30" name="Text 27"/>
          <p:cNvSpPr/>
          <p:nvPr/>
        </p:nvSpPr>
        <p:spPr>
          <a:xfrm>
            <a:off x="6964710" y="3352800"/>
            <a:ext cx="971550"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2035 Projection</a:t>
            </a:r>
            <a:endParaRPr lang="en-US" sz="1600" dirty="0"/>
          </a:p>
        </p:txBody>
      </p:sp>
      <p:sp>
        <p:nvSpPr>
          <p:cNvPr id="31" name="Text 28"/>
          <p:cNvSpPr/>
          <p:nvPr/>
        </p:nvSpPr>
        <p:spPr>
          <a:xfrm>
            <a:off x="10745986" y="3314700"/>
            <a:ext cx="923925" cy="266700"/>
          </a:xfrm>
          <a:prstGeom prst="rect">
            <a:avLst/>
          </a:prstGeom>
          <a:noFill/>
          <a:ln/>
        </p:spPr>
        <p:txBody>
          <a:bodyPr wrap="square" lIns="0" tIns="0" rIns="0" bIns="0" rtlCol="0" anchor="ctr"/>
          <a:lstStyle/>
          <a:p>
            <a:pPr>
              <a:lnSpc>
                <a:spcPct val="130000"/>
              </a:lnSpc>
            </a:pPr>
            <a:r>
              <a:rPr lang="en-US" sz="1350" b="1" dirty="0">
                <a:solidFill>
                  <a:srgbClr val="FFD54F"/>
                </a:solidFill>
                <a:latin typeface="Liter" pitchFamily="34" charset="0"/>
                <a:ea typeface="Liter" pitchFamily="34" charset="-122"/>
                <a:cs typeface="Liter" pitchFamily="34" charset="-120"/>
              </a:rPr>
              <a:t>$1,636.31B</a:t>
            </a:r>
            <a:endParaRPr lang="en-US" sz="1600" dirty="0"/>
          </a:p>
        </p:txBody>
      </p:sp>
      <p:sp>
        <p:nvSpPr>
          <p:cNvPr id="32" name="Text 29"/>
          <p:cNvSpPr/>
          <p:nvPr/>
        </p:nvSpPr>
        <p:spPr>
          <a:xfrm>
            <a:off x="6964710" y="3619500"/>
            <a:ext cx="4676775"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Parashikimi për 2035</a:t>
            </a:r>
            <a:endParaRPr lang="en-US" sz="1600" dirty="0"/>
          </a:p>
        </p:txBody>
      </p:sp>
      <p:sp>
        <p:nvSpPr>
          <p:cNvPr id="33" name="Shape 30"/>
          <p:cNvSpPr/>
          <p:nvPr/>
        </p:nvSpPr>
        <p:spPr>
          <a:xfrm>
            <a:off x="6736110" y="4076700"/>
            <a:ext cx="5076825" cy="1409700"/>
          </a:xfrm>
          <a:custGeom>
            <a:avLst/>
            <a:gdLst/>
            <a:ahLst/>
            <a:cxnLst/>
            <a:rect l="l" t="t" r="r" b="b"/>
            <a:pathLst>
              <a:path w="5076825" h="1409700">
                <a:moveTo>
                  <a:pt x="76194" y="0"/>
                </a:moveTo>
                <a:lnTo>
                  <a:pt x="5000631" y="0"/>
                </a:lnTo>
                <a:cubicBezTo>
                  <a:pt x="5042683" y="0"/>
                  <a:pt x="5076825" y="34142"/>
                  <a:pt x="5076825" y="76194"/>
                </a:cubicBezTo>
                <a:lnTo>
                  <a:pt x="5076825" y="1333506"/>
                </a:lnTo>
                <a:cubicBezTo>
                  <a:pt x="5076825" y="1375587"/>
                  <a:pt x="5042712" y="1409700"/>
                  <a:pt x="5000631" y="1409700"/>
                </a:cubicBezTo>
                <a:lnTo>
                  <a:pt x="76194" y="1409700"/>
                </a:lnTo>
                <a:cubicBezTo>
                  <a:pt x="34142" y="1409700"/>
                  <a:pt x="0" y="1375558"/>
                  <a:pt x="0" y="1333506"/>
                </a:cubicBezTo>
                <a:lnTo>
                  <a:pt x="0" y="76194"/>
                </a:lnTo>
                <a:cubicBezTo>
                  <a:pt x="0" y="34142"/>
                  <a:pt x="34142" y="0"/>
                  <a:pt x="76194" y="0"/>
                </a:cubicBezTo>
                <a:close/>
              </a:path>
            </a:pathLst>
          </a:custGeom>
          <a:solidFill>
            <a:srgbClr val="78909C">
              <a:alpha val="10196"/>
            </a:srgbClr>
          </a:solidFill>
          <a:ln/>
        </p:spPr>
      </p:sp>
      <p:sp>
        <p:nvSpPr>
          <p:cNvPr id="34" name="Text 31"/>
          <p:cNvSpPr/>
          <p:nvPr/>
        </p:nvSpPr>
        <p:spPr>
          <a:xfrm>
            <a:off x="6850410" y="4191000"/>
            <a:ext cx="492442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Growth Drivers</a:t>
            </a:r>
            <a:endParaRPr lang="en-US" sz="1600" dirty="0"/>
          </a:p>
        </p:txBody>
      </p:sp>
      <p:sp>
        <p:nvSpPr>
          <p:cNvPr id="35" name="Shape 32"/>
          <p:cNvSpPr/>
          <p:nvPr/>
        </p:nvSpPr>
        <p:spPr>
          <a:xfrm>
            <a:off x="6869460" y="4533900"/>
            <a:ext cx="133350" cy="133350"/>
          </a:xfrm>
          <a:custGeom>
            <a:avLst/>
            <a:gdLst/>
            <a:ahLst/>
            <a:cxnLst/>
            <a:rect l="l" t="t" r="r" b="b"/>
            <a:pathLst>
              <a:path w="133350" h="133350">
                <a:moveTo>
                  <a:pt x="16669" y="16669"/>
                </a:moveTo>
                <a:cubicBezTo>
                  <a:pt x="16669" y="12059"/>
                  <a:pt x="12944" y="8334"/>
                  <a:pt x="8334" y="8334"/>
                </a:cubicBezTo>
                <a:cubicBezTo>
                  <a:pt x="3724" y="8334"/>
                  <a:pt x="0" y="12059"/>
                  <a:pt x="0" y="16669"/>
                </a:cubicBezTo>
                <a:lnTo>
                  <a:pt x="0" y="104180"/>
                </a:lnTo>
                <a:cubicBezTo>
                  <a:pt x="0" y="115692"/>
                  <a:pt x="9324" y="125016"/>
                  <a:pt x="20836" y="125016"/>
                </a:cubicBezTo>
                <a:lnTo>
                  <a:pt x="125016" y="125016"/>
                </a:lnTo>
                <a:cubicBezTo>
                  <a:pt x="129626" y="125016"/>
                  <a:pt x="133350" y="121291"/>
                  <a:pt x="133350" y="116681"/>
                </a:cubicBezTo>
                <a:cubicBezTo>
                  <a:pt x="133350" y="112071"/>
                  <a:pt x="129626" y="108347"/>
                  <a:pt x="125016" y="108347"/>
                </a:cubicBezTo>
                <a:lnTo>
                  <a:pt x="20836" y="108347"/>
                </a:lnTo>
                <a:cubicBezTo>
                  <a:pt x="18544" y="108347"/>
                  <a:pt x="16669" y="106472"/>
                  <a:pt x="16669" y="104180"/>
                </a:cubicBezTo>
                <a:lnTo>
                  <a:pt x="16669" y="16669"/>
                </a:lnTo>
                <a:close/>
                <a:moveTo>
                  <a:pt x="122567" y="39224"/>
                </a:moveTo>
                <a:cubicBezTo>
                  <a:pt x="125823" y="35968"/>
                  <a:pt x="125823" y="30681"/>
                  <a:pt x="122567" y="27425"/>
                </a:cubicBezTo>
                <a:cubicBezTo>
                  <a:pt x="119312" y="24170"/>
                  <a:pt x="114025" y="24170"/>
                  <a:pt x="110769" y="27425"/>
                </a:cubicBezTo>
                <a:lnTo>
                  <a:pt x="83344" y="54877"/>
                </a:lnTo>
                <a:lnTo>
                  <a:pt x="68394" y="39953"/>
                </a:lnTo>
                <a:cubicBezTo>
                  <a:pt x="65138" y="36697"/>
                  <a:pt x="59851" y="36697"/>
                  <a:pt x="56596" y="39953"/>
                </a:cubicBezTo>
                <a:lnTo>
                  <a:pt x="31592" y="64956"/>
                </a:lnTo>
                <a:cubicBezTo>
                  <a:pt x="28337" y="68212"/>
                  <a:pt x="28337" y="73499"/>
                  <a:pt x="31592" y="76754"/>
                </a:cubicBezTo>
                <a:cubicBezTo>
                  <a:pt x="34848" y="80010"/>
                  <a:pt x="40135" y="80010"/>
                  <a:pt x="43391" y="76754"/>
                </a:cubicBezTo>
                <a:lnTo>
                  <a:pt x="62508" y="57637"/>
                </a:lnTo>
                <a:lnTo>
                  <a:pt x="77458" y="72587"/>
                </a:lnTo>
                <a:cubicBezTo>
                  <a:pt x="80713" y="75843"/>
                  <a:pt x="86000" y="75843"/>
                  <a:pt x="89256" y="72587"/>
                </a:cubicBezTo>
                <a:lnTo>
                  <a:pt x="122593" y="39250"/>
                </a:lnTo>
                <a:close/>
              </a:path>
            </a:pathLst>
          </a:custGeom>
          <a:solidFill>
            <a:srgbClr val="4DB6AC"/>
          </a:solidFill>
          <a:ln/>
        </p:spPr>
      </p:sp>
      <p:sp>
        <p:nvSpPr>
          <p:cNvPr id="36" name="Text 33"/>
          <p:cNvSpPr/>
          <p:nvPr/>
        </p:nvSpPr>
        <p:spPr>
          <a:xfrm>
            <a:off x="7093297" y="4495800"/>
            <a:ext cx="18669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Booming e-commerce industry</a:t>
            </a:r>
            <a:endParaRPr lang="en-US" sz="1600" dirty="0"/>
          </a:p>
        </p:txBody>
      </p:sp>
      <p:sp>
        <p:nvSpPr>
          <p:cNvPr id="37" name="Shape 34"/>
          <p:cNvSpPr/>
          <p:nvPr/>
        </p:nvSpPr>
        <p:spPr>
          <a:xfrm>
            <a:off x="6869460" y="4762500"/>
            <a:ext cx="133350" cy="133350"/>
          </a:xfrm>
          <a:custGeom>
            <a:avLst/>
            <a:gdLst/>
            <a:ahLst/>
            <a:cxnLst/>
            <a:rect l="l" t="t" r="r" b="b"/>
            <a:pathLst>
              <a:path w="133350" h="133350">
                <a:moveTo>
                  <a:pt x="45839" y="6251"/>
                </a:moveTo>
                <a:cubicBezTo>
                  <a:pt x="45839" y="2787"/>
                  <a:pt x="43052" y="0"/>
                  <a:pt x="39588" y="0"/>
                </a:cubicBezTo>
                <a:cubicBezTo>
                  <a:pt x="36124" y="0"/>
                  <a:pt x="33337" y="2787"/>
                  <a:pt x="33337" y="6251"/>
                </a:cubicBezTo>
                <a:lnTo>
                  <a:pt x="33337" y="16669"/>
                </a:lnTo>
                <a:cubicBezTo>
                  <a:pt x="24144" y="16669"/>
                  <a:pt x="16669" y="24144"/>
                  <a:pt x="16669" y="33337"/>
                </a:cubicBezTo>
                <a:lnTo>
                  <a:pt x="6251" y="33337"/>
                </a:lnTo>
                <a:cubicBezTo>
                  <a:pt x="2787" y="33337"/>
                  <a:pt x="0" y="36124"/>
                  <a:pt x="0" y="39588"/>
                </a:cubicBezTo>
                <a:cubicBezTo>
                  <a:pt x="0" y="43052"/>
                  <a:pt x="2787" y="45839"/>
                  <a:pt x="6251" y="45839"/>
                </a:cubicBezTo>
                <a:lnTo>
                  <a:pt x="16669" y="45839"/>
                </a:lnTo>
                <a:lnTo>
                  <a:pt x="16669" y="60424"/>
                </a:lnTo>
                <a:lnTo>
                  <a:pt x="6251" y="60424"/>
                </a:lnTo>
                <a:cubicBezTo>
                  <a:pt x="2787" y="60424"/>
                  <a:pt x="0" y="63211"/>
                  <a:pt x="0" y="66675"/>
                </a:cubicBezTo>
                <a:cubicBezTo>
                  <a:pt x="0" y="70139"/>
                  <a:pt x="2787" y="72926"/>
                  <a:pt x="6251" y="72926"/>
                </a:cubicBezTo>
                <a:lnTo>
                  <a:pt x="16669" y="72926"/>
                </a:lnTo>
                <a:lnTo>
                  <a:pt x="16669" y="87511"/>
                </a:lnTo>
                <a:lnTo>
                  <a:pt x="6251" y="87511"/>
                </a:lnTo>
                <a:cubicBezTo>
                  <a:pt x="2787" y="87511"/>
                  <a:pt x="0" y="90298"/>
                  <a:pt x="0" y="93762"/>
                </a:cubicBezTo>
                <a:cubicBezTo>
                  <a:pt x="0" y="97226"/>
                  <a:pt x="2787" y="100013"/>
                  <a:pt x="6251" y="100013"/>
                </a:cubicBezTo>
                <a:lnTo>
                  <a:pt x="16669" y="100013"/>
                </a:lnTo>
                <a:cubicBezTo>
                  <a:pt x="16669" y="109206"/>
                  <a:pt x="24144" y="116681"/>
                  <a:pt x="33337" y="116681"/>
                </a:cubicBezTo>
                <a:lnTo>
                  <a:pt x="33337" y="127099"/>
                </a:lnTo>
                <a:cubicBezTo>
                  <a:pt x="33337" y="130563"/>
                  <a:pt x="36124" y="133350"/>
                  <a:pt x="39588" y="133350"/>
                </a:cubicBezTo>
                <a:cubicBezTo>
                  <a:pt x="43052" y="133350"/>
                  <a:pt x="45839" y="130563"/>
                  <a:pt x="45839" y="127099"/>
                </a:cubicBezTo>
                <a:lnTo>
                  <a:pt x="45839" y="116681"/>
                </a:lnTo>
                <a:lnTo>
                  <a:pt x="60424" y="116681"/>
                </a:lnTo>
                <a:lnTo>
                  <a:pt x="60424" y="127099"/>
                </a:lnTo>
                <a:cubicBezTo>
                  <a:pt x="60424" y="130563"/>
                  <a:pt x="63211" y="133350"/>
                  <a:pt x="66675" y="133350"/>
                </a:cubicBezTo>
                <a:cubicBezTo>
                  <a:pt x="70139" y="133350"/>
                  <a:pt x="72926" y="130563"/>
                  <a:pt x="72926" y="127099"/>
                </a:cubicBezTo>
                <a:lnTo>
                  <a:pt x="72926" y="116681"/>
                </a:lnTo>
                <a:lnTo>
                  <a:pt x="87511" y="116681"/>
                </a:lnTo>
                <a:lnTo>
                  <a:pt x="87511" y="127099"/>
                </a:lnTo>
                <a:cubicBezTo>
                  <a:pt x="87511" y="130563"/>
                  <a:pt x="90298" y="133350"/>
                  <a:pt x="93762" y="133350"/>
                </a:cubicBezTo>
                <a:cubicBezTo>
                  <a:pt x="97226" y="133350"/>
                  <a:pt x="100013" y="130563"/>
                  <a:pt x="100013" y="127099"/>
                </a:cubicBezTo>
                <a:lnTo>
                  <a:pt x="100013" y="116681"/>
                </a:lnTo>
                <a:cubicBezTo>
                  <a:pt x="109206" y="116681"/>
                  <a:pt x="116681" y="109206"/>
                  <a:pt x="116681" y="100013"/>
                </a:cubicBezTo>
                <a:lnTo>
                  <a:pt x="127099" y="100013"/>
                </a:lnTo>
                <a:cubicBezTo>
                  <a:pt x="130563" y="100013"/>
                  <a:pt x="133350" y="97226"/>
                  <a:pt x="133350" y="93762"/>
                </a:cubicBezTo>
                <a:cubicBezTo>
                  <a:pt x="133350" y="90298"/>
                  <a:pt x="130563" y="87511"/>
                  <a:pt x="127099" y="87511"/>
                </a:cubicBezTo>
                <a:lnTo>
                  <a:pt x="116681" y="87511"/>
                </a:lnTo>
                <a:lnTo>
                  <a:pt x="116681" y="72926"/>
                </a:lnTo>
                <a:lnTo>
                  <a:pt x="127099" y="72926"/>
                </a:lnTo>
                <a:cubicBezTo>
                  <a:pt x="130563" y="72926"/>
                  <a:pt x="133350" y="70139"/>
                  <a:pt x="133350" y="66675"/>
                </a:cubicBezTo>
                <a:cubicBezTo>
                  <a:pt x="133350" y="63211"/>
                  <a:pt x="130563" y="60424"/>
                  <a:pt x="127099" y="60424"/>
                </a:cubicBezTo>
                <a:lnTo>
                  <a:pt x="116681" y="60424"/>
                </a:lnTo>
                <a:lnTo>
                  <a:pt x="116681" y="45839"/>
                </a:lnTo>
                <a:lnTo>
                  <a:pt x="127099" y="45839"/>
                </a:lnTo>
                <a:cubicBezTo>
                  <a:pt x="130563" y="45839"/>
                  <a:pt x="133350" y="43052"/>
                  <a:pt x="133350" y="39588"/>
                </a:cubicBezTo>
                <a:cubicBezTo>
                  <a:pt x="133350" y="36124"/>
                  <a:pt x="130563" y="33337"/>
                  <a:pt x="127099" y="33337"/>
                </a:cubicBezTo>
                <a:lnTo>
                  <a:pt x="116681" y="33337"/>
                </a:lnTo>
                <a:cubicBezTo>
                  <a:pt x="116681" y="24144"/>
                  <a:pt x="109206" y="16669"/>
                  <a:pt x="100013" y="16669"/>
                </a:cubicBezTo>
                <a:lnTo>
                  <a:pt x="100013" y="6251"/>
                </a:lnTo>
                <a:cubicBezTo>
                  <a:pt x="100013" y="2787"/>
                  <a:pt x="97226" y="0"/>
                  <a:pt x="93762" y="0"/>
                </a:cubicBezTo>
                <a:cubicBezTo>
                  <a:pt x="90298" y="0"/>
                  <a:pt x="87511" y="2787"/>
                  <a:pt x="87511" y="6251"/>
                </a:cubicBezTo>
                <a:lnTo>
                  <a:pt x="87511" y="16669"/>
                </a:lnTo>
                <a:lnTo>
                  <a:pt x="72926" y="16669"/>
                </a:lnTo>
                <a:lnTo>
                  <a:pt x="72926" y="6251"/>
                </a:lnTo>
                <a:cubicBezTo>
                  <a:pt x="72926" y="2787"/>
                  <a:pt x="70139" y="0"/>
                  <a:pt x="66675" y="0"/>
                </a:cubicBezTo>
                <a:cubicBezTo>
                  <a:pt x="63211" y="0"/>
                  <a:pt x="60424" y="2787"/>
                  <a:pt x="60424" y="6251"/>
                </a:cubicBezTo>
                <a:lnTo>
                  <a:pt x="60424" y="16669"/>
                </a:lnTo>
                <a:lnTo>
                  <a:pt x="45839" y="16669"/>
                </a:lnTo>
                <a:lnTo>
                  <a:pt x="45839" y="6251"/>
                </a:lnTo>
                <a:close/>
                <a:moveTo>
                  <a:pt x="41672" y="33337"/>
                </a:moveTo>
                <a:lnTo>
                  <a:pt x="91678" y="33337"/>
                </a:lnTo>
                <a:cubicBezTo>
                  <a:pt x="96288" y="33337"/>
                  <a:pt x="100013" y="37062"/>
                  <a:pt x="100013" y="41672"/>
                </a:cubicBezTo>
                <a:lnTo>
                  <a:pt x="100013" y="91678"/>
                </a:lnTo>
                <a:cubicBezTo>
                  <a:pt x="100013" y="96288"/>
                  <a:pt x="96288" y="100013"/>
                  <a:pt x="91678" y="100013"/>
                </a:cubicBezTo>
                <a:lnTo>
                  <a:pt x="41672" y="100013"/>
                </a:lnTo>
                <a:cubicBezTo>
                  <a:pt x="37062" y="100013"/>
                  <a:pt x="33337" y="96288"/>
                  <a:pt x="33337" y="91678"/>
                </a:cubicBezTo>
                <a:lnTo>
                  <a:pt x="33337" y="41672"/>
                </a:lnTo>
                <a:cubicBezTo>
                  <a:pt x="33337" y="37062"/>
                  <a:pt x="37062" y="33337"/>
                  <a:pt x="41672" y="33337"/>
                </a:cubicBezTo>
                <a:close/>
                <a:moveTo>
                  <a:pt x="45839" y="45839"/>
                </a:moveTo>
                <a:lnTo>
                  <a:pt x="45839" y="87511"/>
                </a:lnTo>
                <a:lnTo>
                  <a:pt x="87511" y="87511"/>
                </a:lnTo>
                <a:lnTo>
                  <a:pt x="87511" y="45839"/>
                </a:lnTo>
                <a:lnTo>
                  <a:pt x="45839" y="45839"/>
                </a:lnTo>
                <a:close/>
              </a:path>
            </a:pathLst>
          </a:custGeom>
          <a:solidFill>
            <a:srgbClr val="4DB6AC"/>
          </a:solidFill>
          <a:ln/>
        </p:spPr>
      </p:sp>
      <p:sp>
        <p:nvSpPr>
          <p:cNvPr id="38" name="Text 35"/>
          <p:cNvSpPr/>
          <p:nvPr/>
        </p:nvSpPr>
        <p:spPr>
          <a:xfrm>
            <a:off x="7093297" y="4724400"/>
            <a:ext cx="21907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Advanced computational capabilities</a:t>
            </a:r>
            <a:endParaRPr lang="en-US" sz="1600" dirty="0"/>
          </a:p>
        </p:txBody>
      </p:sp>
      <p:sp>
        <p:nvSpPr>
          <p:cNvPr id="39" name="Shape 36"/>
          <p:cNvSpPr/>
          <p:nvPr/>
        </p:nvSpPr>
        <p:spPr>
          <a:xfrm>
            <a:off x="6877794" y="4991100"/>
            <a:ext cx="116681" cy="133350"/>
          </a:xfrm>
          <a:custGeom>
            <a:avLst/>
            <a:gdLst/>
            <a:ahLst/>
            <a:cxnLst/>
            <a:rect l="l" t="t" r="r" b="b"/>
            <a:pathLst>
              <a:path w="116681" h="133350">
                <a:moveTo>
                  <a:pt x="116681" y="53600"/>
                </a:moveTo>
                <a:cubicBezTo>
                  <a:pt x="112827" y="56153"/>
                  <a:pt x="108399" y="58210"/>
                  <a:pt x="103789" y="59851"/>
                </a:cubicBezTo>
                <a:cubicBezTo>
                  <a:pt x="91548" y="64227"/>
                  <a:pt x="75478" y="66675"/>
                  <a:pt x="58341" y="66675"/>
                </a:cubicBezTo>
                <a:cubicBezTo>
                  <a:pt x="41203" y="66675"/>
                  <a:pt x="25107" y="64201"/>
                  <a:pt x="12892" y="59851"/>
                </a:cubicBezTo>
                <a:cubicBezTo>
                  <a:pt x="8308" y="58210"/>
                  <a:pt x="3855" y="56153"/>
                  <a:pt x="0" y="53600"/>
                </a:cubicBezTo>
                <a:lnTo>
                  <a:pt x="0" y="75009"/>
                </a:lnTo>
                <a:cubicBezTo>
                  <a:pt x="0" y="86521"/>
                  <a:pt x="26123" y="95845"/>
                  <a:pt x="58341" y="95845"/>
                </a:cubicBezTo>
                <a:cubicBezTo>
                  <a:pt x="90558" y="95845"/>
                  <a:pt x="116681" y="86521"/>
                  <a:pt x="116681" y="75009"/>
                </a:cubicBezTo>
                <a:lnTo>
                  <a:pt x="116681" y="53600"/>
                </a:lnTo>
                <a:close/>
                <a:moveTo>
                  <a:pt x="116681" y="33337"/>
                </a:moveTo>
                <a:lnTo>
                  <a:pt x="116681" y="20836"/>
                </a:lnTo>
                <a:cubicBezTo>
                  <a:pt x="116681" y="9324"/>
                  <a:pt x="90558" y="0"/>
                  <a:pt x="58341" y="0"/>
                </a:cubicBezTo>
                <a:cubicBezTo>
                  <a:pt x="26123" y="0"/>
                  <a:pt x="0" y="9324"/>
                  <a:pt x="0" y="20836"/>
                </a:cubicBezTo>
                <a:lnTo>
                  <a:pt x="0" y="33337"/>
                </a:lnTo>
                <a:cubicBezTo>
                  <a:pt x="0" y="44849"/>
                  <a:pt x="26123" y="54173"/>
                  <a:pt x="58341" y="54173"/>
                </a:cubicBezTo>
                <a:cubicBezTo>
                  <a:pt x="90558" y="54173"/>
                  <a:pt x="116681" y="44849"/>
                  <a:pt x="116681" y="33337"/>
                </a:cubicBezTo>
                <a:close/>
                <a:moveTo>
                  <a:pt x="103789" y="101523"/>
                </a:moveTo>
                <a:cubicBezTo>
                  <a:pt x="91574" y="105873"/>
                  <a:pt x="75504" y="108347"/>
                  <a:pt x="58341" y="108347"/>
                </a:cubicBezTo>
                <a:cubicBezTo>
                  <a:pt x="41177" y="108347"/>
                  <a:pt x="25107" y="105873"/>
                  <a:pt x="12892" y="101523"/>
                </a:cubicBezTo>
                <a:cubicBezTo>
                  <a:pt x="8308" y="99882"/>
                  <a:pt x="3855" y="97825"/>
                  <a:pt x="0" y="95272"/>
                </a:cubicBezTo>
                <a:lnTo>
                  <a:pt x="0" y="112514"/>
                </a:lnTo>
                <a:cubicBezTo>
                  <a:pt x="0" y="124026"/>
                  <a:pt x="26123" y="133350"/>
                  <a:pt x="58341" y="133350"/>
                </a:cubicBezTo>
                <a:cubicBezTo>
                  <a:pt x="90558" y="133350"/>
                  <a:pt x="116681" y="124026"/>
                  <a:pt x="116681" y="112514"/>
                </a:cubicBezTo>
                <a:lnTo>
                  <a:pt x="116681" y="95272"/>
                </a:lnTo>
                <a:cubicBezTo>
                  <a:pt x="112827" y="97825"/>
                  <a:pt x="108399" y="99882"/>
                  <a:pt x="103789" y="101523"/>
                </a:cubicBezTo>
                <a:close/>
              </a:path>
            </a:pathLst>
          </a:custGeom>
          <a:solidFill>
            <a:srgbClr val="4DB6AC"/>
          </a:solidFill>
          <a:ln/>
        </p:spPr>
      </p:sp>
      <p:sp>
        <p:nvSpPr>
          <p:cNvPr id="40" name="Text 37"/>
          <p:cNvSpPr/>
          <p:nvPr/>
        </p:nvSpPr>
        <p:spPr>
          <a:xfrm>
            <a:off x="7093297" y="4953000"/>
            <a:ext cx="12573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Big data proliferation</a:t>
            </a:r>
            <a:endParaRPr lang="en-US" sz="1600" dirty="0"/>
          </a:p>
        </p:txBody>
      </p:sp>
      <p:sp>
        <p:nvSpPr>
          <p:cNvPr id="41" name="Shape 38"/>
          <p:cNvSpPr/>
          <p:nvPr/>
        </p:nvSpPr>
        <p:spPr>
          <a:xfrm>
            <a:off x="6861125" y="5219700"/>
            <a:ext cx="150019" cy="133350"/>
          </a:xfrm>
          <a:custGeom>
            <a:avLst/>
            <a:gdLst/>
            <a:ahLst/>
            <a:cxnLst/>
            <a:rect l="l" t="t" r="r" b="b"/>
            <a:pathLst>
              <a:path w="150019" h="133350">
                <a:moveTo>
                  <a:pt x="0" y="87511"/>
                </a:moveTo>
                <a:cubicBezTo>
                  <a:pt x="0" y="108217"/>
                  <a:pt x="16799" y="125016"/>
                  <a:pt x="37505" y="125016"/>
                </a:cubicBezTo>
                <a:lnTo>
                  <a:pt x="116681" y="125016"/>
                </a:lnTo>
                <a:cubicBezTo>
                  <a:pt x="135095" y="125016"/>
                  <a:pt x="150019" y="110092"/>
                  <a:pt x="150019" y="91678"/>
                </a:cubicBezTo>
                <a:cubicBezTo>
                  <a:pt x="150019" y="78239"/>
                  <a:pt x="142075" y="66649"/>
                  <a:pt x="130615" y="61388"/>
                </a:cubicBezTo>
                <a:cubicBezTo>
                  <a:pt x="132360" y="57976"/>
                  <a:pt x="133350" y="54095"/>
                  <a:pt x="133350" y="50006"/>
                </a:cubicBezTo>
                <a:cubicBezTo>
                  <a:pt x="133350" y="36202"/>
                  <a:pt x="122151" y="25003"/>
                  <a:pt x="108347" y="25003"/>
                </a:cubicBezTo>
                <a:cubicBezTo>
                  <a:pt x="103737" y="25003"/>
                  <a:pt x="99440" y="26253"/>
                  <a:pt x="95741" y="28415"/>
                </a:cubicBezTo>
                <a:cubicBezTo>
                  <a:pt x="89464" y="16486"/>
                  <a:pt x="76937" y="8334"/>
                  <a:pt x="62508" y="8334"/>
                </a:cubicBezTo>
                <a:cubicBezTo>
                  <a:pt x="41802" y="8334"/>
                  <a:pt x="25003" y="25133"/>
                  <a:pt x="25003" y="45839"/>
                </a:cubicBezTo>
                <a:cubicBezTo>
                  <a:pt x="25003" y="47923"/>
                  <a:pt x="25185" y="49980"/>
                  <a:pt x="25498" y="51960"/>
                </a:cubicBezTo>
                <a:cubicBezTo>
                  <a:pt x="10678" y="56960"/>
                  <a:pt x="0" y="70998"/>
                  <a:pt x="0" y="87511"/>
                </a:cubicBezTo>
                <a:close/>
              </a:path>
            </a:pathLst>
          </a:custGeom>
          <a:solidFill>
            <a:srgbClr val="4DB6AC"/>
          </a:solidFill>
          <a:ln/>
        </p:spPr>
      </p:sp>
      <p:sp>
        <p:nvSpPr>
          <p:cNvPr id="42" name="Text 39"/>
          <p:cNvSpPr/>
          <p:nvPr/>
        </p:nvSpPr>
        <p:spPr>
          <a:xfrm>
            <a:off x="7093297" y="5181600"/>
            <a:ext cx="16097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Cloud computing adoption</a:t>
            </a:r>
            <a:endParaRPr lang="en-US" sz="1600" dirty="0"/>
          </a:p>
        </p:txBody>
      </p:sp>
      <p:sp>
        <p:nvSpPr>
          <p:cNvPr id="43" name="Shape 40"/>
          <p:cNvSpPr/>
          <p:nvPr/>
        </p:nvSpPr>
        <p:spPr>
          <a:xfrm>
            <a:off x="6740872" y="5567363"/>
            <a:ext cx="5067300" cy="1190625"/>
          </a:xfrm>
          <a:custGeom>
            <a:avLst/>
            <a:gdLst/>
            <a:ahLst/>
            <a:cxnLst/>
            <a:rect l="l" t="t" r="r" b="b"/>
            <a:pathLst>
              <a:path w="5067300" h="1190625">
                <a:moveTo>
                  <a:pt x="76200" y="0"/>
                </a:moveTo>
                <a:lnTo>
                  <a:pt x="4991100" y="0"/>
                </a:lnTo>
                <a:cubicBezTo>
                  <a:pt x="5033156" y="0"/>
                  <a:pt x="5067300" y="34144"/>
                  <a:pt x="5067300" y="76200"/>
                </a:cubicBezTo>
                <a:lnTo>
                  <a:pt x="5067300" y="1114425"/>
                </a:lnTo>
                <a:cubicBezTo>
                  <a:pt x="5067300" y="1156481"/>
                  <a:pt x="5033156" y="1190625"/>
                  <a:pt x="4991100" y="1190625"/>
                </a:cubicBezTo>
                <a:lnTo>
                  <a:pt x="76200" y="1190625"/>
                </a:lnTo>
                <a:cubicBezTo>
                  <a:pt x="34144" y="1190625"/>
                  <a:pt x="0" y="1156481"/>
                  <a:pt x="0" y="1114425"/>
                </a:cubicBezTo>
                <a:lnTo>
                  <a:pt x="0" y="76200"/>
                </a:lnTo>
                <a:cubicBezTo>
                  <a:pt x="0" y="34144"/>
                  <a:pt x="34144" y="0"/>
                  <a:pt x="76200" y="0"/>
                </a:cubicBezTo>
                <a:close/>
              </a:path>
            </a:pathLst>
          </a:custGeom>
          <a:solidFill>
            <a:srgbClr val="FFD54F">
              <a:alpha val="10196"/>
            </a:srgbClr>
          </a:solidFill>
          <a:ln w="12700">
            <a:solidFill>
              <a:srgbClr val="FFD54F">
                <a:alpha val="30196"/>
              </a:srgbClr>
            </a:solidFill>
            <a:prstDash val="solid"/>
          </a:ln>
        </p:spPr>
      </p:sp>
      <p:sp>
        <p:nvSpPr>
          <p:cNvPr id="44" name="Text 41"/>
          <p:cNvSpPr/>
          <p:nvPr/>
        </p:nvSpPr>
        <p:spPr>
          <a:xfrm>
            <a:off x="6859935" y="5686425"/>
            <a:ext cx="490537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Fastest Growing Regions</a:t>
            </a:r>
            <a:endParaRPr lang="en-US" sz="1600" dirty="0"/>
          </a:p>
        </p:txBody>
      </p:sp>
      <p:sp>
        <p:nvSpPr>
          <p:cNvPr id="45" name="Shape 42"/>
          <p:cNvSpPr/>
          <p:nvPr/>
        </p:nvSpPr>
        <p:spPr>
          <a:xfrm>
            <a:off x="6859935" y="602932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FFD54F"/>
          </a:solidFill>
          <a:ln/>
        </p:spPr>
      </p:sp>
      <p:sp>
        <p:nvSpPr>
          <p:cNvPr id="46" name="Text 43"/>
          <p:cNvSpPr/>
          <p:nvPr/>
        </p:nvSpPr>
        <p:spPr>
          <a:xfrm>
            <a:off x="7050435" y="5991225"/>
            <a:ext cx="12001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Asia Pacific (fastest)</a:t>
            </a:r>
            <a:endParaRPr lang="en-US" sz="1600" dirty="0"/>
          </a:p>
        </p:txBody>
      </p:sp>
      <p:sp>
        <p:nvSpPr>
          <p:cNvPr id="47" name="Shape 44"/>
          <p:cNvSpPr/>
          <p:nvPr/>
        </p:nvSpPr>
        <p:spPr>
          <a:xfrm>
            <a:off x="6859935" y="625792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4DB6AC"/>
          </a:solidFill>
          <a:ln/>
        </p:spPr>
      </p:sp>
      <p:sp>
        <p:nvSpPr>
          <p:cNvPr id="48" name="Text 45"/>
          <p:cNvSpPr/>
          <p:nvPr/>
        </p:nvSpPr>
        <p:spPr>
          <a:xfrm>
            <a:off x="7050435" y="6219825"/>
            <a:ext cx="11715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Europe (significant)</a:t>
            </a:r>
            <a:endParaRPr lang="en-US" sz="1600" dirty="0"/>
          </a:p>
        </p:txBody>
      </p:sp>
      <p:sp>
        <p:nvSpPr>
          <p:cNvPr id="49" name="Shape 46"/>
          <p:cNvSpPr/>
          <p:nvPr/>
        </p:nvSpPr>
        <p:spPr>
          <a:xfrm>
            <a:off x="6859935" y="648652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78909C"/>
          </a:solidFill>
          <a:ln/>
        </p:spPr>
      </p:sp>
      <p:sp>
        <p:nvSpPr>
          <p:cNvPr id="50" name="Text 47"/>
          <p:cNvSpPr/>
          <p:nvPr/>
        </p:nvSpPr>
        <p:spPr>
          <a:xfrm>
            <a:off x="7050435" y="6448425"/>
            <a:ext cx="14097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North America (largest)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Neural Network Layers</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Shtresat e Rrjetit Nervor</a:t>
            </a:r>
            <a:endParaRPr lang="en-US" sz="1600" dirty="0"/>
          </a:p>
        </p:txBody>
      </p:sp>
      <p:sp>
        <p:nvSpPr>
          <p:cNvPr id="4" name="Shape 2"/>
          <p:cNvSpPr/>
          <p:nvPr/>
        </p:nvSpPr>
        <p:spPr>
          <a:xfrm>
            <a:off x="400050" y="1181100"/>
            <a:ext cx="5619750" cy="1943100"/>
          </a:xfrm>
          <a:custGeom>
            <a:avLst/>
            <a:gdLst/>
            <a:ahLst/>
            <a:cxnLst/>
            <a:rect l="l" t="t" r="r" b="b"/>
            <a:pathLst>
              <a:path w="5619750" h="1943100">
                <a:moveTo>
                  <a:pt x="0" y="0"/>
                </a:moveTo>
                <a:lnTo>
                  <a:pt x="5543542" y="0"/>
                </a:lnTo>
                <a:cubicBezTo>
                  <a:pt x="5585630" y="0"/>
                  <a:pt x="5619750" y="34120"/>
                  <a:pt x="5619750" y="76208"/>
                </a:cubicBezTo>
                <a:lnTo>
                  <a:pt x="5619750" y="1866892"/>
                </a:lnTo>
                <a:cubicBezTo>
                  <a:pt x="5619750" y="1908980"/>
                  <a:pt x="5585630" y="1943100"/>
                  <a:pt x="5543542" y="1943100"/>
                </a:cubicBezTo>
                <a:lnTo>
                  <a:pt x="0" y="1943100"/>
                </a:lnTo>
                <a:lnTo>
                  <a:pt x="0" y="0"/>
                </a:lnTo>
                <a:close/>
              </a:path>
            </a:pathLst>
          </a:custGeom>
          <a:solidFill>
            <a:srgbClr val="4DB6AC">
              <a:alpha val="10196"/>
            </a:srgbClr>
          </a:solidFill>
          <a:ln/>
        </p:spPr>
      </p:sp>
      <p:sp>
        <p:nvSpPr>
          <p:cNvPr id="5" name="Shape 3"/>
          <p:cNvSpPr/>
          <p:nvPr/>
        </p:nvSpPr>
        <p:spPr>
          <a:xfrm>
            <a:off x="400050" y="1181100"/>
            <a:ext cx="38100" cy="1943100"/>
          </a:xfrm>
          <a:custGeom>
            <a:avLst/>
            <a:gdLst/>
            <a:ahLst/>
            <a:cxnLst/>
            <a:rect l="l" t="t" r="r" b="b"/>
            <a:pathLst>
              <a:path w="38100" h="1943100">
                <a:moveTo>
                  <a:pt x="0" y="0"/>
                </a:moveTo>
                <a:lnTo>
                  <a:pt x="38100" y="0"/>
                </a:lnTo>
                <a:lnTo>
                  <a:pt x="38100" y="1943100"/>
                </a:lnTo>
                <a:lnTo>
                  <a:pt x="0" y="1943100"/>
                </a:lnTo>
                <a:lnTo>
                  <a:pt x="0" y="0"/>
                </a:lnTo>
                <a:close/>
              </a:path>
            </a:pathLst>
          </a:custGeom>
          <a:solidFill>
            <a:srgbClr val="4DB6AC"/>
          </a:solidFill>
          <a:ln/>
        </p:spPr>
      </p:sp>
      <p:sp>
        <p:nvSpPr>
          <p:cNvPr id="6" name="Text 4"/>
          <p:cNvSpPr/>
          <p:nvPr/>
        </p:nvSpPr>
        <p:spPr>
          <a:xfrm>
            <a:off x="533400" y="1295400"/>
            <a:ext cx="5448300"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Neural networks are organized in layers, each performing specific transformations on the data. The composition of these layers enables the network to learn complex hierarchical representations from simple features to abstract concepts.</a:t>
            </a:r>
            <a:endParaRPr lang="en-US" sz="1600" dirty="0"/>
          </a:p>
        </p:txBody>
      </p:sp>
      <p:sp>
        <p:nvSpPr>
          <p:cNvPr id="7" name="Text 5"/>
          <p:cNvSpPr/>
          <p:nvPr/>
        </p:nvSpPr>
        <p:spPr>
          <a:xfrm>
            <a:off x="533400" y="2171700"/>
            <a:ext cx="5448300"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Rrjetet nervore organizohen në shtresa, secila duke kryer transformime specifike në të dhëna. Komponimi i këtyre shtresave i mundëson rrjetit të mësojë përfaqësime hierarkike komplekse nga karakteristikat e thjeshta deri te konceptet abstrakte.</a:t>
            </a:r>
            <a:endParaRPr lang="en-US" sz="1600" dirty="0"/>
          </a:p>
        </p:txBody>
      </p:sp>
      <p:sp>
        <p:nvSpPr>
          <p:cNvPr id="8" name="Shape 6"/>
          <p:cNvSpPr/>
          <p:nvPr/>
        </p:nvSpPr>
        <p:spPr>
          <a:xfrm>
            <a:off x="381000" y="3200400"/>
            <a:ext cx="2781300" cy="1676400"/>
          </a:xfrm>
          <a:custGeom>
            <a:avLst/>
            <a:gdLst/>
            <a:ahLst/>
            <a:cxnLst/>
            <a:rect l="l" t="t" r="r" b="b"/>
            <a:pathLst>
              <a:path w="2781300" h="1676400">
                <a:moveTo>
                  <a:pt x="76192" y="0"/>
                </a:moveTo>
                <a:lnTo>
                  <a:pt x="2705108" y="0"/>
                </a:lnTo>
                <a:cubicBezTo>
                  <a:pt x="2747188" y="0"/>
                  <a:pt x="2781300" y="34112"/>
                  <a:pt x="2781300" y="76192"/>
                </a:cubicBezTo>
                <a:lnTo>
                  <a:pt x="2781300" y="1600208"/>
                </a:lnTo>
                <a:cubicBezTo>
                  <a:pt x="2781300" y="1642288"/>
                  <a:pt x="2747188" y="1676400"/>
                  <a:pt x="2705108" y="1676400"/>
                </a:cubicBezTo>
                <a:lnTo>
                  <a:pt x="76192" y="1676400"/>
                </a:lnTo>
                <a:cubicBezTo>
                  <a:pt x="34112" y="1676400"/>
                  <a:pt x="0" y="1642288"/>
                  <a:pt x="0" y="1600208"/>
                </a:cubicBezTo>
                <a:lnTo>
                  <a:pt x="0" y="76192"/>
                </a:lnTo>
                <a:cubicBezTo>
                  <a:pt x="0" y="34141"/>
                  <a:pt x="34141" y="0"/>
                  <a:pt x="76192" y="0"/>
                </a:cubicBezTo>
                <a:close/>
              </a:path>
            </a:pathLst>
          </a:custGeom>
          <a:solidFill>
            <a:srgbClr val="4DB6AC">
              <a:alpha val="10196"/>
            </a:srgbClr>
          </a:solidFill>
          <a:ln/>
        </p:spPr>
      </p:sp>
      <p:sp>
        <p:nvSpPr>
          <p:cNvPr id="9" name="Text 7"/>
          <p:cNvSpPr/>
          <p:nvPr/>
        </p:nvSpPr>
        <p:spPr>
          <a:xfrm>
            <a:off x="495300" y="33147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Input Layer</a:t>
            </a:r>
            <a:endParaRPr lang="en-US" sz="1600" dirty="0"/>
          </a:p>
        </p:txBody>
      </p:sp>
      <p:sp>
        <p:nvSpPr>
          <p:cNvPr id="10" name="Text 8"/>
          <p:cNvSpPr/>
          <p:nvPr/>
        </p:nvSpPr>
        <p:spPr>
          <a:xfrm>
            <a:off x="495300" y="36195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Shtresa Hyrëse</a:t>
            </a:r>
            <a:endParaRPr lang="en-US" sz="1600" dirty="0"/>
          </a:p>
        </p:txBody>
      </p:sp>
      <p:sp>
        <p:nvSpPr>
          <p:cNvPr id="11" name="Text 9"/>
          <p:cNvSpPr/>
          <p:nvPr/>
        </p:nvSpPr>
        <p:spPr>
          <a:xfrm>
            <a:off x="495300" y="38862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Receives raw data</a:t>
            </a:r>
            <a:endParaRPr lang="en-US" sz="1600" dirty="0"/>
          </a:p>
        </p:txBody>
      </p:sp>
      <p:sp>
        <p:nvSpPr>
          <p:cNvPr id="12" name="Text 10"/>
          <p:cNvSpPr/>
          <p:nvPr/>
        </p:nvSpPr>
        <p:spPr>
          <a:xfrm>
            <a:off x="495300" y="41148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One neuron per feature</a:t>
            </a:r>
            <a:endParaRPr lang="en-US" sz="1600" dirty="0"/>
          </a:p>
        </p:txBody>
      </p:sp>
      <p:sp>
        <p:nvSpPr>
          <p:cNvPr id="13" name="Text 11"/>
          <p:cNvSpPr/>
          <p:nvPr/>
        </p:nvSpPr>
        <p:spPr>
          <a:xfrm>
            <a:off x="495300" y="43434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No computation</a:t>
            </a:r>
            <a:endParaRPr lang="en-US" sz="1600" dirty="0"/>
          </a:p>
        </p:txBody>
      </p:sp>
      <p:sp>
        <p:nvSpPr>
          <p:cNvPr id="14" name="Text 12"/>
          <p:cNvSpPr/>
          <p:nvPr/>
        </p:nvSpPr>
        <p:spPr>
          <a:xfrm>
            <a:off x="495300" y="45720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Passes to hidden layers</a:t>
            </a:r>
            <a:endParaRPr lang="en-US" sz="1600" dirty="0"/>
          </a:p>
        </p:txBody>
      </p:sp>
      <p:sp>
        <p:nvSpPr>
          <p:cNvPr id="15" name="Shape 13"/>
          <p:cNvSpPr/>
          <p:nvPr/>
        </p:nvSpPr>
        <p:spPr>
          <a:xfrm>
            <a:off x="3238500" y="3200400"/>
            <a:ext cx="2781300" cy="1676400"/>
          </a:xfrm>
          <a:custGeom>
            <a:avLst/>
            <a:gdLst/>
            <a:ahLst/>
            <a:cxnLst/>
            <a:rect l="l" t="t" r="r" b="b"/>
            <a:pathLst>
              <a:path w="2781300" h="1676400">
                <a:moveTo>
                  <a:pt x="76192" y="0"/>
                </a:moveTo>
                <a:lnTo>
                  <a:pt x="2705108" y="0"/>
                </a:lnTo>
                <a:cubicBezTo>
                  <a:pt x="2747188" y="0"/>
                  <a:pt x="2781300" y="34112"/>
                  <a:pt x="2781300" y="76192"/>
                </a:cubicBezTo>
                <a:lnTo>
                  <a:pt x="2781300" y="1600208"/>
                </a:lnTo>
                <a:cubicBezTo>
                  <a:pt x="2781300" y="1642288"/>
                  <a:pt x="2747188" y="1676400"/>
                  <a:pt x="2705108" y="1676400"/>
                </a:cubicBezTo>
                <a:lnTo>
                  <a:pt x="76192" y="1676400"/>
                </a:lnTo>
                <a:cubicBezTo>
                  <a:pt x="34112" y="1676400"/>
                  <a:pt x="0" y="1642288"/>
                  <a:pt x="0" y="1600208"/>
                </a:cubicBezTo>
                <a:lnTo>
                  <a:pt x="0" y="76192"/>
                </a:lnTo>
                <a:cubicBezTo>
                  <a:pt x="0" y="34141"/>
                  <a:pt x="34141" y="0"/>
                  <a:pt x="76192" y="0"/>
                </a:cubicBezTo>
                <a:close/>
              </a:path>
            </a:pathLst>
          </a:custGeom>
          <a:solidFill>
            <a:srgbClr val="FFD54F">
              <a:alpha val="10196"/>
            </a:srgbClr>
          </a:solidFill>
          <a:ln/>
        </p:spPr>
      </p:sp>
      <p:sp>
        <p:nvSpPr>
          <p:cNvPr id="16" name="Text 14"/>
          <p:cNvSpPr/>
          <p:nvPr/>
        </p:nvSpPr>
        <p:spPr>
          <a:xfrm>
            <a:off x="3352800" y="33147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Hidden Layers</a:t>
            </a:r>
            <a:endParaRPr lang="en-US" sz="1600" dirty="0"/>
          </a:p>
        </p:txBody>
      </p:sp>
      <p:sp>
        <p:nvSpPr>
          <p:cNvPr id="17" name="Text 15"/>
          <p:cNvSpPr/>
          <p:nvPr/>
        </p:nvSpPr>
        <p:spPr>
          <a:xfrm>
            <a:off x="3352800" y="36195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Shtresat e Fshehura</a:t>
            </a:r>
            <a:endParaRPr lang="en-US" sz="1600" dirty="0"/>
          </a:p>
        </p:txBody>
      </p:sp>
      <p:sp>
        <p:nvSpPr>
          <p:cNvPr id="18" name="Text 16"/>
          <p:cNvSpPr/>
          <p:nvPr/>
        </p:nvSpPr>
        <p:spPr>
          <a:xfrm>
            <a:off x="3352800" y="38862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Extract features</a:t>
            </a:r>
            <a:endParaRPr lang="en-US" sz="1600" dirty="0"/>
          </a:p>
        </p:txBody>
      </p:sp>
      <p:sp>
        <p:nvSpPr>
          <p:cNvPr id="19" name="Text 17"/>
          <p:cNvSpPr/>
          <p:nvPr/>
        </p:nvSpPr>
        <p:spPr>
          <a:xfrm>
            <a:off x="3352800" y="41148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Learn representations</a:t>
            </a:r>
            <a:endParaRPr lang="en-US" sz="1600" dirty="0"/>
          </a:p>
        </p:txBody>
      </p:sp>
      <p:sp>
        <p:nvSpPr>
          <p:cNvPr id="20" name="Text 18"/>
          <p:cNvSpPr/>
          <p:nvPr/>
        </p:nvSpPr>
        <p:spPr>
          <a:xfrm>
            <a:off x="3352800" y="43434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Multiple types: Dense, Conv, Recurrent</a:t>
            </a:r>
            <a:endParaRPr lang="en-US" sz="1600" dirty="0"/>
          </a:p>
        </p:txBody>
      </p:sp>
      <p:sp>
        <p:nvSpPr>
          <p:cNvPr id="21" name="Text 19"/>
          <p:cNvSpPr/>
          <p:nvPr/>
        </p:nvSpPr>
        <p:spPr>
          <a:xfrm>
            <a:off x="3352800" y="457200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Apply non-linear transformations</a:t>
            </a:r>
            <a:endParaRPr lang="en-US" sz="1600" dirty="0"/>
          </a:p>
        </p:txBody>
      </p:sp>
      <p:sp>
        <p:nvSpPr>
          <p:cNvPr id="22" name="Shape 20"/>
          <p:cNvSpPr/>
          <p:nvPr/>
        </p:nvSpPr>
        <p:spPr>
          <a:xfrm>
            <a:off x="385763" y="4957763"/>
            <a:ext cx="5629275" cy="1457325"/>
          </a:xfrm>
          <a:custGeom>
            <a:avLst/>
            <a:gdLst/>
            <a:ahLst/>
            <a:cxnLst/>
            <a:rect l="l" t="t" r="r" b="b"/>
            <a:pathLst>
              <a:path w="5629275" h="1457325">
                <a:moveTo>
                  <a:pt x="76204" y="0"/>
                </a:moveTo>
                <a:lnTo>
                  <a:pt x="5553071" y="0"/>
                </a:lnTo>
                <a:cubicBezTo>
                  <a:pt x="5595158" y="0"/>
                  <a:pt x="5629275" y="34117"/>
                  <a:pt x="5629275" y="76204"/>
                </a:cubicBezTo>
                <a:lnTo>
                  <a:pt x="5629275" y="1381121"/>
                </a:lnTo>
                <a:cubicBezTo>
                  <a:pt x="5629275" y="1423208"/>
                  <a:pt x="5595158" y="1457325"/>
                  <a:pt x="5553071" y="1457325"/>
                </a:cubicBezTo>
                <a:lnTo>
                  <a:pt x="76204" y="1457325"/>
                </a:lnTo>
                <a:cubicBezTo>
                  <a:pt x="34117" y="1457325"/>
                  <a:pt x="0" y="1423208"/>
                  <a:pt x="0" y="1381121"/>
                </a:cubicBezTo>
                <a:lnTo>
                  <a:pt x="0" y="76204"/>
                </a:lnTo>
                <a:cubicBezTo>
                  <a:pt x="0" y="34146"/>
                  <a:pt x="34146" y="0"/>
                  <a:pt x="76204" y="0"/>
                </a:cubicBezTo>
                <a:close/>
              </a:path>
            </a:pathLst>
          </a:custGeom>
          <a:solidFill>
            <a:srgbClr val="4DB6AC">
              <a:alpha val="5098"/>
            </a:srgbClr>
          </a:solidFill>
          <a:ln w="12700">
            <a:solidFill>
              <a:srgbClr val="4DB6AC">
                <a:alpha val="30196"/>
              </a:srgbClr>
            </a:solidFill>
            <a:prstDash val="solid"/>
          </a:ln>
        </p:spPr>
      </p:sp>
      <p:sp>
        <p:nvSpPr>
          <p:cNvPr id="23" name="Text 21"/>
          <p:cNvSpPr/>
          <p:nvPr/>
        </p:nvSpPr>
        <p:spPr>
          <a:xfrm>
            <a:off x="504825" y="507682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Output Layer</a:t>
            </a:r>
            <a:endParaRPr lang="en-US" sz="1600" dirty="0"/>
          </a:p>
        </p:txBody>
      </p:sp>
      <p:sp>
        <p:nvSpPr>
          <p:cNvPr id="24" name="Text 22"/>
          <p:cNvSpPr/>
          <p:nvPr/>
        </p:nvSpPr>
        <p:spPr>
          <a:xfrm>
            <a:off x="504825" y="5381625"/>
            <a:ext cx="545782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Shtresa Dalëse</a:t>
            </a:r>
            <a:endParaRPr lang="en-US" sz="1600" dirty="0"/>
          </a:p>
        </p:txBody>
      </p:sp>
      <p:sp>
        <p:nvSpPr>
          <p:cNvPr id="25" name="Text 23"/>
          <p:cNvSpPr/>
          <p:nvPr/>
        </p:nvSpPr>
        <p:spPr>
          <a:xfrm>
            <a:off x="504825" y="5648325"/>
            <a:ext cx="27241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Produces final predictions</a:t>
            </a:r>
            <a:endParaRPr lang="en-US" sz="1600" dirty="0"/>
          </a:p>
        </p:txBody>
      </p:sp>
      <p:sp>
        <p:nvSpPr>
          <p:cNvPr id="26" name="Text 24"/>
          <p:cNvSpPr/>
          <p:nvPr/>
        </p:nvSpPr>
        <p:spPr>
          <a:xfrm>
            <a:off x="3238500" y="5648325"/>
            <a:ext cx="27241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Activation matches task:</a:t>
            </a:r>
            <a:endParaRPr lang="en-US" sz="1600" dirty="0"/>
          </a:p>
        </p:txBody>
      </p:sp>
      <p:sp>
        <p:nvSpPr>
          <p:cNvPr id="27" name="Text 25"/>
          <p:cNvSpPr/>
          <p:nvPr/>
        </p:nvSpPr>
        <p:spPr>
          <a:xfrm>
            <a:off x="657225" y="5915025"/>
            <a:ext cx="256222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 Sigmoid (binary)</a:t>
            </a:r>
            <a:endParaRPr lang="en-US" sz="1600" dirty="0"/>
          </a:p>
        </p:txBody>
      </p:sp>
      <p:sp>
        <p:nvSpPr>
          <p:cNvPr id="28" name="Text 26"/>
          <p:cNvSpPr/>
          <p:nvPr/>
        </p:nvSpPr>
        <p:spPr>
          <a:xfrm>
            <a:off x="3390900" y="5915025"/>
            <a:ext cx="256222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 Softmax (multi-class)</a:t>
            </a:r>
            <a:endParaRPr lang="en-US" sz="1600" dirty="0"/>
          </a:p>
        </p:txBody>
      </p:sp>
      <p:sp>
        <p:nvSpPr>
          <p:cNvPr id="29" name="Text 27"/>
          <p:cNvSpPr/>
          <p:nvPr/>
        </p:nvSpPr>
        <p:spPr>
          <a:xfrm>
            <a:off x="657225" y="6143625"/>
            <a:ext cx="256222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 Linear (regression)</a:t>
            </a:r>
            <a:endParaRPr lang="en-US" sz="1600" dirty="0"/>
          </a:p>
        </p:txBody>
      </p:sp>
      <p:sp>
        <p:nvSpPr>
          <p:cNvPr id="30" name="Shape 28"/>
          <p:cNvSpPr/>
          <p:nvPr/>
        </p:nvSpPr>
        <p:spPr>
          <a:xfrm>
            <a:off x="6172200" y="1181100"/>
            <a:ext cx="5638800" cy="4038600"/>
          </a:xfrm>
          <a:custGeom>
            <a:avLst/>
            <a:gdLst/>
            <a:ahLst/>
            <a:cxnLst/>
            <a:rect l="l" t="t" r="r" b="b"/>
            <a:pathLst>
              <a:path w="5638800" h="4038600">
                <a:moveTo>
                  <a:pt x="76208" y="0"/>
                </a:moveTo>
                <a:lnTo>
                  <a:pt x="5562592" y="0"/>
                </a:lnTo>
                <a:cubicBezTo>
                  <a:pt x="5604680" y="0"/>
                  <a:pt x="5638800" y="34120"/>
                  <a:pt x="5638800" y="76208"/>
                </a:cubicBezTo>
                <a:lnTo>
                  <a:pt x="5638800" y="3962392"/>
                </a:lnTo>
                <a:cubicBezTo>
                  <a:pt x="5638800" y="4004480"/>
                  <a:pt x="5604680" y="4038600"/>
                  <a:pt x="5562592" y="4038600"/>
                </a:cubicBezTo>
                <a:lnTo>
                  <a:pt x="76208" y="4038600"/>
                </a:lnTo>
                <a:cubicBezTo>
                  <a:pt x="34120" y="4038600"/>
                  <a:pt x="0" y="4004480"/>
                  <a:pt x="0" y="3962392"/>
                </a:cubicBezTo>
                <a:lnTo>
                  <a:pt x="0" y="76208"/>
                </a:lnTo>
                <a:cubicBezTo>
                  <a:pt x="0" y="34148"/>
                  <a:pt x="34148" y="0"/>
                  <a:pt x="76208" y="0"/>
                </a:cubicBezTo>
                <a:close/>
              </a:path>
            </a:pathLst>
          </a:custGeom>
          <a:solidFill>
            <a:srgbClr val="4DB6AC">
              <a:alpha val="10196"/>
            </a:srgbClr>
          </a:solidFill>
          <a:ln/>
        </p:spPr>
      </p:sp>
      <p:sp>
        <p:nvSpPr>
          <p:cNvPr id="31" name="Text 29"/>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Layer Types &amp; Functions</a:t>
            </a:r>
            <a:endParaRPr lang="en-US" sz="1600" dirty="0"/>
          </a:p>
        </p:txBody>
      </p:sp>
      <p:sp>
        <p:nvSpPr>
          <p:cNvPr id="32" name="Shape 30"/>
          <p:cNvSpPr/>
          <p:nvPr/>
        </p:nvSpPr>
        <p:spPr>
          <a:xfrm>
            <a:off x="6286500" y="1676400"/>
            <a:ext cx="5410200" cy="1066800"/>
          </a:xfrm>
          <a:custGeom>
            <a:avLst/>
            <a:gdLst/>
            <a:ahLst/>
            <a:cxnLst/>
            <a:rect l="l" t="t" r="r" b="b"/>
            <a:pathLst>
              <a:path w="5410200" h="1066800">
                <a:moveTo>
                  <a:pt x="76202" y="0"/>
                </a:moveTo>
                <a:lnTo>
                  <a:pt x="5333998" y="0"/>
                </a:lnTo>
                <a:cubicBezTo>
                  <a:pt x="5376083" y="0"/>
                  <a:pt x="5410200" y="34117"/>
                  <a:pt x="5410200" y="76202"/>
                </a:cubicBezTo>
                <a:lnTo>
                  <a:pt x="5410200" y="990598"/>
                </a:lnTo>
                <a:cubicBezTo>
                  <a:pt x="5410200" y="1032683"/>
                  <a:pt x="5376083" y="1066800"/>
                  <a:pt x="5333998" y="1066800"/>
                </a:cubicBezTo>
                <a:lnTo>
                  <a:pt x="76202" y="1066800"/>
                </a:lnTo>
                <a:cubicBezTo>
                  <a:pt x="34117" y="1066800"/>
                  <a:pt x="0" y="1032683"/>
                  <a:pt x="0" y="990598"/>
                </a:cubicBezTo>
                <a:lnTo>
                  <a:pt x="0" y="76202"/>
                </a:lnTo>
                <a:cubicBezTo>
                  <a:pt x="0" y="34145"/>
                  <a:pt x="34145" y="0"/>
                  <a:pt x="76202" y="0"/>
                </a:cubicBezTo>
                <a:close/>
              </a:path>
            </a:pathLst>
          </a:custGeom>
          <a:solidFill>
            <a:srgbClr val="1A1D21"/>
          </a:solidFill>
          <a:ln/>
        </p:spPr>
      </p:sp>
      <p:sp>
        <p:nvSpPr>
          <p:cNvPr id="33" name="Shape 31"/>
          <p:cNvSpPr/>
          <p:nvPr/>
        </p:nvSpPr>
        <p:spPr>
          <a:xfrm>
            <a:off x="6400800" y="17907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4DB6AC"/>
          </a:solidFill>
          <a:ln/>
        </p:spPr>
      </p:sp>
      <p:sp>
        <p:nvSpPr>
          <p:cNvPr id="34" name="Shape 32"/>
          <p:cNvSpPr/>
          <p:nvPr/>
        </p:nvSpPr>
        <p:spPr>
          <a:xfrm>
            <a:off x="6524625" y="1905000"/>
            <a:ext cx="133350" cy="152400"/>
          </a:xfrm>
          <a:custGeom>
            <a:avLst/>
            <a:gdLst/>
            <a:ahLst/>
            <a:cxnLst/>
            <a:rect l="l" t="t" r="r" b="b"/>
            <a:pathLst>
              <a:path w="133350" h="152400">
                <a:moveTo>
                  <a:pt x="114300" y="28575"/>
                </a:moveTo>
                <a:lnTo>
                  <a:pt x="114300" y="47625"/>
                </a:lnTo>
                <a:lnTo>
                  <a:pt x="95250" y="47625"/>
                </a:lnTo>
                <a:lnTo>
                  <a:pt x="95250" y="28575"/>
                </a:lnTo>
                <a:lnTo>
                  <a:pt x="114300" y="28575"/>
                </a:lnTo>
                <a:close/>
                <a:moveTo>
                  <a:pt x="114300" y="66675"/>
                </a:moveTo>
                <a:lnTo>
                  <a:pt x="114300" y="85725"/>
                </a:lnTo>
                <a:lnTo>
                  <a:pt x="95250" y="85725"/>
                </a:lnTo>
                <a:lnTo>
                  <a:pt x="95250" y="66675"/>
                </a:lnTo>
                <a:lnTo>
                  <a:pt x="114300" y="66675"/>
                </a:lnTo>
                <a:close/>
                <a:moveTo>
                  <a:pt x="114300" y="104775"/>
                </a:moveTo>
                <a:lnTo>
                  <a:pt x="114300" y="123825"/>
                </a:lnTo>
                <a:lnTo>
                  <a:pt x="95250" y="123825"/>
                </a:lnTo>
                <a:lnTo>
                  <a:pt x="95250" y="104775"/>
                </a:lnTo>
                <a:lnTo>
                  <a:pt x="114300" y="104775"/>
                </a:lnTo>
                <a:close/>
                <a:moveTo>
                  <a:pt x="76200" y="85725"/>
                </a:moveTo>
                <a:lnTo>
                  <a:pt x="57150" y="85725"/>
                </a:lnTo>
                <a:lnTo>
                  <a:pt x="57150" y="66675"/>
                </a:lnTo>
                <a:lnTo>
                  <a:pt x="76200" y="66675"/>
                </a:lnTo>
                <a:lnTo>
                  <a:pt x="76200" y="85725"/>
                </a:lnTo>
                <a:close/>
                <a:moveTo>
                  <a:pt x="57150" y="104775"/>
                </a:moveTo>
                <a:lnTo>
                  <a:pt x="76200" y="104775"/>
                </a:lnTo>
                <a:lnTo>
                  <a:pt x="76200" y="123825"/>
                </a:lnTo>
                <a:lnTo>
                  <a:pt x="57150" y="123825"/>
                </a:lnTo>
                <a:lnTo>
                  <a:pt x="57150" y="104775"/>
                </a:lnTo>
                <a:close/>
                <a:moveTo>
                  <a:pt x="38100" y="85725"/>
                </a:moveTo>
                <a:lnTo>
                  <a:pt x="19050" y="85725"/>
                </a:lnTo>
                <a:lnTo>
                  <a:pt x="19050" y="66675"/>
                </a:lnTo>
                <a:lnTo>
                  <a:pt x="38100" y="66675"/>
                </a:lnTo>
                <a:lnTo>
                  <a:pt x="38100" y="85725"/>
                </a:lnTo>
                <a:close/>
                <a:moveTo>
                  <a:pt x="19050" y="104775"/>
                </a:moveTo>
                <a:lnTo>
                  <a:pt x="38100" y="104775"/>
                </a:lnTo>
                <a:lnTo>
                  <a:pt x="38100" y="123825"/>
                </a:lnTo>
                <a:lnTo>
                  <a:pt x="19050" y="123825"/>
                </a:lnTo>
                <a:lnTo>
                  <a:pt x="19050" y="104775"/>
                </a:lnTo>
                <a:close/>
                <a:moveTo>
                  <a:pt x="19050" y="47625"/>
                </a:moveTo>
                <a:lnTo>
                  <a:pt x="19050" y="28575"/>
                </a:lnTo>
                <a:lnTo>
                  <a:pt x="38100" y="28575"/>
                </a:lnTo>
                <a:lnTo>
                  <a:pt x="38100" y="47625"/>
                </a:lnTo>
                <a:lnTo>
                  <a:pt x="19050" y="47625"/>
                </a:lnTo>
                <a:close/>
                <a:moveTo>
                  <a:pt x="57150" y="47625"/>
                </a:moveTo>
                <a:lnTo>
                  <a:pt x="57150" y="28575"/>
                </a:lnTo>
                <a:lnTo>
                  <a:pt x="76200" y="28575"/>
                </a:lnTo>
                <a:lnTo>
                  <a:pt x="76200" y="47625"/>
                </a:lnTo>
                <a:lnTo>
                  <a:pt x="57150" y="47625"/>
                </a:lnTo>
                <a:close/>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path>
            </a:pathLst>
          </a:custGeom>
          <a:solidFill>
            <a:srgbClr val="1A1D21"/>
          </a:solidFill>
          <a:ln/>
        </p:spPr>
      </p:sp>
      <p:sp>
        <p:nvSpPr>
          <p:cNvPr id="35" name="Text 33"/>
          <p:cNvSpPr/>
          <p:nvPr/>
        </p:nvSpPr>
        <p:spPr>
          <a:xfrm>
            <a:off x="6896100" y="1790700"/>
            <a:ext cx="174307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Dense (Fully Connected)</a:t>
            </a:r>
            <a:endParaRPr lang="en-US" sz="1600" dirty="0"/>
          </a:p>
        </p:txBody>
      </p:sp>
      <p:sp>
        <p:nvSpPr>
          <p:cNvPr id="36" name="Text 34"/>
          <p:cNvSpPr/>
          <p:nvPr/>
        </p:nvSpPr>
        <p:spPr>
          <a:xfrm>
            <a:off x="6896100" y="2019300"/>
            <a:ext cx="172402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Të Lidhura Plotësisht</a:t>
            </a:r>
            <a:endParaRPr lang="en-US" sz="1600" dirty="0"/>
          </a:p>
        </p:txBody>
      </p:sp>
      <p:sp>
        <p:nvSpPr>
          <p:cNvPr id="37" name="Text 35"/>
          <p:cNvSpPr/>
          <p:nvPr/>
        </p:nvSpPr>
        <p:spPr>
          <a:xfrm>
            <a:off x="6400800" y="2247900"/>
            <a:ext cx="52482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Every neuron connected to all neurons in next layer. Used for final classification/regression.</a:t>
            </a:r>
            <a:endParaRPr lang="en-US" sz="1600" dirty="0"/>
          </a:p>
        </p:txBody>
      </p:sp>
      <p:sp>
        <p:nvSpPr>
          <p:cNvPr id="38" name="Shape 36"/>
          <p:cNvSpPr/>
          <p:nvPr/>
        </p:nvSpPr>
        <p:spPr>
          <a:xfrm>
            <a:off x="6286500" y="2819400"/>
            <a:ext cx="5410200" cy="876300"/>
          </a:xfrm>
          <a:custGeom>
            <a:avLst/>
            <a:gdLst/>
            <a:ahLst/>
            <a:cxnLst/>
            <a:rect l="l" t="t" r="r" b="b"/>
            <a:pathLst>
              <a:path w="5410200" h="876300">
                <a:moveTo>
                  <a:pt x="76203" y="0"/>
                </a:moveTo>
                <a:lnTo>
                  <a:pt x="5333997" y="0"/>
                </a:lnTo>
                <a:cubicBezTo>
                  <a:pt x="5376083" y="0"/>
                  <a:pt x="5410200" y="34117"/>
                  <a:pt x="5410200" y="76203"/>
                </a:cubicBezTo>
                <a:lnTo>
                  <a:pt x="5410200" y="800097"/>
                </a:lnTo>
                <a:cubicBezTo>
                  <a:pt x="5410200" y="842183"/>
                  <a:pt x="5376083" y="876300"/>
                  <a:pt x="5333997" y="876300"/>
                </a:cubicBezTo>
                <a:lnTo>
                  <a:pt x="76203" y="876300"/>
                </a:lnTo>
                <a:cubicBezTo>
                  <a:pt x="34117" y="876300"/>
                  <a:pt x="0" y="842183"/>
                  <a:pt x="0" y="800097"/>
                </a:cubicBezTo>
                <a:lnTo>
                  <a:pt x="0" y="76203"/>
                </a:lnTo>
                <a:cubicBezTo>
                  <a:pt x="0" y="34145"/>
                  <a:pt x="34145" y="0"/>
                  <a:pt x="76203" y="0"/>
                </a:cubicBezTo>
                <a:close/>
              </a:path>
            </a:pathLst>
          </a:custGeom>
          <a:solidFill>
            <a:srgbClr val="1A1D21"/>
          </a:solidFill>
          <a:ln/>
        </p:spPr>
      </p:sp>
      <p:sp>
        <p:nvSpPr>
          <p:cNvPr id="39" name="Shape 37"/>
          <p:cNvSpPr/>
          <p:nvPr/>
        </p:nvSpPr>
        <p:spPr>
          <a:xfrm>
            <a:off x="6400800" y="29337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FFD54F"/>
          </a:solidFill>
          <a:ln/>
        </p:spPr>
      </p:sp>
      <p:sp>
        <p:nvSpPr>
          <p:cNvPr id="40" name="Shape 38"/>
          <p:cNvSpPr/>
          <p:nvPr/>
        </p:nvSpPr>
        <p:spPr>
          <a:xfrm>
            <a:off x="6524625" y="3048000"/>
            <a:ext cx="133350" cy="152400"/>
          </a:xfrm>
          <a:custGeom>
            <a:avLst/>
            <a:gdLst/>
            <a:ahLst/>
            <a:cxnLst/>
            <a:rect l="l" t="t" r="r" b="b"/>
            <a:pathLst>
              <a:path w="133350" h="152400">
                <a:moveTo>
                  <a:pt x="114300" y="28575"/>
                </a:moveTo>
                <a:lnTo>
                  <a:pt x="114300" y="66675"/>
                </a:lnTo>
                <a:lnTo>
                  <a:pt x="76200" y="66675"/>
                </a:lnTo>
                <a:lnTo>
                  <a:pt x="76200" y="28575"/>
                </a:lnTo>
                <a:lnTo>
                  <a:pt x="114300" y="28575"/>
                </a:lnTo>
                <a:close/>
                <a:moveTo>
                  <a:pt x="114300" y="85725"/>
                </a:moveTo>
                <a:lnTo>
                  <a:pt x="114300" y="123825"/>
                </a:lnTo>
                <a:lnTo>
                  <a:pt x="76200" y="123825"/>
                </a:lnTo>
                <a:lnTo>
                  <a:pt x="76200" y="85725"/>
                </a:lnTo>
                <a:lnTo>
                  <a:pt x="114300" y="85725"/>
                </a:lnTo>
                <a:close/>
                <a:moveTo>
                  <a:pt x="57150" y="66675"/>
                </a:moveTo>
                <a:lnTo>
                  <a:pt x="19050" y="66675"/>
                </a:lnTo>
                <a:lnTo>
                  <a:pt x="19050" y="28575"/>
                </a:lnTo>
                <a:lnTo>
                  <a:pt x="57150" y="28575"/>
                </a:lnTo>
                <a:lnTo>
                  <a:pt x="57150" y="66675"/>
                </a:lnTo>
                <a:close/>
                <a:moveTo>
                  <a:pt x="19050" y="85725"/>
                </a:moveTo>
                <a:lnTo>
                  <a:pt x="57150" y="85725"/>
                </a:lnTo>
                <a:lnTo>
                  <a:pt x="57150" y="123825"/>
                </a:lnTo>
                <a:lnTo>
                  <a:pt x="19050" y="123825"/>
                </a:lnTo>
                <a:lnTo>
                  <a:pt x="19050" y="85725"/>
                </a:lnTo>
                <a:close/>
                <a:moveTo>
                  <a:pt x="19050" y="9525"/>
                </a:moveTo>
                <a:cubicBezTo>
                  <a:pt x="8543" y="9525"/>
                  <a:pt x="0" y="18068"/>
                  <a:pt x="0" y="28575"/>
                </a:cubicBezTo>
                <a:lnTo>
                  <a:pt x="0" y="123825"/>
                </a:lnTo>
                <a:cubicBezTo>
                  <a:pt x="0" y="134332"/>
                  <a:pt x="8543" y="142875"/>
                  <a:pt x="19050" y="142875"/>
                </a:cubicBezTo>
                <a:lnTo>
                  <a:pt x="114300" y="142875"/>
                </a:lnTo>
                <a:cubicBezTo>
                  <a:pt x="124807" y="142875"/>
                  <a:pt x="133350" y="134332"/>
                  <a:pt x="133350" y="123825"/>
                </a:cubicBezTo>
                <a:lnTo>
                  <a:pt x="133350" y="28575"/>
                </a:lnTo>
                <a:cubicBezTo>
                  <a:pt x="133350" y="18068"/>
                  <a:pt x="124807" y="9525"/>
                  <a:pt x="114300" y="9525"/>
                </a:cubicBezTo>
                <a:lnTo>
                  <a:pt x="19050" y="9525"/>
                </a:lnTo>
                <a:close/>
              </a:path>
            </a:pathLst>
          </a:custGeom>
          <a:solidFill>
            <a:srgbClr val="1A1D21"/>
          </a:solidFill>
          <a:ln/>
        </p:spPr>
      </p:sp>
      <p:sp>
        <p:nvSpPr>
          <p:cNvPr id="41" name="Text 39"/>
          <p:cNvSpPr/>
          <p:nvPr/>
        </p:nvSpPr>
        <p:spPr>
          <a:xfrm>
            <a:off x="6896100" y="2933700"/>
            <a:ext cx="100012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Convolutional</a:t>
            </a:r>
            <a:endParaRPr lang="en-US" sz="1600" dirty="0"/>
          </a:p>
        </p:txBody>
      </p:sp>
      <p:sp>
        <p:nvSpPr>
          <p:cNvPr id="42" name="Text 40"/>
          <p:cNvSpPr/>
          <p:nvPr/>
        </p:nvSpPr>
        <p:spPr>
          <a:xfrm>
            <a:off x="6896100" y="3162300"/>
            <a:ext cx="98107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Konvolucionale</a:t>
            </a:r>
            <a:endParaRPr lang="en-US" sz="1600" dirty="0"/>
          </a:p>
        </p:txBody>
      </p:sp>
      <p:sp>
        <p:nvSpPr>
          <p:cNvPr id="43" name="Text 41"/>
          <p:cNvSpPr/>
          <p:nvPr/>
        </p:nvSpPr>
        <p:spPr>
          <a:xfrm>
            <a:off x="6400800" y="3390900"/>
            <a:ext cx="52482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Apply filters to detect local features. Parameter sharing reduces computation.</a:t>
            </a:r>
            <a:endParaRPr lang="en-US" sz="1600" dirty="0"/>
          </a:p>
        </p:txBody>
      </p:sp>
      <p:sp>
        <p:nvSpPr>
          <p:cNvPr id="44" name="Shape 42"/>
          <p:cNvSpPr/>
          <p:nvPr/>
        </p:nvSpPr>
        <p:spPr>
          <a:xfrm>
            <a:off x="6286500" y="3771900"/>
            <a:ext cx="5410200" cy="876300"/>
          </a:xfrm>
          <a:custGeom>
            <a:avLst/>
            <a:gdLst/>
            <a:ahLst/>
            <a:cxnLst/>
            <a:rect l="l" t="t" r="r" b="b"/>
            <a:pathLst>
              <a:path w="5410200" h="876300">
                <a:moveTo>
                  <a:pt x="76203" y="0"/>
                </a:moveTo>
                <a:lnTo>
                  <a:pt x="5333997" y="0"/>
                </a:lnTo>
                <a:cubicBezTo>
                  <a:pt x="5376083" y="0"/>
                  <a:pt x="5410200" y="34117"/>
                  <a:pt x="5410200" y="76203"/>
                </a:cubicBezTo>
                <a:lnTo>
                  <a:pt x="5410200" y="800097"/>
                </a:lnTo>
                <a:cubicBezTo>
                  <a:pt x="5410200" y="842183"/>
                  <a:pt x="5376083" y="876300"/>
                  <a:pt x="5333997" y="876300"/>
                </a:cubicBezTo>
                <a:lnTo>
                  <a:pt x="76203" y="876300"/>
                </a:lnTo>
                <a:cubicBezTo>
                  <a:pt x="34117" y="876300"/>
                  <a:pt x="0" y="842183"/>
                  <a:pt x="0" y="800097"/>
                </a:cubicBezTo>
                <a:lnTo>
                  <a:pt x="0" y="76203"/>
                </a:lnTo>
                <a:cubicBezTo>
                  <a:pt x="0" y="34145"/>
                  <a:pt x="34145" y="0"/>
                  <a:pt x="76203" y="0"/>
                </a:cubicBezTo>
                <a:close/>
              </a:path>
            </a:pathLst>
          </a:custGeom>
          <a:solidFill>
            <a:srgbClr val="1A1D21"/>
          </a:solidFill>
          <a:ln/>
        </p:spPr>
      </p:sp>
      <p:sp>
        <p:nvSpPr>
          <p:cNvPr id="45" name="Shape 43"/>
          <p:cNvSpPr/>
          <p:nvPr/>
        </p:nvSpPr>
        <p:spPr>
          <a:xfrm>
            <a:off x="6400800" y="3886200"/>
            <a:ext cx="381000" cy="381000"/>
          </a:xfrm>
          <a:custGeom>
            <a:avLst/>
            <a:gdLst/>
            <a:ahLst/>
            <a:cxnLst/>
            <a:rect l="l" t="t" r="r" b="b"/>
            <a:pathLst>
              <a:path w="381000" h="381000">
                <a:moveTo>
                  <a:pt x="38100" y="0"/>
                </a:moveTo>
                <a:lnTo>
                  <a:pt x="342900" y="0"/>
                </a:lnTo>
                <a:cubicBezTo>
                  <a:pt x="363928" y="0"/>
                  <a:pt x="381000" y="17072"/>
                  <a:pt x="381000" y="38100"/>
                </a:cubicBezTo>
                <a:lnTo>
                  <a:pt x="381000" y="342900"/>
                </a:lnTo>
                <a:cubicBezTo>
                  <a:pt x="381000" y="363928"/>
                  <a:pt x="363928" y="381000"/>
                  <a:pt x="342900" y="381000"/>
                </a:cubicBezTo>
                <a:lnTo>
                  <a:pt x="38100" y="381000"/>
                </a:lnTo>
                <a:cubicBezTo>
                  <a:pt x="17072" y="381000"/>
                  <a:pt x="0" y="363928"/>
                  <a:pt x="0" y="342900"/>
                </a:cubicBezTo>
                <a:lnTo>
                  <a:pt x="0" y="38100"/>
                </a:lnTo>
                <a:cubicBezTo>
                  <a:pt x="0" y="17072"/>
                  <a:pt x="17072" y="0"/>
                  <a:pt x="38100" y="0"/>
                </a:cubicBezTo>
                <a:close/>
              </a:path>
            </a:pathLst>
          </a:custGeom>
          <a:solidFill>
            <a:srgbClr val="4DB6AC"/>
          </a:solidFill>
          <a:ln/>
        </p:spPr>
      </p:sp>
      <p:sp>
        <p:nvSpPr>
          <p:cNvPr id="46" name="Shape 44"/>
          <p:cNvSpPr/>
          <p:nvPr/>
        </p:nvSpPr>
        <p:spPr>
          <a:xfrm>
            <a:off x="6515100" y="4000500"/>
            <a:ext cx="152400" cy="152400"/>
          </a:xfrm>
          <a:custGeom>
            <a:avLst/>
            <a:gdLst/>
            <a:ahLst/>
            <a:cxnLst/>
            <a:rect l="l" t="t" r="r" b="b"/>
            <a:pathLst>
              <a:path w="152400" h="152400">
                <a:moveTo>
                  <a:pt x="129986" y="22235"/>
                </a:moveTo>
                <a:lnTo>
                  <a:pt x="133350" y="25420"/>
                </a:lnTo>
                <a:lnTo>
                  <a:pt x="133350" y="9525"/>
                </a:lnTo>
                <a:cubicBezTo>
                  <a:pt x="133350" y="4256"/>
                  <a:pt x="137606" y="0"/>
                  <a:pt x="142875" y="0"/>
                </a:cubicBezTo>
                <a:cubicBezTo>
                  <a:pt x="148144" y="0"/>
                  <a:pt x="152400" y="4256"/>
                  <a:pt x="152400" y="9525"/>
                </a:cubicBezTo>
                <a:lnTo>
                  <a:pt x="152400" y="47625"/>
                </a:lnTo>
                <a:cubicBezTo>
                  <a:pt x="152400" y="52894"/>
                  <a:pt x="148144" y="57150"/>
                  <a:pt x="142875" y="57150"/>
                </a:cubicBezTo>
                <a:lnTo>
                  <a:pt x="104775" y="57150"/>
                </a:lnTo>
                <a:cubicBezTo>
                  <a:pt x="99506" y="57150"/>
                  <a:pt x="95250" y="52894"/>
                  <a:pt x="95250" y="47625"/>
                </a:cubicBezTo>
                <a:cubicBezTo>
                  <a:pt x="95250" y="42356"/>
                  <a:pt x="99506" y="38100"/>
                  <a:pt x="104775" y="38100"/>
                </a:cubicBezTo>
                <a:lnTo>
                  <a:pt x="119033" y="38100"/>
                </a:lnTo>
                <a:lnTo>
                  <a:pt x="116771" y="35957"/>
                </a:lnTo>
                <a:cubicBezTo>
                  <a:pt x="116711" y="35897"/>
                  <a:pt x="116651" y="35838"/>
                  <a:pt x="116592" y="35778"/>
                </a:cubicBezTo>
                <a:cubicBezTo>
                  <a:pt x="94268" y="13454"/>
                  <a:pt x="58102" y="13454"/>
                  <a:pt x="35778" y="35778"/>
                </a:cubicBezTo>
                <a:cubicBezTo>
                  <a:pt x="13454" y="58103"/>
                  <a:pt x="13454" y="94268"/>
                  <a:pt x="35778" y="116592"/>
                </a:cubicBezTo>
                <a:cubicBezTo>
                  <a:pt x="58102" y="138916"/>
                  <a:pt x="94268" y="138916"/>
                  <a:pt x="116592" y="116592"/>
                </a:cubicBezTo>
                <a:cubicBezTo>
                  <a:pt x="119033" y="114151"/>
                  <a:pt x="121206" y="111562"/>
                  <a:pt x="123111" y="108823"/>
                </a:cubicBezTo>
                <a:cubicBezTo>
                  <a:pt x="126117" y="104507"/>
                  <a:pt x="132070" y="103465"/>
                  <a:pt x="136386" y="106472"/>
                </a:cubicBezTo>
                <a:cubicBezTo>
                  <a:pt x="140702" y="109478"/>
                  <a:pt x="141744" y="115431"/>
                  <a:pt x="138738" y="119747"/>
                </a:cubicBezTo>
                <a:cubicBezTo>
                  <a:pt x="136207" y="123379"/>
                  <a:pt x="133320" y="126831"/>
                  <a:pt x="130076" y="130076"/>
                </a:cubicBezTo>
                <a:cubicBezTo>
                  <a:pt x="100310" y="159841"/>
                  <a:pt x="52060" y="159841"/>
                  <a:pt x="22324" y="130076"/>
                </a:cubicBezTo>
                <a:cubicBezTo>
                  <a:pt x="-7412" y="100310"/>
                  <a:pt x="-7441" y="52090"/>
                  <a:pt x="22324" y="22324"/>
                </a:cubicBezTo>
                <a:cubicBezTo>
                  <a:pt x="52060" y="-7412"/>
                  <a:pt x="100221" y="-7441"/>
                  <a:pt x="129986" y="22235"/>
                </a:cubicBezTo>
                <a:close/>
              </a:path>
            </a:pathLst>
          </a:custGeom>
          <a:solidFill>
            <a:srgbClr val="1A1D21"/>
          </a:solidFill>
          <a:ln/>
        </p:spPr>
      </p:sp>
      <p:sp>
        <p:nvSpPr>
          <p:cNvPr id="47" name="Text 45"/>
          <p:cNvSpPr/>
          <p:nvPr/>
        </p:nvSpPr>
        <p:spPr>
          <a:xfrm>
            <a:off x="6896100" y="3886200"/>
            <a:ext cx="73342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Recurrent</a:t>
            </a:r>
            <a:endParaRPr lang="en-US" sz="1600" dirty="0"/>
          </a:p>
        </p:txBody>
      </p:sp>
      <p:sp>
        <p:nvSpPr>
          <p:cNvPr id="48" name="Text 46"/>
          <p:cNvSpPr/>
          <p:nvPr/>
        </p:nvSpPr>
        <p:spPr>
          <a:xfrm>
            <a:off x="6896100" y="4114800"/>
            <a:ext cx="714375" cy="152400"/>
          </a:xfrm>
          <a:prstGeom prst="rect">
            <a:avLst/>
          </a:prstGeom>
          <a:noFill/>
          <a:ln/>
        </p:spPr>
        <p:txBody>
          <a:bodyPr wrap="square" lIns="0" tIns="0" rIns="0" bIns="0" rtlCol="0" anchor="ctr"/>
          <a:lstStyle/>
          <a:p>
            <a:pP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Rekurrente</a:t>
            </a:r>
            <a:endParaRPr lang="en-US" sz="1600" dirty="0"/>
          </a:p>
        </p:txBody>
      </p:sp>
      <p:sp>
        <p:nvSpPr>
          <p:cNvPr id="49" name="Text 47"/>
          <p:cNvSpPr/>
          <p:nvPr/>
        </p:nvSpPr>
        <p:spPr>
          <a:xfrm>
            <a:off x="6400800" y="4343400"/>
            <a:ext cx="52482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Maintain hidden state for sequential data. Process sequences of variable length.</a:t>
            </a:r>
            <a:endParaRPr lang="en-US" sz="1600" dirty="0"/>
          </a:p>
        </p:txBody>
      </p:sp>
      <p:sp>
        <p:nvSpPr>
          <p:cNvPr id="50" name="Shape 48"/>
          <p:cNvSpPr/>
          <p:nvPr/>
        </p:nvSpPr>
        <p:spPr>
          <a:xfrm>
            <a:off x="6172200" y="5295900"/>
            <a:ext cx="5638800" cy="1181100"/>
          </a:xfrm>
          <a:custGeom>
            <a:avLst/>
            <a:gdLst/>
            <a:ahLst/>
            <a:cxnLst/>
            <a:rect l="l" t="t" r="r" b="b"/>
            <a:pathLst>
              <a:path w="5638800" h="1181100">
                <a:moveTo>
                  <a:pt x="76205" y="0"/>
                </a:moveTo>
                <a:lnTo>
                  <a:pt x="5562595" y="0"/>
                </a:lnTo>
                <a:cubicBezTo>
                  <a:pt x="5604654" y="0"/>
                  <a:pt x="5638800" y="34146"/>
                  <a:pt x="5638800" y="76205"/>
                </a:cubicBezTo>
                <a:lnTo>
                  <a:pt x="5638800" y="1104895"/>
                </a:lnTo>
                <a:cubicBezTo>
                  <a:pt x="5638800" y="1146982"/>
                  <a:pt x="5604682" y="1181100"/>
                  <a:pt x="5562595" y="1181100"/>
                </a:cubicBezTo>
                <a:lnTo>
                  <a:pt x="76205" y="1181100"/>
                </a:lnTo>
                <a:cubicBezTo>
                  <a:pt x="34146" y="1181100"/>
                  <a:pt x="0" y="1146954"/>
                  <a:pt x="0" y="1104895"/>
                </a:cubicBezTo>
                <a:lnTo>
                  <a:pt x="0" y="76205"/>
                </a:lnTo>
                <a:cubicBezTo>
                  <a:pt x="0" y="34146"/>
                  <a:pt x="34146" y="0"/>
                  <a:pt x="76205" y="0"/>
                </a:cubicBezTo>
                <a:close/>
              </a:path>
            </a:pathLst>
          </a:custGeom>
          <a:solidFill>
            <a:srgbClr val="78909C">
              <a:alpha val="10196"/>
            </a:srgbClr>
          </a:solidFill>
          <a:ln/>
        </p:spPr>
      </p:sp>
      <p:sp>
        <p:nvSpPr>
          <p:cNvPr id="51" name="Text 49"/>
          <p:cNvSpPr/>
          <p:nvPr/>
        </p:nvSpPr>
        <p:spPr>
          <a:xfrm>
            <a:off x="6286500" y="541020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Feature Hierarchy</a:t>
            </a:r>
            <a:endParaRPr lang="en-US" sz="1600" dirty="0"/>
          </a:p>
        </p:txBody>
      </p:sp>
      <p:sp>
        <p:nvSpPr>
          <p:cNvPr id="52" name="Text 50"/>
          <p:cNvSpPr/>
          <p:nvPr/>
        </p:nvSpPr>
        <p:spPr>
          <a:xfrm>
            <a:off x="6286500" y="5715000"/>
            <a:ext cx="828675" cy="190500"/>
          </a:xfrm>
          <a:prstGeom prst="rect">
            <a:avLst/>
          </a:prstGeom>
          <a:noFill/>
          <a:ln/>
        </p:spPr>
        <p:txBody>
          <a:bodyPr wrap="square" lIns="0" tIns="0" rIns="0" bIns="0" rtlCol="0" anchor="ctr"/>
          <a:lstStyle/>
          <a:p>
            <a:pPr>
              <a:lnSpc>
                <a:spcPct val="120000"/>
              </a:lnSpc>
            </a:pPr>
            <a:r>
              <a:rPr lang="en-US" sz="1050" dirty="0">
                <a:solidFill>
                  <a:srgbClr val="4DB6AC"/>
                </a:solidFill>
                <a:latin typeface="Quattrocento Sans" pitchFamily="34" charset="0"/>
                <a:ea typeface="Quattrocento Sans" pitchFamily="34" charset="-122"/>
                <a:cs typeface="Quattrocento Sans" pitchFamily="34" charset="-120"/>
              </a:rPr>
              <a:t>Layer 1-2:</a:t>
            </a:r>
            <a:endParaRPr lang="en-US" sz="1600" dirty="0"/>
          </a:p>
        </p:txBody>
      </p:sp>
      <p:sp>
        <p:nvSpPr>
          <p:cNvPr id="53" name="Text 51"/>
          <p:cNvSpPr/>
          <p:nvPr/>
        </p:nvSpPr>
        <p:spPr>
          <a:xfrm>
            <a:off x="7124700" y="5715000"/>
            <a:ext cx="13620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Edges, textures, colors</a:t>
            </a:r>
            <a:endParaRPr lang="en-US" sz="1600" dirty="0"/>
          </a:p>
        </p:txBody>
      </p:sp>
      <p:sp>
        <p:nvSpPr>
          <p:cNvPr id="54" name="Text 52"/>
          <p:cNvSpPr/>
          <p:nvPr/>
        </p:nvSpPr>
        <p:spPr>
          <a:xfrm>
            <a:off x="6286500" y="5943600"/>
            <a:ext cx="828675" cy="190500"/>
          </a:xfrm>
          <a:prstGeom prst="rect">
            <a:avLst/>
          </a:prstGeom>
          <a:noFill/>
          <a:ln/>
        </p:spPr>
        <p:txBody>
          <a:bodyPr wrap="square" lIns="0" tIns="0" rIns="0" bIns="0" rtlCol="0" anchor="ctr"/>
          <a:lstStyle/>
          <a:p>
            <a:pPr>
              <a:lnSpc>
                <a:spcPct val="120000"/>
              </a:lnSpc>
            </a:pPr>
            <a:r>
              <a:rPr lang="en-US" sz="1050" dirty="0">
                <a:solidFill>
                  <a:srgbClr val="4DB6AC"/>
                </a:solidFill>
                <a:latin typeface="Quattrocento Sans" pitchFamily="34" charset="0"/>
                <a:ea typeface="Quattrocento Sans" pitchFamily="34" charset="-122"/>
                <a:cs typeface="Quattrocento Sans" pitchFamily="34" charset="-120"/>
              </a:rPr>
              <a:t>Layer 3-4:</a:t>
            </a:r>
            <a:endParaRPr lang="en-US" sz="1600" dirty="0"/>
          </a:p>
        </p:txBody>
      </p:sp>
      <p:sp>
        <p:nvSpPr>
          <p:cNvPr id="55" name="Text 53"/>
          <p:cNvSpPr/>
          <p:nvPr/>
        </p:nvSpPr>
        <p:spPr>
          <a:xfrm>
            <a:off x="7124700" y="5943600"/>
            <a:ext cx="13811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Shapes, patterns, parts</a:t>
            </a:r>
            <a:endParaRPr lang="en-US" sz="1600" dirty="0"/>
          </a:p>
        </p:txBody>
      </p:sp>
      <p:sp>
        <p:nvSpPr>
          <p:cNvPr id="56" name="Text 54"/>
          <p:cNvSpPr/>
          <p:nvPr/>
        </p:nvSpPr>
        <p:spPr>
          <a:xfrm>
            <a:off x="6286500" y="6172200"/>
            <a:ext cx="828675" cy="190500"/>
          </a:xfrm>
          <a:prstGeom prst="rect">
            <a:avLst/>
          </a:prstGeom>
          <a:noFill/>
          <a:ln/>
        </p:spPr>
        <p:txBody>
          <a:bodyPr wrap="square" lIns="0" tIns="0" rIns="0" bIns="0" rtlCol="0" anchor="ctr"/>
          <a:lstStyle/>
          <a:p>
            <a:pPr>
              <a:lnSpc>
                <a:spcPct val="120000"/>
              </a:lnSpc>
            </a:pPr>
            <a:r>
              <a:rPr lang="en-US" sz="1050" dirty="0">
                <a:solidFill>
                  <a:srgbClr val="FFD54F"/>
                </a:solidFill>
                <a:latin typeface="Quattrocento Sans" pitchFamily="34" charset="0"/>
                <a:ea typeface="Quattrocento Sans" pitchFamily="34" charset="-122"/>
                <a:cs typeface="Quattrocento Sans" pitchFamily="34" charset="-120"/>
              </a:rPr>
              <a:t>Layer 5+:</a:t>
            </a:r>
            <a:endParaRPr lang="en-US" sz="1600" dirty="0"/>
          </a:p>
        </p:txBody>
      </p:sp>
      <p:sp>
        <p:nvSpPr>
          <p:cNvPr id="57" name="Text 55"/>
          <p:cNvSpPr/>
          <p:nvPr/>
        </p:nvSpPr>
        <p:spPr>
          <a:xfrm>
            <a:off x="7124700" y="6172200"/>
            <a:ext cx="11049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Objects, concepts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49091" y="349091"/>
            <a:ext cx="11650909" cy="349091"/>
          </a:xfrm>
          <a:prstGeom prst="rect">
            <a:avLst/>
          </a:prstGeom>
          <a:noFill/>
          <a:ln/>
        </p:spPr>
        <p:txBody>
          <a:bodyPr wrap="square" lIns="0" tIns="0" rIns="0" bIns="0" rtlCol="0" anchor="ctr"/>
          <a:lstStyle/>
          <a:p>
            <a:pPr>
              <a:lnSpc>
                <a:spcPct val="90000"/>
              </a:lnSpc>
            </a:pPr>
            <a:r>
              <a:rPr lang="en-US" sz="2474" b="1" dirty="0">
                <a:solidFill>
                  <a:srgbClr val="ECEFF1"/>
                </a:solidFill>
                <a:latin typeface="Liter" pitchFamily="34" charset="0"/>
                <a:ea typeface="Liter" pitchFamily="34" charset="-122"/>
                <a:cs typeface="Liter" pitchFamily="34" charset="-120"/>
              </a:rPr>
              <a:t>Forward Propagation</a:t>
            </a:r>
            <a:endParaRPr lang="en-US" sz="1600" dirty="0"/>
          </a:p>
        </p:txBody>
      </p:sp>
      <p:sp>
        <p:nvSpPr>
          <p:cNvPr id="3" name="Text 1"/>
          <p:cNvSpPr/>
          <p:nvPr/>
        </p:nvSpPr>
        <p:spPr>
          <a:xfrm>
            <a:off x="349091" y="733091"/>
            <a:ext cx="11598545" cy="279273"/>
          </a:xfrm>
          <a:prstGeom prst="rect">
            <a:avLst/>
          </a:prstGeom>
          <a:noFill/>
          <a:ln/>
        </p:spPr>
        <p:txBody>
          <a:bodyPr wrap="square" lIns="0" tIns="0" rIns="0" bIns="0" rtlCol="0" anchor="ctr"/>
          <a:lstStyle/>
          <a:p>
            <a:pPr>
              <a:lnSpc>
                <a:spcPct val="110000"/>
              </a:lnSpc>
            </a:pPr>
            <a:r>
              <a:rPr lang="en-US" sz="1649" b="1" dirty="0">
                <a:solidFill>
                  <a:srgbClr val="4DB6AC"/>
                </a:solidFill>
                <a:latin typeface="Hedvig Letters Sans" pitchFamily="34" charset="0"/>
                <a:ea typeface="Hedvig Letters Sans" pitchFamily="34" charset="-122"/>
                <a:cs typeface="Hedvig Letters Sans" pitchFamily="34" charset="-120"/>
              </a:rPr>
              <a:t>Përhapja përpara</a:t>
            </a:r>
            <a:endParaRPr lang="en-US" sz="1600" dirty="0"/>
          </a:p>
        </p:txBody>
      </p:sp>
      <p:sp>
        <p:nvSpPr>
          <p:cNvPr id="4" name="Shape 2"/>
          <p:cNvSpPr/>
          <p:nvPr/>
        </p:nvSpPr>
        <p:spPr>
          <a:xfrm>
            <a:off x="366545" y="1082182"/>
            <a:ext cx="5664000" cy="1588364"/>
          </a:xfrm>
          <a:custGeom>
            <a:avLst/>
            <a:gdLst/>
            <a:ahLst/>
            <a:cxnLst/>
            <a:rect l="l" t="t" r="r" b="b"/>
            <a:pathLst>
              <a:path w="5664000" h="1588364">
                <a:moveTo>
                  <a:pt x="0" y="0"/>
                </a:moveTo>
                <a:lnTo>
                  <a:pt x="5594176" y="0"/>
                </a:lnTo>
                <a:cubicBezTo>
                  <a:pt x="5632739" y="0"/>
                  <a:pt x="5664000" y="31261"/>
                  <a:pt x="5664000" y="69824"/>
                </a:cubicBezTo>
                <a:lnTo>
                  <a:pt x="5664000" y="1518539"/>
                </a:lnTo>
                <a:cubicBezTo>
                  <a:pt x="5664000" y="1557102"/>
                  <a:pt x="5632739" y="1588364"/>
                  <a:pt x="5594176" y="1588364"/>
                </a:cubicBezTo>
                <a:lnTo>
                  <a:pt x="0" y="1588364"/>
                </a:lnTo>
                <a:lnTo>
                  <a:pt x="0" y="0"/>
                </a:lnTo>
                <a:close/>
              </a:path>
            </a:pathLst>
          </a:custGeom>
          <a:solidFill>
            <a:srgbClr val="4DB6AC">
              <a:alpha val="10196"/>
            </a:srgbClr>
          </a:solidFill>
          <a:ln/>
        </p:spPr>
      </p:sp>
      <p:sp>
        <p:nvSpPr>
          <p:cNvPr id="5" name="Shape 3"/>
          <p:cNvSpPr/>
          <p:nvPr/>
        </p:nvSpPr>
        <p:spPr>
          <a:xfrm>
            <a:off x="366545" y="1082182"/>
            <a:ext cx="34909" cy="1588364"/>
          </a:xfrm>
          <a:custGeom>
            <a:avLst/>
            <a:gdLst/>
            <a:ahLst/>
            <a:cxnLst/>
            <a:rect l="l" t="t" r="r" b="b"/>
            <a:pathLst>
              <a:path w="34909" h="1588364">
                <a:moveTo>
                  <a:pt x="0" y="0"/>
                </a:moveTo>
                <a:lnTo>
                  <a:pt x="34909" y="0"/>
                </a:lnTo>
                <a:lnTo>
                  <a:pt x="34909" y="1588364"/>
                </a:lnTo>
                <a:lnTo>
                  <a:pt x="0" y="1588364"/>
                </a:lnTo>
                <a:lnTo>
                  <a:pt x="0" y="0"/>
                </a:lnTo>
                <a:close/>
              </a:path>
            </a:pathLst>
          </a:custGeom>
          <a:solidFill>
            <a:srgbClr val="4DB6AC"/>
          </a:solidFill>
          <a:ln/>
        </p:spPr>
      </p:sp>
      <p:sp>
        <p:nvSpPr>
          <p:cNvPr id="6" name="Text 4"/>
          <p:cNvSpPr/>
          <p:nvPr/>
        </p:nvSpPr>
        <p:spPr>
          <a:xfrm>
            <a:off x="488727" y="1186909"/>
            <a:ext cx="5506909" cy="576000"/>
          </a:xfrm>
          <a:prstGeom prst="rect">
            <a:avLst/>
          </a:prstGeom>
          <a:noFill/>
          <a:ln/>
        </p:spPr>
        <p:txBody>
          <a:bodyPr wrap="square" lIns="0" tIns="0" rIns="0" bIns="0" rtlCol="0" anchor="ctr"/>
          <a:lstStyle/>
          <a:p>
            <a:pPr>
              <a:lnSpc>
                <a:spcPct val="110000"/>
              </a:lnSpc>
            </a:pPr>
            <a:r>
              <a:rPr lang="en-US" sz="1100" b="1" dirty="0">
                <a:solidFill>
                  <a:srgbClr val="4DB6AC"/>
                </a:solidFill>
                <a:latin typeface="Quattrocento Sans" pitchFamily="34" charset="0"/>
                <a:ea typeface="Quattrocento Sans" pitchFamily="34" charset="-122"/>
                <a:cs typeface="Quattrocento Sans" pitchFamily="34" charset="-120"/>
              </a:rPr>
              <a:t>English:</a:t>
            </a:r>
            <a:r>
              <a:rPr lang="en-US" sz="1100" dirty="0">
                <a:solidFill>
                  <a:srgbClr val="ECEFF1"/>
                </a:solidFill>
                <a:latin typeface="Quattrocento Sans" pitchFamily="34" charset="0"/>
                <a:ea typeface="Quattrocento Sans" pitchFamily="34" charset="-122"/>
                <a:cs typeface="Quattrocento Sans" pitchFamily="34" charset="-120"/>
              </a:rPr>
              <a:t> Forward propagation is the process of passing input data through the network to generate predictions. Each layer transforms the data using weights, biases, and activation functions, progressively building more abstract representations.</a:t>
            </a:r>
            <a:endParaRPr lang="en-US" sz="1600" dirty="0"/>
          </a:p>
        </p:txBody>
      </p:sp>
      <p:sp>
        <p:nvSpPr>
          <p:cNvPr id="7" name="Text 5"/>
          <p:cNvSpPr/>
          <p:nvPr/>
        </p:nvSpPr>
        <p:spPr>
          <a:xfrm>
            <a:off x="488727" y="1797818"/>
            <a:ext cx="5506909" cy="768000"/>
          </a:xfrm>
          <a:prstGeom prst="rect">
            <a:avLst/>
          </a:prstGeom>
          <a:noFill/>
          <a:ln/>
        </p:spPr>
        <p:txBody>
          <a:bodyPr wrap="square" lIns="0" tIns="0" rIns="0" bIns="0" rtlCol="0" anchor="ctr"/>
          <a:lstStyle/>
          <a:p>
            <a:pPr>
              <a:lnSpc>
                <a:spcPct val="110000"/>
              </a:lnSpc>
            </a:pPr>
            <a:r>
              <a:rPr lang="en-US" sz="1100" b="1" dirty="0">
                <a:solidFill>
                  <a:srgbClr val="FFD54F"/>
                </a:solidFill>
                <a:latin typeface="Quattrocento Sans" pitchFamily="34" charset="0"/>
                <a:ea typeface="Quattrocento Sans" pitchFamily="34" charset="-122"/>
                <a:cs typeface="Quattrocento Sans" pitchFamily="34" charset="-120"/>
              </a:rPr>
              <a:t>Shqip:</a:t>
            </a:r>
            <a:r>
              <a:rPr lang="en-US" sz="1100" dirty="0">
                <a:solidFill>
                  <a:srgbClr val="78909C"/>
                </a:solidFill>
                <a:latin typeface="Quattrocento Sans" pitchFamily="34" charset="0"/>
                <a:ea typeface="Quattrocento Sans" pitchFamily="34" charset="-122"/>
                <a:cs typeface="Quattrocento Sans" pitchFamily="34" charset="-120"/>
              </a:rPr>
              <a:t> Përhapja përpara është procesi i kalimit të të dhënave hyrëse përmes rrjetit për të gjeneruar parashikime. Çdo shtresë transformon të dhënat duke përdorur peshat, paragjykimet dhe funksionet e aktivizimit, duke ndërtuar gradualisht përfaqësime më abstrakte.</a:t>
            </a:r>
            <a:endParaRPr lang="en-US" sz="1600" dirty="0"/>
          </a:p>
        </p:txBody>
      </p:sp>
      <p:sp>
        <p:nvSpPr>
          <p:cNvPr id="8" name="Shape 6"/>
          <p:cNvSpPr/>
          <p:nvPr/>
        </p:nvSpPr>
        <p:spPr>
          <a:xfrm>
            <a:off x="353455" y="2744727"/>
            <a:ext cx="5672727" cy="2417455"/>
          </a:xfrm>
          <a:custGeom>
            <a:avLst/>
            <a:gdLst/>
            <a:ahLst/>
            <a:cxnLst/>
            <a:rect l="l" t="t" r="r" b="b"/>
            <a:pathLst>
              <a:path w="5672727" h="2417455">
                <a:moveTo>
                  <a:pt x="69816" y="0"/>
                </a:moveTo>
                <a:lnTo>
                  <a:pt x="5602911" y="0"/>
                </a:lnTo>
                <a:cubicBezTo>
                  <a:pt x="5641470" y="0"/>
                  <a:pt x="5672727" y="31258"/>
                  <a:pt x="5672727" y="69816"/>
                </a:cubicBezTo>
                <a:lnTo>
                  <a:pt x="5672727" y="2347638"/>
                </a:lnTo>
                <a:cubicBezTo>
                  <a:pt x="5672727" y="2386197"/>
                  <a:pt x="5641470" y="2417455"/>
                  <a:pt x="5602911" y="2417455"/>
                </a:cubicBezTo>
                <a:lnTo>
                  <a:pt x="69816" y="2417455"/>
                </a:lnTo>
                <a:cubicBezTo>
                  <a:pt x="31258" y="2417455"/>
                  <a:pt x="0" y="2386197"/>
                  <a:pt x="0" y="2347638"/>
                </a:cubicBezTo>
                <a:lnTo>
                  <a:pt x="0" y="69816"/>
                </a:lnTo>
                <a:cubicBezTo>
                  <a:pt x="0" y="31258"/>
                  <a:pt x="31258" y="0"/>
                  <a:pt x="69816"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62545" y="2853818"/>
            <a:ext cx="5533091" cy="244364"/>
          </a:xfrm>
          <a:prstGeom prst="rect">
            <a:avLst/>
          </a:prstGeom>
          <a:noFill/>
          <a:ln/>
        </p:spPr>
        <p:txBody>
          <a:bodyPr wrap="square" lIns="0" tIns="0" rIns="0" bIns="0" rtlCol="0" anchor="ctr"/>
          <a:lstStyle/>
          <a:p>
            <a:pPr>
              <a:lnSpc>
                <a:spcPct val="130000"/>
              </a:lnSpc>
            </a:pPr>
            <a:r>
              <a:rPr lang="en-US" sz="1237" b="1" dirty="0">
                <a:solidFill>
                  <a:srgbClr val="ECEFF1"/>
                </a:solidFill>
                <a:latin typeface="Liter" pitchFamily="34" charset="0"/>
                <a:ea typeface="Liter" pitchFamily="34" charset="-122"/>
                <a:cs typeface="Liter" pitchFamily="34" charset="-120"/>
              </a:rPr>
              <a:t>Mathematical Formulation</a:t>
            </a:r>
            <a:endParaRPr lang="en-US" sz="1600" dirty="0"/>
          </a:p>
        </p:txBody>
      </p:sp>
      <p:sp>
        <p:nvSpPr>
          <p:cNvPr id="10" name="Shape 8"/>
          <p:cNvSpPr/>
          <p:nvPr/>
        </p:nvSpPr>
        <p:spPr>
          <a:xfrm>
            <a:off x="462545" y="3168000"/>
            <a:ext cx="5454545" cy="768000"/>
          </a:xfrm>
          <a:custGeom>
            <a:avLst/>
            <a:gdLst/>
            <a:ahLst/>
            <a:cxnLst/>
            <a:rect l="l" t="t" r="r" b="b"/>
            <a:pathLst>
              <a:path w="5454545" h="768000">
                <a:moveTo>
                  <a:pt x="69819" y="0"/>
                </a:moveTo>
                <a:lnTo>
                  <a:pt x="5384727" y="0"/>
                </a:lnTo>
                <a:cubicBezTo>
                  <a:pt x="5423286" y="0"/>
                  <a:pt x="5454545" y="31259"/>
                  <a:pt x="5454545" y="69819"/>
                </a:cubicBezTo>
                <a:lnTo>
                  <a:pt x="5454545" y="698181"/>
                </a:lnTo>
                <a:cubicBezTo>
                  <a:pt x="5454545" y="736741"/>
                  <a:pt x="5423286" y="768000"/>
                  <a:pt x="5384727" y="768000"/>
                </a:cubicBezTo>
                <a:lnTo>
                  <a:pt x="69819" y="768000"/>
                </a:lnTo>
                <a:cubicBezTo>
                  <a:pt x="31259" y="768000"/>
                  <a:pt x="0" y="736741"/>
                  <a:pt x="0" y="698181"/>
                </a:cubicBezTo>
                <a:lnTo>
                  <a:pt x="0" y="69819"/>
                </a:lnTo>
                <a:cubicBezTo>
                  <a:pt x="0" y="31285"/>
                  <a:pt x="31285" y="0"/>
                  <a:pt x="69819" y="0"/>
                </a:cubicBezTo>
                <a:close/>
              </a:path>
            </a:pathLst>
          </a:custGeom>
          <a:solidFill>
            <a:srgbClr val="1A1D21"/>
          </a:solidFill>
          <a:ln/>
        </p:spPr>
      </p:sp>
      <p:sp>
        <p:nvSpPr>
          <p:cNvPr id="11" name="Text 9"/>
          <p:cNvSpPr/>
          <p:nvPr/>
        </p:nvSpPr>
        <p:spPr>
          <a:xfrm>
            <a:off x="528000" y="3272727"/>
            <a:ext cx="5323636" cy="244364"/>
          </a:xfrm>
          <a:prstGeom prst="rect">
            <a:avLst/>
          </a:prstGeom>
          <a:noFill/>
          <a:ln/>
        </p:spPr>
        <p:txBody>
          <a:bodyPr wrap="square" lIns="0" tIns="0" rIns="0" bIns="0" rtlCol="0" anchor="ctr"/>
          <a:lstStyle/>
          <a:p>
            <a:pPr algn="ctr">
              <a:lnSpc>
                <a:spcPct val="130000"/>
              </a:lnSpc>
            </a:pPr>
            <a:r>
              <a:rPr lang="en-US" sz="1237" dirty="0">
                <a:solidFill>
                  <a:srgbClr val="FFD54F"/>
                </a:solidFill>
                <a:latin typeface="MiSans" pitchFamily="34" charset="0"/>
                <a:ea typeface="MiSans" pitchFamily="34" charset="-122"/>
                <a:cs typeface="MiSans" pitchFamily="34" charset="-120"/>
              </a:rPr>
              <a:t>z⁽ˡ⁾ = W⁽ˡ⁾ · a⁽ˡ⁻¹⁾ + b⁽ˡ⁾</a:t>
            </a:r>
            <a:endParaRPr lang="en-US" sz="1600" dirty="0"/>
          </a:p>
        </p:txBody>
      </p:sp>
      <p:sp>
        <p:nvSpPr>
          <p:cNvPr id="12" name="Text 10"/>
          <p:cNvSpPr/>
          <p:nvPr/>
        </p:nvSpPr>
        <p:spPr>
          <a:xfrm>
            <a:off x="528000" y="3586909"/>
            <a:ext cx="5323636" cy="244364"/>
          </a:xfrm>
          <a:prstGeom prst="rect">
            <a:avLst/>
          </a:prstGeom>
          <a:noFill/>
          <a:ln/>
        </p:spPr>
        <p:txBody>
          <a:bodyPr wrap="square" lIns="0" tIns="0" rIns="0" bIns="0" rtlCol="0" anchor="ctr"/>
          <a:lstStyle/>
          <a:p>
            <a:pPr algn="ctr">
              <a:lnSpc>
                <a:spcPct val="130000"/>
              </a:lnSpc>
            </a:pPr>
            <a:r>
              <a:rPr lang="en-US" sz="1237" dirty="0">
                <a:solidFill>
                  <a:srgbClr val="4DB6AC"/>
                </a:solidFill>
                <a:latin typeface="MiSans" pitchFamily="34" charset="0"/>
                <a:ea typeface="MiSans" pitchFamily="34" charset="-122"/>
                <a:cs typeface="MiSans" pitchFamily="34" charset="-120"/>
              </a:rPr>
              <a:t>a⁽ˡ⁾ = f(z⁽ˡ⁾)</a:t>
            </a:r>
            <a:endParaRPr lang="en-US" sz="1600" dirty="0"/>
          </a:p>
        </p:txBody>
      </p:sp>
      <p:sp>
        <p:nvSpPr>
          <p:cNvPr id="13" name="Shape 11"/>
          <p:cNvSpPr/>
          <p:nvPr/>
        </p:nvSpPr>
        <p:spPr>
          <a:xfrm>
            <a:off x="462545" y="4005818"/>
            <a:ext cx="2688000" cy="488727"/>
          </a:xfrm>
          <a:custGeom>
            <a:avLst/>
            <a:gdLst/>
            <a:ahLst/>
            <a:cxnLst/>
            <a:rect l="l" t="t" r="r" b="b"/>
            <a:pathLst>
              <a:path w="2688000" h="488727">
                <a:moveTo>
                  <a:pt x="34910" y="0"/>
                </a:moveTo>
                <a:lnTo>
                  <a:pt x="2653090" y="0"/>
                </a:lnTo>
                <a:cubicBezTo>
                  <a:pt x="2672357" y="0"/>
                  <a:pt x="2688000" y="15643"/>
                  <a:pt x="2688000" y="34910"/>
                </a:cubicBezTo>
                <a:lnTo>
                  <a:pt x="2688000" y="453817"/>
                </a:lnTo>
                <a:cubicBezTo>
                  <a:pt x="2688000" y="473085"/>
                  <a:pt x="2672357" y="488727"/>
                  <a:pt x="2653090" y="488727"/>
                </a:cubicBezTo>
                <a:lnTo>
                  <a:pt x="34910" y="488727"/>
                </a:lnTo>
                <a:cubicBezTo>
                  <a:pt x="15643" y="488727"/>
                  <a:pt x="0" y="473085"/>
                  <a:pt x="0" y="453817"/>
                </a:cubicBezTo>
                <a:lnTo>
                  <a:pt x="0" y="34910"/>
                </a:lnTo>
                <a:cubicBezTo>
                  <a:pt x="0" y="15630"/>
                  <a:pt x="15630" y="0"/>
                  <a:pt x="34910" y="0"/>
                </a:cubicBezTo>
                <a:close/>
              </a:path>
            </a:pathLst>
          </a:custGeom>
          <a:solidFill>
            <a:srgbClr val="4DB6AC">
              <a:alpha val="10196"/>
            </a:srgbClr>
          </a:solidFill>
          <a:ln/>
        </p:spPr>
      </p:sp>
      <p:sp>
        <p:nvSpPr>
          <p:cNvPr id="14" name="Text 12"/>
          <p:cNvSpPr/>
          <p:nvPr/>
        </p:nvSpPr>
        <p:spPr>
          <a:xfrm>
            <a:off x="532364" y="4075636"/>
            <a:ext cx="2609455" cy="174545"/>
          </a:xfrm>
          <a:prstGeom prst="rect">
            <a:avLst/>
          </a:prstGeom>
          <a:noFill/>
          <a:ln/>
        </p:spPr>
        <p:txBody>
          <a:bodyPr wrap="square" lIns="0" tIns="0" rIns="0" bIns="0" rtlCol="0" anchor="ctr"/>
          <a:lstStyle/>
          <a:p>
            <a:pPr>
              <a:lnSpc>
                <a:spcPct val="120000"/>
              </a:lnSpc>
            </a:pPr>
            <a:r>
              <a:rPr lang="en-US" sz="962" b="1" dirty="0">
                <a:solidFill>
                  <a:srgbClr val="4DB6AC"/>
                </a:solidFill>
                <a:latin typeface="Quattrocento Sans" pitchFamily="34" charset="0"/>
                <a:ea typeface="Quattrocento Sans" pitchFamily="34" charset="-122"/>
                <a:cs typeface="Quattrocento Sans" pitchFamily="34" charset="-120"/>
              </a:rPr>
              <a:t>z⁽ˡ⁾</a:t>
            </a:r>
            <a:endParaRPr lang="en-US" sz="1600" dirty="0"/>
          </a:p>
        </p:txBody>
      </p:sp>
      <p:sp>
        <p:nvSpPr>
          <p:cNvPr id="15" name="Text 13"/>
          <p:cNvSpPr/>
          <p:nvPr/>
        </p:nvSpPr>
        <p:spPr>
          <a:xfrm>
            <a:off x="532364" y="4250182"/>
            <a:ext cx="2609455" cy="174545"/>
          </a:xfrm>
          <a:prstGeom prst="rect">
            <a:avLst/>
          </a:prstGeom>
          <a:noFill/>
          <a:ln/>
        </p:spPr>
        <p:txBody>
          <a:bodyPr wrap="square" lIns="0" tIns="0" rIns="0" bIns="0" rtlCol="0" anchor="ctr"/>
          <a:lstStyle/>
          <a:p>
            <a:pPr>
              <a:lnSpc>
                <a:spcPct val="120000"/>
              </a:lnSpc>
            </a:pPr>
            <a:r>
              <a:rPr lang="en-US" sz="962" dirty="0">
                <a:solidFill>
                  <a:srgbClr val="ECEFF1"/>
                </a:solidFill>
                <a:latin typeface="Quattrocento Sans" pitchFamily="34" charset="0"/>
                <a:ea typeface="Quattrocento Sans" pitchFamily="34" charset="-122"/>
                <a:cs typeface="Quattrocento Sans" pitchFamily="34" charset="-120"/>
              </a:rPr>
              <a:t>Weighted sum (Layer l)</a:t>
            </a:r>
            <a:endParaRPr lang="en-US" sz="1600" dirty="0"/>
          </a:p>
        </p:txBody>
      </p:sp>
      <p:sp>
        <p:nvSpPr>
          <p:cNvPr id="16" name="Shape 14"/>
          <p:cNvSpPr/>
          <p:nvPr/>
        </p:nvSpPr>
        <p:spPr>
          <a:xfrm>
            <a:off x="3223227" y="4005818"/>
            <a:ext cx="2688000" cy="488727"/>
          </a:xfrm>
          <a:custGeom>
            <a:avLst/>
            <a:gdLst/>
            <a:ahLst/>
            <a:cxnLst/>
            <a:rect l="l" t="t" r="r" b="b"/>
            <a:pathLst>
              <a:path w="2688000" h="488727">
                <a:moveTo>
                  <a:pt x="34910" y="0"/>
                </a:moveTo>
                <a:lnTo>
                  <a:pt x="2653090" y="0"/>
                </a:lnTo>
                <a:cubicBezTo>
                  <a:pt x="2672357" y="0"/>
                  <a:pt x="2688000" y="15643"/>
                  <a:pt x="2688000" y="34910"/>
                </a:cubicBezTo>
                <a:lnTo>
                  <a:pt x="2688000" y="453817"/>
                </a:lnTo>
                <a:cubicBezTo>
                  <a:pt x="2688000" y="473085"/>
                  <a:pt x="2672357" y="488727"/>
                  <a:pt x="2653090" y="488727"/>
                </a:cubicBezTo>
                <a:lnTo>
                  <a:pt x="34910" y="488727"/>
                </a:lnTo>
                <a:cubicBezTo>
                  <a:pt x="15643" y="488727"/>
                  <a:pt x="0" y="473085"/>
                  <a:pt x="0" y="453817"/>
                </a:cubicBezTo>
                <a:lnTo>
                  <a:pt x="0" y="34910"/>
                </a:lnTo>
                <a:cubicBezTo>
                  <a:pt x="0" y="15630"/>
                  <a:pt x="15630" y="0"/>
                  <a:pt x="34910" y="0"/>
                </a:cubicBezTo>
                <a:close/>
              </a:path>
            </a:pathLst>
          </a:custGeom>
          <a:solidFill>
            <a:srgbClr val="4DB6AC">
              <a:alpha val="10196"/>
            </a:srgbClr>
          </a:solidFill>
          <a:ln/>
        </p:spPr>
      </p:sp>
      <p:sp>
        <p:nvSpPr>
          <p:cNvPr id="17" name="Text 15"/>
          <p:cNvSpPr/>
          <p:nvPr/>
        </p:nvSpPr>
        <p:spPr>
          <a:xfrm>
            <a:off x="3293045" y="4075636"/>
            <a:ext cx="2609455" cy="174545"/>
          </a:xfrm>
          <a:prstGeom prst="rect">
            <a:avLst/>
          </a:prstGeom>
          <a:noFill/>
          <a:ln/>
        </p:spPr>
        <p:txBody>
          <a:bodyPr wrap="square" lIns="0" tIns="0" rIns="0" bIns="0" rtlCol="0" anchor="ctr"/>
          <a:lstStyle/>
          <a:p>
            <a:pPr>
              <a:lnSpc>
                <a:spcPct val="120000"/>
              </a:lnSpc>
            </a:pPr>
            <a:r>
              <a:rPr lang="en-US" sz="962" b="1" dirty="0">
                <a:solidFill>
                  <a:srgbClr val="4DB6AC"/>
                </a:solidFill>
                <a:latin typeface="Quattrocento Sans" pitchFamily="34" charset="0"/>
                <a:ea typeface="Quattrocento Sans" pitchFamily="34" charset="-122"/>
                <a:cs typeface="Quattrocento Sans" pitchFamily="34" charset="-120"/>
              </a:rPr>
              <a:t>W⁽ˡ⁾</a:t>
            </a:r>
            <a:endParaRPr lang="en-US" sz="1600" dirty="0"/>
          </a:p>
        </p:txBody>
      </p:sp>
      <p:sp>
        <p:nvSpPr>
          <p:cNvPr id="18" name="Text 16"/>
          <p:cNvSpPr/>
          <p:nvPr/>
        </p:nvSpPr>
        <p:spPr>
          <a:xfrm>
            <a:off x="3293045" y="4250182"/>
            <a:ext cx="2609455" cy="174545"/>
          </a:xfrm>
          <a:prstGeom prst="rect">
            <a:avLst/>
          </a:prstGeom>
          <a:noFill/>
          <a:ln/>
        </p:spPr>
        <p:txBody>
          <a:bodyPr wrap="square" lIns="0" tIns="0" rIns="0" bIns="0" rtlCol="0" anchor="ctr"/>
          <a:lstStyle/>
          <a:p>
            <a:pPr>
              <a:lnSpc>
                <a:spcPct val="120000"/>
              </a:lnSpc>
            </a:pPr>
            <a:r>
              <a:rPr lang="en-US" sz="962" dirty="0">
                <a:solidFill>
                  <a:srgbClr val="ECEFF1"/>
                </a:solidFill>
                <a:latin typeface="Quattrocento Sans" pitchFamily="34" charset="0"/>
                <a:ea typeface="Quattrocento Sans" pitchFamily="34" charset="-122"/>
                <a:cs typeface="Quattrocento Sans" pitchFamily="34" charset="-120"/>
              </a:rPr>
              <a:t>Weight matrix</a:t>
            </a:r>
            <a:endParaRPr lang="en-US" sz="1600" dirty="0"/>
          </a:p>
        </p:txBody>
      </p:sp>
      <p:sp>
        <p:nvSpPr>
          <p:cNvPr id="19" name="Shape 17"/>
          <p:cNvSpPr/>
          <p:nvPr/>
        </p:nvSpPr>
        <p:spPr>
          <a:xfrm>
            <a:off x="462545" y="4564364"/>
            <a:ext cx="2688000" cy="488727"/>
          </a:xfrm>
          <a:custGeom>
            <a:avLst/>
            <a:gdLst/>
            <a:ahLst/>
            <a:cxnLst/>
            <a:rect l="l" t="t" r="r" b="b"/>
            <a:pathLst>
              <a:path w="2688000" h="488727">
                <a:moveTo>
                  <a:pt x="34910" y="0"/>
                </a:moveTo>
                <a:lnTo>
                  <a:pt x="2653090" y="0"/>
                </a:lnTo>
                <a:cubicBezTo>
                  <a:pt x="2672357" y="0"/>
                  <a:pt x="2688000" y="15643"/>
                  <a:pt x="2688000" y="34910"/>
                </a:cubicBezTo>
                <a:lnTo>
                  <a:pt x="2688000" y="453817"/>
                </a:lnTo>
                <a:cubicBezTo>
                  <a:pt x="2688000" y="473085"/>
                  <a:pt x="2672357" y="488727"/>
                  <a:pt x="2653090" y="488727"/>
                </a:cubicBezTo>
                <a:lnTo>
                  <a:pt x="34910" y="488727"/>
                </a:lnTo>
                <a:cubicBezTo>
                  <a:pt x="15643" y="488727"/>
                  <a:pt x="0" y="473085"/>
                  <a:pt x="0" y="453817"/>
                </a:cubicBezTo>
                <a:lnTo>
                  <a:pt x="0" y="34910"/>
                </a:lnTo>
                <a:cubicBezTo>
                  <a:pt x="0" y="15630"/>
                  <a:pt x="15630" y="0"/>
                  <a:pt x="34910" y="0"/>
                </a:cubicBezTo>
                <a:close/>
              </a:path>
            </a:pathLst>
          </a:custGeom>
          <a:solidFill>
            <a:srgbClr val="FFD54F">
              <a:alpha val="10196"/>
            </a:srgbClr>
          </a:solidFill>
          <a:ln/>
        </p:spPr>
      </p:sp>
      <p:sp>
        <p:nvSpPr>
          <p:cNvPr id="20" name="Text 18"/>
          <p:cNvSpPr/>
          <p:nvPr/>
        </p:nvSpPr>
        <p:spPr>
          <a:xfrm>
            <a:off x="532364" y="4634182"/>
            <a:ext cx="2609455" cy="174545"/>
          </a:xfrm>
          <a:prstGeom prst="rect">
            <a:avLst/>
          </a:prstGeom>
          <a:noFill/>
          <a:ln/>
        </p:spPr>
        <p:txBody>
          <a:bodyPr wrap="square" lIns="0" tIns="0" rIns="0" bIns="0" rtlCol="0" anchor="ctr"/>
          <a:lstStyle/>
          <a:p>
            <a:pPr>
              <a:lnSpc>
                <a:spcPct val="120000"/>
              </a:lnSpc>
            </a:pPr>
            <a:r>
              <a:rPr lang="en-US" sz="962" b="1" dirty="0">
                <a:solidFill>
                  <a:srgbClr val="FFD54F"/>
                </a:solidFill>
                <a:latin typeface="Quattrocento Sans" pitchFamily="34" charset="0"/>
                <a:ea typeface="Quattrocento Sans" pitchFamily="34" charset="-122"/>
                <a:cs typeface="Quattrocento Sans" pitchFamily="34" charset="-120"/>
              </a:rPr>
              <a:t>b⁽ˡ⁾</a:t>
            </a:r>
            <a:endParaRPr lang="en-US" sz="1600" dirty="0"/>
          </a:p>
        </p:txBody>
      </p:sp>
      <p:sp>
        <p:nvSpPr>
          <p:cNvPr id="21" name="Text 19"/>
          <p:cNvSpPr/>
          <p:nvPr/>
        </p:nvSpPr>
        <p:spPr>
          <a:xfrm>
            <a:off x="532364" y="4808727"/>
            <a:ext cx="2609455" cy="174545"/>
          </a:xfrm>
          <a:prstGeom prst="rect">
            <a:avLst/>
          </a:prstGeom>
          <a:noFill/>
          <a:ln/>
        </p:spPr>
        <p:txBody>
          <a:bodyPr wrap="square" lIns="0" tIns="0" rIns="0" bIns="0" rtlCol="0" anchor="ctr"/>
          <a:lstStyle/>
          <a:p>
            <a:pPr>
              <a:lnSpc>
                <a:spcPct val="120000"/>
              </a:lnSpc>
            </a:pPr>
            <a:r>
              <a:rPr lang="en-US" sz="962" dirty="0">
                <a:solidFill>
                  <a:srgbClr val="ECEFF1"/>
                </a:solidFill>
                <a:latin typeface="Quattrocento Sans" pitchFamily="34" charset="0"/>
                <a:ea typeface="Quattrocento Sans" pitchFamily="34" charset="-122"/>
                <a:cs typeface="Quattrocento Sans" pitchFamily="34" charset="-120"/>
              </a:rPr>
              <a:t>Bias vector</a:t>
            </a:r>
            <a:endParaRPr lang="en-US" sz="1600" dirty="0"/>
          </a:p>
        </p:txBody>
      </p:sp>
      <p:sp>
        <p:nvSpPr>
          <p:cNvPr id="22" name="Shape 20"/>
          <p:cNvSpPr/>
          <p:nvPr/>
        </p:nvSpPr>
        <p:spPr>
          <a:xfrm>
            <a:off x="3223227" y="4564364"/>
            <a:ext cx="2688000" cy="488727"/>
          </a:xfrm>
          <a:custGeom>
            <a:avLst/>
            <a:gdLst/>
            <a:ahLst/>
            <a:cxnLst/>
            <a:rect l="l" t="t" r="r" b="b"/>
            <a:pathLst>
              <a:path w="2688000" h="488727">
                <a:moveTo>
                  <a:pt x="34910" y="0"/>
                </a:moveTo>
                <a:lnTo>
                  <a:pt x="2653090" y="0"/>
                </a:lnTo>
                <a:cubicBezTo>
                  <a:pt x="2672357" y="0"/>
                  <a:pt x="2688000" y="15643"/>
                  <a:pt x="2688000" y="34910"/>
                </a:cubicBezTo>
                <a:lnTo>
                  <a:pt x="2688000" y="453817"/>
                </a:lnTo>
                <a:cubicBezTo>
                  <a:pt x="2688000" y="473085"/>
                  <a:pt x="2672357" y="488727"/>
                  <a:pt x="2653090" y="488727"/>
                </a:cubicBezTo>
                <a:lnTo>
                  <a:pt x="34910" y="488727"/>
                </a:lnTo>
                <a:cubicBezTo>
                  <a:pt x="15643" y="488727"/>
                  <a:pt x="0" y="473085"/>
                  <a:pt x="0" y="453817"/>
                </a:cubicBezTo>
                <a:lnTo>
                  <a:pt x="0" y="34910"/>
                </a:lnTo>
                <a:cubicBezTo>
                  <a:pt x="0" y="15630"/>
                  <a:pt x="15630" y="0"/>
                  <a:pt x="34910" y="0"/>
                </a:cubicBezTo>
                <a:close/>
              </a:path>
            </a:pathLst>
          </a:custGeom>
          <a:solidFill>
            <a:srgbClr val="FFD54F">
              <a:alpha val="10196"/>
            </a:srgbClr>
          </a:solidFill>
          <a:ln/>
        </p:spPr>
      </p:sp>
      <p:sp>
        <p:nvSpPr>
          <p:cNvPr id="23" name="Text 21"/>
          <p:cNvSpPr/>
          <p:nvPr/>
        </p:nvSpPr>
        <p:spPr>
          <a:xfrm>
            <a:off x="3293045" y="4634182"/>
            <a:ext cx="2609455" cy="174545"/>
          </a:xfrm>
          <a:prstGeom prst="rect">
            <a:avLst/>
          </a:prstGeom>
          <a:noFill/>
          <a:ln/>
        </p:spPr>
        <p:txBody>
          <a:bodyPr wrap="square" lIns="0" tIns="0" rIns="0" bIns="0" rtlCol="0" anchor="ctr"/>
          <a:lstStyle/>
          <a:p>
            <a:pPr>
              <a:lnSpc>
                <a:spcPct val="120000"/>
              </a:lnSpc>
            </a:pPr>
            <a:r>
              <a:rPr lang="en-US" sz="962" b="1" dirty="0">
                <a:solidFill>
                  <a:srgbClr val="FFD54F"/>
                </a:solidFill>
                <a:latin typeface="Quattrocento Sans" pitchFamily="34" charset="0"/>
                <a:ea typeface="Quattrocento Sans" pitchFamily="34" charset="-122"/>
                <a:cs typeface="Quattrocento Sans" pitchFamily="34" charset="-120"/>
              </a:rPr>
              <a:t>f</a:t>
            </a:r>
            <a:endParaRPr lang="en-US" sz="1600" dirty="0"/>
          </a:p>
        </p:txBody>
      </p:sp>
      <p:sp>
        <p:nvSpPr>
          <p:cNvPr id="24" name="Text 22"/>
          <p:cNvSpPr/>
          <p:nvPr/>
        </p:nvSpPr>
        <p:spPr>
          <a:xfrm>
            <a:off x="3293045" y="4808727"/>
            <a:ext cx="2609455" cy="174545"/>
          </a:xfrm>
          <a:prstGeom prst="rect">
            <a:avLst/>
          </a:prstGeom>
          <a:noFill/>
          <a:ln/>
        </p:spPr>
        <p:txBody>
          <a:bodyPr wrap="square" lIns="0" tIns="0" rIns="0" bIns="0" rtlCol="0" anchor="ctr"/>
          <a:lstStyle/>
          <a:p>
            <a:pPr>
              <a:lnSpc>
                <a:spcPct val="120000"/>
              </a:lnSpc>
            </a:pPr>
            <a:r>
              <a:rPr lang="en-US" sz="962" dirty="0">
                <a:solidFill>
                  <a:srgbClr val="ECEFF1"/>
                </a:solidFill>
                <a:latin typeface="Quattrocento Sans" pitchFamily="34" charset="0"/>
                <a:ea typeface="Quattrocento Sans" pitchFamily="34" charset="-122"/>
                <a:cs typeface="Quattrocento Sans" pitchFamily="34" charset="-120"/>
              </a:rPr>
              <a:t>Activation function</a:t>
            </a:r>
            <a:endParaRPr lang="en-US" sz="1600" dirty="0"/>
          </a:p>
        </p:txBody>
      </p:sp>
      <p:sp>
        <p:nvSpPr>
          <p:cNvPr id="25" name="Shape 23"/>
          <p:cNvSpPr/>
          <p:nvPr/>
        </p:nvSpPr>
        <p:spPr>
          <a:xfrm>
            <a:off x="349091" y="5236364"/>
            <a:ext cx="5681455" cy="1431273"/>
          </a:xfrm>
          <a:custGeom>
            <a:avLst/>
            <a:gdLst/>
            <a:ahLst/>
            <a:cxnLst/>
            <a:rect l="l" t="t" r="r" b="b"/>
            <a:pathLst>
              <a:path w="5681455" h="1431273">
                <a:moveTo>
                  <a:pt x="69817" y="0"/>
                </a:moveTo>
                <a:lnTo>
                  <a:pt x="5611637" y="0"/>
                </a:lnTo>
                <a:cubicBezTo>
                  <a:pt x="5650170" y="0"/>
                  <a:pt x="5681455" y="31284"/>
                  <a:pt x="5681455" y="69817"/>
                </a:cubicBezTo>
                <a:lnTo>
                  <a:pt x="5681455" y="1361455"/>
                </a:lnTo>
                <a:cubicBezTo>
                  <a:pt x="5681455" y="1400014"/>
                  <a:pt x="5650196" y="1431273"/>
                  <a:pt x="5611637" y="1431273"/>
                </a:cubicBezTo>
                <a:lnTo>
                  <a:pt x="69817" y="1431273"/>
                </a:lnTo>
                <a:cubicBezTo>
                  <a:pt x="31284" y="1431273"/>
                  <a:pt x="0" y="1399989"/>
                  <a:pt x="0" y="1361455"/>
                </a:cubicBezTo>
                <a:lnTo>
                  <a:pt x="0" y="69817"/>
                </a:lnTo>
                <a:cubicBezTo>
                  <a:pt x="0" y="31284"/>
                  <a:pt x="31284" y="0"/>
                  <a:pt x="69817" y="0"/>
                </a:cubicBezTo>
                <a:close/>
              </a:path>
            </a:pathLst>
          </a:custGeom>
          <a:solidFill>
            <a:srgbClr val="78909C">
              <a:alpha val="10196"/>
            </a:srgbClr>
          </a:solidFill>
          <a:ln/>
        </p:spPr>
      </p:sp>
      <p:sp>
        <p:nvSpPr>
          <p:cNvPr id="26" name="Text 24"/>
          <p:cNvSpPr/>
          <p:nvPr/>
        </p:nvSpPr>
        <p:spPr>
          <a:xfrm>
            <a:off x="453818" y="5341091"/>
            <a:ext cx="5541818" cy="209455"/>
          </a:xfrm>
          <a:prstGeom prst="rect">
            <a:avLst/>
          </a:prstGeom>
          <a:noFill/>
          <a:ln/>
        </p:spPr>
        <p:txBody>
          <a:bodyPr wrap="square" lIns="0" tIns="0" rIns="0" bIns="0" rtlCol="0" anchor="ctr"/>
          <a:lstStyle/>
          <a:p>
            <a:pPr>
              <a:lnSpc>
                <a:spcPct val="130000"/>
              </a:lnSpc>
            </a:pPr>
            <a:r>
              <a:rPr lang="en-US" sz="1100" b="1" dirty="0">
                <a:solidFill>
                  <a:srgbClr val="ECEFF1"/>
                </a:solidFill>
                <a:latin typeface="Liter" pitchFamily="34" charset="0"/>
                <a:ea typeface="Liter" pitchFamily="34" charset="-122"/>
                <a:cs typeface="Liter" pitchFamily="34" charset="-120"/>
              </a:rPr>
              <a:t>The Forward Pass Process</a:t>
            </a:r>
            <a:endParaRPr lang="en-US" sz="1600" dirty="0"/>
          </a:p>
        </p:txBody>
      </p:sp>
      <p:sp>
        <p:nvSpPr>
          <p:cNvPr id="27" name="Shape 25"/>
          <p:cNvSpPr/>
          <p:nvPr/>
        </p:nvSpPr>
        <p:spPr>
          <a:xfrm>
            <a:off x="453818" y="5620364"/>
            <a:ext cx="209455" cy="209455"/>
          </a:xfrm>
          <a:custGeom>
            <a:avLst/>
            <a:gdLst/>
            <a:ahLst/>
            <a:cxnLst/>
            <a:rect l="l" t="t" r="r" b="b"/>
            <a:pathLst>
              <a:path w="209455" h="209455">
                <a:moveTo>
                  <a:pt x="104727" y="0"/>
                </a:moveTo>
                <a:lnTo>
                  <a:pt x="104727" y="0"/>
                </a:lnTo>
                <a:cubicBezTo>
                  <a:pt x="162528" y="0"/>
                  <a:pt x="209455" y="46927"/>
                  <a:pt x="209455" y="104727"/>
                </a:cubicBezTo>
                <a:lnTo>
                  <a:pt x="209455" y="104727"/>
                </a:lnTo>
                <a:cubicBezTo>
                  <a:pt x="209455" y="162528"/>
                  <a:pt x="162528" y="209455"/>
                  <a:pt x="104727" y="209455"/>
                </a:cubicBezTo>
                <a:lnTo>
                  <a:pt x="104727" y="209455"/>
                </a:lnTo>
                <a:cubicBezTo>
                  <a:pt x="46927" y="209455"/>
                  <a:pt x="0" y="162528"/>
                  <a:pt x="0" y="104727"/>
                </a:cubicBezTo>
                <a:lnTo>
                  <a:pt x="0" y="104727"/>
                </a:lnTo>
                <a:cubicBezTo>
                  <a:pt x="0" y="46927"/>
                  <a:pt x="46927" y="0"/>
                  <a:pt x="104727" y="0"/>
                </a:cubicBezTo>
                <a:close/>
              </a:path>
            </a:pathLst>
          </a:custGeom>
          <a:solidFill>
            <a:srgbClr val="4DB6AC"/>
          </a:solidFill>
          <a:ln/>
        </p:spPr>
      </p:sp>
      <p:sp>
        <p:nvSpPr>
          <p:cNvPr id="28" name="Text 26"/>
          <p:cNvSpPr/>
          <p:nvPr/>
        </p:nvSpPr>
        <p:spPr>
          <a:xfrm>
            <a:off x="427636" y="5620364"/>
            <a:ext cx="261818" cy="209455"/>
          </a:xfrm>
          <a:prstGeom prst="rect">
            <a:avLst/>
          </a:prstGeom>
          <a:noFill/>
          <a:ln/>
        </p:spPr>
        <p:txBody>
          <a:bodyPr wrap="square" lIns="0" tIns="0" rIns="0" bIns="0" rtlCol="0" anchor="ctr"/>
          <a:lstStyle/>
          <a:p>
            <a:pPr algn="ctr">
              <a:lnSpc>
                <a:spcPct val="110000"/>
              </a:lnSpc>
            </a:pPr>
            <a:r>
              <a:rPr lang="en-US" sz="825" b="1" dirty="0">
                <a:solidFill>
                  <a:srgbClr val="1A1D21"/>
                </a:solidFill>
                <a:latin typeface="Quattrocento Sans" pitchFamily="34" charset="0"/>
                <a:ea typeface="Quattrocento Sans" pitchFamily="34" charset="-122"/>
                <a:cs typeface="Quattrocento Sans" pitchFamily="34" charset="-120"/>
              </a:rPr>
              <a:t>1</a:t>
            </a:r>
            <a:endParaRPr lang="en-US" sz="1600" dirty="0"/>
          </a:p>
        </p:txBody>
      </p:sp>
      <p:sp>
        <p:nvSpPr>
          <p:cNvPr id="29" name="Text 27"/>
          <p:cNvSpPr/>
          <p:nvPr/>
        </p:nvSpPr>
        <p:spPr>
          <a:xfrm>
            <a:off x="733091" y="5620364"/>
            <a:ext cx="1789091" cy="174545"/>
          </a:xfrm>
          <a:prstGeom prst="rect">
            <a:avLst/>
          </a:prstGeom>
          <a:noFill/>
          <a:ln/>
        </p:spPr>
        <p:txBody>
          <a:bodyPr wrap="square" lIns="0" tIns="0" rIns="0" bIns="0" rtlCol="0" anchor="ctr"/>
          <a:lstStyle/>
          <a:p>
            <a:pPr>
              <a:lnSpc>
                <a:spcPct val="120000"/>
              </a:lnSpc>
            </a:pPr>
            <a:r>
              <a:rPr lang="en-US" sz="962" b="1" dirty="0">
                <a:solidFill>
                  <a:srgbClr val="ECEFF1"/>
                </a:solidFill>
                <a:latin typeface="Quattrocento Sans" pitchFamily="34" charset="0"/>
                <a:ea typeface="Quattrocento Sans" pitchFamily="34" charset="-122"/>
                <a:cs typeface="Quattrocento Sans" pitchFamily="34" charset="-120"/>
              </a:rPr>
              <a:t>Input:</a:t>
            </a:r>
            <a:r>
              <a:rPr lang="en-US" sz="962" dirty="0">
                <a:solidFill>
                  <a:srgbClr val="ECEFF1"/>
                </a:solidFill>
                <a:latin typeface="Quattrocento Sans" pitchFamily="34" charset="0"/>
                <a:ea typeface="Quattrocento Sans" pitchFamily="34" charset="-122"/>
                <a:cs typeface="Quattrocento Sans" pitchFamily="34" charset="-120"/>
              </a:rPr>
              <a:t> Data enters the input layer</a:t>
            </a:r>
            <a:endParaRPr lang="en-US" sz="1600" dirty="0"/>
          </a:p>
        </p:txBody>
      </p:sp>
      <p:sp>
        <p:nvSpPr>
          <p:cNvPr id="30" name="Shape 28"/>
          <p:cNvSpPr/>
          <p:nvPr/>
        </p:nvSpPr>
        <p:spPr>
          <a:xfrm>
            <a:off x="453818" y="5864727"/>
            <a:ext cx="209455" cy="209455"/>
          </a:xfrm>
          <a:custGeom>
            <a:avLst/>
            <a:gdLst/>
            <a:ahLst/>
            <a:cxnLst/>
            <a:rect l="l" t="t" r="r" b="b"/>
            <a:pathLst>
              <a:path w="209455" h="209455">
                <a:moveTo>
                  <a:pt x="104727" y="0"/>
                </a:moveTo>
                <a:lnTo>
                  <a:pt x="104727" y="0"/>
                </a:lnTo>
                <a:cubicBezTo>
                  <a:pt x="162528" y="0"/>
                  <a:pt x="209455" y="46927"/>
                  <a:pt x="209455" y="104727"/>
                </a:cubicBezTo>
                <a:lnTo>
                  <a:pt x="209455" y="104727"/>
                </a:lnTo>
                <a:cubicBezTo>
                  <a:pt x="209455" y="162528"/>
                  <a:pt x="162528" y="209455"/>
                  <a:pt x="104727" y="209455"/>
                </a:cubicBezTo>
                <a:lnTo>
                  <a:pt x="104727" y="209455"/>
                </a:lnTo>
                <a:cubicBezTo>
                  <a:pt x="46927" y="209455"/>
                  <a:pt x="0" y="162528"/>
                  <a:pt x="0" y="104727"/>
                </a:cubicBezTo>
                <a:lnTo>
                  <a:pt x="0" y="104727"/>
                </a:lnTo>
                <a:cubicBezTo>
                  <a:pt x="0" y="46927"/>
                  <a:pt x="46927" y="0"/>
                  <a:pt x="104727" y="0"/>
                </a:cubicBezTo>
                <a:close/>
              </a:path>
            </a:pathLst>
          </a:custGeom>
          <a:solidFill>
            <a:srgbClr val="4DB6AC"/>
          </a:solidFill>
          <a:ln/>
        </p:spPr>
      </p:sp>
      <p:sp>
        <p:nvSpPr>
          <p:cNvPr id="31" name="Text 29"/>
          <p:cNvSpPr/>
          <p:nvPr/>
        </p:nvSpPr>
        <p:spPr>
          <a:xfrm>
            <a:off x="427636" y="5864727"/>
            <a:ext cx="261818" cy="209455"/>
          </a:xfrm>
          <a:prstGeom prst="rect">
            <a:avLst/>
          </a:prstGeom>
          <a:noFill/>
          <a:ln/>
        </p:spPr>
        <p:txBody>
          <a:bodyPr wrap="square" lIns="0" tIns="0" rIns="0" bIns="0" rtlCol="0" anchor="ctr"/>
          <a:lstStyle/>
          <a:p>
            <a:pPr algn="ctr">
              <a:lnSpc>
                <a:spcPct val="110000"/>
              </a:lnSpc>
            </a:pPr>
            <a:r>
              <a:rPr lang="en-US" sz="825" b="1" dirty="0">
                <a:solidFill>
                  <a:srgbClr val="1A1D21"/>
                </a:solidFill>
                <a:latin typeface="Quattrocento Sans" pitchFamily="34" charset="0"/>
                <a:ea typeface="Quattrocento Sans" pitchFamily="34" charset="-122"/>
                <a:cs typeface="Quattrocento Sans" pitchFamily="34" charset="-120"/>
              </a:rPr>
              <a:t>2</a:t>
            </a:r>
            <a:endParaRPr lang="en-US" sz="1600" dirty="0"/>
          </a:p>
        </p:txBody>
      </p:sp>
      <p:sp>
        <p:nvSpPr>
          <p:cNvPr id="32" name="Text 30"/>
          <p:cNvSpPr/>
          <p:nvPr/>
        </p:nvSpPr>
        <p:spPr>
          <a:xfrm>
            <a:off x="733091" y="5864727"/>
            <a:ext cx="2016000" cy="174545"/>
          </a:xfrm>
          <a:prstGeom prst="rect">
            <a:avLst/>
          </a:prstGeom>
          <a:noFill/>
          <a:ln/>
        </p:spPr>
        <p:txBody>
          <a:bodyPr wrap="square" lIns="0" tIns="0" rIns="0" bIns="0" rtlCol="0" anchor="ctr"/>
          <a:lstStyle/>
          <a:p>
            <a:pPr>
              <a:lnSpc>
                <a:spcPct val="120000"/>
              </a:lnSpc>
            </a:pPr>
            <a:r>
              <a:rPr lang="en-US" sz="962" b="1" dirty="0">
                <a:solidFill>
                  <a:srgbClr val="ECEFF1"/>
                </a:solidFill>
                <a:latin typeface="Quattrocento Sans" pitchFamily="34" charset="0"/>
                <a:ea typeface="Quattrocento Sans" pitchFamily="34" charset="-122"/>
                <a:cs typeface="Quattrocento Sans" pitchFamily="34" charset="-120"/>
              </a:rPr>
              <a:t>Weighted Sum:</a:t>
            </a:r>
            <a:r>
              <a:rPr lang="en-US" sz="962" dirty="0">
                <a:solidFill>
                  <a:srgbClr val="ECEFF1"/>
                </a:solidFill>
                <a:latin typeface="Quattrocento Sans" pitchFamily="34" charset="0"/>
                <a:ea typeface="Quattrocento Sans" pitchFamily="34" charset="-122"/>
                <a:cs typeface="Quattrocento Sans" pitchFamily="34" charset="-120"/>
              </a:rPr>
              <a:t> Compute z = W·x + b</a:t>
            </a:r>
            <a:endParaRPr lang="en-US" sz="1600" dirty="0"/>
          </a:p>
        </p:txBody>
      </p:sp>
      <p:sp>
        <p:nvSpPr>
          <p:cNvPr id="33" name="Shape 31"/>
          <p:cNvSpPr/>
          <p:nvPr/>
        </p:nvSpPr>
        <p:spPr>
          <a:xfrm>
            <a:off x="453818" y="6109091"/>
            <a:ext cx="209455" cy="209455"/>
          </a:xfrm>
          <a:custGeom>
            <a:avLst/>
            <a:gdLst/>
            <a:ahLst/>
            <a:cxnLst/>
            <a:rect l="l" t="t" r="r" b="b"/>
            <a:pathLst>
              <a:path w="209455" h="209455">
                <a:moveTo>
                  <a:pt x="104727" y="0"/>
                </a:moveTo>
                <a:lnTo>
                  <a:pt x="104727" y="0"/>
                </a:lnTo>
                <a:cubicBezTo>
                  <a:pt x="162528" y="0"/>
                  <a:pt x="209455" y="46927"/>
                  <a:pt x="209455" y="104727"/>
                </a:cubicBezTo>
                <a:lnTo>
                  <a:pt x="209455" y="104727"/>
                </a:lnTo>
                <a:cubicBezTo>
                  <a:pt x="209455" y="162528"/>
                  <a:pt x="162528" y="209455"/>
                  <a:pt x="104727" y="209455"/>
                </a:cubicBezTo>
                <a:lnTo>
                  <a:pt x="104727" y="209455"/>
                </a:lnTo>
                <a:cubicBezTo>
                  <a:pt x="46927" y="209455"/>
                  <a:pt x="0" y="162528"/>
                  <a:pt x="0" y="104727"/>
                </a:cubicBezTo>
                <a:lnTo>
                  <a:pt x="0" y="104727"/>
                </a:lnTo>
                <a:cubicBezTo>
                  <a:pt x="0" y="46927"/>
                  <a:pt x="46927" y="0"/>
                  <a:pt x="104727" y="0"/>
                </a:cubicBezTo>
                <a:close/>
              </a:path>
            </a:pathLst>
          </a:custGeom>
          <a:solidFill>
            <a:srgbClr val="4DB6AC"/>
          </a:solidFill>
          <a:ln/>
        </p:spPr>
      </p:sp>
      <p:sp>
        <p:nvSpPr>
          <p:cNvPr id="34" name="Text 32"/>
          <p:cNvSpPr/>
          <p:nvPr/>
        </p:nvSpPr>
        <p:spPr>
          <a:xfrm>
            <a:off x="427636" y="6109091"/>
            <a:ext cx="261818" cy="209455"/>
          </a:xfrm>
          <a:prstGeom prst="rect">
            <a:avLst/>
          </a:prstGeom>
          <a:noFill/>
          <a:ln/>
        </p:spPr>
        <p:txBody>
          <a:bodyPr wrap="square" lIns="0" tIns="0" rIns="0" bIns="0" rtlCol="0" anchor="ctr"/>
          <a:lstStyle/>
          <a:p>
            <a:pPr algn="ctr">
              <a:lnSpc>
                <a:spcPct val="110000"/>
              </a:lnSpc>
            </a:pPr>
            <a:r>
              <a:rPr lang="en-US" sz="825"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35" name="Text 33"/>
          <p:cNvSpPr/>
          <p:nvPr/>
        </p:nvSpPr>
        <p:spPr>
          <a:xfrm>
            <a:off x="733091" y="6109091"/>
            <a:ext cx="2042182" cy="174545"/>
          </a:xfrm>
          <a:prstGeom prst="rect">
            <a:avLst/>
          </a:prstGeom>
          <a:noFill/>
          <a:ln/>
        </p:spPr>
        <p:txBody>
          <a:bodyPr wrap="square" lIns="0" tIns="0" rIns="0" bIns="0" rtlCol="0" anchor="ctr"/>
          <a:lstStyle/>
          <a:p>
            <a:pPr>
              <a:lnSpc>
                <a:spcPct val="120000"/>
              </a:lnSpc>
            </a:pPr>
            <a:r>
              <a:rPr lang="en-US" sz="962" b="1" dirty="0">
                <a:solidFill>
                  <a:srgbClr val="ECEFF1"/>
                </a:solidFill>
                <a:latin typeface="Quattrocento Sans" pitchFamily="34" charset="0"/>
                <a:ea typeface="Quattrocento Sans" pitchFamily="34" charset="-122"/>
                <a:cs typeface="Quattrocento Sans" pitchFamily="34" charset="-120"/>
              </a:rPr>
              <a:t>Activation:</a:t>
            </a:r>
            <a:r>
              <a:rPr lang="en-US" sz="962" dirty="0">
                <a:solidFill>
                  <a:srgbClr val="ECEFF1"/>
                </a:solidFill>
                <a:latin typeface="Quattrocento Sans" pitchFamily="34" charset="0"/>
                <a:ea typeface="Quattrocento Sans" pitchFamily="34" charset="-122"/>
                <a:cs typeface="Quattrocento Sans" pitchFamily="34" charset="-120"/>
              </a:rPr>
              <a:t> Apply f(z) for non-linearity</a:t>
            </a:r>
            <a:endParaRPr lang="en-US" sz="1600" dirty="0"/>
          </a:p>
        </p:txBody>
      </p:sp>
      <p:sp>
        <p:nvSpPr>
          <p:cNvPr id="36" name="Shape 34"/>
          <p:cNvSpPr/>
          <p:nvPr/>
        </p:nvSpPr>
        <p:spPr>
          <a:xfrm>
            <a:off x="453818" y="6353455"/>
            <a:ext cx="209455" cy="209455"/>
          </a:xfrm>
          <a:custGeom>
            <a:avLst/>
            <a:gdLst/>
            <a:ahLst/>
            <a:cxnLst/>
            <a:rect l="l" t="t" r="r" b="b"/>
            <a:pathLst>
              <a:path w="209455" h="209455">
                <a:moveTo>
                  <a:pt x="104727" y="0"/>
                </a:moveTo>
                <a:lnTo>
                  <a:pt x="104727" y="0"/>
                </a:lnTo>
                <a:cubicBezTo>
                  <a:pt x="162528" y="0"/>
                  <a:pt x="209455" y="46927"/>
                  <a:pt x="209455" y="104727"/>
                </a:cubicBezTo>
                <a:lnTo>
                  <a:pt x="209455" y="104727"/>
                </a:lnTo>
                <a:cubicBezTo>
                  <a:pt x="209455" y="162528"/>
                  <a:pt x="162528" y="209455"/>
                  <a:pt x="104727" y="209455"/>
                </a:cubicBezTo>
                <a:lnTo>
                  <a:pt x="104727" y="209455"/>
                </a:lnTo>
                <a:cubicBezTo>
                  <a:pt x="46927" y="209455"/>
                  <a:pt x="0" y="162528"/>
                  <a:pt x="0" y="104727"/>
                </a:cubicBezTo>
                <a:lnTo>
                  <a:pt x="0" y="104727"/>
                </a:lnTo>
                <a:cubicBezTo>
                  <a:pt x="0" y="46927"/>
                  <a:pt x="46927" y="0"/>
                  <a:pt x="104727" y="0"/>
                </a:cubicBezTo>
                <a:close/>
              </a:path>
            </a:pathLst>
          </a:custGeom>
          <a:solidFill>
            <a:srgbClr val="FFD54F"/>
          </a:solidFill>
          <a:ln/>
        </p:spPr>
      </p:sp>
      <p:sp>
        <p:nvSpPr>
          <p:cNvPr id="37" name="Text 35"/>
          <p:cNvSpPr/>
          <p:nvPr/>
        </p:nvSpPr>
        <p:spPr>
          <a:xfrm>
            <a:off x="427636" y="6353455"/>
            <a:ext cx="261818" cy="209455"/>
          </a:xfrm>
          <a:prstGeom prst="rect">
            <a:avLst/>
          </a:prstGeom>
          <a:noFill/>
          <a:ln/>
        </p:spPr>
        <p:txBody>
          <a:bodyPr wrap="square" lIns="0" tIns="0" rIns="0" bIns="0" rtlCol="0" anchor="ctr"/>
          <a:lstStyle/>
          <a:p>
            <a:pPr algn="ctr">
              <a:lnSpc>
                <a:spcPct val="110000"/>
              </a:lnSpc>
            </a:pPr>
            <a:r>
              <a:rPr lang="en-US" sz="825" b="1" dirty="0">
                <a:solidFill>
                  <a:srgbClr val="1A1D21"/>
                </a:solidFill>
                <a:latin typeface="Quattrocento Sans" pitchFamily="34" charset="0"/>
                <a:ea typeface="Quattrocento Sans" pitchFamily="34" charset="-122"/>
                <a:cs typeface="Quattrocento Sans" pitchFamily="34" charset="-120"/>
              </a:rPr>
              <a:t>4</a:t>
            </a:r>
            <a:endParaRPr lang="en-US" sz="1600" dirty="0"/>
          </a:p>
        </p:txBody>
      </p:sp>
      <p:sp>
        <p:nvSpPr>
          <p:cNvPr id="38" name="Text 36"/>
          <p:cNvSpPr/>
          <p:nvPr/>
        </p:nvSpPr>
        <p:spPr>
          <a:xfrm>
            <a:off x="733091" y="6353455"/>
            <a:ext cx="2373818" cy="174545"/>
          </a:xfrm>
          <a:prstGeom prst="rect">
            <a:avLst/>
          </a:prstGeom>
          <a:noFill/>
          <a:ln/>
        </p:spPr>
        <p:txBody>
          <a:bodyPr wrap="square" lIns="0" tIns="0" rIns="0" bIns="0" rtlCol="0" anchor="ctr"/>
          <a:lstStyle/>
          <a:p>
            <a:pPr>
              <a:lnSpc>
                <a:spcPct val="120000"/>
              </a:lnSpc>
            </a:pPr>
            <a:r>
              <a:rPr lang="en-US" sz="962" b="1" dirty="0">
                <a:solidFill>
                  <a:srgbClr val="ECEFF1"/>
                </a:solidFill>
                <a:latin typeface="Quattrocento Sans" pitchFamily="34" charset="0"/>
                <a:ea typeface="Quattrocento Sans" pitchFamily="34" charset="-122"/>
                <a:cs typeface="Quattrocento Sans" pitchFamily="34" charset="-120"/>
              </a:rPr>
              <a:t>Output:</a:t>
            </a:r>
            <a:r>
              <a:rPr lang="en-US" sz="962" dirty="0">
                <a:solidFill>
                  <a:srgbClr val="ECEFF1"/>
                </a:solidFill>
                <a:latin typeface="Quattrocento Sans" pitchFamily="34" charset="0"/>
                <a:ea typeface="Quattrocento Sans" pitchFamily="34" charset="-122"/>
                <a:cs typeface="Quattrocento Sans" pitchFamily="34" charset="-120"/>
              </a:rPr>
              <a:t> Pass to next layer or final prediction</a:t>
            </a:r>
            <a:endParaRPr lang="en-US" sz="1600" dirty="0"/>
          </a:p>
        </p:txBody>
      </p:sp>
      <p:sp>
        <p:nvSpPr>
          <p:cNvPr id="39" name="Shape 37"/>
          <p:cNvSpPr/>
          <p:nvPr/>
        </p:nvSpPr>
        <p:spPr>
          <a:xfrm>
            <a:off x="6167182" y="1082182"/>
            <a:ext cx="5681455" cy="4730182"/>
          </a:xfrm>
          <a:custGeom>
            <a:avLst/>
            <a:gdLst/>
            <a:ahLst/>
            <a:cxnLst/>
            <a:rect l="l" t="t" r="r" b="b"/>
            <a:pathLst>
              <a:path w="5681455" h="4730182">
                <a:moveTo>
                  <a:pt x="69817" y="0"/>
                </a:moveTo>
                <a:lnTo>
                  <a:pt x="5611637" y="0"/>
                </a:lnTo>
                <a:cubicBezTo>
                  <a:pt x="5650170" y="0"/>
                  <a:pt x="5681455" y="31284"/>
                  <a:pt x="5681455" y="69817"/>
                </a:cubicBezTo>
                <a:lnTo>
                  <a:pt x="5681455" y="4660364"/>
                </a:lnTo>
                <a:cubicBezTo>
                  <a:pt x="5681455" y="4698923"/>
                  <a:pt x="5650196" y="4730182"/>
                  <a:pt x="5611637" y="4730182"/>
                </a:cubicBezTo>
                <a:lnTo>
                  <a:pt x="69817" y="4730182"/>
                </a:lnTo>
                <a:cubicBezTo>
                  <a:pt x="31284" y="4730182"/>
                  <a:pt x="0" y="4698898"/>
                  <a:pt x="0" y="4660364"/>
                </a:cubicBezTo>
                <a:lnTo>
                  <a:pt x="0" y="69817"/>
                </a:lnTo>
                <a:cubicBezTo>
                  <a:pt x="0" y="31284"/>
                  <a:pt x="31284" y="0"/>
                  <a:pt x="69817" y="0"/>
                </a:cubicBezTo>
                <a:close/>
              </a:path>
            </a:pathLst>
          </a:custGeom>
          <a:solidFill>
            <a:srgbClr val="4DB6AC">
              <a:alpha val="10196"/>
            </a:srgbClr>
          </a:solidFill>
          <a:ln/>
        </p:spPr>
      </p:sp>
      <p:sp>
        <p:nvSpPr>
          <p:cNvPr id="40" name="Text 38"/>
          <p:cNvSpPr/>
          <p:nvPr/>
        </p:nvSpPr>
        <p:spPr>
          <a:xfrm>
            <a:off x="6232636" y="1186909"/>
            <a:ext cx="5550545" cy="244364"/>
          </a:xfrm>
          <a:prstGeom prst="rect">
            <a:avLst/>
          </a:prstGeom>
          <a:noFill/>
          <a:ln/>
        </p:spPr>
        <p:txBody>
          <a:bodyPr wrap="square" lIns="0" tIns="0" rIns="0" bIns="0" rtlCol="0" anchor="ctr"/>
          <a:lstStyle/>
          <a:p>
            <a:pPr algn="ctr">
              <a:lnSpc>
                <a:spcPct val="130000"/>
              </a:lnSpc>
            </a:pPr>
            <a:r>
              <a:rPr lang="en-US" sz="1237" b="1" dirty="0">
                <a:solidFill>
                  <a:srgbClr val="ECEFF1"/>
                </a:solidFill>
                <a:latin typeface="Liter" pitchFamily="34" charset="0"/>
                <a:ea typeface="Liter" pitchFamily="34" charset="-122"/>
                <a:cs typeface="Liter" pitchFamily="34" charset="-120"/>
              </a:rPr>
              <a:t>Forward Propagation Flow</a:t>
            </a:r>
            <a:endParaRPr lang="en-US" sz="1600" dirty="0"/>
          </a:p>
        </p:txBody>
      </p:sp>
      <p:sp>
        <p:nvSpPr>
          <p:cNvPr id="41" name="Shape 39"/>
          <p:cNvSpPr/>
          <p:nvPr/>
        </p:nvSpPr>
        <p:spPr>
          <a:xfrm>
            <a:off x="7339500" y="1745455"/>
            <a:ext cx="3333818" cy="610909"/>
          </a:xfrm>
          <a:custGeom>
            <a:avLst/>
            <a:gdLst/>
            <a:ahLst/>
            <a:cxnLst/>
            <a:rect l="l" t="t" r="r" b="b"/>
            <a:pathLst>
              <a:path w="3333818" h="610909">
                <a:moveTo>
                  <a:pt x="69821" y="0"/>
                </a:moveTo>
                <a:lnTo>
                  <a:pt x="3263997" y="0"/>
                </a:lnTo>
                <a:cubicBezTo>
                  <a:pt x="3302558" y="0"/>
                  <a:pt x="3333818" y="31260"/>
                  <a:pt x="3333818" y="69821"/>
                </a:cubicBezTo>
                <a:lnTo>
                  <a:pt x="3333818" y="541088"/>
                </a:lnTo>
                <a:cubicBezTo>
                  <a:pt x="3333818" y="579649"/>
                  <a:pt x="3302558" y="610909"/>
                  <a:pt x="3263997" y="610909"/>
                </a:cubicBezTo>
                <a:lnTo>
                  <a:pt x="69821" y="610909"/>
                </a:lnTo>
                <a:cubicBezTo>
                  <a:pt x="31260" y="610909"/>
                  <a:pt x="0" y="579649"/>
                  <a:pt x="0" y="541088"/>
                </a:cubicBezTo>
                <a:lnTo>
                  <a:pt x="0" y="69821"/>
                </a:lnTo>
                <a:cubicBezTo>
                  <a:pt x="0" y="31286"/>
                  <a:pt x="31286" y="0"/>
                  <a:pt x="69821" y="0"/>
                </a:cubicBezTo>
                <a:close/>
              </a:path>
            </a:pathLst>
          </a:custGeom>
          <a:solidFill>
            <a:srgbClr val="4DB6AC">
              <a:alpha val="20000"/>
            </a:srgbClr>
          </a:solidFill>
          <a:ln w="25400">
            <a:solidFill>
              <a:srgbClr val="4DB6AC"/>
            </a:solidFill>
            <a:prstDash val="solid"/>
          </a:ln>
        </p:spPr>
      </p:sp>
      <p:sp>
        <p:nvSpPr>
          <p:cNvPr id="42" name="Text 40"/>
          <p:cNvSpPr/>
          <p:nvPr/>
        </p:nvSpPr>
        <p:spPr>
          <a:xfrm>
            <a:off x="7418045" y="1858909"/>
            <a:ext cx="3176727" cy="209455"/>
          </a:xfrm>
          <a:prstGeom prst="rect">
            <a:avLst/>
          </a:prstGeom>
          <a:noFill/>
          <a:ln/>
        </p:spPr>
        <p:txBody>
          <a:bodyPr wrap="square" lIns="0" tIns="0" rIns="0" bIns="0" rtlCol="0" anchor="ctr"/>
          <a:lstStyle/>
          <a:p>
            <a:pPr algn="ctr">
              <a:lnSpc>
                <a:spcPct val="130000"/>
              </a:lnSpc>
            </a:pPr>
            <a:r>
              <a:rPr lang="en-US" sz="1100" b="1" dirty="0">
                <a:solidFill>
                  <a:srgbClr val="ECEFF1"/>
                </a:solidFill>
                <a:latin typeface="Liter" pitchFamily="34" charset="0"/>
                <a:ea typeface="Liter" pitchFamily="34" charset="-122"/>
                <a:cs typeface="Liter" pitchFamily="34" charset="-120"/>
              </a:rPr>
              <a:t>Input Layer</a:t>
            </a:r>
            <a:endParaRPr lang="en-US" sz="1600" dirty="0"/>
          </a:p>
        </p:txBody>
      </p:sp>
      <p:sp>
        <p:nvSpPr>
          <p:cNvPr id="43" name="Text 41"/>
          <p:cNvSpPr/>
          <p:nvPr/>
        </p:nvSpPr>
        <p:spPr>
          <a:xfrm>
            <a:off x="7422409" y="2068364"/>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x₁, x₂, ..., xₙ</a:t>
            </a:r>
            <a:endParaRPr lang="en-US" sz="1600" dirty="0"/>
          </a:p>
        </p:txBody>
      </p:sp>
      <p:sp>
        <p:nvSpPr>
          <p:cNvPr id="44" name="Text 42"/>
          <p:cNvSpPr/>
          <p:nvPr/>
        </p:nvSpPr>
        <p:spPr>
          <a:xfrm>
            <a:off x="8954045" y="2434909"/>
            <a:ext cx="209455" cy="279273"/>
          </a:xfrm>
          <a:prstGeom prst="rect">
            <a:avLst/>
          </a:prstGeom>
          <a:noFill/>
          <a:ln/>
        </p:spPr>
        <p:txBody>
          <a:bodyPr wrap="square" lIns="0" tIns="0" rIns="0" bIns="0" rtlCol="0" anchor="ctr"/>
          <a:lstStyle/>
          <a:p>
            <a:pPr>
              <a:lnSpc>
                <a:spcPct val="110000"/>
              </a:lnSpc>
            </a:pPr>
            <a:r>
              <a:rPr lang="en-US" sz="1649" dirty="0">
                <a:solidFill>
                  <a:srgbClr val="4DB6AC"/>
                </a:solidFill>
                <a:latin typeface="Quattrocento Sans" pitchFamily="34" charset="0"/>
                <a:ea typeface="Quattrocento Sans" pitchFamily="34" charset="-122"/>
                <a:cs typeface="Quattrocento Sans" pitchFamily="34" charset="-120"/>
              </a:rPr>
              <a:t>↓</a:t>
            </a:r>
            <a:endParaRPr lang="en-US" sz="1600" dirty="0"/>
          </a:p>
        </p:txBody>
      </p:sp>
      <p:sp>
        <p:nvSpPr>
          <p:cNvPr id="45" name="Shape 43"/>
          <p:cNvSpPr/>
          <p:nvPr/>
        </p:nvSpPr>
        <p:spPr>
          <a:xfrm>
            <a:off x="7339500" y="2792727"/>
            <a:ext cx="3333818" cy="785455"/>
          </a:xfrm>
          <a:custGeom>
            <a:avLst/>
            <a:gdLst/>
            <a:ahLst/>
            <a:cxnLst/>
            <a:rect l="l" t="t" r="r" b="b"/>
            <a:pathLst>
              <a:path w="3333818" h="785455">
                <a:moveTo>
                  <a:pt x="69819" y="0"/>
                </a:moveTo>
                <a:lnTo>
                  <a:pt x="3263999" y="0"/>
                </a:lnTo>
                <a:cubicBezTo>
                  <a:pt x="3302559" y="0"/>
                  <a:pt x="3333818" y="31259"/>
                  <a:pt x="3333818" y="69819"/>
                </a:cubicBezTo>
                <a:lnTo>
                  <a:pt x="3333818" y="715635"/>
                </a:lnTo>
                <a:cubicBezTo>
                  <a:pt x="3333818" y="754195"/>
                  <a:pt x="3302559" y="785455"/>
                  <a:pt x="3263999" y="785455"/>
                </a:cubicBezTo>
                <a:lnTo>
                  <a:pt x="69819" y="785455"/>
                </a:lnTo>
                <a:cubicBezTo>
                  <a:pt x="31285" y="785455"/>
                  <a:pt x="0" y="754170"/>
                  <a:pt x="0" y="715635"/>
                </a:cubicBezTo>
                <a:lnTo>
                  <a:pt x="0" y="69819"/>
                </a:lnTo>
                <a:cubicBezTo>
                  <a:pt x="0" y="31285"/>
                  <a:pt x="31285" y="0"/>
                  <a:pt x="69819" y="0"/>
                </a:cubicBezTo>
                <a:close/>
              </a:path>
            </a:pathLst>
          </a:custGeom>
          <a:solidFill>
            <a:srgbClr val="FFD54F">
              <a:alpha val="20000"/>
            </a:srgbClr>
          </a:solidFill>
          <a:ln w="25400">
            <a:solidFill>
              <a:srgbClr val="FFD54F"/>
            </a:solidFill>
            <a:prstDash val="solid"/>
          </a:ln>
        </p:spPr>
      </p:sp>
      <p:sp>
        <p:nvSpPr>
          <p:cNvPr id="46" name="Text 44"/>
          <p:cNvSpPr/>
          <p:nvPr/>
        </p:nvSpPr>
        <p:spPr>
          <a:xfrm>
            <a:off x="7418045" y="2906182"/>
            <a:ext cx="3176727" cy="209455"/>
          </a:xfrm>
          <a:prstGeom prst="rect">
            <a:avLst/>
          </a:prstGeom>
          <a:noFill/>
          <a:ln/>
        </p:spPr>
        <p:txBody>
          <a:bodyPr wrap="square" lIns="0" tIns="0" rIns="0" bIns="0" rtlCol="0" anchor="ctr"/>
          <a:lstStyle/>
          <a:p>
            <a:pPr algn="ctr">
              <a:lnSpc>
                <a:spcPct val="130000"/>
              </a:lnSpc>
            </a:pPr>
            <a:r>
              <a:rPr lang="en-US" sz="1100" b="1" dirty="0">
                <a:solidFill>
                  <a:srgbClr val="ECEFF1"/>
                </a:solidFill>
                <a:latin typeface="Liter" pitchFamily="34" charset="0"/>
                <a:ea typeface="Liter" pitchFamily="34" charset="-122"/>
                <a:cs typeface="Liter" pitchFamily="34" charset="-120"/>
              </a:rPr>
              <a:t>Hidden Layer 1</a:t>
            </a:r>
            <a:endParaRPr lang="en-US" sz="1600" dirty="0"/>
          </a:p>
        </p:txBody>
      </p:sp>
      <p:sp>
        <p:nvSpPr>
          <p:cNvPr id="47" name="Text 45"/>
          <p:cNvSpPr/>
          <p:nvPr/>
        </p:nvSpPr>
        <p:spPr>
          <a:xfrm>
            <a:off x="7422409" y="3115636"/>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z⁽¹⁾ = W⁽¹⁾·x + b⁽¹⁾</a:t>
            </a:r>
            <a:endParaRPr lang="en-US" sz="1600" dirty="0"/>
          </a:p>
        </p:txBody>
      </p:sp>
      <p:sp>
        <p:nvSpPr>
          <p:cNvPr id="48" name="Text 46"/>
          <p:cNvSpPr/>
          <p:nvPr/>
        </p:nvSpPr>
        <p:spPr>
          <a:xfrm>
            <a:off x="7422409" y="3290182"/>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a⁽¹⁾ = f(z⁽¹⁾)</a:t>
            </a:r>
            <a:endParaRPr lang="en-US" sz="1600" dirty="0"/>
          </a:p>
        </p:txBody>
      </p:sp>
      <p:sp>
        <p:nvSpPr>
          <p:cNvPr id="49" name="Text 47"/>
          <p:cNvSpPr/>
          <p:nvPr/>
        </p:nvSpPr>
        <p:spPr>
          <a:xfrm>
            <a:off x="8954045" y="3656727"/>
            <a:ext cx="209455" cy="279273"/>
          </a:xfrm>
          <a:prstGeom prst="rect">
            <a:avLst/>
          </a:prstGeom>
          <a:noFill/>
          <a:ln/>
        </p:spPr>
        <p:txBody>
          <a:bodyPr wrap="square" lIns="0" tIns="0" rIns="0" bIns="0" rtlCol="0" anchor="ctr"/>
          <a:lstStyle/>
          <a:p>
            <a:pPr>
              <a:lnSpc>
                <a:spcPct val="110000"/>
              </a:lnSpc>
            </a:pPr>
            <a:r>
              <a:rPr lang="en-US" sz="1649" dirty="0">
                <a:solidFill>
                  <a:srgbClr val="FFD54F"/>
                </a:solidFill>
                <a:latin typeface="Quattrocento Sans" pitchFamily="34" charset="0"/>
                <a:ea typeface="Quattrocento Sans" pitchFamily="34" charset="-122"/>
                <a:cs typeface="Quattrocento Sans" pitchFamily="34" charset="-120"/>
              </a:rPr>
              <a:t>↓</a:t>
            </a:r>
            <a:endParaRPr lang="en-US" sz="1600" dirty="0"/>
          </a:p>
        </p:txBody>
      </p:sp>
      <p:sp>
        <p:nvSpPr>
          <p:cNvPr id="50" name="Shape 48"/>
          <p:cNvSpPr/>
          <p:nvPr/>
        </p:nvSpPr>
        <p:spPr>
          <a:xfrm>
            <a:off x="7339500" y="4014545"/>
            <a:ext cx="3333818" cy="785455"/>
          </a:xfrm>
          <a:custGeom>
            <a:avLst/>
            <a:gdLst/>
            <a:ahLst/>
            <a:cxnLst/>
            <a:rect l="l" t="t" r="r" b="b"/>
            <a:pathLst>
              <a:path w="3333818" h="785455">
                <a:moveTo>
                  <a:pt x="69819" y="0"/>
                </a:moveTo>
                <a:lnTo>
                  <a:pt x="3263999" y="0"/>
                </a:lnTo>
                <a:cubicBezTo>
                  <a:pt x="3302559" y="0"/>
                  <a:pt x="3333818" y="31259"/>
                  <a:pt x="3333818" y="69819"/>
                </a:cubicBezTo>
                <a:lnTo>
                  <a:pt x="3333818" y="715635"/>
                </a:lnTo>
                <a:cubicBezTo>
                  <a:pt x="3333818" y="754195"/>
                  <a:pt x="3302559" y="785455"/>
                  <a:pt x="3263999" y="785455"/>
                </a:cubicBezTo>
                <a:lnTo>
                  <a:pt x="69819" y="785455"/>
                </a:lnTo>
                <a:cubicBezTo>
                  <a:pt x="31285" y="785455"/>
                  <a:pt x="0" y="754170"/>
                  <a:pt x="0" y="715635"/>
                </a:cubicBezTo>
                <a:lnTo>
                  <a:pt x="0" y="69819"/>
                </a:lnTo>
                <a:cubicBezTo>
                  <a:pt x="0" y="31285"/>
                  <a:pt x="31285" y="0"/>
                  <a:pt x="69819" y="0"/>
                </a:cubicBezTo>
                <a:close/>
              </a:path>
            </a:pathLst>
          </a:custGeom>
          <a:solidFill>
            <a:srgbClr val="FFD54F">
              <a:alpha val="20000"/>
            </a:srgbClr>
          </a:solidFill>
          <a:ln w="25400">
            <a:solidFill>
              <a:srgbClr val="FFD54F"/>
            </a:solidFill>
            <a:prstDash val="solid"/>
          </a:ln>
        </p:spPr>
      </p:sp>
      <p:sp>
        <p:nvSpPr>
          <p:cNvPr id="51" name="Text 49"/>
          <p:cNvSpPr/>
          <p:nvPr/>
        </p:nvSpPr>
        <p:spPr>
          <a:xfrm>
            <a:off x="7418045" y="4128000"/>
            <a:ext cx="3176727" cy="209455"/>
          </a:xfrm>
          <a:prstGeom prst="rect">
            <a:avLst/>
          </a:prstGeom>
          <a:noFill/>
          <a:ln/>
        </p:spPr>
        <p:txBody>
          <a:bodyPr wrap="square" lIns="0" tIns="0" rIns="0" bIns="0" rtlCol="0" anchor="ctr"/>
          <a:lstStyle/>
          <a:p>
            <a:pPr algn="ctr">
              <a:lnSpc>
                <a:spcPct val="130000"/>
              </a:lnSpc>
            </a:pPr>
            <a:r>
              <a:rPr lang="en-US" sz="1100" b="1" dirty="0">
                <a:solidFill>
                  <a:srgbClr val="ECEFF1"/>
                </a:solidFill>
                <a:latin typeface="Liter" pitchFamily="34" charset="0"/>
                <a:ea typeface="Liter" pitchFamily="34" charset="-122"/>
                <a:cs typeface="Liter" pitchFamily="34" charset="-120"/>
              </a:rPr>
              <a:t>Hidden Layer 2</a:t>
            </a:r>
            <a:endParaRPr lang="en-US" sz="1600" dirty="0"/>
          </a:p>
        </p:txBody>
      </p:sp>
      <p:sp>
        <p:nvSpPr>
          <p:cNvPr id="52" name="Text 50"/>
          <p:cNvSpPr/>
          <p:nvPr/>
        </p:nvSpPr>
        <p:spPr>
          <a:xfrm>
            <a:off x="7422409" y="4337455"/>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z⁽²⁾ = W⁽²⁾·a⁽¹⁾ + b⁽²⁾</a:t>
            </a:r>
            <a:endParaRPr lang="en-US" sz="1600" dirty="0"/>
          </a:p>
        </p:txBody>
      </p:sp>
      <p:sp>
        <p:nvSpPr>
          <p:cNvPr id="53" name="Text 51"/>
          <p:cNvSpPr/>
          <p:nvPr/>
        </p:nvSpPr>
        <p:spPr>
          <a:xfrm>
            <a:off x="7422409" y="4512000"/>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a⁽²⁾ = f(z⁽²⁾)</a:t>
            </a:r>
            <a:endParaRPr lang="en-US" sz="1600" dirty="0"/>
          </a:p>
        </p:txBody>
      </p:sp>
      <p:sp>
        <p:nvSpPr>
          <p:cNvPr id="54" name="Text 52"/>
          <p:cNvSpPr/>
          <p:nvPr/>
        </p:nvSpPr>
        <p:spPr>
          <a:xfrm>
            <a:off x="8954045" y="4878545"/>
            <a:ext cx="209455" cy="279273"/>
          </a:xfrm>
          <a:prstGeom prst="rect">
            <a:avLst/>
          </a:prstGeom>
          <a:noFill/>
          <a:ln/>
        </p:spPr>
        <p:txBody>
          <a:bodyPr wrap="square" lIns="0" tIns="0" rIns="0" bIns="0" rtlCol="0" anchor="ctr"/>
          <a:lstStyle/>
          <a:p>
            <a:pPr>
              <a:lnSpc>
                <a:spcPct val="110000"/>
              </a:lnSpc>
            </a:pPr>
            <a:r>
              <a:rPr lang="en-US" sz="1649" dirty="0">
                <a:solidFill>
                  <a:srgbClr val="FFD54F"/>
                </a:solidFill>
                <a:latin typeface="Quattrocento Sans" pitchFamily="34" charset="0"/>
                <a:ea typeface="Quattrocento Sans" pitchFamily="34" charset="-122"/>
                <a:cs typeface="Quattrocento Sans" pitchFamily="34" charset="-120"/>
              </a:rPr>
              <a:t>↓</a:t>
            </a:r>
            <a:endParaRPr lang="en-US" sz="1600" dirty="0"/>
          </a:p>
        </p:txBody>
      </p:sp>
      <p:sp>
        <p:nvSpPr>
          <p:cNvPr id="55" name="Shape 53"/>
          <p:cNvSpPr/>
          <p:nvPr/>
        </p:nvSpPr>
        <p:spPr>
          <a:xfrm>
            <a:off x="7339500" y="5236364"/>
            <a:ext cx="3333818" cy="610909"/>
          </a:xfrm>
          <a:custGeom>
            <a:avLst/>
            <a:gdLst/>
            <a:ahLst/>
            <a:cxnLst/>
            <a:rect l="l" t="t" r="r" b="b"/>
            <a:pathLst>
              <a:path w="3333818" h="610909">
                <a:moveTo>
                  <a:pt x="69821" y="0"/>
                </a:moveTo>
                <a:lnTo>
                  <a:pt x="3263997" y="0"/>
                </a:lnTo>
                <a:cubicBezTo>
                  <a:pt x="3302558" y="0"/>
                  <a:pt x="3333818" y="31260"/>
                  <a:pt x="3333818" y="69821"/>
                </a:cubicBezTo>
                <a:lnTo>
                  <a:pt x="3333818" y="541088"/>
                </a:lnTo>
                <a:cubicBezTo>
                  <a:pt x="3333818" y="579649"/>
                  <a:pt x="3302558" y="610909"/>
                  <a:pt x="3263997" y="610909"/>
                </a:cubicBezTo>
                <a:lnTo>
                  <a:pt x="69821" y="610909"/>
                </a:lnTo>
                <a:cubicBezTo>
                  <a:pt x="31260" y="610909"/>
                  <a:pt x="0" y="579649"/>
                  <a:pt x="0" y="541088"/>
                </a:cubicBezTo>
                <a:lnTo>
                  <a:pt x="0" y="69821"/>
                </a:lnTo>
                <a:cubicBezTo>
                  <a:pt x="0" y="31286"/>
                  <a:pt x="31286" y="0"/>
                  <a:pt x="69821" y="0"/>
                </a:cubicBezTo>
                <a:close/>
              </a:path>
            </a:pathLst>
          </a:custGeom>
          <a:solidFill>
            <a:srgbClr val="4DB6AC">
              <a:alpha val="20000"/>
            </a:srgbClr>
          </a:solidFill>
          <a:ln w="25400">
            <a:solidFill>
              <a:srgbClr val="4DB6AC"/>
            </a:solidFill>
            <a:prstDash val="solid"/>
          </a:ln>
        </p:spPr>
      </p:sp>
      <p:sp>
        <p:nvSpPr>
          <p:cNvPr id="56" name="Text 54"/>
          <p:cNvSpPr/>
          <p:nvPr/>
        </p:nvSpPr>
        <p:spPr>
          <a:xfrm>
            <a:off x="7418045" y="5349818"/>
            <a:ext cx="3176727" cy="209455"/>
          </a:xfrm>
          <a:prstGeom prst="rect">
            <a:avLst/>
          </a:prstGeom>
          <a:noFill/>
          <a:ln/>
        </p:spPr>
        <p:txBody>
          <a:bodyPr wrap="square" lIns="0" tIns="0" rIns="0" bIns="0" rtlCol="0" anchor="ctr"/>
          <a:lstStyle/>
          <a:p>
            <a:pPr algn="ctr">
              <a:lnSpc>
                <a:spcPct val="130000"/>
              </a:lnSpc>
            </a:pPr>
            <a:r>
              <a:rPr lang="en-US" sz="1100" b="1" dirty="0">
                <a:solidFill>
                  <a:srgbClr val="ECEFF1"/>
                </a:solidFill>
                <a:latin typeface="Liter" pitchFamily="34" charset="0"/>
                <a:ea typeface="Liter" pitchFamily="34" charset="-122"/>
                <a:cs typeface="Liter" pitchFamily="34" charset="-120"/>
              </a:rPr>
              <a:t>Output Layer</a:t>
            </a:r>
            <a:endParaRPr lang="en-US" sz="1600" dirty="0"/>
          </a:p>
        </p:txBody>
      </p:sp>
      <p:sp>
        <p:nvSpPr>
          <p:cNvPr id="57" name="Text 55"/>
          <p:cNvSpPr/>
          <p:nvPr/>
        </p:nvSpPr>
        <p:spPr>
          <a:xfrm>
            <a:off x="7422409" y="5559273"/>
            <a:ext cx="3168000" cy="174545"/>
          </a:xfrm>
          <a:prstGeom prst="rect">
            <a:avLst/>
          </a:prstGeom>
          <a:noFill/>
          <a:ln/>
        </p:spPr>
        <p:txBody>
          <a:bodyPr wrap="square" lIns="0" tIns="0" rIns="0" bIns="0" rtlCol="0" anchor="ctr"/>
          <a:lstStyle/>
          <a:p>
            <a:pPr algn="ctr">
              <a:lnSpc>
                <a:spcPct val="120000"/>
              </a:lnSpc>
            </a:pPr>
            <a:r>
              <a:rPr lang="en-US" sz="962" dirty="0">
                <a:solidFill>
                  <a:srgbClr val="78909C"/>
                </a:solidFill>
                <a:latin typeface="Quattrocento Sans" pitchFamily="34" charset="0"/>
                <a:ea typeface="Quattrocento Sans" pitchFamily="34" charset="-122"/>
                <a:cs typeface="Quattrocento Sans" pitchFamily="34" charset="-120"/>
              </a:rPr>
              <a:t>ŷ = f(W⁽ᴸ⁾·a⁽ᴸ⁻¹⁾ + b⁽ᴸ⁾)</a:t>
            </a:r>
            <a:endParaRPr lang="en-US" sz="1600" dirty="0"/>
          </a:p>
        </p:txBody>
      </p:sp>
      <p:sp>
        <p:nvSpPr>
          <p:cNvPr id="58" name="Shape 56"/>
          <p:cNvSpPr/>
          <p:nvPr/>
        </p:nvSpPr>
        <p:spPr>
          <a:xfrm>
            <a:off x="6171545" y="5886545"/>
            <a:ext cx="2792727" cy="776727"/>
          </a:xfrm>
          <a:custGeom>
            <a:avLst/>
            <a:gdLst/>
            <a:ahLst/>
            <a:cxnLst/>
            <a:rect l="l" t="t" r="r" b="b"/>
            <a:pathLst>
              <a:path w="2792727" h="776727">
                <a:moveTo>
                  <a:pt x="69820" y="0"/>
                </a:moveTo>
                <a:lnTo>
                  <a:pt x="2722907" y="0"/>
                </a:lnTo>
                <a:cubicBezTo>
                  <a:pt x="2761468" y="0"/>
                  <a:pt x="2792727" y="31259"/>
                  <a:pt x="2792727" y="69820"/>
                </a:cubicBezTo>
                <a:lnTo>
                  <a:pt x="2792727" y="706907"/>
                </a:lnTo>
                <a:cubicBezTo>
                  <a:pt x="2792727" y="745468"/>
                  <a:pt x="2761468" y="776727"/>
                  <a:pt x="2722907" y="776727"/>
                </a:cubicBezTo>
                <a:lnTo>
                  <a:pt x="69820" y="776727"/>
                </a:lnTo>
                <a:cubicBezTo>
                  <a:pt x="31259" y="776727"/>
                  <a:pt x="0" y="745468"/>
                  <a:pt x="0" y="706907"/>
                </a:cubicBezTo>
                <a:lnTo>
                  <a:pt x="0" y="69820"/>
                </a:lnTo>
                <a:cubicBezTo>
                  <a:pt x="0" y="31285"/>
                  <a:pt x="31285" y="0"/>
                  <a:pt x="69820" y="0"/>
                </a:cubicBezTo>
                <a:close/>
              </a:path>
            </a:pathLst>
          </a:custGeom>
          <a:solidFill>
            <a:srgbClr val="4DB6AC">
              <a:alpha val="10196"/>
            </a:srgbClr>
          </a:solidFill>
          <a:ln w="12700">
            <a:solidFill>
              <a:srgbClr val="4DB6AC">
                <a:alpha val="30196"/>
              </a:srgbClr>
            </a:solidFill>
            <a:prstDash val="solid"/>
          </a:ln>
        </p:spPr>
      </p:sp>
      <p:sp>
        <p:nvSpPr>
          <p:cNvPr id="59" name="Shape 57"/>
          <p:cNvSpPr/>
          <p:nvPr/>
        </p:nvSpPr>
        <p:spPr>
          <a:xfrm>
            <a:off x="7503818" y="5995636"/>
            <a:ext cx="130909" cy="174545"/>
          </a:xfrm>
          <a:custGeom>
            <a:avLst/>
            <a:gdLst/>
            <a:ahLst/>
            <a:cxnLst/>
            <a:rect l="l" t="t" r="r" b="b"/>
            <a:pathLst>
              <a:path w="130909" h="174545">
                <a:moveTo>
                  <a:pt x="21818" y="0"/>
                </a:moveTo>
                <a:cubicBezTo>
                  <a:pt x="9784" y="0"/>
                  <a:pt x="0" y="9784"/>
                  <a:pt x="0" y="21818"/>
                </a:cubicBezTo>
                <a:lnTo>
                  <a:pt x="0" y="152727"/>
                </a:lnTo>
                <a:cubicBezTo>
                  <a:pt x="0" y="164761"/>
                  <a:pt x="9784" y="174545"/>
                  <a:pt x="21818" y="174545"/>
                </a:cubicBezTo>
                <a:lnTo>
                  <a:pt x="109091" y="174545"/>
                </a:lnTo>
                <a:cubicBezTo>
                  <a:pt x="121125" y="174545"/>
                  <a:pt x="130909" y="164761"/>
                  <a:pt x="130909" y="152727"/>
                </a:cubicBezTo>
                <a:lnTo>
                  <a:pt x="130909" y="21818"/>
                </a:lnTo>
                <a:cubicBezTo>
                  <a:pt x="130909" y="9784"/>
                  <a:pt x="121125" y="0"/>
                  <a:pt x="109091" y="0"/>
                </a:cubicBezTo>
                <a:lnTo>
                  <a:pt x="21818" y="0"/>
                </a:lnTo>
                <a:close/>
                <a:moveTo>
                  <a:pt x="32727" y="21818"/>
                </a:moveTo>
                <a:lnTo>
                  <a:pt x="98182" y="21818"/>
                </a:lnTo>
                <a:cubicBezTo>
                  <a:pt x="104216" y="21818"/>
                  <a:pt x="109091" y="26693"/>
                  <a:pt x="109091" y="32727"/>
                </a:cubicBezTo>
                <a:lnTo>
                  <a:pt x="109091" y="43636"/>
                </a:lnTo>
                <a:cubicBezTo>
                  <a:pt x="109091" y="49670"/>
                  <a:pt x="104216" y="54545"/>
                  <a:pt x="98182" y="54545"/>
                </a:cubicBezTo>
                <a:lnTo>
                  <a:pt x="32727" y="54545"/>
                </a:lnTo>
                <a:cubicBezTo>
                  <a:pt x="26693" y="54545"/>
                  <a:pt x="21818" y="49670"/>
                  <a:pt x="21818" y="43636"/>
                </a:cubicBezTo>
                <a:lnTo>
                  <a:pt x="21818" y="32727"/>
                </a:lnTo>
                <a:cubicBezTo>
                  <a:pt x="21818" y="26693"/>
                  <a:pt x="26693" y="21818"/>
                  <a:pt x="32727" y="21818"/>
                </a:cubicBezTo>
                <a:close/>
                <a:moveTo>
                  <a:pt x="38182" y="79091"/>
                </a:moveTo>
                <a:cubicBezTo>
                  <a:pt x="38182" y="83607"/>
                  <a:pt x="34516" y="87273"/>
                  <a:pt x="30000" y="87273"/>
                </a:cubicBezTo>
                <a:cubicBezTo>
                  <a:pt x="25484" y="87273"/>
                  <a:pt x="21818" y="83607"/>
                  <a:pt x="21818" y="79091"/>
                </a:cubicBezTo>
                <a:cubicBezTo>
                  <a:pt x="21818" y="74575"/>
                  <a:pt x="25484" y="70909"/>
                  <a:pt x="30000" y="70909"/>
                </a:cubicBezTo>
                <a:cubicBezTo>
                  <a:pt x="34516" y="70909"/>
                  <a:pt x="38182" y="74575"/>
                  <a:pt x="38182" y="79091"/>
                </a:cubicBezTo>
                <a:close/>
                <a:moveTo>
                  <a:pt x="65455" y="87273"/>
                </a:moveTo>
                <a:cubicBezTo>
                  <a:pt x="60939" y="87273"/>
                  <a:pt x="57273" y="83607"/>
                  <a:pt x="57273" y="79091"/>
                </a:cubicBezTo>
                <a:cubicBezTo>
                  <a:pt x="57273" y="74575"/>
                  <a:pt x="60939" y="70909"/>
                  <a:pt x="65455" y="70909"/>
                </a:cubicBezTo>
                <a:cubicBezTo>
                  <a:pt x="69970" y="70909"/>
                  <a:pt x="73636" y="74575"/>
                  <a:pt x="73636" y="79091"/>
                </a:cubicBezTo>
                <a:cubicBezTo>
                  <a:pt x="73636" y="83607"/>
                  <a:pt x="69970" y="87273"/>
                  <a:pt x="65455" y="87273"/>
                </a:cubicBezTo>
                <a:close/>
                <a:moveTo>
                  <a:pt x="109091" y="79091"/>
                </a:moveTo>
                <a:cubicBezTo>
                  <a:pt x="109091" y="83607"/>
                  <a:pt x="105425" y="87273"/>
                  <a:pt x="100909" y="87273"/>
                </a:cubicBezTo>
                <a:cubicBezTo>
                  <a:pt x="96393" y="87273"/>
                  <a:pt x="92727" y="83607"/>
                  <a:pt x="92727" y="79091"/>
                </a:cubicBezTo>
                <a:cubicBezTo>
                  <a:pt x="92727" y="74575"/>
                  <a:pt x="96393" y="70909"/>
                  <a:pt x="100909" y="70909"/>
                </a:cubicBezTo>
                <a:cubicBezTo>
                  <a:pt x="105425" y="70909"/>
                  <a:pt x="109091" y="74575"/>
                  <a:pt x="109091" y="79091"/>
                </a:cubicBezTo>
                <a:close/>
                <a:moveTo>
                  <a:pt x="30000" y="120000"/>
                </a:moveTo>
                <a:cubicBezTo>
                  <a:pt x="25484" y="120000"/>
                  <a:pt x="21818" y="116334"/>
                  <a:pt x="21818" y="111818"/>
                </a:cubicBezTo>
                <a:cubicBezTo>
                  <a:pt x="21818" y="107303"/>
                  <a:pt x="25484" y="103636"/>
                  <a:pt x="30000" y="103636"/>
                </a:cubicBezTo>
                <a:cubicBezTo>
                  <a:pt x="34516" y="103636"/>
                  <a:pt x="38182" y="107303"/>
                  <a:pt x="38182" y="111818"/>
                </a:cubicBezTo>
                <a:cubicBezTo>
                  <a:pt x="38182" y="116334"/>
                  <a:pt x="34516" y="120000"/>
                  <a:pt x="30000" y="120000"/>
                </a:cubicBezTo>
                <a:close/>
                <a:moveTo>
                  <a:pt x="73636" y="111818"/>
                </a:moveTo>
                <a:cubicBezTo>
                  <a:pt x="73636" y="116334"/>
                  <a:pt x="69970" y="120000"/>
                  <a:pt x="65455" y="120000"/>
                </a:cubicBezTo>
                <a:cubicBezTo>
                  <a:pt x="60939" y="120000"/>
                  <a:pt x="57273" y="116334"/>
                  <a:pt x="57273" y="111818"/>
                </a:cubicBezTo>
                <a:cubicBezTo>
                  <a:pt x="57273" y="107303"/>
                  <a:pt x="60939" y="103636"/>
                  <a:pt x="65455" y="103636"/>
                </a:cubicBezTo>
                <a:cubicBezTo>
                  <a:pt x="69970" y="103636"/>
                  <a:pt x="73636" y="107303"/>
                  <a:pt x="73636" y="111818"/>
                </a:cubicBezTo>
                <a:close/>
                <a:moveTo>
                  <a:pt x="100909" y="120000"/>
                </a:moveTo>
                <a:cubicBezTo>
                  <a:pt x="96393" y="120000"/>
                  <a:pt x="92727" y="116334"/>
                  <a:pt x="92727" y="111818"/>
                </a:cubicBezTo>
                <a:cubicBezTo>
                  <a:pt x="92727" y="107303"/>
                  <a:pt x="96393" y="103636"/>
                  <a:pt x="100909" y="103636"/>
                </a:cubicBezTo>
                <a:cubicBezTo>
                  <a:pt x="105425" y="103636"/>
                  <a:pt x="109091" y="107303"/>
                  <a:pt x="109091" y="111818"/>
                </a:cubicBezTo>
                <a:cubicBezTo>
                  <a:pt x="109091" y="116334"/>
                  <a:pt x="105425" y="120000"/>
                  <a:pt x="100909" y="120000"/>
                </a:cubicBezTo>
                <a:close/>
                <a:moveTo>
                  <a:pt x="21818" y="144545"/>
                </a:moveTo>
                <a:cubicBezTo>
                  <a:pt x="21818" y="140011"/>
                  <a:pt x="25466" y="136364"/>
                  <a:pt x="30000" y="136364"/>
                </a:cubicBezTo>
                <a:lnTo>
                  <a:pt x="68182" y="136364"/>
                </a:lnTo>
                <a:cubicBezTo>
                  <a:pt x="72716" y="136364"/>
                  <a:pt x="76364" y="140011"/>
                  <a:pt x="76364" y="144545"/>
                </a:cubicBezTo>
                <a:cubicBezTo>
                  <a:pt x="76364" y="149080"/>
                  <a:pt x="72716" y="152727"/>
                  <a:pt x="68182" y="152727"/>
                </a:cubicBezTo>
                <a:lnTo>
                  <a:pt x="30000" y="152727"/>
                </a:lnTo>
                <a:cubicBezTo>
                  <a:pt x="25466" y="152727"/>
                  <a:pt x="21818" y="149080"/>
                  <a:pt x="21818" y="144545"/>
                </a:cubicBezTo>
                <a:close/>
                <a:moveTo>
                  <a:pt x="100909" y="136364"/>
                </a:moveTo>
                <a:cubicBezTo>
                  <a:pt x="105443" y="136364"/>
                  <a:pt x="109091" y="140011"/>
                  <a:pt x="109091" y="144545"/>
                </a:cubicBezTo>
                <a:cubicBezTo>
                  <a:pt x="109091" y="149080"/>
                  <a:pt x="105443" y="152727"/>
                  <a:pt x="100909" y="152727"/>
                </a:cubicBezTo>
                <a:cubicBezTo>
                  <a:pt x="96375" y="152727"/>
                  <a:pt x="92727" y="149080"/>
                  <a:pt x="92727" y="144545"/>
                </a:cubicBezTo>
                <a:cubicBezTo>
                  <a:pt x="92727" y="140011"/>
                  <a:pt x="96375" y="136364"/>
                  <a:pt x="100909" y="136364"/>
                </a:cubicBezTo>
                <a:close/>
              </a:path>
            </a:pathLst>
          </a:custGeom>
          <a:solidFill>
            <a:srgbClr val="4DB6AC"/>
          </a:solidFill>
          <a:ln/>
        </p:spPr>
      </p:sp>
      <p:sp>
        <p:nvSpPr>
          <p:cNvPr id="60" name="Text 58"/>
          <p:cNvSpPr/>
          <p:nvPr/>
        </p:nvSpPr>
        <p:spPr>
          <a:xfrm>
            <a:off x="6250091" y="6240000"/>
            <a:ext cx="2635636" cy="174545"/>
          </a:xfrm>
          <a:prstGeom prst="rect">
            <a:avLst/>
          </a:prstGeom>
          <a:noFill/>
          <a:ln/>
        </p:spPr>
        <p:txBody>
          <a:bodyPr wrap="square" lIns="0" tIns="0" rIns="0" bIns="0" rtlCol="0" anchor="ctr"/>
          <a:lstStyle/>
          <a:p>
            <a:pPr algn="ctr">
              <a:lnSpc>
                <a:spcPct val="120000"/>
              </a:lnSpc>
            </a:pPr>
            <a:r>
              <a:rPr lang="en-US" sz="962" b="1" dirty="0">
                <a:solidFill>
                  <a:srgbClr val="ECEFF1"/>
                </a:solidFill>
                <a:latin typeface="Liter" pitchFamily="34" charset="0"/>
                <a:ea typeface="Liter" pitchFamily="34" charset="-122"/>
                <a:cs typeface="Liter" pitchFamily="34" charset="-120"/>
              </a:rPr>
              <a:t>Matrix Ops</a:t>
            </a:r>
            <a:endParaRPr lang="en-US" sz="1600" dirty="0"/>
          </a:p>
        </p:txBody>
      </p:sp>
      <p:sp>
        <p:nvSpPr>
          <p:cNvPr id="61" name="Text 59"/>
          <p:cNvSpPr/>
          <p:nvPr/>
        </p:nvSpPr>
        <p:spPr>
          <a:xfrm>
            <a:off x="6254455" y="6414545"/>
            <a:ext cx="2626909" cy="139636"/>
          </a:xfrm>
          <a:prstGeom prst="rect">
            <a:avLst/>
          </a:prstGeom>
          <a:noFill/>
          <a:ln/>
        </p:spPr>
        <p:txBody>
          <a:bodyPr wrap="square" lIns="0" tIns="0" rIns="0" bIns="0" rtlCol="0" anchor="ctr"/>
          <a:lstStyle/>
          <a:p>
            <a:pPr algn="ctr">
              <a:lnSpc>
                <a:spcPct val="110000"/>
              </a:lnSpc>
            </a:pPr>
            <a:r>
              <a:rPr lang="en-US" sz="825" dirty="0">
                <a:solidFill>
                  <a:srgbClr val="78909C"/>
                </a:solidFill>
                <a:latin typeface="Quattrocento Sans" pitchFamily="34" charset="0"/>
                <a:ea typeface="Quattrocento Sans" pitchFamily="34" charset="-122"/>
                <a:cs typeface="Quattrocento Sans" pitchFamily="34" charset="-120"/>
              </a:rPr>
              <a:t>Highly parallelized</a:t>
            </a:r>
            <a:endParaRPr lang="en-US" sz="1600" dirty="0"/>
          </a:p>
        </p:txBody>
      </p:sp>
      <p:sp>
        <p:nvSpPr>
          <p:cNvPr id="62" name="Shape 60"/>
          <p:cNvSpPr/>
          <p:nvPr/>
        </p:nvSpPr>
        <p:spPr>
          <a:xfrm>
            <a:off x="9045682" y="5886545"/>
            <a:ext cx="2792727" cy="776727"/>
          </a:xfrm>
          <a:custGeom>
            <a:avLst/>
            <a:gdLst/>
            <a:ahLst/>
            <a:cxnLst/>
            <a:rect l="l" t="t" r="r" b="b"/>
            <a:pathLst>
              <a:path w="2792727" h="776727">
                <a:moveTo>
                  <a:pt x="69820" y="0"/>
                </a:moveTo>
                <a:lnTo>
                  <a:pt x="2722907" y="0"/>
                </a:lnTo>
                <a:cubicBezTo>
                  <a:pt x="2761468" y="0"/>
                  <a:pt x="2792727" y="31259"/>
                  <a:pt x="2792727" y="69820"/>
                </a:cubicBezTo>
                <a:lnTo>
                  <a:pt x="2792727" y="706907"/>
                </a:lnTo>
                <a:cubicBezTo>
                  <a:pt x="2792727" y="745468"/>
                  <a:pt x="2761468" y="776727"/>
                  <a:pt x="2722907" y="776727"/>
                </a:cubicBezTo>
                <a:lnTo>
                  <a:pt x="69820" y="776727"/>
                </a:lnTo>
                <a:cubicBezTo>
                  <a:pt x="31259" y="776727"/>
                  <a:pt x="0" y="745468"/>
                  <a:pt x="0" y="706907"/>
                </a:cubicBezTo>
                <a:lnTo>
                  <a:pt x="0" y="69820"/>
                </a:lnTo>
                <a:cubicBezTo>
                  <a:pt x="0" y="31285"/>
                  <a:pt x="31285" y="0"/>
                  <a:pt x="69820" y="0"/>
                </a:cubicBezTo>
                <a:close/>
              </a:path>
            </a:pathLst>
          </a:custGeom>
          <a:solidFill>
            <a:srgbClr val="FFD54F">
              <a:alpha val="10196"/>
            </a:srgbClr>
          </a:solidFill>
          <a:ln w="12700">
            <a:solidFill>
              <a:srgbClr val="FFD54F">
                <a:alpha val="30196"/>
              </a:srgbClr>
            </a:solidFill>
            <a:prstDash val="solid"/>
          </a:ln>
        </p:spPr>
      </p:sp>
      <p:sp>
        <p:nvSpPr>
          <p:cNvPr id="63" name="Shape 61"/>
          <p:cNvSpPr/>
          <p:nvPr/>
        </p:nvSpPr>
        <p:spPr>
          <a:xfrm>
            <a:off x="10356273" y="5995636"/>
            <a:ext cx="174545" cy="174545"/>
          </a:xfrm>
          <a:custGeom>
            <a:avLst/>
            <a:gdLst/>
            <a:ahLst/>
            <a:cxnLst/>
            <a:rect l="l" t="t" r="r" b="b"/>
            <a:pathLst>
              <a:path w="174545" h="174545">
                <a:moveTo>
                  <a:pt x="0" y="87273"/>
                </a:moveTo>
                <a:cubicBezTo>
                  <a:pt x="0" y="39106"/>
                  <a:pt x="39106" y="0"/>
                  <a:pt x="87273" y="0"/>
                </a:cubicBezTo>
                <a:cubicBezTo>
                  <a:pt x="135440" y="0"/>
                  <a:pt x="174545" y="39106"/>
                  <a:pt x="174545" y="87273"/>
                </a:cubicBezTo>
                <a:cubicBezTo>
                  <a:pt x="174545" y="135440"/>
                  <a:pt x="135440" y="174545"/>
                  <a:pt x="87273" y="174545"/>
                </a:cubicBezTo>
                <a:cubicBezTo>
                  <a:pt x="39106" y="174545"/>
                  <a:pt x="0" y="135440"/>
                  <a:pt x="0" y="87273"/>
                </a:cubicBezTo>
                <a:close/>
                <a:moveTo>
                  <a:pt x="98182" y="32727"/>
                </a:moveTo>
                <a:cubicBezTo>
                  <a:pt x="98182" y="26706"/>
                  <a:pt x="93294" y="21818"/>
                  <a:pt x="87273" y="21818"/>
                </a:cubicBezTo>
                <a:cubicBezTo>
                  <a:pt x="81252" y="21818"/>
                  <a:pt x="76364" y="26706"/>
                  <a:pt x="76364" y="32727"/>
                </a:cubicBezTo>
                <a:cubicBezTo>
                  <a:pt x="76364" y="38748"/>
                  <a:pt x="81252" y="43636"/>
                  <a:pt x="87273" y="43636"/>
                </a:cubicBezTo>
                <a:cubicBezTo>
                  <a:pt x="93294" y="43636"/>
                  <a:pt x="98182" y="38748"/>
                  <a:pt x="98182" y="32727"/>
                </a:cubicBezTo>
                <a:close/>
                <a:moveTo>
                  <a:pt x="87273" y="141818"/>
                </a:moveTo>
                <a:cubicBezTo>
                  <a:pt x="99307" y="141818"/>
                  <a:pt x="109091" y="132034"/>
                  <a:pt x="109091" y="120000"/>
                </a:cubicBezTo>
                <a:cubicBezTo>
                  <a:pt x="109091" y="114477"/>
                  <a:pt x="107045" y="109398"/>
                  <a:pt x="103636" y="105580"/>
                </a:cubicBezTo>
                <a:lnTo>
                  <a:pt x="127330" y="58227"/>
                </a:lnTo>
                <a:cubicBezTo>
                  <a:pt x="129341" y="54170"/>
                  <a:pt x="127705" y="49261"/>
                  <a:pt x="123682" y="47250"/>
                </a:cubicBezTo>
                <a:cubicBezTo>
                  <a:pt x="119659" y="45239"/>
                  <a:pt x="114716" y="46875"/>
                  <a:pt x="112705" y="50898"/>
                </a:cubicBezTo>
                <a:lnTo>
                  <a:pt x="89011" y="98250"/>
                </a:lnTo>
                <a:cubicBezTo>
                  <a:pt x="88432" y="98216"/>
                  <a:pt x="87852" y="98182"/>
                  <a:pt x="87273" y="98182"/>
                </a:cubicBezTo>
                <a:cubicBezTo>
                  <a:pt x="75239" y="98182"/>
                  <a:pt x="65455" y="107966"/>
                  <a:pt x="65455" y="120000"/>
                </a:cubicBezTo>
                <a:cubicBezTo>
                  <a:pt x="65455" y="132034"/>
                  <a:pt x="75239" y="141818"/>
                  <a:pt x="87273" y="141818"/>
                </a:cubicBezTo>
                <a:close/>
                <a:moveTo>
                  <a:pt x="60000" y="49091"/>
                </a:moveTo>
                <a:cubicBezTo>
                  <a:pt x="60000" y="43070"/>
                  <a:pt x="55112" y="38182"/>
                  <a:pt x="49091" y="38182"/>
                </a:cubicBezTo>
                <a:cubicBezTo>
                  <a:pt x="43070" y="38182"/>
                  <a:pt x="38182" y="43070"/>
                  <a:pt x="38182" y="49091"/>
                </a:cubicBezTo>
                <a:cubicBezTo>
                  <a:pt x="38182" y="55112"/>
                  <a:pt x="43070" y="60000"/>
                  <a:pt x="49091" y="60000"/>
                </a:cubicBezTo>
                <a:cubicBezTo>
                  <a:pt x="55112" y="60000"/>
                  <a:pt x="60000" y="55112"/>
                  <a:pt x="60000" y="49091"/>
                </a:cubicBezTo>
                <a:close/>
                <a:moveTo>
                  <a:pt x="32727" y="98182"/>
                </a:moveTo>
                <a:cubicBezTo>
                  <a:pt x="38748" y="98182"/>
                  <a:pt x="43636" y="93294"/>
                  <a:pt x="43636" y="87273"/>
                </a:cubicBezTo>
                <a:cubicBezTo>
                  <a:pt x="43636" y="81252"/>
                  <a:pt x="38748" y="76364"/>
                  <a:pt x="32727" y="76364"/>
                </a:cubicBezTo>
                <a:cubicBezTo>
                  <a:pt x="26706" y="76364"/>
                  <a:pt x="21818" y="81252"/>
                  <a:pt x="21818" y="87273"/>
                </a:cubicBezTo>
                <a:cubicBezTo>
                  <a:pt x="21818" y="93294"/>
                  <a:pt x="26706" y="98182"/>
                  <a:pt x="32727" y="98182"/>
                </a:cubicBezTo>
                <a:close/>
                <a:moveTo>
                  <a:pt x="152727" y="87273"/>
                </a:moveTo>
                <a:cubicBezTo>
                  <a:pt x="152727" y="81252"/>
                  <a:pt x="147839" y="76364"/>
                  <a:pt x="141818" y="76364"/>
                </a:cubicBezTo>
                <a:cubicBezTo>
                  <a:pt x="135797" y="76364"/>
                  <a:pt x="130909" y="81252"/>
                  <a:pt x="130909" y="87273"/>
                </a:cubicBezTo>
                <a:cubicBezTo>
                  <a:pt x="130909" y="93294"/>
                  <a:pt x="135797" y="98182"/>
                  <a:pt x="141818" y="98182"/>
                </a:cubicBezTo>
                <a:cubicBezTo>
                  <a:pt x="147839" y="98182"/>
                  <a:pt x="152727" y="93294"/>
                  <a:pt x="152727" y="87273"/>
                </a:cubicBezTo>
                <a:close/>
              </a:path>
            </a:pathLst>
          </a:custGeom>
          <a:solidFill>
            <a:srgbClr val="FFD54F"/>
          </a:solidFill>
          <a:ln/>
        </p:spPr>
      </p:sp>
      <p:sp>
        <p:nvSpPr>
          <p:cNvPr id="64" name="Text 62"/>
          <p:cNvSpPr/>
          <p:nvPr/>
        </p:nvSpPr>
        <p:spPr>
          <a:xfrm>
            <a:off x="9124227" y="6240000"/>
            <a:ext cx="2635636" cy="174545"/>
          </a:xfrm>
          <a:prstGeom prst="rect">
            <a:avLst/>
          </a:prstGeom>
          <a:noFill/>
          <a:ln/>
        </p:spPr>
        <p:txBody>
          <a:bodyPr wrap="square" lIns="0" tIns="0" rIns="0" bIns="0" rtlCol="0" anchor="ctr"/>
          <a:lstStyle/>
          <a:p>
            <a:pPr algn="ctr">
              <a:lnSpc>
                <a:spcPct val="120000"/>
              </a:lnSpc>
            </a:pPr>
            <a:r>
              <a:rPr lang="en-US" sz="962" b="1" dirty="0">
                <a:solidFill>
                  <a:srgbClr val="ECEFF1"/>
                </a:solidFill>
                <a:latin typeface="Liter" pitchFamily="34" charset="0"/>
                <a:ea typeface="Liter" pitchFamily="34" charset="-122"/>
                <a:cs typeface="Liter" pitchFamily="34" charset="-120"/>
              </a:rPr>
              <a:t>GPU Accelerated</a:t>
            </a:r>
            <a:endParaRPr lang="en-US" sz="1600" dirty="0"/>
          </a:p>
        </p:txBody>
      </p:sp>
      <p:sp>
        <p:nvSpPr>
          <p:cNvPr id="65" name="Text 63"/>
          <p:cNvSpPr/>
          <p:nvPr/>
        </p:nvSpPr>
        <p:spPr>
          <a:xfrm>
            <a:off x="9128591" y="6414545"/>
            <a:ext cx="2626909" cy="139636"/>
          </a:xfrm>
          <a:prstGeom prst="rect">
            <a:avLst/>
          </a:prstGeom>
          <a:noFill/>
          <a:ln/>
        </p:spPr>
        <p:txBody>
          <a:bodyPr wrap="square" lIns="0" tIns="0" rIns="0" bIns="0" rtlCol="0" anchor="ctr"/>
          <a:lstStyle/>
          <a:p>
            <a:pPr algn="ctr">
              <a:lnSpc>
                <a:spcPct val="110000"/>
              </a:lnSpc>
            </a:pPr>
            <a:r>
              <a:rPr lang="en-US" sz="825" dirty="0">
                <a:solidFill>
                  <a:srgbClr val="78909C"/>
                </a:solidFill>
                <a:latin typeface="Quattrocento Sans" pitchFamily="34" charset="0"/>
                <a:ea typeface="Quattrocento Sans" pitchFamily="34" charset="-122"/>
                <a:cs typeface="Quattrocento Sans" pitchFamily="34" charset="-120"/>
              </a:rPr>
              <a:t>Fast computation</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learnopencv.com/b68acac72d72eddbe44b4473646274f0531d8293.png"/>
          <p:cNvPicPr>
            <a:picLocks noChangeAspect="1"/>
          </p:cNvPicPr>
          <p:nvPr/>
        </p:nvPicPr>
        <p:blipFill>
          <a:blip r:embed="rId3">
            <a:alphaModFix amt="25000"/>
          </a:blip>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5000"/>
                </a:srgbClr>
              </a:gs>
              <a:gs pos="100000">
                <a:srgbClr val="1A1D21">
                  <a:alpha val="80000"/>
                </a:srgbClr>
              </a:gs>
            </a:gsLst>
            <a:lin ang="0" scaled="1"/>
          </a:gradFill>
          <a:ln/>
        </p:spPr>
      </p:sp>
      <p:sp>
        <p:nvSpPr>
          <p:cNvPr id="4" name="Shape 1"/>
          <p:cNvSpPr/>
          <p:nvPr/>
        </p:nvSpPr>
        <p:spPr>
          <a:xfrm>
            <a:off x="385763" y="1157288"/>
            <a:ext cx="3038475" cy="428625"/>
          </a:xfrm>
          <a:custGeom>
            <a:avLst/>
            <a:gdLst/>
            <a:ahLst/>
            <a:cxnLst/>
            <a:rect l="l" t="t" r="r" b="b"/>
            <a:pathLst>
              <a:path w="3038475" h="428625">
                <a:moveTo>
                  <a:pt x="214313" y="0"/>
                </a:moveTo>
                <a:lnTo>
                  <a:pt x="2824163" y="0"/>
                </a:lnTo>
                <a:cubicBezTo>
                  <a:pt x="2942445" y="0"/>
                  <a:pt x="3038475" y="96030"/>
                  <a:pt x="3038475" y="214313"/>
                </a:cubicBezTo>
                <a:lnTo>
                  <a:pt x="3038475" y="214313"/>
                </a:lnTo>
                <a:cubicBezTo>
                  <a:pt x="3038475" y="332595"/>
                  <a:pt x="2942445" y="428625"/>
                  <a:pt x="2824163" y="428625"/>
                </a:cubicBezTo>
                <a:lnTo>
                  <a:pt x="214313" y="428625"/>
                </a:lnTo>
                <a:cubicBezTo>
                  <a:pt x="96030" y="428625"/>
                  <a:pt x="0" y="332595"/>
                  <a:pt x="0" y="214313"/>
                </a:cubicBezTo>
                <a:lnTo>
                  <a:pt x="0" y="214313"/>
                </a:lnTo>
                <a:cubicBezTo>
                  <a:pt x="0" y="96030"/>
                  <a:pt x="96030" y="0"/>
                  <a:pt x="214312" y="0"/>
                </a:cubicBezTo>
                <a:close/>
              </a:path>
            </a:pathLst>
          </a:custGeom>
          <a:solidFill>
            <a:srgbClr val="FFD54F">
              <a:alpha val="20000"/>
            </a:srgbClr>
          </a:solidFill>
          <a:ln w="12700">
            <a:solidFill>
              <a:srgbClr val="FFD54F">
                <a:alpha val="50196"/>
              </a:srgbClr>
            </a:solidFill>
            <a:prstDash val="solid"/>
          </a:ln>
        </p:spPr>
      </p:sp>
      <p:sp>
        <p:nvSpPr>
          <p:cNvPr id="5" name="Text 2"/>
          <p:cNvSpPr/>
          <p:nvPr/>
        </p:nvSpPr>
        <p:spPr>
          <a:xfrm>
            <a:off x="619125" y="1266825"/>
            <a:ext cx="2669530" cy="209550"/>
          </a:xfrm>
          <a:prstGeom prst="rect">
            <a:avLst/>
          </a:prstGeom>
          <a:noFill/>
          <a:ln/>
        </p:spPr>
        <p:txBody>
          <a:bodyPr wrap="square" lIns="0" tIns="0" rIns="0" bIns="0" rtlCol="0" anchor="ctr"/>
          <a:lstStyle/>
          <a:p>
            <a:pPr>
              <a:lnSpc>
                <a:spcPct val="120000"/>
              </a:lnSpc>
            </a:pPr>
            <a:r>
              <a:rPr lang="en-US" sz="1500" b="1" kern="0" spc="75" dirty="0">
                <a:solidFill>
                  <a:srgbClr val="FFD54F"/>
                </a:solidFill>
                <a:latin typeface="Quattrocento Sans" pitchFamily="34" charset="0"/>
                <a:ea typeface="Quattrocento Sans" pitchFamily="34" charset="-122"/>
                <a:cs typeface="Quattrocento Sans" pitchFamily="34" charset="-120"/>
              </a:rPr>
              <a:t>CHAPTER 03 | KAPITULLI 03</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Neural Network</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Architectures</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Arkitekturat e Rrjeteve Nervore</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FFD54F"/>
              </a:gs>
              <a:gs pos="100000">
                <a:srgbClr val="4DB6AC"/>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Specialized networks for different tasks</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Rrjete të specializuara për detyra të ndryshme</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Convolutional Neural Networks (CNN)</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Rrjetet Nervore Konvolucionare</a:t>
            </a:r>
            <a:endParaRPr lang="en-US" sz="1600" dirty="0"/>
          </a:p>
        </p:txBody>
      </p:sp>
      <p:sp>
        <p:nvSpPr>
          <p:cNvPr id="4" name="Shape 2"/>
          <p:cNvSpPr/>
          <p:nvPr/>
        </p:nvSpPr>
        <p:spPr>
          <a:xfrm>
            <a:off x="400050" y="1181100"/>
            <a:ext cx="5619750" cy="1733550"/>
          </a:xfrm>
          <a:custGeom>
            <a:avLst/>
            <a:gdLst/>
            <a:ahLst/>
            <a:cxnLst/>
            <a:rect l="l" t="t" r="r" b="b"/>
            <a:pathLst>
              <a:path w="5619750" h="1733550">
                <a:moveTo>
                  <a:pt x="0" y="0"/>
                </a:moveTo>
                <a:lnTo>
                  <a:pt x="5543543" y="0"/>
                </a:lnTo>
                <a:cubicBezTo>
                  <a:pt x="5585631" y="0"/>
                  <a:pt x="5619750" y="34119"/>
                  <a:pt x="5619750" y="76207"/>
                </a:cubicBezTo>
                <a:lnTo>
                  <a:pt x="5619750" y="1657343"/>
                </a:lnTo>
                <a:cubicBezTo>
                  <a:pt x="5619750" y="1699431"/>
                  <a:pt x="5585631" y="1733550"/>
                  <a:pt x="5543543" y="1733550"/>
                </a:cubicBezTo>
                <a:lnTo>
                  <a:pt x="0" y="1733550"/>
                </a:lnTo>
                <a:lnTo>
                  <a:pt x="0" y="0"/>
                </a:lnTo>
                <a:close/>
              </a:path>
            </a:pathLst>
          </a:custGeom>
          <a:solidFill>
            <a:srgbClr val="4DB6AC">
              <a:alpha val="10196"/>
            </a:srgbClr>
          </a:solidFill>
          <a:ln/>
        </p:spPr>
      </p:sp>
      <p:sp>
        <p:nvSpPr>
          <p:cNvPr id="5" name="Shape 3"/>
          <p:cNvSpPr/>
          <p:nvPr/>
        </p:nvSpPr>
        <p:spPr>
          <a:xfrm>
            <a:off x="400050" y="1181100"/>
            <a:ext cx="38100" cy="1733550"/>
          </a:xfrm>
          <a:custGeom>
            <a:avLst/>
            <a:gdLst/>
            <a:ahLst/>
            <a:cxnLst/>
            <a:rect l="l" t="t" r="r" b="b"/>
            <a:pathLst>
              <a:path w="38100" h="1733550">
                <a:moveTo>
                  <a:pt x="0" y="0"/>
                </a:moveTo>
                <a:lnTo>
                  <a:pt x="38100" y="0"/>
                </a:lnTo>
                <a:lnTo>
                  <a:pt x="38100" y="1733550"/>
                </a:lnTo>
                <a:lnTo>
                  <a:pt x="0" y="1733550"/>
                </a:lnTo>
                <a:lnTo>
                  <a:pt x="0" y="0"/>
                </a:lnTo>
                <a:close/>
              </a:path>
            </a:pathLst>
          </a:custGeom>
          <a:solidFill>
            <a:srgbClr val="4DB6AC"/>
          </a:solidFill>
          <a:ln/>
        </p:spPr>
      </p:sp>
      <p:sp>
        <p:nvSpPr>
          <p:cNvPr id="6" name="Text 4"/>
          <p:cNvSpPr/>
          <p:nvPr/>
        </p:nvSpPr>
        <p:spPr>
          <a:xfrm>
            <a:off x="533400" y="1295400"/>
            <a:ext cx="5448300" cy="62865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CNNs are specialized neural networks designed for processing grid-like data such as images. They use convolutional layers with learnable filters to automatically detect hierarchical visual features, from edges to complex objects.</a:t>
            </a:r>
            <a:endParaRPr lang="en-US" sz="1600" dirty="0"/>
          </a:p>
        </p:txBody>
      </p:sp>
      <p:sp>
        <p:nvSpPr>
          <p:cNvPr id="7" name="Text 5"/>
          <p:cNvSpPr/>
          <p:nvPr/>
        </p:nvSpPr>
        <p:spPr>
          <a:xfrm>
            <a:off x="533400" y="1962150"/>
            <a:ext cx="5448300"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CNN-të janë rrjete nervore të specializuara të projektuara për përpunimin e të dhënave në formë rrjeti si imazhet. Ato përdorin shtresa konvolucionale me filtra të mësueshëm për të zbuluar automatikisht karakteristika vizuale hierarkike, nga skajet deri te objektet komplekse.</a:t>
            </a:r>
            <a:endParaRPr lang="en-US" sz="1600" dirty="0"/>
          </a:p>
        </p:txBody>
      </p:sp>
      <p:sp>
        <p:nvSpPr>
          <p:cNvPr id="8" name="Shape 6"/>
          <p:cNvSpPr/>
          <p:nvPr/>
        </p:nvSpPr>
        <p:spPr>
          <a:xfrm>
            <a:off x="381000" y="2990850"/>
            <a:ext cx="2781300" cy="1676400"/>
          </a:xfrm>
          <a:custGeom>
            <a:avLst/>
            <a:gdLst/>
            <a:ahLst/>
            <a:cxnLst/>
            <a:rect l="l" t="t" r="r" b="b"/>
            <a:pathLst>
              <a:path w="2781300" h="1676400">
                <a:moveTo>
                  <a:pt x="76192" y="0"/>
                </a:moveTo>
                <a:lnTo>
                  <a:pt x="2705108" y="0"/>
                </a:lnTo>
                <a:cubicBezTo>
                  <a:pt x="2747188" y="0"/>
                  <a:pt x="2781300" y="34112"/>
                  <a:pt x="2781300" y="76192"/>
                </a:cubicBezTo>
                <a:lnTo>
                  <a:pt x="2781300" y="1600208"/>
                </a:lnTo>
                <a:cubicBezTo>
                  <a:pt x="2781300" y="1642288"/>
                  <a:pt x="2747188" y="1676400"/>
                  <a:pt x="2705108" y="1676400"/>
                </a:cubicBezTo>
                <a:lnTo>
                  <a:pt x="76192" y="1676400"/>
                </a:lnTo>
                <a:cubicBezTo>
                  <a:pt x="34112" y="1676400"/>
                  <a:pt x="0" y="1642288"/>
                  <a:pt x="0" y="1600208"/>
                </a:cubicBezTo>
                <a:lnTo>
                  <a:pt x="0" y="76192"/>
                </a:lnTo>
                <a:cubicBezTo>
                  <a:pt x="0" y="34141"/>
                  <a:pt x="34141" y="0"/>
                  <a:pt x="76192" y="0"/>
                </a:cubicBezTo>
                <a:close/>
              </a:path>
            </a:pathLst>
          </a:custGeom>
          <a:solidFill>
            <a:srgbClr val="4DB6AC">
              <a:alpha val="10196"/>
            </a:srgbClr>
          </a:solidFill>
          <a:ln/>
        </p:spPr>
      </p:sp>
      <p:sp>
        <p:nvSpPr>
          <p:cNvPr id="9" name="Text 7"/>
          <p:cNvSpPr/>
          <p:nvPr/>
        </p:nvSpPr>
        <p:spPr>
          <a:xfrm>
            <a:off x="495300" y="310515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Convolutional Layer</a:t>
            </a:r>
            <a:endParaRPr lang="en-US" sz="1600" dirty="0"/>
          </a:p>
        </p:txBody>
      </p:sp>
      <p:sp>
        <p:nvSpPr>
          <p:cNvPr id="10" name="Text 8"/>
          <p:cNvSpPr/>
          <p:nvPr/>
        </p:nvSpPr>
        <p:spPr>
          <a:xfrm>
            <a:off x="495300" y="340995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Shtresa Konvolucionale</a:t>
            </a:r>
            <a:endParaRPr lang="en-US" sz="1600" dirty="0"/>
          </a:p>
        </p:txBody>
      </p:sp>
      <p:sp>
        <p:nvSpPr>
          <p:cNvPr id="11" name="Text 9"/>
          <p:cNvSpPr/>
          <p:nvPr/>
        </p:nvSpPr>
        <p:spPr>
          <a:xfrm>
            <a:off x="495300" y="36766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Applies learnable filters</a:t>
            </a:r>
            <a:endParaRPr lang="en-US" sz="1600" dirty="0"/>
          </a:p>
        </p:txBody>
      </p:sp>
      <p:sp>
        <p:nvSpPr>
          <p:cNvPr id="12" name="Text 10"/>
          <p:cNvSpPr/>
          <p:nvPr/>
        </p:nvSpPr>
        <p:spPr>
          <a:xfrm>
            <a:off x="495300" y="39052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Detects local features</a:t>
            </a:r>
            <a:endParaRPr lang="en-US" sz="1600" dirty="0"/>
          </a:p>
        </p:txBody>
      </p:sp>
      <p:sp>
        <p:nvSpPr>
          <p:cNvPr id="13" name="Text 11"/>
          <p:cNvSpPr/>
          <p:nvPr/>
        </p:nvSpPr>
        <p:spPr>
          <a:xfrm>
            <a:off x="495300" y="41338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Preserves spatial structure</a:t>
            </a:r>
            <a:endParaRPr lang="en-US" sz="1600" dirty="0"/>
          </a:p>
        </p:txBody>
      </p:sp>
      <p:sp>
        <p:nvSpPr>
          <p:cNvPr id="14" name="Text 12"/>
          <p:cNvSpPr/>
          <p:nvPr/>
        </p:nvSpPr>
        <p:spPr>
          <a:xfrm>
            <a:off x="495300" y="43624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Parameter sharing</a:t>
            </a:r>
            <a:endParaRPr lang="en-US" sz="1600" dirty="0"/>
          </a:p>
        </p:txBody>
      </p:sp>
      <p:sp>
        <p:nvSpPr>
          <p:cNvPr id="15" name="Shape 13"/>
          <p:cNvSpPr/>
          <p:nvPr/>
        </p:nvSpPr>
        <p:spPr>
          <a:xfrm>
            <a:off x="3238500" y="2990850"/>
            <a:ext cx="2781300" cy="1676400"/>
          </a:xfrm>
          <a:custGeom>
            <a:avLst/>
            <a:gdLst/>
            <a:ahLst/>
            <a:cxnLst/>
            <a:rect l="l" t="t" r="r" b="b"/>
            <a:pathLst>
              <a:path w="2781300" h="1676400">
                <a:moveTo>
                  <a:pt x="76192" y="0"/>
                </a:moveTo>
                <a:lnTo>
                  <a:pt x="2705108" y="0"/>
                </a:lnTo>
                <a:cubicBezTo>
                  <a:pt x="2747188" y="0"/>
                  <a:pt x="2781300" y="34112"/>
                  <a:pt x="2781300" y="76192"/>
                </a:cubicBezTo>
                <a:lnTo>
                  <a:pt x="2781300" y="1600208"/>
                </a:lnTo>
                <a:cubicBezTo>
                  <a:pt x="2781300" y="1642288"/>
                  <a:pt x="2747188" y="1676400"/>
                  <a:pt x="2705108" y="1676400"/>
                </a:cubicBezTo>
                <a:lnTo>
                  <a:pt x="76192" y="1676400"/>
                </a:lnTo>
                <a:cubicBezTo>
                  <a:pt x="34112" y="1676400"/>
                  <a:pt x="0" y="1642288"/>
                  <a:pt x="0" y="1600208"/>
                </a:cubicBezTo>
                <a:lnTo>
                  <a:pt x="0" y="76192"/>
                </a:lnTo>
                <a:cubicBezTo>
                  <a:pt x="0" y="34141"/>
                  <a:pt x="34141" y="0"/>
                  <a:pt x="76192" y="0"/>
                </a:cubicBezTo>
                <a:close/>
              </a:path>
            </a:pathLst>
          </a:custGeom>
          <a:solidFill>
            <a:srgbClr val="FFD54F">
              <a:alpha val="10196"/>
            </a:srgbClr>
          </a:solidFill>
          <a:ln/>
        </p:spPr>
      </p:sp>
      <p:sp>
        <p:nvSpPr>
          <p:cNvPr id="16" name="Text 14"/>
          <p:cNvSpPr/>
          <p:nvPr/>
        </p:nvSpPr>
        <p:spPr>
          <a:xfrm>
            <a:off x="3352800" y="310515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Pooling Layer</a:t>
            </a:r>
            <a:endParaRPr lang="en-US" sz="1600" dirty="0"/>
          </a:p>
        </p:txBody>
      </p:sp>
      <p:sp>
        <p:nvSpPr>
          <p:cNvPr id="17" name="Text 15"/>
          <p:cNvSpPr/>
          <p:nvPr/>
        </p:nvSpPr>
        <p:spPr>
          <a:xfrm>
            <a:off x="3352800" y="340995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Shtresa e Polling-ut</a:t>
            </a:r>
            <a:endParaRPr lang="en-US" sz="1600" dirty="0"/>
          </a:p>
        </p:txBody>
      </p:sp>
      <p:sp>
        <p:nvSpPr>
          <p:cNvPr id="18" name="Text 16"/>
          <p:cNvSpPr/>
          <p:nvPr/>
        </p:nvSpPr>
        <p:spPr>
          <a:xfrm>
            <a:off x="3352800" y="36766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Reduces spatial dimensions</a:t>
            </a:r>
            <a:endParaRPr lang="en-US" sz="1600" dirty="0"/>
          </a:p>
        </p:txBody>
      </p:sp>
      <p:sp>
        <p:nvSpPr>
          <p:cNvPr id="19" name="Text 17"/>
          <p:cNvSpPr/>
          <p:nvPr/>
        </p:nvSpPr>
        <p:spPr>
          <a:xfrm>
            <a:off x="3352800" y="39052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Max or average pooling</a:t>
            </a:r>
            <a:endParaRPr lang="en-US" sz="1600" dirty="0"/>
          </a:p>
        </p:txBody>
      </p:sp>
      <p:sp>
        <p:nvSpPr>
          <p:cNvPr id="20" name="Text 18"/>
          <p:cNvSpPr/>
          <p:nvPr/>
        </p:nvSpPr>
        <p:spPr>
          <a:xfrm>
            <a:off x="3352800" y="41338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Translation invariance</a:t>
            </a:r>
            <a:endParaRPr lang="en-US" sz="1600" dirty="0"/>
          </a:p>
        </p:txBody>
      </p:sp>
      <p:sp>
        <p:nvSpPr>
          <p:cNvPr id="21" name="Text 19"/>
          <p:cNvSpPr/>
          <p:nvPr/>
        </p:nvSpPr>
        <p:spPr>
          <a:xfrm>
            <a:off x="3352800" y="4362450"/>
            <a:ext cx="26193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Reduces computation</a:t>
            </a:r>
            <a:endParaRPr lang="en-US" sz="1600" dirty="0"/>
          </a:p>
        </p:txBody>
      </p:sp>
      <p:sp>
        <p:nvSpPr>
          <p:cNvPr id="22" name="Shape 20"/>
          <p:cNvSpPr/>
          <p:nvPr/>
        </p:nvSpPr>
        <p:spPr>
          <a:xfrm>
            <a:off x="381000" y="4743450"/>
            <a:ext cx="5638800" cy="1181100"/>
          </a:xfrm>
          <a:custGeom>
            <a:avLst/>
            <a:gdLst/>
            <a:ahLst/>
            <a:cxnLst/>
            <a:rect l="l" t="t" r="r" b="b"/>
            <a:pathLst>
              <a:path w="5638800" h="1181100">
                <a:moveTo>
                  <a:pt x="76205" y="0"/>
                </a:moveTo>
                <a:lnTo>
                  <a:pt x="5562595" y="0"/>
                </a:lnTo>
                <a:cubicBezTo>
                  <a:pt x="5604654" y="0"/>
                  <a:pt x="5638800" y="34146"/>
                  <a:pt x="5638800" y="76205"/>
                </a:cubicBezTo>
                <a:lnTo>
                  <a:pt x="5638800" y="1104895"/>
                </a:lnTo>
                <a:cubicBezTo>
                  <a:pt x="5638800" y="1146982"/>
                  <a:pt x="5604682" y="1181100"/>
                  <a:pt x="5562595" y="1181100"/>
                </a:cubicBezTo>
                <a:lnTo>
                  <a:pt x="76205" y="1181100"/>
                </a:lnTo>
                <a:cubicBezTo>
                  <a:pt x="34146" y="1181100"/>
                  <a:pt x="0" y="1146954"/>
                  <a:pt x="0" y="1104895"/>
                </a:cubicBezTo>
                <a:lnTo>
                  <a:pt x="0" y="76205"/>
                </a:lnTo>
                <a:cubicBezTo>
                  <a:pt x="0" y="34146"/>
                  <a:pt x="34146" y="0"/>
                  <a:pt x="76205" y="0"/>
                </a:cubicBezTo>
                <a:close/>
              </a:path>
            </a:pathLst>
          </a:custGeom>
          <a:solidFill>
            <a:srgbClr val="78909C">
              <a:alpha val="10196"/>
            </a:srgbClr>
          </a:solidFill>
          <a:ln/>
        </p:spPr>
      </p:sp>
      <p:sp>
        <p:nvSpPr>
          <p:cNvPr id="23" name="Text 21"/>
          <p:cNvSpPr/>
          <p:nvPr/>
        </p:nvSpPr>
        <p:spPr>
          <a:xfrm>
            <a:off x="495300" y="48577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Key CNN Properties</a:t>
            </a:r>
            <a:endParaRPr lang="en-US" sz="1600" dirty="0"/>
          </a:p>
        </p:txBody>
      </p:sp>
      <p:sp>
        <p:nvSpPr>
          <p:cNvPr id="24" name="Text 22"/>
          <p:cNvSpPr/>
          <p:nvPr/>
        </p:nvSpPr>
        <p:spPr>
          <a:xfrm>
            <a:off x="495300" y="516255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Sparse Connectivity:</a:t>
            </a:r>
            <a:r>
              <a:rPr lang="en-US" sz="1050" dirty="0">
                <a:solidFill>
                  <a:srgbClr val="ECEFF1"/>
                </a:solidFill>
                <a:latin typeface="Quattrocento Sans" pitchFamily="34" charset="0"/>
                <a:ea typeface="Quattrocento Sans" pitchFamily="34" charset="-122"/>
                <a:cs typeface="Quattrocento Sans" pitchFamily="34" charset="-120"/>
              </a:rPr>
              <a:t> Each neuron connects to local region only</a:t>
            </a:r>
            <a:endParaRPr lang="en-US" sz="1600" dirty="0"/>
          </a:p>
        </p:txBody>
      </p:sp>
      <p:sp>
        <p:nvSpPr>
          <p:cNvPr id="25" name="Text 23"/>
          <p:cNvSpPr/>
          <p:nvPr/>
        </p:nvSpPr>
        <p:spPr>
          <a:xfrm>
            <a:off x="495300" y="539115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Parameter Sharing:</a:t>
            </a:r>
            <a:r>
              <a:rPr lang="en-US" sz="1050" dirty="0">
                <a:solidFill>
                  <a:srgbClr val="ECEFF1"/>
                </a:solidFill>
                <a:latin typeface="Quattrocento Sans" pitchFamily="34" charset="0"/>
                <a:ea typeface="Quattrocento Sans" pitchFamily="34" charset="-122"/>
                <a:cs typeface="Quattrocento Sans" pitchFamily="34" charset="-120"/>
              </a:rPr>
              <a:t> Same filter applied across entire input</a:t>
            </a:r>
            <a:endParaRPr lang="en-US" sz="1600" dirty="0"/>
          </a:p>
        </p:txBody>
      </p:sp>
      <p:sp>
        <p:nvSpPr>
          <p:cNvPr id="26" name="Text 24"/>
          <p:cNvSpPr/>
          <p:nvPr/>
        </p:nvSpPr>
        <p:spPr>
          <a:xfrm>
            <a:off x="495300" y="561975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Translation Invariance:</a:t>
            </a:r>
            <a:r>
              <a:rPr lang="en-US" sz="1050" dirty="0">
                <a:solidFill>
                  <a:srgbClr val="ECEFF1"/>
                </a:solidFill>
                <a:latin typeface="Quattrocento Sans" pitchFamily="34" charset="0"/>
                <a:ea typeface="Quattrocento Sans" pitchFamily="34" charset="-122"/>
                <a:cs typeface="Quattrocento Sans" pitchFamily="34" charset="-120"/>
              </a:rPr>
              <a:t> Detects features regardless of position</a:t>
            </a:r>
            <a:endParaRPr lang="en-US" sz="1600" dirty="0"/>
          </a:p>
        </p:txBody>
      </p:sp>
      <p:sp>
        <p:nvSpPr>
          <p:cNvPr id="27" name="Shape 25"/>
          <p:cNvSpPr/>
          <p:nvPr/>
        </p:nvSpPr>
        <p:spPr>
          <a:xfrm>
            <a:off x="6172200" y="1181100"/>
            <a:ext cx="5638800" cy="4000500"/>
          </a:xfrm>
          <a:custGeom>
            <a:avLst/>
            <a:gdLst/>
            <a:ahLst/>
            <a:cxnLst/>
            <a:rect l="l" t="t" r="r" b="b"/>
            <a:pathLst>
              <a:path w="5638800" h="4000500">
                <a:moveTo>
                  <a:pt x="76210" y="0"/>
                </a:moveTo>
                <a:lnTo>
                  <a:pt x="5562590" y="0"/>
                </a:lnTo>
                <a:cubicBezTo>
                  <a:pt x="5604680" y="0"/>
                  <a:pt x="5638800" y="34120"/>
                  <a:pt x="5638800" y="76210"/>
                </a:cubicBezTo>
                <a:lnTo>
                  <a:pt x="5638800" y="3924290"/>
                </a:lnTo>
                <a:cubicBezTo>
                  <a:pt x="5638800" y="3966380"/>
                  <a:pt x="5604680" y="4000500"/>
                  <a:pt x="5562590" y="4000500"/>
                </a:cubicBezTo>
                <a:lnTo>
                  <a:pt x="76210" y="4000500"/>
                </a:lnTo>
                <a:cubicBezTo>
                  <a:pt x="34120" y="4000500"/>
                  <a:pt x="0" y="3966380"/>
                  <a:pt x="0" y="3924290"/>
                </a:cubicBezTo>
                <a:lnTo>
                  <a:pt x="0" y="76210"/>
                </a:lnTo>
                <a:cubicBezTo>
                  <a:pt x="0" y="34148"/>
                  <a:pt x="34148" y="0"/>
                  <a:pt x="76210" y="0"/>
                </a:cubicBezTo>
                <a:close/>
              </a:path>
            </a:pathLst>
          </a:custGeom>
          <a:solidFill>
            <a:srgbClr val="4DB6AC">
              <a:alpha val="10196"/>
            </a:srgbClr>
          </a:solidFill>
          <a:ln/>
        </p:spPr>
      </p:sp>
      <p:sp>
        <p:nvSpPr>
          <p:cNvPr id="28" name="Text 26"/>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CNN Architecture Example</a:t>
            </a:r>
            <a:endParaRPr lang="en-US" sz="1600" dirty="0"/>
          </a:p>
        </p:txBody>
      </p:sp>
      <p:sp>
        <p:nvSpPr>
          <p:cNvPr id="29" name="Shape 27"/>
          <p:cNvSpPr/>
          <p:nvPr/>
        </p:nvSpPr>
        <p:spPr>
          <a:xfrm>
            <a:off x="7172325" y="1876425"/>
            <a:ext cx="3638550" cy="514350"/>
          </a:xfrm>
          <a:custGeom>
            <a:avLst/>
            <a:gdLst/>
            <a:ahLst/>
            <a:cxnLst/>
            <a:rect l="l" t="t" r="r" b="b"/>
            <a:pathLst>
              <a:path w="3638550" h="514350">
                <a:moveTo>
                  <a:pt x="76201" y="0"/>
                </a:moveTo>
                <a:lnTo>
                  <a:pt x="3562349" y="0"/>
                </a:lnTo>
                <a:cubicBezTo>
                  <a:pt x="3604434" y="0"/>
                  <a:pt x="3638550" y="34116"/>
                  <a:pt x="3638550" y="76201"/>
                </a:cubicBezTo>
                <a:lnTo>
                  <a:pt x="3638550" y="438149"/>
                </a:lnTo>
                <a:cubicBezTo>
                  <a:pt x="3638550" y="480234"/>
                  <a:pt x="3604434" y="514350"/>
                  <a:pt x="3562349" y="514350"/>
                </a:cubicBezTo>
                <a:lnTo>
                  <a:pt x="76201" y="514350"/>
                </a:lnTo>
                <a:cubicBezTo>
                  <a:pt x="34116" y="514350"/>
                  <a:pt x="0" y="480234"/>
                  <a:pt x="0" y="4381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30" name="Text 28"/>
          <p:cNvSpPr/>
          <p:nvPr/>
        </p:nvSpPr>
        <p:spPr>
          <a:xfrm>
            <a:off x="7224713" y="1962150"/>
            <a:ext cx="35337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Input Image</a:t>
            </a:r>
            <a:endParaRPr lang="en-US" sz="1600" dirty="0"/>
          </a:p>
        </p:txBody>
      </p:sp>
      <p:sp>
        <p:nvSpPr>
          <p:cNvPr id="31" name="Text 29"/>
          <p:cNvSpPr/>
          <p:nvPr/>
        </p:nvSpPr>
        <p:spPr>
          <a:xfrm>
            <a:off x="7229475" y="2152650"/>
            <a:ext cx="35242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224 × 224 × 3 (RGB)</a:t>
            </a:r>
            <a:endParaRPr lang="en-US" sz="1600" dirty="0"/>
          </a:p>
        </p:txBody>
      </p:sp>
      <p:sp>
        <p:nvSpPr>
          <p:cNvPr id="32" name="Text 30"/>
          <p:cNvSpPr/>
          <p:nvPr/>
        </p:nvSpPr>
        <p:spPr>
          <a:xfrm>
            <a:off x="8392716" y="2476500"/>
            <a:ext cx="1295400" cy="266700"/>
          </a:xfrm>
          <a:prstGeom prst="rect">
            <a:avLst/>
          </a:prstGeom>
          <a:noFill/>
          <a:ln/>
        </p:spPr>
        <p:txBody>
          <a:bodyPr wrap="square" lIns="0" tIns="0" rIns="0" bIns="0" rtlCol="0" anchor="ctr"/>
          <a:lstStyle/>
          <a:p>
            <a:pPr>
              <a:lnSpc>
                <a:spcPct val="120000"/>
              </a:lnSpc>
            </a:pPr>
            <a:r>
              <a:rPr lang="en-US" sz="1500" dirty="0">
                <a:solidFill>
                  <a:srgbClr val="4DB6AC"/>
                </a:solidFill>
                <a:latin typeface="Quattrocento Sans" pitchFamily="34" charset="0"/>
                <a:ea typeface="Quattrocento Sans" pitchFamily="34" charset="-122"/>
                <a:cs typeface="Quattrocento Sans" pitchFamily="34" charset="-120"/>
              </a:rPr>
              <a:t>↓ Conv + ReLU</a:t>
            </a:r>
            <a:endParaRPr lang="en-US" sz="1600" dirty="0"/>
          </a:p>
        </p:txBody>
      </p:sp>
      <p:sp>
        <p:nvSpPr>
          <p:cNvPr id="33" name="Shape 31"/>
          <p:cNvSpPr/>
          <p:nvPr/>
        </p:nvSpPr>
        <p:spPr>
          <a:xfrm>
            <a:off x="7477125" y="2828925"/>
            <a:ext cx="3028950" cy="514350"/>
          </a:xfrm>
          <a:custGeom>
            <a:avLst/>
            <a:gdLst/>
            <a:ahLst/>
            <a:cxnLst/>
            <a:rect l="l" t="t" r="r" b="b"/>
            <a:pathLst>
              <a:path w="3028950" h="514350">
                <a:moveTo>
                  <a:pt x="76201" y="0"/>
                </a:moveTo>
                <a:lnTo>
                  <a:pt x="2952749" y="0"/>
                </a:lnTo>
                <a:cubicBezTo>
                  <a:pt x="2994834" y="0"/>
                  <a:pt x="3028950" y="34116"/>
                  <a:pt x="3028950" y="76201"/>
                </a:cubicBezTo>
                <a:lnTo>
                  <a:pt x="3028950" y="438149"/>
                </a:lnTo>
                <a:cubicBezTo>
                  <a:pt x="3028950" y="480234"/>
                  <a:pt x="2994834" y="514350"/>
                  <a:pt x="2952749" y="514350"/>
                </a:cubicBezTo>
                <a:lnTo>
                  <a:pt x="76201" y="514350"/>
                </a:lnTo>
                <a:cubicBezTo>
                  <a:pt x="34116" y="514350"/>
                  <a:pt x="0" y="480234"/>
                  <a:pt x="0" y="4381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34" name="Text 32"/>
          <p:cNvSpPr/>
          <p:nvPr/>
        </p:nvSpPr>
        <p:spPr>
          <a:xfrm>
            <a:off x="7529513" y="2914650"/>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Feature Maps</a:t>
            </a:r>
            <a:endParaRPr lang="en-US" sz="1600" dirty="0"/>
          </a:p>
        </p:txBody>
      </p:sp>
      <p:sp>
        <p:nvSpPr>
          <p:cNvPr id="35" name="Text 33"/>
          <p:cNvSpPr/>
          <p:nvPr/>
        </p:nvSpPr>
        <p:spPr>
          <a:xfrm>
            <a:off x="7534275" y="3105150"/>
            <a:ext cx="29146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112 × 112 × 64</a:t>
            </a:r>
            <a:endParaRPr lang="en-US" sz="1600" dirty="0"/>
          </a:p>
        </p:txBody>
      </p:sp>
      <p:sp>
        <p:nvSpPr>
          <p:cNvPr id="36" name="Text 34"/>
          <p:cNvSpPr/>
          <p:nvPr/>
        </p:nvSpPr>
        <p:spPr>
          <a:xfrm>
            <a:off x="8540353" y="3429000"/>
            <a:ext cx="1000125" cy="266700"/>
          </a:xfrm>
          <a:prstGeom prst="rect">
            <a:avLst/>
          </a:prstGeom>
          <a:noFill/>
          <a:ln/>
        </p:spPr>
        <p:txBody>
          <a:bodyPr wrap="square" lIns="0" tIns="0" rIns="0" bIns="0" rtlCol="0" anchor="ctr"/>
          <a:lstStyle/>
          <a:p>
            <a:pPr>
              <a:lnSpc>
                <a:spcPct val="120000"/>
              </a:lnSpc>
            </a:pPr>
            <a:r>
              <a:rPr lang="en-US" sz="1500" dirty="0">
                <a:solidFill>
                  <a:srgbClr val="FFD54F"/>
                </a:solidFill>
                <a:latin typeface="Quattrocento Sans" pitchFamily="34" charset="0"/>
                <a:ea typeface="Quattrocento Sans" pitchFamily="34" charset="-122"/>
                <a:cs typeface="Quattrocento Sans" pitchFamily="34" charset="-120"/>
              </a:rPr>
              <a:t>↓ Max Pool</a:t>
            </a:r>
            <a:endParaRPr lang="en-US" sz="1600" dirty="0"/>
          </a:p>
        </p:txBody>
      </p:sp>
      <p:sp>
        <p:nvSpPr>
          <p:cNvPr id="37" name="Shape 35"/>
          <p:cNvSpPr/>
          <p:nvPr/>
        </p:nvSpPr>
        <p:spPr>
          <a:xfrm>
            <a:off x="7477125" y="3781425"/>
            <a:ext cx="3028950" cy="514350"/>
          </a:xfrm>
          <a:custGeom>
            <a:avLst/>
            <a:gdLst/>
            <a:ahLst/>
            <a:cxnLst/>
            <a:rect l="l" t="t" r="r" b="b"/>
            <a:pathLst>
              <a:path w="3028950" h="514350">
                <a:moveTo>
                  <a:pt x="76201" y="0"/>
                </a:moveTo>
                <a:lnTo>
                  <a:pt x="2952749" y="0"/>
                </a:lnTo>
                <a:cubicBezTo>
                  <a:pt x="2994834" y="0"/>
                  <a:pt x="3028950" y="34116"/>
                  <a:pt x="3028950" y="76201"/>
                </a:cubicBezTo>
                <a:lnTo>
                  <a:pt x="3028950" y="438149"/>
                </a:lnTo>
                <a:cubicBezTo>
                  <a:pt x="3028950" y="480234"/>
                  <a:pt x="2994834" y="514350"/>
                  <a:pt x="2952749" y="514350"/>
                </a:cubicBezTo>
                <a:lnTo>
                  <a:pt x="76201" y="514350"/>
                </a:lnTo>
                <a:cubicBezTo>
                  <a:pt x="34116" y="514350"/>
                  <a:pt x="0" y="480234"/>
                  <a:pt x="0" y="4381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38" name="Text 36"/>
          <p:cNvSpPr/>
          <p:nvPr/>
        </p:nvSpPr>
        <p:spPr>
          <a:xfrm>
            <a:off x="7529513" y="3867150"/>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Pooled Features</a:t>
            </a:r>
            <a:endParaRPr lang="en-US" sz="1600" dirty="0"/>
          </a:p>
        </p:txBody>
      </p:sp>
      <p:sp>
        <p:nvSpPr>
          <p:cNvPr id="39" name="Text 37"/>
          <p:cNvSpPr/>
          <p:nvPr/>
        </p:nvSpPr>
        <p:spPr>
          <a:xfrm>
            <a:off x="7534275" y="4057650"/>
            <a:ext cx="29146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56 × 56 × 64</a:t>
            </a:r>
            <a:endParaRPr lang="en-US" sz="1600" dirty="0"/>
          </a:p>
        </p:txBody>
      </p:sp>
      <p:sp>
        <p:nvSpPr>
          <p:cNvPr id="40" name="Text 38"/>
          <p:cNvSpPr/>
          <p:nvPr/>
        </p:nvSpPr>
        <p:spPr>
          <a:xfrm>
            <a:off x="8287196" y="4381500"/>
            <a:ext cx="1504950" cy="266700"/>
          </a:xfrm>
          <a:prstGeom prst="rect">
            <a:avLst/>
          </a:prstGeom>
          <a:noFill/>
          <a:ln/>
        </p:spPr>
        <p:txBody>
          <a:bodyPr wrap="square" lIns="0" tIns="0" rIns="0" bIns="0" rtlCol="0" anchor="ctr"/>
          <a:lstStyle/>
          <a:p>
            <a:pPr>
              <a:lnSpc>
                <a:spcPct val="120000"/>
              </a:lnSpc>
            </a:pPr>
            <a:r>
              <a:rPr lang="en-US" sz="1500" dirty="0">
                <a:solidFill>
                  <a:srgbClr val="FFD54F"/>
                </a:solidFill>
                <a:latin typeface="Quattrocento Sans" pitchFamily="34" charset="0"/>
                <a:ea typeface="Quattrocento Sans" pitchFamily="34" charset="-122"/>
                <a:cs typeface="Quattrocento Sans" pitchFamily="34" charset="-120"/>
              </a:rPr>
              <a:t>↓ [Repeat Layers]</a:t>
            </a:r>
            <a:endParaRPr lang="en-US" sz="1600" dirty="0"/>
          </a:p>
        </p:txBody>
      </p:sp>
      <p:sp>
        <p:nvSpPr>
          <p:cNvPr id="41" name="Shape 39"/>
          <p:cNvSpPr/>
          <p:nvPr/>
        </p:nvSpPr>
        <p:spPr>
          <a:xfrm>
            <a:off x="7172325" y="4733925"/>
            <a:ext cx="3638550" cy="514350"/>
          </a:xfrm>
          <a:custGeom>
            <a:avLst/>
            <a:gdLst/>
            <a:ahLst/>
            <a:cxnLst/>
            <a:rect l="l" t="t" r="r" b="b"/>
            <a:pathLst>
              <a:path w="3638550" h="514350">
                <a:moveTo>
                  <a:pt x="76201" y="0"/>
                </a:moveTo>
                <a:lnTo>
                  <a:pt x="3562349" y="0"/>
                </a:lnTo>
                <a:cubicBezTo>
                  <a:pt x="3604434" y="0"/>
                  <a:pt x="3638550" y="34116"/>
                  <a:pt x="3638550" y="76201"/>
                </a:cubicBezTo>
                <a:lnTo>
                  <a:pt x="3638550" y="438149"/>
                </a:lnTo>
                <a:cubicBezTo>
                  <a:pt x="3638550" y="480234"/>
                  <a:pt x="3604434" y="514350"/>
                  <a:pt x="3562349" y="514350"/>
                </a:cubicBezTo>
                <a:lnTo>
                  <a:pt x="76201" y="514350"/>
                </a:lnTo>
                <a:cubicBezTo>
                  <a:pt x="34116" y="514350"/>
                  <a:pt x="0" y="480234"/>
                  <a:pt x="0" y="4381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42" name="Text 40"/>
          <p:cNvSpPr/>
          <p:nvPr/>
        </p:nvSpPr>
        <p:spPr>
          <a:xfrm>
            <a:off x="7224713" y="4819650"/>
            <a:ext cx="35337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Fully Connected</a:t>
            </a:r>
            <a:endParaRPr lang="en-US" sz="1600" dirty="0"/>
          </a:p>
        </p:txBody>
      </p:sp>
      <p:sp>
        <p:nvSpPr>
          <p:cNvPr id="43" name="Text 41"/>
          <p:cNvSpPr/>
          <p:nvPr/>
        </p:nvSpPr>
        <p:spPr>
          <a:xfrm>
            <a:off x="7229475" y="5010150"/>
            <a:ext cx="35242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Classification</a:t>
            </a:r>
            <a:endParaRPr lang="en-US" sz="1600" dirty="0"/>
          </a:p>
        </p:txBody>
      </p:sp>
      <p:sp>
        <p:nvSpPr>
          <p:cNvPr id="44" name="Shape 42"/>
          <p:cNvSpPr/>
          <p:nvPr/>
        </p:nvSpPr>
        <p:spPr>
          <a:xfrm>
            <a:off x="6176963" y="5262563"/>
            <a:ext cx="5629275" cy="1266825"/>
          </a:xfrm>
          <a:custGeom>
            <a:avLst/>
            <a:gdLst/>
            <a:ahLst/>
            <a:cxnLst/>
            <a:rect l="l" t="t" r="r" b="b"/>
            <a:pathLst>
              <a:path w="5629275" h="1266825">
                <a:moveTo>
                  <a:pt x="76200" y="0"/>
                </a:moveTo>
                <a:lnTo>
                  <a:pt x="5553075" y="0"/>
                </a:lnTo>
                <a:cubicBezTo>
                  <a:pt x="5595159" y="0"/>
                  <a:pt x="5629275" y="34116"/>
                  <a:pt x="5629275" y="76200"/>
                </a:cubicBezTo>
                <a:lnTo>
                  <a:pt x="5629275" y="1190625"/>
                </a:lnTo>
                <a:cubicBezTo>
                  <a:pt x="5629275" y="1232709"/>
                  <a:pt x="5595159" y="1266825"/>
                  <a:pt x="5553075" y="1266825"/>
                </a:cubicBezTo>
                <a:lnTo>
                  <a:pt x="76200" y="1266825"/>
                </a:lnTo>
                <a:cubicBezTo>
                  <a:pt x="34116" y="1266825"/>
                  <a:pt x="0" y="1232709"/>
                  <a:pt x="0" y="1190625"/>
                </a:cubicBezTo>
                <a:lnTo>
                  <a:pt x="0" y="76200"/>
                </a:lnTo>
                <a:cubicBezTo>
                  <a:pt x="0" y="34144"/>
                  <a:pt x="34144" y="0"/>
                  <a:pt x="76200" y="0"/>
                </a:cubicBezTo>
                <a:close/>
              </a:path>
            </a:pathLst>
          </a:custGeom>
          <a:solidFill>
            <a:srgbClr val="FFD54F">
              <a:alpha val="10196"/>
            </a:srgbClr>
          </a:solidFill>
          <a:ln w="12700">
            <a:solidFill>
              <a:srgbClr val="FFD54F">
                <a:alpha val="30196"/>
              </a:srgbClr>
            </a:solidFill>
            <a:prstDash val="solid"/>
          </a:ln>
        </p:spPr>
      </p:sp>
      <p:sp>
        <p:nvSpPr>
          <p:cNvPr id="45" name="Text 43"/>
          <p:cNvSpPr/>
          <p:nvPr/>
        </p:nvSpPr>
        <p:spPr>
          <a:xfrm>
            <a:off x="6296025" y="538162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Popular CNN Architectures</a:t>
            </a:r>
            <a:endParaRPr lang="en-US" sz="1600" dirty="0"/>
          </a:p>
        </p:txBody>
      </p:sp>
      <p:sp>
        <p:nvSpPr>
          <p:cNvPr id="46" name="Shape 44"/>
          <p:cNvSpPr/>
          <p:nvPr/>
        </p:nvSpPr>
        <p:spPr>
          <a:xfrm>
            <a:off x="6296025" y="57435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DB6AC"/>
          </a:solidFill>
          <a:ln/>
        </p:spPr>
      </p:sp>
      <p:sp>
        <p:nvSpPr>
          <p:cNvPr id="47" name="Text 45"/>
          <p:cNvSpPr/>
          <p:nvPr/>
        </p:nvSpPr>
        <p:spPr>
          <a:xfrm>
            <a:off x="6448425" y="5686425"/>
            <a:ext cx="7810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LeNet (1998)</a:t>
            </a:r>
            <a:endParaRPr lang="en-US" sz="1600" dirty="0"/>
          </a:p>
        </p:txBody>
      </p:sp>
      <p:sp>
        <p:nvSpPr>
          <p:cNvPr id="48" name="Shape 46"/>
          <p:cNvSpPr/>
          <p:nvPr/>
        </p:nvSpPr>
        <p:spPr>
          <a:xfrm>
            <a:off x="9029700" y="57435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DB6AC"/>
          </a:solidFill>
          <a:ln/>
        </p:spPr>
      </p:sp>
      <p:sp>
        <p:nvSpPr>
          <p:cNvPr id="49" name="Text 47"/>
          <p:cNvSpPr/>
          <p:nvPr/>
        </p:nvSpPr>
        <p:spPr>
          <a:xfrm>
            <a:off x="9182100" y="5686425"/>
            <a:ext cx="904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AlexNet (2012)</a:t>
            </a:r>
            <a:endParaRPr lang="en-US" sz="1600" dirty="0"/>
          </a:p>
        </p:txBody>
      </p:sp>
      <p:sp>
        <p:nvSpPr>
          <p:cNvPr id="50" name="Shape 48"/>
          <p:cNvSpPr/>
          <p:nvPr/>
        </p:nvSpPr>
        <p:spPr>
          <a:xfrm>
            <a:off x="6296025" y="60102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FFD54F"/>
          </a:solidFill>
          <a:ln/>
        </p:spPr>
      </p:sp>
      <p:sp>
        <p:nvSpPr>
          <p:cNvPr id="51" name="Text 49"/>
          <p:cNvSpPr/>
          <p:nvPr/>
        </p:nvSpPr>
        <p:spPr>
          <a:xfrm>
            <a:off x="6448425" y="5953125"/>
            <a:ext cx="9144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VGGNet (2014)</a:t>
            </a:r>
            <a:endParaRPr lang="en-US" sz="1600" dirty="0"/>
          </a:p>
        </p:txBody>
      </p:sp>
      <p:sp>
        <p:nvSpPr>
          <p:cNvPr id="52" name="Shape 50"/>
          <p:cNvSpPr/>
          <p:nvPr/>
        </p:nvSpPr>
        <p:spPr>
          <a:xfrm>
            <a:off x="9029700" y="60102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FFD54F"/>
          </a:solidFill>
          <a:ln/>
        </p:spPr>
      </p:sp>
      <p:sp>
        <p:nvSpPr>
          <p:cNvPr id="53" name="Text 51"/>
          <p:cNvSpPr/>
          <p:nvPr/>
        </p:nvSpPr>
        <p:spPr>
          <a:xfrm>
            <a:off x="9182100" y="5953125"/>
            <a:ext cx="8667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ResNet (2015)</a:t>
            </a:r>
            <a:endParaRPr lang="en-US" sz="1600" dirty="0"/>
          </a:p>
        </p:txBody>
      </p:sp>
      <p:sp>
        <p:nvSpPr>
          <p:cNvPr id="54" name="Shape 52"/>
          <p:cNvSpPr/>
          <p:nvPr/>
        </p:nvSpPr>
        <p:spPr>
          <a:xfrm>
            <a:off x="6296025" y="62769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DB6AC"/>
          </a:solidFill>
          <a:ln/>
        </p:spPr>
      </p:sp>
      <p:sp>
        <p:nvSpPr>
          <p:cNvPr id="55" name="Text 53"/>
          <p:cNvSpPr/>
          <p:nvPr/>
        </p:nvSpPr>
        <p:spPr>
          <a:xfrm>
            <a:off x="6448425" y="6219825"/>
            <a:ext cx="9906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Inception (2014)</a:t>
            </a:r>
            <a:endParaRPr lang="en-US" sz="1600" dirty="0"/>
          </a:p>
        </p:txBody>
      </p:sp>
      <p:sp>
        <p:nvSpPr>
          <p:cNvPr id="56" name="Shape 54"/>
          <p:cNvSpPr/>
          <p:nvPr/>
        </p:nvSpPr>
        <p:spPr>
          <a:xfrm>
            <a:off x="9029700" y="6276975"/>
            <a:ext cx="76200" cy="76200"/>
          </a:xfrm>
          <a:custGeom>
            <a:avLst/>
            <a:gdLst/>
            <a:ahLst/>
            <a:cxnLst/>
            <a:rect l="l" t="t" r="r" b="b"/>
            <a:pathLst>
              <a:path w="76200" h="76200">
                <a:moveTo>
                  <a:pt x="38100" y="0"/>
                </a:moveTo>
                <a:lnTo>
                  <a:pt x="38100" y="0"/>
                </a:lnTo>
                <a:cubicBezTo>
                  <a:pt x="59128" y="0"/>
                  <a:pt x="76200" y="17072"/>
                  <a:pt x="76200" y="38100"/>
                </a:cubicBezTo>
                <a:lnTo>
                  <a:pt x="76200" y="38100"/>
                </a:lnTo>
                <a:cubicBezTo>
                  <a:pt x="76200" y="59128"/>
                  <a:pt x="59128" y="76200"/>
                  <a:pt x="38100" y="76200"/>
                </a:cubicBezTo>
                <a:lnTo>
                  <a:pt x="38100" y="76200"/>
                </a:lnTo>
                <a:cubicBezTo>
                  <a:pt x="17072" y="76200"/>
                  <a:pt x="0" y="59128"/>
                  <a:pt x="0" y="38100"/>
                </a:cubicBezTo>
                <a:lnTo>
                  <a:pt x="0" y="38100"/>
                </a:lnTo>
                <a:cubicBezTo>
                  <a:pt x="0" y="17072"/>
                  <a:pt x="17072" y="0"/>
                  <a:pt x="38100" y="0"/>
                </a:cubicBezTo>
                <a:close/>
              </a:path>
            </a:pathLst>
          </a:custGeom>
          <a:solidFill>
            <a:srgbClr val="4DB6AC"/>
          </a:solidFill>
          <a:ln/>
        </p:spPr>
      </p:sp>
      <p:sp>
        <p:nvSpPr>
          <p:cNvPr id="57" name="Text 55"/>
          <p:cNvSpPr/>
          <p:nvPr/>
        </p:nvSpPr>
        <p:spPr>
          <a:xfrm>
            <a:off x="9182100" y="6219825"/>
            <a:ext cx="1114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EfficientNet (2019)</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36099" y="336099"/>
            <a:ext cx="11671046" cy="336099"/>
          </a:xfrm>
          <a:prstGeom prst="rect">
            <a:avLst/>
          </a:prstGeom>
          <a:noFill/>
          <a:ln/>
        </p:spPr>
        <p:txBody>
          <a:bodyPr wrap="square" lIns="0" tIns="0" rIns="0" bIns="0" rtlCol="0" anchor="ctr"/>
          <a:lstStyle/>
          <a:p>
            <a:pPr>
              <a:lnSpc>
                <a:spcPct val="90000"/>
              </a:lnSpc>
            </a:pPr>
            <a:r>
              <a:rPr lang="en-US" sz="2382" b="1" dirty="0">
                <a:solidFill>
                  <a:srgbClr val="ECEFF1"/>
                </a:solidFill>
                <a:latin typeface="Liter" pitchFamily="34" charset="0"/>
                <a:ea typeface="Liter" pitchFamily="34" charset="-122"/>
                <a:cs typeface="Liter" pitchFamily="34" charset="-120"/>
              </a:rPr>
              <a:t>Recurrent Neural Networks (RNN)</a:t>
            </a:r>
            <a:endParaRPr lang="en-US" sz="1600" dirty="0"/>
          </a:p>
        </p:txBody>
      </p:sp>
      <p:sp>
        <p:nvSpPr>
          <p:cNvPr id="3" name="Text 1"/>
          <p:cNvSpPr/>
          <p:nvPr/>
        </p:nvSpPr>
        <p:spPr>
          <a:xfrm>
            <a:off x="336099" y="705808"/>
            <a:ext cx="11620631" cy="268879"/>
          </a:xfrm>
          <a:prstGeom prst="rect">
            <a:avLst/>
          </a:prstGeom>
          <a:noFill/>
          <a:ln/>
        </p:spPr>
        <p:txBody>
          <a:bodyPr wrap="square" lIns="0" tIns="0" rIns="0" bIns="0" rtlCol="0" anchor="ctr"/>
          <a:lstStyle/>
          <a:p>
            <a:pPr>
              <a:lnSpc>
                <a:spcPct val="110000"/>
              </a:lnSpc>
            </a:pPr>
            <a:r>
              <a:rPr lang="en-US" sz="1588" b="1" dirty="0">
                <a:solidFill>
                  <a:srgbClr val="4DB6AC"/>
                </a:solidFill>
                <a:latin typeface="Hedvig Letters Sans" pitchFamily="34" charset="0"/>
                <a:ea typeface="Hedvig Letters Sans" pitchFamily="34" charset="-122"/>
                <a:cs typeface="Hedvig Letters Sans" pitchFamily="34" charset="-120"/>
              </a:rPr>
              <a:t>Rrjetet Nervore Rekurrente</a:t>
            </a:r>
            <a:endParaRPr lang="en-US" sz="1600" dirty="0"/>
          </a:p>
        </p:txBody>
      </p:sp>
      <p:sp>
        <p:nvSpPr>
          <p:cNvPr id="4" name="Shape 2"/>
          <p:cNvSpPr/>
          <p:nvPr/>
        </p:nvSpPr>
        <p:spPr>
          <a:xfrm>
            <a:off x="352904" y="1041908"/>
            <a:ext cx="5671675" cy="1344397"/>
          </a:xfrm>
          <a:custGeom>
            <a:avLst/>
            <a:gdLst/>
            <a:ahLst/>
            <a:cxnLst/>
            <a:rect l="l" t="t" r="r" b="b"/>
            <a:pathLst>
              <a:path w="5671675" h="1344397">
                <a:moveTo>
                  <a:pt x="0" y="0"/>
                </a:moveTo>
                <a:lnTo>
                  <a:pt x="5604455" y="0"/>
                </a:lnTo>
                <a:cubicBezTo>
                  <a:pt x="5641579" y="0"/>
                  <a:pt x="5671675" y="30095"/>
                  <a:pt x="5671675" y="67220"/>
                </a:cubicBezTo>
                <a:lnTo>
                  <a:pt x="5671675" y="1277177"/>
                </a:lnTo>
                <a:cubicBezTo>
                  <a:pt x="5671675" y="1314302"/>
                  <a:pt x="5641579" y="1344397"/>
                  <a:pt x="5604455" y="1344397"/>
                </a:cubicBezTo>
                <a:lnTo>
                  <a:pt x="0" y="1344397"/>
                </a:lnTo>
                <a:lnTo>
                  <a:pt x="0" y="0"/>
                </a:lnTo>
                <a:close/>
              </a:path>
            </a:pathLst>
          </a:custGeom>
          <a:solidFill>
            <a:srgbClr val="4DB6AC">
              <a:alpha val="10196"/>
            </a:srgbClr>
          </a:solidFill>
          <a:ln/>
        </p:spPr>
      </p:sp>
      <p:sp>
        <p:nvSpPr>
          <p:cNvPr id="5" name="Shape 3"/>
          <p:cNvSpPr/>
          <p:nvPr/>
        </p:nvSpPr>
        <p:spPr>
          <a:xfrm>
            <a:off x="352904" y="1041908"/>
            <a:ext cx="33610" cy="1344397"/>
          </a:xfrm>
          <a:custGeom>
            <a:avLst/>
            <a:gdLst/>
            <a:ahLst/>
            <a:cxnLst/>
            <a:rect l="l" t="t" r="r" b="b"/>
            <a:pathLst>
              <a:path w="33610" h="1344397">
                <a:moveTo>
                  <a:pt x="0" y="0"/>
                </a:moveTo>
                <a:lnTo>
                  <a:pt x="33610" y="0"/>
                </a:lnTo>
                <a:lnTo>
                  <a:pt x="33610" y="1344397"/>
                </a:lnTo>
                <a:lnTo>
                  <a:pt x="0" y="1344397"/>
                </a:lnTo>
                <a:lnTo>
                  <a:pt x="0" y="0"/>
                </a:lnTo>
                <a:close/>
              </a:path>
            </a:pathLst>
          </a:custGeom>
          <a:solidFill>
            <a:srgbClr val="4DB6AC"/>
          </a:solidFill>
          <a:ln/>
        </p:spPr>
      </p:sp>
      <p:sp>
        <p:nvSpPr>
          <p:cNvPr id="6" name="Text 4"/>
          <p:cNvSpPr/>
          <p:nvPr/>
        </p:nvSpPr>
        <p:spPr>
          <a:xfrm>
            <a:off x="470539" y="1142737"/>
            <a:ext cx="5520430" cy="554564"/>
          </a:xfrm>
          <a:prstGeom prst="rect">
            <a:avLst/>
          </a:prstGeom>
          <a:noFill/>
          <a:ln/>
        </p:spPr>
        <p:txBody>
          <a:bodyPr wrap="square" lIns="0" tIns="0" rIns="0" bIns="0" rtlCol="0" anchor="ctr"/>
          <a:lstStyle/>
          <a:p>
            <a:pPr>
              <a:lnSpc>
                <a:spcPct val="110000"/>
              </a:lnSpc>
            </a:pPr>
            <a:r>
              <a:rPr lang="en-US" sz="1059" b="1" dirty="0">
                <a:solidFill>
                  <a:srgbClr val="4DB6AC"/>
                </a:solidFill>
                <a:latin typeface="Quattrocento Sans" pitchFamily="34" charset="0"/>
                <a:ea typeface="Quattrocento Sans" pitchFamily="34" charset="-122"/>
                <a:cs typeface="Quattrocento Sans" pitchFamily="34" charset="-120"/>
              </a:rPr>
              <a:t>English:</a:t>
            </a:r>
            <a:r>
              <a:rPr lang="en-US" sz="1059" dirty="0">
                <a:solidFill>
                  <a:srgbClr val="ECEFF1"/>
                </a:solidFill>
                <a:latin typeface="Quattrocento Sans" pitchFamily="34" charset="0"/>
                <a:ea typeface="Quattrocento Sans" pitchFamily="34" charset="-122"/>
                <a:cs typeface="Quattrocento Sans" pitchFamily="34" charset="-120"/>
              </a:rPr>
              <a:t> RNNs are designed for sequential data processing. Unlike feedforward networks, RNNs have loops that allow information to persist, making them ideal for time series, natural language, and speech recognition tasks.</a:t>
            </a:r>
            <a:endParaRPr lang="en-US" sz="1600" dirty="0"/>
          </a:p>
        </p:txBody>
      </p:sp>
      <p:sp>
        <p:nvSpPr>
          <p:cNvPr id="7" name="Text 5"/>
          <p:cNvSpPr/>
          <p:nvPr/>
        </p:nvSpPr>
        <p:spPr>
          <a:xfrm>
            <a:off x="470539" y="1730911"/>
            <a:ext cx="5520430" cy="554564"/>
          </a:xfrm>
          <a:prstGeom prst="rect">
            <a:avLst/>
          </a:prstGeom>
          <a:noFill/>
          <a:ln/>
        </p:spPr>
        <p:txBody>
          <a:bodyPr wrap="square" lIns="0" tIns="0" rIns="0" bIns="0" rtlCol="0" anchor="ctr"/>
          <a:lstStyle/>
          <a:p>
            <a:pPr>
              <a:lnSpc>
                <a:spcPct val="110000"/>
              </a:lnSpc>
            </a:pPr>
            <a:r>
              <a:rPr lang="en-US" sz="1059" b="1" dirty="0">
                <a:solidFill>
                  <a:srgbClr val="FFD54F"/>
                </a:solidFill>
                <a:latin typeface="Quattrocento Sans" pitchFamily="34" charset="0"/>
                <a:ea typeface="Quattrocento Sans" pitchFamily="34" charset="-122"/>
                <a:cs typeface="Quattrocento Sans" pitchFamily="34" charset="-120"/>
              </a:rPr>
              <a:t>Shqip:</a:t>
            </a:r>
            <a:r>
              <a:rPr lang="en-US" sz="1059" dirty="0">
                <a:solidFill>
                  <a:srgbClr val="78909C"/>
                </a:solidFill>
                <a:latin typeface="Quattrocento Sans" pitchFamily="34" charset="0"/>
                <a:ea typeface="Quattrocento Sans" pitchFamily="34" charset="-122"/>
                <a:cs typeface="Quattrocento Sans" pitchFamily="34" charset="-120"/>
              </a:rPr>
              <a:t> RNN-të janë të projektuara për përpunimin e të dhënave sekuenciale. Ndryshe nga rrjetet feedforward, RNN-të kanë cikle që lejojnë informacionin të vazhdojë, duke i bërë ato ideale për seritë kohore, gjuhën natyrore dhe detyrat e njohjes së të folurës.</a:t>
            </a:r>
            <a:endParaRPr lang="en-US" sz="1600" dirty="0"/>
          </a:p>
        </p:txBody>
      </p:sp>
      <p:sp>
        <p:nvSpPr>
          <p:cNvPr id="8" name="Shape 6"/>
          <p:cNvSpPr/>
          <p:nvPr/>
        </p:nvSpPr>
        <p:spPr>
          <a:xfrm>
            <a:off x="340300" y="2457726"/>
            <a:ext cx="5680077" cy="2260267"/>
          </a:xfrm>
          <a:custGeom>
            <a:avLst/>
            <a:gdLst/>
            <a:ahLst/>
            <a:cxnLst/>
            <a:rect l="l" t="t" r="r" b="b"/>
            <a:pathLst>
              <a:path w="5680077" h="2260267">
                <a:moveTo>
                  <a:pt x="67220" y="0"/>
                </a:moveTo>
                <a:lnTo>
                  <a:pt x="5612857" y="0"/>
                </a:lnTo>
                <a:cubicBezTo>
                  <a:pt x="5649957" y="0"/>
                  <a:pt x="5680077" y="30120"/>
                  <a:pt x="5680077" y="67220"/>
                </a:cubicBezTo>
                <a:lnTo>
                  <a:pt x="5680077" y="2193047"/>
                </a:lnTo>
                <a:cubicBezTo>
                  <a:pt x="5680077" y="2230147"/>
                  <a:pt x="5649957" y="2260267"/>
                  <a:pt x="5612857" y="2260267"/>
                </a:cubicBezTo>
                <a:lnTo>
                  <a:pt x="67220" y="2260267"/>
                </a:lnTo>
                <a:cubicBezTo>
                  <a:pt x="30120" y="2260267"/>
                  <a:pt x="0" y="2230147"/>
                  <a:pt x="0" y="2193047"/>
                </a:cubicBezTo>
                <a:lnTo>
                  <a:pt x="0" y="67220"/>
                </a:lnTo>
                <a:cubicBezTo>
                  <a:pt x="0" y="30120"/>
                  <a:pt x="30120" y="0"/>
                  <a:pt x="67220"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45331" y="2562757"/>
            <a:ext cx="5545637" cy="235269"/>
          </a:xfrm>
          <a:prstGeom prst="rect">
            <a:avLst/>
          </a:prstGeom>
          <a:noFill/>
          <a:ln/>
        </p:spPr>
        <p:txBody>
          <a:bodyPr wrap="square" lIns="0" tIns="0" rIns="0" bIns="0" rtlCol="0" anchor="ctr"/>
          <a:lstStyle/>
          <a:p>
            <a:pPr>
              <a:lnSpc>
                <a:spcPct val="130000"/>
              </a:lnSpc>
            </a:pPr>
            <a:r>
              <a:rPr lang="en-US" sz="1191" b="1" dirty="0">
                <a:solidFill>
                  <a:srgbClr val="ECEFF1"/>
                </a:solidFill>
                <a:latin typeface="Liter" pitchFamily="34" charset="0"/>
                <a:ea typeface="Liter" pitchFamily="34" charset="-122"/>
                <a:cs typeface="Liter" pitchFamily="34" charset="-120"/>
              </a:rPr>
              <a:t>RNN Core Equation</a:t>
            </a:r>
            <a:endParaRPr lang="en-US" sz="1600" dirty="0"/>
          </a:p>
        </p:txBody>
      </p:sp>
      <p:sp>
        <p:nvSpPr>
          <p:cNvPr id="10" name="Shape 8"/>
          <p:cNvSpPr/>
          <p:nvPr/>
        </p:nvSpPr>
        <p:spPr>
          <a:xfrm>
            <a:off x="445331" y="2865246"/>
            <a:ext cx="5470015" cy="672198"/>
          </a:xfrm>
          <a:custGeom>
            <a:avLst/>
            <a:gdLst/>
            <a:ahLst/>
            <a:cxnLst/>
            <a:rect l="l" t="t" r="r" b="b"/>
            <a:pathLst>
              <a:path w="5470015" h="672198">
                <a:moveTo>
                  <a:pt x="67220" y="0"/>
                </a:moveTo>
                <a:lnTo>
                  <a:pt x="5402795" y="0"/>
                </a:lnTo>
                <a:cubicBezTo>
                  <a:pt x="5439920" y="0"/>
                  <a:pt x="5470015" y="30095"/>
                  <a:pt x="5470015" y="67220"/>
                </a:cubicBezTo>
                <a:lnTo>
                  <a:pt x="5470015" y="604979"/>
                </a:lnTo>
                <a:cubicBezTo>
                  <a:pt x="5470015" y="642103"/>
                  <a:pt x="5439920" y="672198"/>
                  <a:pt x="5402795" y="672198"/>
                </a:cubicBezTo>
                <a:lnTo>
                  <a:pt x="67220" y="672198"/>
                </a:lnTo>
                <a:cubicBezTo>
                  <a:pt x="30095" y="672198"/>
                  <a:pt x="0" y="642103"/>
                  <a:pt x="0" y="604979"/>
                </a:cubicBezTo>
                <a:lnTo>
                  <a:pt x="0" y="67220"/>
                </a:lnTo>
                <a:cubicBezTo>
                  <a:pt x="0" y="30095"/>
                  <a:pt x="30095" y="0"/>
                  <a:pt x="67220" y="0"/>
                </a:cubicBezTo>
                <a:close/>
              </a:path>
            </a:pathLst>
          </a:custGeom>
          <a:solidFill>
            <a:srgbClr val="1A1D21"/>
          </a:solidFill>
          <a:ln/>
        </p:spPr>
      </p:sp>
      <p:sp>
        <p:nvSpPr>
          <p:cNvPr id="11" name="Text 9"/>
          <p:cNvSpPr/>
          <p:nvPr/>
        </p:nvSpPr>
        <p:spPr>
          <a:xfrm>
            <a:off x="508350" y="2966076"/>
            <a:ext cx="5343978" cy="235269"/>
          </a:xfrm>
          <a:prstGeom prst="rect">
            <a:avLst/>
          </a:prstGeom>
          <a:noFill/>
          <a:ln/>
        </p:spPr>
        <p:txBody>
          <a:bodyPr wrap="square" lIns="0" tIns="0" rIns="0" bIns="0" rtlCol="0" anchor="ctr"/>
          <a:lstStyle/>
          <a:p>
            <a:pPr algn="ctr">
              <a:lnSpc>
                <a:spcPct val="130000"/>
              </a:lnSpc>
            </a:pPr>
            <a:r>
              <a:rPr lang="en-US" sz="1191" dirty="0">
                <a:solidFill>
                  <a:srgbClr val="FFD54F"/>
                </a:solidFill>
                <a:latin typeface="MiSans" pitchFamily="34" charset="0"/>
                <a:ea typeface="MiSans" pitchFamily="34" charset="-122"/>
                <a:cs typeface="MiSans" pitchFamily="34" charset="-120"/>
              </a:rPr>
              <a:t>hₜ = f(Wₕₕ·hₜ₋₁ + Wₓₕ·xₜ + b)</a:t>
            </a:r>
            <a:endParaRPr lang="en-US" sz="1600" dirty="0"/>
          </a:p>
        </p:txBody>
      </p:sp>
      <p:sp>
        <p:nvSpPr>
          <p:cNvPr id="12" name="Text 10"/>
          <p:cNvSpPr/>
          <p:nvPr/>
        </p:nvSpPr>
        <p:spPr>
          <a:xfrm>
            <a:off x="512551" y="3234955"/>
            <a:ext cx="5335575" cy="201660"/>
          </a:xfrm>
          <a:prstGeom prst="rect">
            <a:avLst/>
          </a:prstGeom>
          <a:noFill/>
          <a:ln/>
        </p:spPr>
        <p:txBody>
          <a:bodyPr wrap="square" lIns="0" tIns="0" rIns="0" bIns="0" rtlCol="0" anchor="ctr"/>
          <a:lstStyle/>
          <a:p>
            <a:pPr algn="ctr">
              <a:lnSpc>
                <a:spcPct val="130000"/>
              </a:lnSpc>
            </a:pPr>
            <a:r>
              <a:rPr lang="en-US" sz="1059" dirty="0">
                <a:solidFill>
                  <a:srgbClr val="4DB6AC"/>
                </a:solidFill>
                <a:latin typeface="MiSans" pitchFamily="34" charset="0"/>
                <a:ea typeface="MiSans" pitchFamily="34" charset="-122"/>
                <a:cs typeface="MiSans" pitchFamily="34" charset="-120"/>
              </a:rPr>
              <a:t>yₜ = Wₕᵧ·hₜ</a:t>
            </a:r>
            <a:endParaRPr lang="en-US" sz="1600" dirty="0"/>
          </a:p>
        </p:txBody>
      </p:sp>
      <p:sp>
        <p:nvSpPr>
          <p:cNvPr id="13" name="Shape 11"/>
          <p:cNvSpPr/>
          <p:nvPr/>
        </p:nvSpPr>
        <p:spPr>
          <a:xfrm>
            <a:off x="445331" y="3604664"/>
            <a:ext cx="2705599" cy="470539"/>
          </a:xfrm>
          <a:custGeom>
            <a:avLst/>
            <a:gdLst/>
            <a:ahLst/>
            <a:cxnLst/>
            <a:rect l="l" t="t" r="r" b="b"/>
            <a:pathLst>
              <a:path w="2705599" h="470539">
                <a:moveTo>
                  <a:pt x="33611" y="0"/>
                </a:moveTo>
                <a:lnTo>
                  <a:pt x="2671988" y="0"/>
                </a:lnTo>
                <a:cubicBezTo>
                  <a:pt x="2690551" y="0"/>
                  <a:pt x="2705599" y="15048"/>
                  <a:pt x="2705599" y="33611"/>
                </a:cubicBezTo>
                <a:lnTo>
                  <a:pt x="2705599" y="436928"/>
                </a:lnTo>
                <a:cubicBezTo>
                  <a:pt x="2705599" y="455491"/>
                  <a:pt x="2690551" y="470539"/>
                  <a:pt x="2671988" y="470539"/>
                </a:cubicBezTo>
                <a:lnTo>
                  <a:pt x="33611" y="470539"/>
                </a:lnTo>
                <a:cubicBezTo>
                  <a:pt x="15048" y="470539"/>
                  <a:pt x="0" y="455491"/>
                  <a:pt x="0" y="436928"/>
                </a:cubicBezTo>
                <a:lnTo>
                  <a:pt x="0" y="33611"/>
                </a:lnTo>
                <a:cubicBezTo>
                  <a:pt x="0" y="15060"/>
                  <a:pt x="15060" y="0"/>
                  <a:pt x="33611" y="0"/>
                </a:cubicBezTo>
                <a:close/>
              </a:path>
            </a:pathLst>
          </a:custGeom>
          <a:solidFill>
            <a:srgbClr val="4DB6AC">
              <a:alpha val="10196"/>
            </a:srgbClr>
          </a:solidFill>
          <a:ln/>
        </p:spPr>
      </p:sp>
      <p:sp>
        <p:nvSpPr>
          <p:cNvPr id="14" name="Text 12"/>
          <p:cNvSpPr/>
          <p:nvPr/>
        </p:nvSpPr>
        <p:spPr>
          <a:xfrm>
            <a:off x="512551" y="3671884"/>
            <a:ext cx="2629977" cy="168050"/>
          </a:xfrm>
          <a:prstGeom prst="rect">
            <a:avLst/>
          </a:prstGeom>
          <a:noFill/>
          <a:ln/>
        </p:spPr>
        <p:txBody>
          <a:bodyPr wrap="square" lIns="0" tIns="0" rIns="0" bIns="0" rtlCol="0" anchor="ctr"/>
          <a:lstStyle/>
          <a:p>
            <a:pPr>
              <a:lnSpc>
                <a:spcPct val="120000"/>
              </a:lnSpc>
            </a:pPr>
            <a:r>
              <a:rPr lang="en-US" sz="926" b="1" dirty="0">
                <a:solidFill>
                  <a:srgbClr val="4DB6AC"/>
                </a:solidFill>
                <a:latin typeface="Quattrocento Sans" pitchFamily="34" charset="0"/>
                <a:ea typeface="Quattrocento Sans" pitchFamily="34" charset="-122"/>
                <a:cs typeface="Quattrocento Sans" pitchFamily="34" charset="-120"/>
              </a:rPr>
              <a:t>hₜ</a:t>
            </a:r>
            <a:endParaRPr lang="en-US" sz="1600" dirty="0"/>
          </a:p>
        </p:txBody>
      </p:sp>
      <p:sp>
        <p:nvSpPr>
          <p:cNvPr id="15" name="Text 13"/>
          <p:cNvSpPr/>
          <p:nvPr/>
        </p:nvSpPr>
        <p:spPr>
          <a:xfrm>
            <a:off x="512551" y="3839934"/>
            <a:ext cx="2629977"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Hidden state at time t</a:t>
            </a:r>
            <a:endParaRPr lang="en-US" sz="1600" dirty="0"/>
          </a:p>
        </p:txBody>
      </p:sp>
      <p:sp>
        <p:nvSpPr>
          <p:cNvPr id="16" name="Shape 14"/>
          <p:cNvSpPr/>
          <p:nvPr/>
        </p:nvSpPr>
        <p:spPr>
          <a:xfrm>
            <a:off x="3215262" y="3604664"/>
            <a:ext cx="2705599" cy="470539"/>
          </a:xfrm>
          <a:custGeom>
            <a:avLst/>
            <a:gdLst/>
            <a:ahLst/>
            <a:cxnLst/>
            <a:rect l="l" t="t" r="r" b="b"/>
            <a:pathLst>
              <a:path w="2705599" h="470539">
                <a:moveTo>
                  <a:pt x="33611" y="0"/>
                </a:moveTo>
                <a:lnTo>
                  <a:pt x="2671988" y="0"/>
                </a:lnTo>
                <a:cubicBezTo>
                  <a:pt x="2690551" y="0"/>
                  <a:pt x="2705599" y="15048"/>
                  <a:pt x="2705599" y="33611"/>
                </a:cubicBezTo>
                <a:lnTo>
                  <a:pt x="2705599" y="436928"/>
                </a:lnTo>
                <a:cubicBezTo>
                  <a:pt x="2705599" y="455491"/>
                  <a:pt x="2690551" y="470539"/>
                  <a:pt x="2671988" y="470539"/>
                </a:cubicBezTo>
                <a:lnTo>
                  <a:pt x="33611" y="470539"/>
                </a:lnTo>
                <a:cubicBezTo>
                  <a:pt x="15048" y="470539"/>
                  <a:pt x="0" y="455491"/>
                  <a:pt x="0" y="436928"/>
                </a:cubicBezTo>
                <a:lnTo>
                  <a:pt x="0" y="33611"/>
                </a:lnTo>
                <a:cubicBezTo>
                  <a:pt x="0" y="15060"/>
                  <a:pt x="15060" y="0"/>
                  <a:pt x="33611" y="0"/>
                </a:cubicBezTo>
                <a:close/>
              </a:path>
            </a:pathLst>
          </a:custGeom>
          <a:solidFill>
            <a:srgbClr val="4DB6AC">
              <a:alpha val="10196"/>
            </a:srgbClr>
          </a:solidFill>
          <a:ln/>
        </p:spPr>
      </p:sp>
      <p:sp>
        <p:nvSpPr>
          <p:cNvPr id="17" name="Text 15"/>
          <p:cNvSpPr/>
          <p:nvPr/>
        </p:nvSpPr>
        <p:spPr>
          <a:xfrm>
            <a:off x="3282482" y="3671884"/>
            <a:ext cx="2629977" cy="168050"/>
          </a:xfrm>
          <a:prstGeom prst="rect">
            <a:avLst/>
          </a:prstGeom>
          <a:noFill/>
          <a:ln/>
        </p:spPr>
        <p:txBody>
          <a:bodyPr wrap="square" lIns="0" tIns="0" rIns="0" bIns="0" rtlCol="0" anchor="ctr"/>
          <a:lstStyle/>
          <a:p>
            <a:pPr>
              <a:lnSpc>
                <a:spcPct val="120000"/>
              </a:lnSpc>
            </a:pPr>
            <a:r>
              <a:rPr lang="en-US" sz="926" b="1" dirty="0">
                <a:solidFill>
                  <a:srgbClr val="4DB6AC"/>
                </a:solidFill>
                <a:latin typeface="Quattrocento Sans" pitchFamily="34" charset="0"/>
                <a:ea typeface="Quattrocento Sans" pitchFamily="34" charset="-122"/>
                <a:cs typeface="Quattrocento Sans" pitchFamily="34" charset="-120"/>
              </a:rPr>
              <a:t>xₜ</a:t>
            </a:r>
            <a:endParaRPr lang="en-US" sz="1600" dirty="0"/>
          </a:p>
        </p:txBody>
      </p:sp>
      <p:sp>
        <p:nvSpPr>
          <p:cNvPr id="18" name="Text 16"/>
          <p:cNvSpPr/>
          <p:nvPr/>
        </p:nvSpPr>
        <p:spPr>
          <a:xfrm>
            <a:off x="3282482" y="3839934"/>
            <a:ext cx="2629977"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Input at time t</a:t>
            </a:r>
            <a:endParaRPr lang="en-US" sz="1600" dirty="0"/>
          </a:p>
        </p:txBody>
      </p:sp>
      <p:sp>
        <p:nvSpPr>
          <p:cNvPr id="19" name="Shape 17"/>
          <p:cNvSpPr/>
          <p:nvPr/>
        </p:nvSpPr>
        <p:spPr>
          <a:xfrm>
            <a:off x="445331" y="4142423"/>
            <a:ext cx="2705599" cy="470539"/>
          </a:xfrm>
          <a:custGeom>
            <a:avLst/>
            <a:gdLst/>
            <a:ahLst/>
            <a:cxnLst/>
            <a:rect l="l" t="t" r="r" b="b"/>
            <a:pathLst>
              <a:path w="2705599" h="470539">
                <a:moveTo>
                  <a:pt x="33611" y="0"/>
                </a:moveTo>
                <a:lnTo>
                  <a:pt x="2671988" y="0"/>
                </a:lnTo>
                <a:cubicBezTo>
                  <a:pt x="2690551" y="0"/>
                  <a:pt x="2705599" y="15048"/>
                  <a:pt x="2705599" y="33611"/>
                </a:cubicBezTo>
                <a:lnTo>
                  <a:pt x="2705599" y="436928"/>
                </a:lnTo>
                <a:cubicBezTo>
                  <a:pt x="2705599" y="455491"/>
                  <a:pt x="2690551" y="470539"/>
                  <a:pt x="2671988" y="470539"/>
                </a:cubicBezTo>
                <a:lnTo>
                  <a:pt x="33611" y="470539"/>
                </a:lnTo>
                <a:cubicBezTo>
                  <a:pt x="15048" y="470539"/>
                  <a:pt x="0" y="455491"/>
                  <a:pt x="0" y="436928"/>
                </a:cubicBezTo>
                <a:lnTo>
                  <a:pt x="0" y="33611"/>
                </a:lnTo>
                <a:cubicBezTo>
                  <a:pt x="0" y="15060"/>
                  <a:pt x="15060" y="0"/>
                  <a:pt x="33611" y="0"/>
                </a:cubicBezTo>
                <a:close/>
              </a:path>
            </a:pathLst>
          </a:custGeom>
          <a:solidFill>
            <a:srgbClr val="FFD54F">
              <a:alpha val="10196"/>
            </a:srgbClr>
          </a:solidFill>
          <a:ln/>
        </p:spPr>
      </p:sp>
      <p:sp>
        <p:nvSpPr>
          <p:cNvPr id="20" name="Text 18"/>
          <p:cNvSpPr/>
          <p:nvPr/>
        </p:nvSpPr>
        <p:spPr>
          <a:xfrm>
            <a:off x="512551" y="4209643"/>
            <a:ext cx="2629977" cy="168050"/>
          </a:xfrm>
          <a:prstGeom prst="rect">
            <a:avLst/>
          </a:prstGeom>
          <a:noFill/>
          <a:ln/>
        </p:spPr>
        <p:txBody>
          <a:bodyPr wrap="square" lIns="0" tIns="0" rIns="0" bIns="0" rtlCol="0" anchor="ctr"/>
          <a:lstStyle/>
          <a:p>
            <a:pPr>
              <a:lnSpc>
                <a:spcPct val="120000"/>
              </a:lnSpc>
            </a:pPr>
            <a:r>
              <a:rPr lang="en-US" sz="926" b="1" dirty="0">
                <a:solidFill>
                  <a:srgbClr val="FFD54F"/>
                </a:solidFill>
                <a:latin typeface="Quattrocento Sans" pitchFamily="34" charset="0"/>
                <a:ea typeface="Quattrocento Sans" pitchFamily="34" charset="-122"/>
                <a:cs typeface="Quattrocento Sans" pitchFamily="34" charset="-120"/>
              </a:rPr>
              <a:t>Wₕₕ, Wₓₕ</a:t>
            </a:r>
            <a:endParaRPr lang="en-US" sz="1600" dirty="0"/>
          </a:p>
        </p:txBody>
      </p:sp>
      <p:sp>
        <p:nvSpPr>
          <p:cNvPr id="21" name="Text 19"/>
          <p:cNvSpPr/>
          <p:nvPr/>
        </p:nvSpPr>
        <p:spPr>
          <a:xfrm>
            <a:off x="512551" y="4377693"/>
            <a:ext cx="2629977"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Weight matrices</a:t>
            </a:r>
            <a:endParaRPr lang="en-US" sz="1600" dirty="0"/>
          </a:p>
        </p:txBody>
      </p:sp>
      <p:sp>
        <p:nvSpPr>
          <p:cNvPr id="22" name="Shape 20"/>
          <p:cNvSpPr/>
          <p:nvPr/>
        </p:nvSpPr>
        <p:spPr>
          <a:xfrm>
            <a:off x="3215262" y="4142423"/>
            <a:ext cx="2705599" cy="470539"/>
          </a:xfrm>
          <a:custGeom>
            <a:avLst/>
            <a:gdLst/>
            <a:ahLst/>
            <a:cxnLst/>
            <a:rect l="l" t="t" r="r" b="b"/>
            <a:pathLst>
              <a:path w="2705599" h="470539">
                <a:moveTo>
                  <a:pt x="33611" y="0"/>
                </a:moveTo>
                <a:lnTo>
                  <a:pt x="2671988" y="0"/>
                </a:lnTo>
                <a:cubicBezTo>
                  <a:pt x="2690551" y="0"/>
                  <a:pt x="2705599" y="15048"/>
                  <a:pt x="2705599" y="33611"/>
                </a:cubicBezTo>
                <a:lnTo>
                  <a:pt x="2705599" y="436928"/>
                </a:lnTo>
                <a:cubicBezTo>
                  <a:pt x="2705599" y="455491"/>
                  <a:pt x="2690551" y="470539"/>
                  <a:pt x="2671988" y="470539"/>
                </a:cubicBezTo>
                <a:lnTo>
                  <a:pt x="33611" y="470539"/>
                </a:lnTo>
                <a:cubicBezTo>
                  <a:pt x="15048" y="470539"/>
                  <a:pt x="0" y="455491"/>
                  <a:pt x="0" y="436928"/>
                </a:cubicBezTo>
                <a:lnTo>
                  <a:pt x="0" y="33611"/>
                </a:lnTo>
                <a:cubicBezTo>
                  <a:pt x="0" y="15060"/>
                  <a:pt x="15060" y="0"/>
                  <a:pt x="33611" y="0"/>
                </a:cubicBezTo>
                <a:close/>
              </a:path>
            </a:pathLst>
          </a:custGeom>
          <a:solidFill>
            <a:srgbClr val="FFD54F">
              <a:alpha val="10196"/>
            </a:srgbClr>
          </a:solidFill>
          <a:ln/>
        </p:spPr>
      </p:sp>
      <p:sp>
        <p:nvSpPr>
          <p:cNvPr id="23" name="Text 21"/>
          <p:cNvSpPr/>
          <p:nvPr/>
        </p:nvSpPr>
        <p:spPr>
          <a:xfrm>
            <a:off x="3282482" y="4209643"/>
            <a:ext cx="2629977" cy="168050"/>
          </a:xfrm>
          <a:prstGeom prst="rect">
            <a:avLst/>
          </a:prstGeom>
          <a:noFill/>
          <a:ln/>
        </p:spPr>
        <p:txBody>
          <a:bodyPr wrap="square" lIns="0" tIns="0" rIns="0" bIns="0" rtlCol="0" anchor="ctr"/>
          <a:lstStyle/>
          <a:p>
            <a:pPr>
              <a:lnSpc>
                <a:spcPct val="120000"/>
              </a:lnSpc>
            </a:pPr>
            <a:r>
              <a:rPr lang="en-US" sz="926" b="1" dirty="0">
                <a:solidFill>
                  <a:srgbClr val="FFD54F"/>
                </a:solidFill>
                <a:latin typeface="Quattrocento Sans" pitchFamily="34" charset="0"/>
                <a:ea typeface="Quattrocento Sans" pitchFamily="34" charset="-122"/>
                <a:cs typeface="Quattrocento Sans" pitchFamily="34" charset="-120"/>
              </a:rPr>
              <a:t>f</a:t>
            </a:r>
            <a:endParaRPr lang="en-US" sz="1600" dirty="0"/>
          </a:p>
        </p:txBody>
      </p:sp>
      <p:sp>
        <p:nvSpPr>
          <p:cNvPr id="24" name="Text 22"/>
          <p:cNvSpPr/>
          <p:nvPr/>
        </p:nvSpPr>
        <p:spPr>
          <a:xfrm>
            <a:off x="3282482" y="4377693"/>
            <a:ext cx="2629977"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Activation (tanh/ReLU)</a:t>
            </a:r>
            <a:endParaRPr lang="en-US" sz="1600" dirty="0"/>
          </a:p>
        </p:txBody>
      </p:sp>
      <p:sp>
        <p:nvSpPr>
          <p:cNvPr id="25" name="Shape 23"/>
          <p:cNvSpPr/>
          <p:nvPr/>
        </p:nvSpPr>
        <p:spPr>
          <a:xfrm>
            <a:off x="336099" y="4789414"/>
            <a:ext cx="5688480" cy="873858"/>
          </a:xfrm>
          <a:custGeom>
            <a:avLst/>
            <a:gdLst/>
            <a:ahLst/>
            <a:cxnLst/>
            <a:rect l="l" t="t" r="r" b="b"/>
            <a:pathLst>
              <a:path w="5688480" h="873858">
                <a:moveTo>
                  <a:pt x="67217" y="0"/>
                </a:moveTo>
                <a:lnTo>
                  <a:pt x="5621263" y="0"/>
                </a:lnTo>
                <a:cubicBezTo>
                  <a:pt x="5658386" y="0"/>
                  <a:pt x="5688480" y="30094"/>
                  <a:pt x="5688480" y="67217"/>
                </a:cubicBezTo>
                <a:lnTo>
                  <a:pt x="5688480" y="806641"/>
                </a:lnTo>
                <a:cubicBezTo>
                  <a:pt x="5688480" y="843764"/>
                  <a:pt x="5658386" y="873858"/>
                  <a:pt x="5621263" y="873858"/>
                </a:cubicBezTo>
                <a:lnTo>
                  <a:pt x="67217" y="873858"/>
                </a:lnTo>
                <a:cubicBezTo>
                  <a:pt x="30094" y="873858"/>
                  <a:pt x="0" y="843764"/>
                  <a:pt x="0" y="806641"/>
                </a:cubicBezTo>
                <a:lnTo>
                  <a:pt x="0" y="67217"/>
                </a:lnTo>
                <a:cubicBezTo>
                  <a:pt x="0" y="30094"/>
                  <a:pt x="30094" y="0"/>
                  <a:pt x="67217" y="0"/>
                </a:cubicBezTo>
                <a:close/>
              </a:path>
            </a:pathLst>
          </a:custGeom>
          <a:solidFill>
            <a:srgbClr val="78909C">
              <a:alpha val="10196"/>
            </a:srgbClr>
          </a:solidFill>
          <a:ln/>
        </p:spPr>
      </p:sp>
      <p:sp>
        <p:nvSpPr>
          <p:cNvPr id="26" name="Text 24"/>
          <p:cNvSpPr/>
          <p:nvPr/>
        </p:nvSpPr>
        <p:spPr>
          <a:xfrm>
            <a:off x="436929" y="4890244"/>
            <a:ext cx="5554040" cy="201660"/>
          </a:xfrm>
          <a:prstGeom prst="rect">
            <a:avLst/>
          </a:prstGeom>
          <a:noFill/>
          <a:ln/>
        </p:spPr>
        <p:txBody>
          <a:bodyPr wrap="square" lIns="0" tIns="0" rIns="0" bIns="0" rtlCol="0" anchor="ctr"/>
          <a:lstStyle/>
          <a:p>
            <a:pPr>
              <a:lnSpc>
                <a:spcPct val="130000"/>
              </a:lnSpc>
            </a:pPr>
            <a:r>
              <a:rPr lang="en-US" sz="1059" b="1" dirty="0">
                <a:solidFill>
                  <a:srgbClr val="ECEFF1"/>
                </a:solidFill>
                <a:latin typeface="Liter" pitchFamily="34" charset="0"/>
                <a:ea typeface="Liter" pitchFamily="34" charset="-122"/>
                <a:cs typeface="Liter" pitchFamily="34" charset="-120"/>
              </a:rPr>
              <a:t>RNN Applications</a:t>
            </a:r>
            <a:endParaRPr lang="en-US" sz="1600" dirty="0"/>
          </a:p>
        </p:txBody>
      </p:sp>
      <p:sp>
        <p:nvSpPr>
          <p:cNvPr id="27" name="Shape 25"/>
          <p:cNvSpPr/>
          <p:nvPr/>
        </p:nvSpPr>
        <p:spPr>
          <a:xfrm>
            <a:off x="446382" y="5184331"/>
            <a:ext cx="132339" cy="117635"/>
          </a:xfrm>
          <a:custGeom>
            <a:avLst/>
            <a:gdLst/>
            <a:ahLst/>
            <a:cxnLst/>
            <a:rect l="l" t="t" r="r" b="b"/>
            <a:pathLst>
              <a:path w="132339" h="117635">
                <a:moveTo>
                  <a:pt x="36761" y="0"/>
                </a:moveTo>
                <a:cubicBezTo>
                  <a:pt x="40828" y="0"/>
                  <a:pt x="44113" y="3286"/>
                  <a:pt x="44113" y="7352"/>
                </a:cubicBezTo>
                <a:lnTo>
                  <a:pt x="44113" y="14704"/>
                </a:lnTo>
                <a:lnTo>
                  <a:pt x="73522" y="14704"/>
                </a:lnTo>
                <a:cubicBezTo>
                  <a:pt x="77588" y="14704"/>
                  <a:pt x="80874" y="17990"/>
                  <a:pt x="80874" y="22057"/>
                </a:cubicBezTo>
                <a:cubicBezTo>
                  <a:pt x="80874" y="26123"/>
                  <a:pt x="77588" y="29409"/>
                  <a:pt x="73522" y="29409"/>
                </a:cubicBezTo>
                <a:lnTo>
                  <a:pt x="71316" y="29409"/>
                </a:lnTo>
                <a:lnTo>
                  <a:pt x="69386" y="34716"/>
                </a:lnTo>
                <a:cubicBezTo>
                  <a:pt x="65618" y="45101"/>
                  <a:pt x="59943" y="54590"/>
                  <a:pt x="52798" y="62746"/>
                </a:cubicBezTo>
                <a:cubicBezTo>
                  <a:pt x="56060" y="64768"/>
                  <a:pt x="59461" y="66560"/>
                  <a:pt x="62999" y="68145"/>
                </a:cubicBezTo>
                <a:lnTo>
                  <a:pt x="74579" y="73292"/>
                </a:lnTo>
                <a:lnTo>
                  <a:pt x="88869" y="41126"/>
                </a:lnTo>
                <a:cubicBezTo>
                  <a:pt x="90041" y="38461"/>
                  <a:pt x="92683" y="36761"/>
                  <a:pt x="95578" y="36761"/>
                </a:cubicBezTo>
                <a:cubicBezTo>
                  <a:pt x="98473" y="36761"/>
                  <a:pt x="101115" y="38461"/>
                  <a:pt x="102287" y="41126"/>
                </a:cubicBezTo>
                <a:lnTo>
                  <a:pt x="131696" y="107296"/>
                </a:lnTo>
                <a:cubicBezTo>
                  <a:pt x="133350" y="111018"/>
                  <a:pt x="131673" y="115360"/>
                  <a:pt x="127974" y="116991"/>
                </a:cubicBezTo>
                <a:cubicBezTo>
                  <a:pt x="124275" y="118623"/>
                  <a:pt x="119909" y="116968"/>
                  <a:pt x="118278" y="113269"/>
                </a:cubicBezTo>
                <a:lnTo>
                  <a:pt x="113683" y="102930"/>
                </a:lnTo>
                <a:lnTo>
                  <a:pt x="77496" y="102930"/>
                </a:lnTo>
                <a:lnTo>
                  <a:pt x="72901" y="113269"/>
                </a:lnTo>
                <a:cubicBezTo>
                  <a:pt x="71247" y="116991"/>
                  <a:pt x="66905" y="118646"/>
                  <a:pt x="63206" y="116991"/>
                </a:cubicBezTo>
                <a:cubicBezTo>
                  <a:pt x="59507" y="115337"/>
                  <a:pt x="57829" y="110995"/>
                  <a:pt x="59484" y="107296"/>
                </a:cubicBezTo>
                <a:lnTo>
                  <a:pt x="68628" y="86733"/>
                </a:lnTo>
                <a:lnTo>
                  <a:pt x="57048" y="81586"/>
                </a:lnTo>
                <a:cubicBezTo>
                  <a:pt x="51764" y="79243"/>
                  <a:pt x="46709" y="76440"/>
                  <a:pt x="41930" y="73223"/>
                </a:cubicBezTo>
                <a:cubicBezTo>
                  <a:pt x="37037" y="77175"/>
                  <a:pt x="31683" y="80621"/>
                  <a:pt x="25962" y="83493"/>
                </a:cubicBezTo>
                <a:lnTo>
                  <a:pt x="17990" y="87445"/>
                </a:lnTo>
                <a:cubicBezTo>
                  <a:pt x="14360" y="89260"/>
                  <a:pt x="9948" y="87790"/>
                  <a:pt x="8133" y="84159"/>
                </a:cubicBezTo>
                <a:cubicBezTo>
                  <a:pt x="6318" y="80529"/>
                  <a:pt x="7789" y="76118"/>
                  <a:pt x="11419" y="74303"/>
                </a:cubicBezTo>
                <a:lnTo>
                  <a:pt x="19345" y="70328"/>
                </a:lnTo>
                <a:cubicBezTo>
                  <a:pt x="23090" y="68444"/>
                  <a:pt x="26652" y="66261"/>
                  <a:pt x="30006" y="63826"/>
                </a:cubicBezTo>
                <a:cubicBezTo>
                  <a:pt x="26835" y="60908"/>
                  <a:pt x="23849" y="57760"/>
                  <a:pt x="21069" y="54429"/>
                </a:cubicBezTo>
                <a:lnTo>
                  <a:pt x="18748" y="51626"/>
                </a:lnTo>
                <a:cubicBezTo>
                  <a:pt x="16152" y="48501"/>
                  <a:pt x="16565" y="43860"/>
                  <a:pt x="19690" y="41264"/>
                </a:cubicBezTo>
                <a:cubicBezTo>
                  <a:pt x="22815" y="38668"/>
                  <a:pt x="27456" y="39081"/>
                  <a:pt x="30052" y="42206"/>
                </a:cubicBezTo>
                <a:lnTo>
                  <a:pt x="32396" y="45009"/>
                </a:lnTo>
                <a:cubicBezTo>
                  <a:pt x="35038" y="48203"/>
                  <a:pt x="37933" y="51167"/>
                  <a:pt x="40988" y="53901"/>
                </a:cubicBezTo>
                <a:cubicBezTo>
                  <a:pt x="47307" y="46916"/>
                  <a:pt x="52292" y="38714"/>
                  <a:pt x="55578" y="29684"/>
                </a:cubicBezTo>
                <a:lnTo>
                  <a:pt x="55693" y="29409"/>
                </a:lnTo>
                <a:lnTo>
                  <a:pt x="7375" y="29409"/>
                </a:lnTo>
                <a:cubicBezTo>
                  <a:pt x="3286" y="29409"/>
                  <a:pt x="0" y="26123"/>
                  <a:pt x="0" y="22057"/>
                </a:cubicBezTo>
                <a:cubicBezTo>
                  <a:pt x="0" y="17990"/>
                  <a:pt x="3286" y="14704"/>
                  <a:pt x="7352" y="14704"/>
                </a:cubicBezTo>
                <a:lnTo>
                  <a:pt x="29409" y="14704"/>
                </a:lnTo>
                <a:lnTo>
                  <a:pt x="29409" y="7352"/>
                </a:lnTo>
                <a:cubicBezTo>
                  <a:pt x="29409" y="3286"/>
                  <a:pt x="32694" y="0"/>
                  <a:pt x="36761" y="0"/>
                </a:cubicBezTo>
                <a:close/>
                <a:moveTo>
                  <a:pt x="95578" y="62218"/>
                </a:moveTo>
                <a:lnTo>
                  <a:pt x="84022" y="88226"/>
                </a:lnTo>
                <a:lnTo>
                  <a:pt x="107135" y="88226"/>
                </a:lnTo>
                <a:lnTo>
                  <a:pt x="95578" y="62218"/>
                </a:lnTo>
                <a:close/>
              </a:path>
            </a:pathLst>
          </a:custGeom>
          <a:solidFill>
            <a:srgbClr val="4DB6AC"/>
          </a:solidFill>
          <a:ln/>
        </p:spPr>
      </p:sp>
      <p:sp>
        <p:nvSpPr>
          <p:cNvPr id="28" name="Text 26"/>
          <p:cNvSpPr/>
          <p:nvPr/>
        </p:nvSpPr>
        <p:spPr>
          <a:xfrm>
            <a:off x="651192" y="5159123"/>
            <a:ext cx="1075518"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Machine Translation</a:t>
            </a:r>
            <a:endParaRPr lang="en-US" sz="1600" dirty="0"/>
          </a:p>
        </p:txBody>
      </p:sp>
      <p:sp>
        <p:nvSpPr>
          <p:cNvPr id="29" name="Shape 27"/>
          <p:cNvSpPr/>
          <p:nvPr/>
        </p:nvSpPr>
        <p:spPr>
          <a:xfrm>
            <a:off x="3246771" y="5184331"/>
            <a:ext cx="88226" cy="117635"/>
          </a:xfrm>
          <a:custGeom>
            <a:avLst/>
            <a:gdLst/>
            <a:ahLst/>
            <a:cxnLst/>
            <a:rect l="l" t="t" r="r" b="b"/>
            <a:pathLst>
              <a:path w="88226" h="117635">
                <a:moveTo>
                  <a:pt x="44113" y="0"/>
                </a:moveTo>
                <a:cubicBezTo>
                  <a:pt x="31936" y="0"/>
                  <a:pt x="22057" y="9879"/>
                  <a:pt x="22057" y="22057"/>
                </a:cubicBezTo>
                <a:lnTo>
                  <a:pt x="22057" y="51465"/>
                </a:lnTo>
                <a:cubicBezTo>
                  <a:pt x="22057" y="63642"/>
                  <a:pt x="31936" y="73522"/>
                  <a:pt x="44113" y="73522"/>
                </a:cubicBezTo>
                <a:cubicBezTo>
                  <a:pt x="56290" y="73522"/>
                  <a:pt x="66170" y="63642"/>
                  <a:pt x="66170" y="51465"/>
                </a:cubicBezTo>
                <a:lnTo>
                  <a:pt x="66170" y="22057"/>
                </a:lnTo>
                <a:cubicBezTo>
                  <a:pt x="66170" y="9879"/>
                  <a:pt x="56290" y="0"/>
                  <a:pt x="44113" y="0"/>
                </a:cubicBezTo>
                <a:close/>
                <a:moveTo>
                  <a:pt x="11028" y="42275"/>
                </a:moveTo>
                <a:cubicBezTo>
                  <a:pt x="11028" y="39219"/>
                  <a:pt x="8570" y="36761"/>
                  <a:pt x="5514" y="36761"/>
                </a:cubicBezTo>
                <a:cubicBezTo>
                  <a:pt x="2458" y="36761"/>
                  <a:pt x="0" y="39219"/>
                  <a:pt x="0" y="42275"/>
                </a:cubicBezTo>
                <a:lnTo>
                  <a:pt x="0" y="51465"/>
                </a:lnTo>
                <a:cubicBezTo>
                  <a:pt x="0" y="73958"/>
                  <a:pt x="16841" y="92522"/>
                  <a:pt x="38599" y="95234"/>
                </a:cubicBezTo>
                <a:lnTo>
                  <a:pt x="38599" y="106606"/>
                </a:lnTo>
                <a:lnTo>
                  <a:pt x="27571" y="106606"/>
                </a:lnTo>
                <a:cubicBezTo>
                  <a:pt x="24515" y="106606"/>
                  <a:pt x="22057" y="109065"/>
                  <a:pt x="22057" y="112121"/>
                </a:cubicBezTo>
                <a:cubicBezTo>
                  <a:pt x="22057" y="115176"/>
                  <a:pt x="24515" y="117635"/>
                  <a:pt x="27571" y="117635"/>
                </a:cubicBezTo>
                <a:lnTo>
                  <a:pt x="60655" y="117635"/>
                </a:lnTo>
                <a:cubicBezTo>
                  <a:pt x="63711" y="117635"/>
                  <a:pt x="66170" y="115176"/>
                  <a:pt x="66170" y="112121"/>
                </a:cubicBezTo>
                <a:cubicBezTo>
                  <a:pt x="66170" y="109065"/>
                  <a:pt x="63711" y="106606"/>
                  <a:pt x="60655" y="106606"/>
                </a:cubicBezTo>
                <a:lnTo>
                  <a:pt x="49627" y="106606"/>
                </a:lnTo>
                <a:lnTo>
                  <a:pt x="49627" y="95234"/>
                </a:lnTo>
                <a:cubicBezTo>
                  <a:pt x="71385" y="92522"/>
                  <a:pt x="88226" y="73958"/>
                  <a:pt x="88226" y="51465"/>
                </a:cubicBezTo>
                <a:lnTo>
                  <a:pt x="88226" y="42275"/>
                </a:lnTo>
                <a:cubicBezTo>
                  <a:pt x="88226" y="39219"/>
                  <a:pt x="85768" y="36761"/>
                  <a:pt x="82712" y="36761"/>
                </a:cubicBezTo>
                <a:cubicBezTo>
                  <a:pt x="79656" y="36761"/>
                  <a:pt x="77198" y="39219"/>
                  <a:pt x="77198" y="42275"/>
                </a:cubicBezTo>
                <a:lnTo>
                  <a:pt x="77198" y="51465"/>
                </a:lnTo>
                <a:cubicBezTo>
                  <a:pt x="77198" y="69731"/>
                  <a:pt x="62379" y="84550"/>
                  <a:pt x="44113" y="84550"/>
                </a:cubicBezTo>
                <a:cubicBezTo>
                  <a:pt x="25847" y="84550"/>
                  <a:pt x="11028" y="69731"/>
                  <a:pt x="11028" y="51465"/>
                </a:cubicBezTo>
                <a:lnTo>
                  <a:pt x="11028" y="42275"/>
                </a:lnTo>
                <a:close/>
              </a:path>
            </a:pathLst>
          </a:custGeom>
          <a:solidFill>
            <a:srgbClr val="4DB6AC"/>
          </a:solidFill>
          <a:ln/>
        </p:spPr>
      </p:sp>
      <p:sp>
        <p:nvSpPr>
          <p:cNvPr id="30" name="Text 28"/>
          <p:cNvSpPr/>
          <p:nvPr/>
        </p:nvSpPr>
        <p:spPr>
          <a:xfrm>
            <a:off x="3429525" y="5159123"/>
            <a:ext cx="1067115"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Speech Recognition</a:t>
            </a:r>
            <a:endParaRPr lang="en-US" sz="1600" dirty="0"/>
          </a:p>
        </p:txBody>
      </p:sp>
      <p:sp>
        <p:nvSpPr>
          <p:cNvPr id="31" name="Shape 29"/>
          <p:cNvSpPr/>
          <p:nvPr/>
        </p:nvSpPr>
        <p:spPr>
          <a:xfrm>
            <a:off x="453734" y="5419600"/>
            <a:ext cx="117635" cy="117635"/>
          </a:xfrm>
          <a:custGeom>
            <a:avLst/>
            <a:gdLst/>
            <a:ahLst/>
            <a:cxnLst/>
            <a:rect l="l" t="t" r="r" b="b"/>
            <a:pathLst>
              <a:path w="117635" h="117635">
                <a:moveTo>
                  <a:pt x="14704" y="14704"/>
                </a:moveTo>
                <a:cubicBezTo>
                  <a:pt x="14704" y="10638"/>
                  <a:pt x="11419" y="7352"/>
                  <a:pt x="7352" y="7352"/>
                </a:cubicBezTo>
                <a:cubicBezTo>
                  <a:pt x="3286" y="7352"/>
                  <a:pt x="0" y="10638"/>
                  <a:pt x="0" y="14704"/>
                </a:cubicBezTo>
                <a:lnTo>
                  <a:pt x="0" y="91902"/>
                </a:lnTo>
                <a:cubicBezTo>
                  <a:pt x="0" y="102057"/>
                  <a:pt x="8225" y="110283"/>
                  <a:pt x="18380" y="110283"/>
                </a:cubicBezTo>
                <a:lnTo>
                  <a:pt x="110283" y="110283"/>
                </a:lnTo>
                <a:cubicBezTo>
                  <a:pt x="114349" y="110283"/>
                  <a:pt x="117635" y="106997"/>
                  <a:pt x="117635" y="102930"/>
                </a:cubicBezTo>
                <a:cubicBezTo>
                  <a:pt x="117635" y="98864"/>
                  <a:pt x="114349" y="95578"/>
                  <a:pt x="110283" y="95578"/>
                </a:cubicBezTo>
                <a:lnTo>
                  <a:pt x="18380" y="95578"/>
                </a:lnTo>
                <a:cubicBezTo>
                  <a:pt x="16359" y="95578"/>
                  <a:pt x="14704" y="93924"/>
                  <a:pt x="14704" y="91902"/>
                </a:cubicBezTo>
                <a:lnTo>
                  <a:pt x="14704" y="14704"/>
                </a:lnTo>
                <a:close/>
                <a:moveTo>
                  <a:pt x="108123" y="34601"/>
                </a:moveTo>
                <a:cubicBezTo>
                  <a:pt x="110995" y="31729"/>
                  <a:pt x="110995" y="27065"/>
                  <a:pt x="108123" y="24193"/>
                </a:cubicBezTo>
                <a:cubicBezTo>
                  <a:pt x="105251" y="21321"/>
                  <a:pt x="100587" y="21321"/>
                  <a:pt x="97715" y="24193"/>
                </a:cubicBezTo>
                <a:lnTo>
                  <a:pt x="73522" y="48409"/>
                </a:lnTo>
                <a:lnTo>
                  <a:pt x="60334" y="35244"/>
                </a:lnTo>
                <a:cubicBezTo>
                  <a:pt x="57462" y="32373"/>
                  <a:pt x="52798" y="32373"/>
                  <a:pt x="49926" y="35244"/>
                </a:cubicBezTo>
                <a:lnTo>
                  <a:pt x="27869" y="57301"/>
                </a:lnTo>
                <a:cubicBezTo>
                  <a:pt x="24997" y="60173"/>
                  <a:pt x="24997" y="64837"/>
                  <a:pt x="27869" y="67709"/>
                </a:cubicBezTo>
                <a:cubicBezTo>
                  <a:pt x="30741" y="70581"/>
                  <a:pt x="35405" y="70581"/>
                  <a:pt x="38277" y="67709"/>
                </a:cubicBezTo>
                <a:lnTo>
                  <a:pt x="55141" y="50845"/>
                </a:lnTo>
                <a:lnTo>
                  <a:pt x="68329" y="64033"/>
                </a:lnTo>
                <a:cubicBezTo>
                  <a:pt x="71201" y="66905"/>
                  <a:pt x="75865" y="66905"/>
                  <a:pt x="78737" y="64033"/>
                </a:cubicBezTo>
                <a:lnTo>
                  <a:pt x="108146" y="34624"/>
                </a:lnTo>
                <a:close/>
              </a:path>
            </a:pathLst>
          </a:custGeom>
          <a:solidFill>
            <a:srgbClr val="FFD54F"/>
          </a:solidFill>
          <a:ln/>
        </p:spPr>
      </p:sp>
      <p:sp>
        <p:nvSpPr>
          <p:cNvPr id="32" name="Text 30"/>
          <p:cNvSpPr/>
          <p:nvPr/>
        </p:nvSpPr>
        <p:spPr>
          <a:xfrm>
            <a:off x="651192" y="5394393"/>
            <a:ext cx="1184750"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Time Series Prediction</a:t>
            </a:r>
            <a:endParaRPr lang="en-US" sz="1600" dirty="0"/>
          </a:p>
        </p:txBody>
      </p:sp>
      <p:sp>
        <p:nvSpPr>
          <p:cNvPr id="33" name="Shape 31"/>
          <p:cNvSpPr/>
          <p:nvPr/>
        </p:nvSpPr>
        <p:spPr>
          <a:xfrm>
            <a:off x="3232067" y="5419600"/>
            <a:ext cx="117635" cy="117635"/>
          </a:xfrm>
          <a:custGeom>
            <a:avLst/>
            <a:gdLst/>
            <a:ahLst/>
            <a:cxnLst/>
            <a:rect l="l" t="t" r="r" b="b"/>
            <a:pathLst>
              <a:path w="117635" h="117635">
                <a:moveTo>
                  <a:pt x="107525" y="1608"/>
                </a:moveTo>
                <a:cubicBezTo>
                  <a:pt x="109272" y="3010"/>
                  <a:pt x="110283" y="5124"/>
                  <a:pt x="110283" y="7352"/>
                </a:cubicBezTo>
                <a:lnTo>
                  <a:pt x="110283" y="77198"/>
                </a:lnTo>
                <a:cubicBezTo>
                  <a:pt x="110283" y="87353"/>
                  <a:pt x="100403" y="95578"/>
                  <a:pt x="88226" y="95578"/>
                </a:cubicBezTo>
                <a:cubicBezTo>
                  <a:pt x="76049" y="95578"/>
                  <a:pt x="66170" y="87353"/>
                  <a:pt x="66170" y="77198"/>
                </a:cubicBezTo>
                <a:cubicBezTo>
                  <a:pt x="66170" y="67043"/>
                  <a:pt x="76049" y="58817"/>
                  <a:pt x="88226" y="58817"/>
                </a:cubicBezTo>
                <a:cubicBezTo>
                  <a:pt x="90799" y="58817"/>
                  <a:pt x="93281" y="59185"/>
                  <a:pt x="95578" y="59874"/>
                </a:cubicBezTo>
                <a:lnTo>
                  <a:pt x="95578" y="33062"/>
                </a:lnTo>
                <a:lnTo>
                  <a:pt x="44113" y="44504"/>
                </a:lnTo>
                <a:lnTo>
                  <a:pt x="44113" y="91902"/>
                </a:lnTo>
                <a:cubicBezTo>
                  <a:pt x="44113" y="102057"/>
                  <a:pt x="34234" y="110283"/>
                  <a:pt x="22057" y="110283"/>
                </a:cubicBezTo>
                <a:cubicBezTo>
                  <a:pt x="9879" y="110283"/>
                  <a:pt x="0" y="102057"/>
                  <a:pt x="0" y="91902"/>
                </a:cubicBezTo>
                <a:cubicBezTo>
                  <a:pt x="0" y="81747"/>
                  <a:pt x="9879" y="73522"/>
                  <a:pt x="22057" y="73522"/>
                </a:cubicBezTo>
                <a:cubicBezTo>
                  <a:pt x="24630" y="73522"/>
                  <a:pt x="27111" y="73889"/>
                  <a:pt x="29409" y="74579"/>
                </a:cubicBezTo>
                <a:lnTo>
                  <a:pt x="29409" y="22057"/>
                </a:lnTo>
                <a:cubicBezTo>
                  <a:pt x="29409" y="18610"/>
                  <a:pt x="31798" y="15623"/>
                  <a:pt x="35176" y="14888"/>
                </a:cubicBezTo>
                <a:lnTo>
                  <a:pt x="101345" y="184"/>
                </a:lnTo>
                <a:cubicBezTo>
                  <a:pt x="103528" y="-299"/>
                  <a:pt x="105802" y="230"/>
                  <a:pt x="107548" y="1631"/>
                </a:cubicBezTo>
                <a:close/>
              </a:path>
            </a:pathLst>
          </a:custGeom>
          <a:solidFill>
            <a:srgbClr val="FFD54F"/>
          </a:solidFill>
          <a:ln/>
        </p:spPr>
      </p:sp>
      <p:sp>
        <p:nvSpPr>
          <p:cNvPr id="34" name="Text 32"/>
          <p:cNvSpPr/>
          <p:nvPr/>
        </p:nvSpPr>
        <p:spPr>
          <a:xfrm>
            <a:off x="3429525" y="5394393"/>
            <a:ext cx="949480" cy="168050"/>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Music Generation</a:t>
            </a:r>
            <a:endParaRPr lang="en-US" sz="1600" dirty="0"/>
          </a:p>
        </p:txBody>
      </p:sp>
      <p:sp>
        <p:nvSpPr>
          <p:cNvPr id="35" name="Shape 33"/>
          <p:cNvSpPr/>
          <p:nvPr/>
        </p:nvSpPr>
        <p:spPr>
          <a:xfrm>
            <a:off x="6161776" y="1041908"/>
            <a:ext cx="5688480" cy="3394602"/>
          </a:xfrm>
          <a:custGeom>
            <a:avLst/>
            <a:gdLst/>
            <a:ahLst/>
            <a:cxnLst/>
            <a:rect l="l" t="t" r="r" b="b"/>
            <a:pathLst>
              <a:path w="5688480" h="3394602">
                <a:moveTo>
                  <a:pt x="67213" y="0"/>
                </a:moveTo>
                <a:lnTo>
                  <a:pt x="5621267" y="0"/>
                </a:lnTo>
                <a:cubicBezTo>
                  <a:pt x="5658387" y="0"/>
                  <a:pt x="5688480" y="30092"/>
                  <a:pt x="5688480" y="67213"/>
                </a:cubicBezTo>
                <a:lnTo>
                  <a:pt x="5688480" y="3327389"/>
                </a:lnTo>
                <a:cubicBezTo>
                  <a:pt x="5688480" y="3364510"/>
                  <a:pt x="5658387" y="3394602"/>
                  <a:pt x="5621267" y="3394602"/>
                </a:cubicBezTo>
                <a:lnTo>
                  <a:pt x="67213" y="3394602"/>
                </a:lnTo>
                <a:cubicBezTo>
                  <a:pt x="30092" y="3394602"/>
                  <a:pt x="0" y="3364510"/>
                  <a:pt x="0" y="3327389"/>
                </a:cubicBezTo>
                <a:lnTo>
                  <a:pt x="0" y="67213"/>
                </a:lnTo>
                <a:cubicBezTo>
                  <a:pt x="0" y="30117"/>
                  <a:pt x="30117" y="0"/>
                  <a:pt x="67213" y="0"/>
                </a:cubicBezTo>
                <a:close/>
              </a:path>
            </a:pathLst>
          </a:custGeom>
          <a:solidFill>
            <a:srgbClr val="4DB6AC">
              <a:alpha val="10196"/>
            </a:srgbClr>
          </a:solidFill>
          <a:ln/>
        </p:spPr>
      </p:sp>
      <p:sp>
        <p:nvSpPr>
          <p:cNvPr id="36" name="Text 34"/>
          <p:cNvSpPr/>
          <p:nvPr/>
        </p:nvSpPr>
        <p:spPr>
          <a:xfrm>
            <a:off x="6224794" y="1142737"/>
            <a:ext cx="5562442" cy="235269"/>
          </a:xfrm>
          <a:prstGeom prst="rect">
            <a:avLst/>
          </a:prstGeom>
          <a:noFill/>
          <a:ln/>
        </p:spPr>
        <p:txBody>
          <a:bodyPr wrap="square" lIns="0" tIns="0" rIns="0" bIns="0" rtlCol="0" anchor="ctr"/>
          <a:lstStyle/>
          <a:p>
            <a:pPr algn="ctr">
              <a:lnSpc>
                <a:spcPct val="130000"/>
              </a:lnSpc>
            </a:pPr>
            <a:r>
              <a:rPr lang="en-US" sz="1191" b="1" dirty="0">
                <a:solidFill>
                  <a:srgbClr val="ECEFF1"/>
                </a:solidFill>
                <a:latin typeface="Liter" pitchFamily="34" charset="0"/>
                <a:ea typeface="Liter" pitchFamily="34" charset="-122"/>
                <a:cs typeface="Liter" pitchFamily="34" charset="-120"/>
              </a:rPr>
              <a:t>RNN Architecture</a:t>
            </a:r>
            <a:endParaRPr lang="en-US" sz="1600" dirty="0"/>
          </a:p>
        </p:txBody>
      </p:sp>
      <p:sp>
        <p:nvSpPr>
          <p:cNvPr id="37" name="Shape 35"/>
          <p:cNvSpPr/>
          <p:nvPr/>
        </p:nvSpPr>
        <p:spPr>
          <a:xfrm>
            <a:off x="8200690" y="1714106"/>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38" name="Text 36"/>
          <p:cNvSpPr/>
          <p:nvPr/>
        </p:nvSpPr>
        <p:spPr>
          <a:xfrm>
            <a:off x="8167080" y="1714106"/>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x₁</a:t>
            </a:r>
            <a:endParaRPr lang="en-US" sz="1600" dirty="0"/>
          </a:p>
        </p:txBody>
      </p:sp>
      <p:sp>
        <p:nvSpPr>
          <p:cNvPr id="39" name="Shape 37"/>
          <p:cNvSpPr/>
          <p:nvPr/>
        </p:nvSpPr>
        <p:spPr>
          <a:xfrm>
            <a:off x="8738449" y="1646886"/>
            <a:ext cx="537759" cy="537759"/>
          </a:xfrm>
          <a:custGeom>
            <a:avLst/>
            <a:gdLst/>
            <a:ahLst/>
            <a:cxnLst/>
            <a:rect l="l" t="t" r="r" b="b"/>
            <a:pathLst>
              <a:path w="537759" h="537759">
                <a:moveTo>
                  <a:pt x="67220" y="0"/>
                </a:moveTo>
                <a:lnTo>
                  <a:pt x="470539" y="0"/>
                </a:lnTo>
                <a:cubicBezTo>
                  <a:pt x="507663" y="0"/>
                  <a:pt x="537759" y="30095"/>
                  <a:pt x="537759" y="67220"/>
                </a:cubicBezTo>
                <a:lnTo>
                  <a:pt x="537759" y="470539"/>
                </a:lnTo>
                <a:cubicBezTo>
                  <a:pt x="537759" y="507663"/>
                  <a:pt x="507663" y="537759"/>
                  <a:pt x="470539" y="537759"/>
                </a:cubicBezTo>
                <a:lnTo>
                  <a:pt x="67220" y="537759"/>
                </a:lnTo>
                <a:cubicBezTo>
                  <a:pt x="30095" y="537759"/>
                  <a:pt x="0" y="507663"/>
                  <a:pt x="0" y="470539"/>
                </a:cubicBezTo>
                <a:lnTo>
                  <a:pt x="0" y="67220"/>
                </a:lnTo>
                <a:cubicBezTo>
                  <a:pt x="0" y="30095"/>
                  <a:pt x="30095" y="0"/>
                  <a:pt x="67220" y="0"/>
                </a:cubicBezTo>
                <a:close/>
              </a:path>
            </a:pathLst>
          </a:custGeom>
          <a:solidFill>
            <a:srgbClr val="FFD54F"/>
          </a:solidFill>
          <a:ln/>
        </p:spPr>
      </p:sp>
      <p:sp>
        <p:nvSpPr>
          <p:cNvPr id="40" name="Text 38"/>
          <p:cNvSpPr/>
          <p:nvPr/>
        </p:nvSpPr>
        <p:spPr>
          <a:xfrm>
            <a:off x="8704839" y="1646886"/>
            <a:ext cx="604979" cy="53775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h₁</a:t>
            </a:r>
            <a:endParaRPr lang="en-US" sz="1600" dirty="0"/>
          </a:p>
        </p:txBody>
      </p:sp>
      <p:sp>
        <p:nvSpPr>
          <p:cNvPr id="41" name="Shape 39"/>
          <p:cNvSpPr/>
          <p:nvPr/>
        </p:nvSpPr>
        <p:spPr>
          <a:xfrm>
            <a:off x="9410647" y="1714106"/>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42" name="Text 40"/>
          <p:cNvSpPr/>
          <p:nvPr/>
        </p:nvSpPr>
        <p:spPr>
          <a:xfrm>
            <a:off x="9377038" y="1714106"/>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y₁</a:t>
            </a:r>
            <a:endParaRPr lang="en-US" sz="1600" dirty="0"/>
          </a:p>
        </p:txBody>
      </p:sp>
      <p:sp>
        <p:nvSpPr>
          <p:cNvPr id="43" name="Text 41"/>
          <p:cNvSpPr/>
          <p:nvPr/>
        </p:nvSpPr>
        <p:spPr>
          <a:xfrm>
            <a:off x="8956914" y="2251865"/>
            <a:ext cx="201660" cy="268879"/>
          </a:xfrm>
          <a:prstGeom prst="rect">
            <a:avLst/>
          </a:prstGeom>
          <a:noFill/>
          <a:ln/>
        </p:spPr>
        <p:txBody>
          <a:bodyPr wrap="square" lIns="0" tIns="0" rIns="0" bIns="0" rtlCol="0" anchor="ctr"/>
          <a:lstStyle/>
          <a:p>
            <a:pPr>
              <a:lnSpc>
                <a:spcPct val="110000"/>
              </a:lnSpc>
            </a:pPr>
            <a:r>
              <a:rPr lang="en-US" sz="1588" dirty="0">
                <a:solidFill>
                  <a:srgbClr val="4DB6AC"/>
                </a:solidFill>
                <a:latin typeface="Quattrocento Sans" pitchFamily="34" charset="0"/>
                <a:ea typeface="Quattrocento Sans" pitchFamily="34" charset="-122"/>
                <a:cs typeface="Quattrocento Sans" pitchFamily="34" charset="-120"/>
              </a:rPr>
              <a:t>↓</a:t>
            </a:r>
            <a:endParaRPr lang="en-US" sz="1600" dirty="0"/>
          </a:p>
        </p:txBody>
      </p:sp>
      <p:sp>
        <p:nvSpPr>
          <p:cNvPr id="44" name="Shape 42"/>
          <p:cNvSpPr/>
          <p:nvPr/>
        </p:nvSpPr>
        <p:spPr>
          <a:xfrm>
            <a:off x="8200690" y="2655184"/>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45" name="Text 43"/>
          <p:cNvSpPr/>
          <p:nvPr/>
        </p:nvSpPr>
        <p:spPr>
          <a:xfrm>
            <a:off x="8167080" y="2655184"/>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x₂</a:t>
            </a:r>
            <a:endParaRPr lang="en-US" sz="1600" dirty="0"/>
          </a:p>
        </p:txBody>
      </p:sp>
      <p:sp>
        <p:nvSpPr>
          <p:cNvPr id="46" name="Shape 44"/>
          <p:cNvSpPr/>
          <p:nvPr/>
        </p:nvSpPr>
        <p:spPr>
          <a:xfrm>
            <a:off x="8738449" y="2587964"/>
            <a:ext cx="537759" cy="537759"/>
          </a:xfrm>
          <a:custGeom>
            <a:avLst/>
            <a:gdLst/>
            <a:ahLst/>
            <a:cxnLst/>
            <a:rect l="l" t="t" r="r" b="b"/>
            <a:pathLst>
              <a:path w="537759" h="537759">
                <a:moveTo>
                  <a:pt x="67220" y="0"/>
                </a:moveTo>
                <a:lnTo>
                  <a:pt x="470539" y="0"/>
                </a:lnTo>
                <a:cubicBezTo>
                  <a:pt x="507663" y="0"/>
                  <a:pt x="537759" y="30095"/>
                  <a:pt x="537759" y="67220"/>
                </a:cubicBezTo>
                <a:lnTo>
                  <a:pt x="537759" y="470539"/>
                </a:lnTo>
                <a:cubicBezTo>
                  <a:pt x="537759" y="507663"/>
                  <a:pt x="507663" y="537759"/>
                  <a:pt x="470539" y="537759"/>
                </a:cubicBezTo>
                <a:lnTo>
                  <a:pt x="67220" y="537759"/>
                </a:lnTo>
                <a:cubicBezTo>
                  <a:pt x="30095" y="537759"/>
                  <a:pt x="0" y="507663"/>
                  <a:pt x="0" y="470539"/>
                </a:cubicBezTo>
                <a:lnTo>
                  <a:pt x="0" y="67220"/>
                </a:lnTo>
                <a:cubicBezTo>
                  <a:pt x="0" y="30095"/>
                  <a:pt x="30095" y="0"/>
                  <a:pt x="67220" y="0"/>
                </a:cubicBezTo>
                <a:close/>
              </a:path>
            </a:pathLst>
          </a:custGeom>
          <a:solidFill>
            <a:srgbClr val="FFD54F"/>
          </a:solidFill>
          <a:ln/>
        </p:spPr>
      </p:sp>
      <p:sp>
        <p:nvSpPr>
          <p:cNvPr id="47" name="Text 45"/>
          <p:cNvSpPr/>
          <p:nvPr/>
        </p:nvSpPr>
        <p:spPr>
          <a:xfrm>
            <a:off x="8704839" y="2587964"/>
            <a:ext cx="604979" cy="53775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h₂</a:t>
            </a:r>
            <a:endParaRPr lang="en-US" sz="1600" dirty="0"/>
          </a:p>
        </p:txBody>
      </p:sp>
      <p:sp>
        <p:nvSpPr>
          <p:cNvPr id="48" name="Shape 46"/>
          <p:cNvSpPr/>
          <p:nvPr/>
        </p:nvSpPr>
        <p:spPr>
          <a:xfrm>
            <a:off x="9410647" y="2655184"/>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49" name="Text 47"/>
          <p:cNvSpPr/>
          <p:nvPr/>
        </p:nvSpPr>
        <p:spPr>
          <a:xfrm>
            <a:off x="9377038" y="2655184"/>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y₂</a:t>
            </a:r>
            <a:endParaRPr lang="en-US" sz="1600" dirty="0"/>
          </a:p>
        </p:txBody>
      </p:sp>
      <p:sp>
        <p:nvSpPr>
          <p:cNvPr id="50" name="Text 48"/>
          <p:cNvSpPr/>
          <p:nvPr/>
        </p:nvSpPr>
        <p:spPr>
          <a:xfrm>
            <a:off x="8956914" y="3192943"/>
            <a:ext cx="201660" cy="268879"/>
          </a:xfrm>
          <a:prstGeom prst="rect">
            <a:avLst/>
          </a:prstGeom>
          <a:noFill/>
          <a:ln/>
        </p:spPr>
        <p:txBody>
          <a:bodyPr wrap="square" lIns="0" tIns="0" rIns="0" bIns="0" rtlCol="0" anchor="ctr"/>
          <a:lstStyle/>
          <a:p>
            <a:pPr>
              <a:lnSpc>
                <a:spcPct val="110000"/>
              </a:lnSpc>
            </a:pPr>
            <a:r>
              <a:rPr lang="en-US" sz="1588" dirty="0">
                <a:solidFill>
                  <a:srgbClr val="4DB6AC"/>
                </a:solidFill>
                <a:latin typeface="Quattrocento Sans" pitchFamily="34" charset="0"/>
                <a:ea typeface="Quattrocento Sans" pitchFamily="34" charset="-122"/>
                <a:cs typeface="Quattrocento Sans" pitchFamily="34" charset="-120"/>
              </a:rPr>
              <a:t>↓</a:t>
            </a:r>
            <a:endParaRPr lang="en-US" sz="1600" dirty="0"/>
          </a:p>
        </p:txBody>
      </p:sp>
      <p:sp>
        <p:nvSpPr>
          <p:cNvPr id="51" name="Shape 49"/>
          <p:cNvSpPr/>
          <p:nvPr/>
        </p:nvSpPr>
        <p:spPr>
          <a:xfrm>
            <a:off x="8200690" y="3596262"/>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52" name="Text 50"/>
          <p:cNvSpPr/>
          <p:nvPr/>
        </p:nvSpPr>
        <p:spPr>
          <a:xfrm>
            <a:off x="8167080" y="3596262"/>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x₃</a:t>
            </a:r>
            <a:endParaRPr lang="en-US" sz="1600" dirty="0"/>
          </a:p>
        </p:txBody>
      </p:sp>
      <p:sp>
        <p:nvSpPr>
          <p:cNvPr id="53" name="Shape 51"/>
          <p:cNvSpPr/>
          <p:nvPr/>
        </p:nvSpPr>
        <p:spPr>
          <a:xfrm>
            <a:off x="8738449" y="3529042"/>
            <a:ext cx="537759" cy="537759"/>
          </a:xfrm>
          <a:custGeom>
            <a:avLst/>
            <a:gdLst/>
            <a:ahLst/>
            <a:cxnLst/>
            <a:rect l="l" t="t" r="r" b="b"/>
            <a:pathLst>
              <a:path w="537759" h="537759">
                <a:moveTo>
                  <a:pt x="67220" y="0"/>
                </a:moveTo>
                <a:lnTo>
                  <a:pt x="470539" y="0"/>
                </a:lnTo>
                <a:cubicBezTo>
                  <a:pt x="507663" y="0"/>
                  <a:pt x="537759" y="30095"/>
                  <a:pt x="537759" y="67220"/>
                </a:cubicBezTo>
                <a:lnTo>
                  <a:pt x="537759" y="470539"/>
                </a:lnTo>
                <a:cubicBezTo>
                  <a:pt x="537759" y="507663"/>
                  <a:pt x="507663" y="537759"/>
                  <a:pt x="470539" y="537759"/>
                </a:cubicBezTo>
                <a:lnTo>
                  <a:pt x="67220" y="537759"/>
                </a:lnTo>
                <a:cubicBezTo>
                  <a:pt x="30095" y="537759"/>
                  <a:pt x="0" y="507663"/>
                  <a:pt x="0" y="470539"/>
                </a:cubicBezTo>
                <a:lnTo>
                  <a:pt x="0" y="67220"/>
                </a:lnTo>
                <a:cubicBezTo>
                  <a:pt x="0" y="30095"/>
                  <a:pt x="30095" y="0"/>
                  <a:pt x="67220" y="0"/>
                </a:cubicBezTo>
                <a:close/>
              </a:path>
            </a:pathLst>
          </a:custGeom>
          <a:solidFill>
            <a:srgbClr val="FFD54F"/>
          </a:solidFill>
          <a:ln/>
        </p:spPr>
      </p:sp>
      <p:sp>
        <p:nvSpPr>
          <p:cNvPr id="54" name="Text 52"/>
          <p:cNvSpPr/>
          <p:nvPr/>
        </p:nvSpPr>
        <p:spPr>
          <a:xfrm>
            <a:off x="8704839" y="3529042"/>
            <a:ext cx="604979" cy="53775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h₃</a:t>
            </a:r>
            <a:endParaRPr lang="en-US" sz="1600" dirty="0"/>
          </a:p>
        </p:txBody>
      </p:sp>
      <p:sp>
        <p:nvSpPr>
          <p:cNvPr id="55" name="Shape 53"/>
          <p:cNvSpPr/>
          <p:nvPr/>
        </p:nvSpPr>
        <p:spPr>
          <a:xfrm>
            <a:off x="9410647" y="3596262"/>
            <a:ext cx="403319" cy="403319"/>
          </a:xfrm>
          <a:custGeom>
            <a:avLst/>
            <a:gdLst/>
            <a:ahLst/>
            <a:cxnLst/>
            <a:rect l="l" t="t" r="r" b="b"/>
            <a:pathLst>
              <a:path w="403319" h="403319">
                <a:moveTo>
                  <a:pt x="201660" y="0"/>
                </a:moveTo>
                <a:lnTo>
                  <a:pt x="201660" y="0"/>
                </a:lnTo>
                <a:cubicBezTo>
                  <a:pt x="312958" y="0"/>
                  <a:pt x="403319" y="90361"/>
                  <a:pt x="403319" y="201660"/>
                </a:cubicBezTo>
                <a:lnTo>
                  <a:pt x="403319" y="201660"/>
                </a:lnTo>
                <a:cubicBezTo>
                  <a:pt x="403319" y="312958"/>
                  <a:pt x="312958" y="403319"/>
                  <a:pt x="201660" y="403319"/>
                </a:cubicBezTo>
                <a:lnTo>
                  <a:pt x="201660" y="403319"/>
                </a:lnTo>
                <a:cubicBezTo>
                  <a:pt x="90361" y="403319"/>
                  <a:pt x="0" y="312958"/>
                  <a:pt x="0" y="201660"/>
                </a:cubicBezTo>
                <a:lnTo>
                  <a:pt x="0" y="201660"/>
                </a:lnTo>
                <a:cubicBezTo>
                  <a:pt x="0" y="90361"/>
                  <a:pt x="90361" y="0"/>
                  <a:pt x="201660" y="0"/>
                </a:cubicBezTo>
                <a:close/>
              </a:path>
            </a:pathLst>
          </a:custGeom>
          <a:solidFill>
            <a:srgbClr val="4DB6AC"/>
          </a:solidFill>
          <a:ln/>
        </p:spPr>
      </p:sp>
      <p:sp>
        <p:nvSpPr>
          <p:cNvPr id="56" name="Text 54"/>
          <p:cNvSpPr/>
          <p:nvPr/>
        </p:nvSpPr>
        <p:spPr>
          <a:xfrm>
            <a:off x="9377038" y="3596262"/>
            <a:ext cx="470539" cy="403319"/>
          </a:xfrm>
          <a:prstGeom prst="rect">
            <a:avLst/>
          </a:prstGeom>
          <a:noFill/>
          <a:ln/>
        </p:spPr>
        <p:txBody>
          <a:bodyPr wrap="square" lIns="0" tIns="0" rIns="0" bIns="0" rtlCol="0" anchor="ctr"/>
          <a:lstStyle/>
          <a:p>
            <a:pPr algn="ctr">
              <a:lnSpc>
                <a:spcPct val="130000"/>
              </a:lnSpc>
            </a:pPr>
            <a:r>
              <a:rPr lang="en-US" sz="1059" b="1" dirty="0">
                <a:solidFill>
                  <a:srgbClr val="1A1D21"/>
                </a:solidFill>
                <a:latin typeface="Quattrocento Sans" pitchFamily="34" charset="0"/>
                <a:ea typeface="Quattrocento Sans" pitchFamily="34" charset="-122"/>
                <a:cs typeface="Quattrocento Sans" pitchFamily="34" charset="-120"/>
              </a:rPr>
              <a:t>y₃</a:t>
            </a:r>
            <a:endParaRPr lang="en-US" sz="1600" dirty="0"/>
          </a:p>
        </p:txBody>
      </p:sp>
      <p:sp>
        <p:nvSpPr>
          <p:cNvPr id="57" name="Text 55"/>
          <p:cNvSpPr/>
          <p:nvPr/>
        </p:nvSpPr>
        <p:spPr>
          <a:xfrm>
            <a:off x="8127431" y="4201241"/>
            <a:ext cx="1756119" cy="168050"/>
          </a:xfrm>
          <a:prstGeom prst="rect">
            <a:avLst/>
          </a:prstGeom>
          <a:noFill/>
          <a:ln/>
        </p:spPr>
        <p:txBody>
          <a:bodyPr wrap="square" lIns="0" tIns="0" rIns="0" bIns="0" rtlCol="0" anchor="ctr"/>
          <a:lstStyle/>
          <a:p>
            <a:pPr algn="ctr">
              <a:lnSpc>
                <a:spcPct val="120000"/>
              </a:lnSpc>
            </a:pPr>
            <a:r>
              <a:rPr lang="en-US" sz="926" dirty="0">
                <a:solidFill>
                  <a:srgbClr val="78909C"/>
                </a:solidFill>
                <a:latin typeface="Quattrocento Sans" pitchFamily="34" charset="0"/>
                <a:ea typeface="Quattrocento Sans" pitchFamily="34" charset="-122"/>
                <a:cs typeface="Quattrocento Sans" pitchFamily="34" charset="-120"/>
              </a:rPr>
              <a:t>Hidden state flows through time</a:t>
            </a:r>
            <a:endParaRPr lang="en-US" sz="1600" dirty="0"/>
          </a:p>
        </p:txBody>
      </p:sp>
      <p:sp>
        <p:nvSpPr>
          <p:cNvPr id="58" name="Text 56"/>
          <p:cNvSpPr/>
          <p:nvPr/>
        </p:nvSpPr>
        <p:spPr>
          <a:xfrm>
            <a:off x="8131632" y="4369290"/>
            <a:ext cx="1747716" cy="134440"/>
          </a:xfrm>
          <a:prstGeom prst="rect">
            <a:avLst/>
          </a:prstGeom>
          <a:noFill/>
          <a:ln/>
        </p:spPr>
        <p:txBody>
          <a:bodyPr wrap="square" lIns="0" tIns="0" rIns="0" bIns="0" rtlCol="0" anchor="ctr"/>
          <a:lstStyle/>
          <a:p>
            <a:pPr algn="ctr">
              <a:lnSpc>
                <a:spcPct val="110000"/>
              </a:lnSpc>
            </a:pPr>
            <a:r>
              <a:rPr lang="en-US" sz="794" dirty="0">
                <a:solidFill>
                  <a:srgbClr val="4DB6AC"/>
                </a:solidFill>
                <a:latin typeface="Quattrocento Sans" pitchFamily="34" charset="0"/>
                <a:ea typeface="Quattrocento Sans" pitchFamily="34" charset="-122"/>
                <a:cs typeface="Quattrocento Sans" pitchFamily="34" charset="-120"/>
              </a:rPr>
              <a:t>Gjendja e fshehur rrjedh përgjatë kohës</a:t>
            </a:r>
            <a:endParaRPr lang="en-US" sz="1600" dirty="0"/>
          </a:p>
        </p:txBody>
      </p:sp>
      <p:sp>
        <p:nvSpPr>
          <p:cNvPr id="59" name="Shape 57"/>
          <p:cNvSpPr/>
          <p:nvPr/>
        </p:nvSpPr>
        <p:spPr>
          <a:xfrm>
            <a:off x="6165977" y="4507931"/>
            <a:ext cx="5680077" cy="1016700"/>
          </a:xfrm>
          <a:custGeom>
            <a:avLst/>
            <a:gdLst/>
            <a:ahLst/>
            <a:cxnLst/>
            <a:rect l="l" t="t" r="r" b="b"/>
            <a:pathLst>
              <a:path w="5680077" h="1016700">
                <a:moveTo>
                  <a:pt x="67224" y="0"/>
                </a:moveTo>
                <a:lnTo>
                  <a:pt x="5612853" y="0"/>
                </a:lnTo>
                <a:cubicBezTo>
                  <a:pt x="5649980" y="0"/>
                  <a:pt x="5680077" y="30097"/>
                  <a:pt x="5680077" y="67224"/>
                </a:cubicBezTo>
                <a:lnTo>
                  <a:pt x="5680077" y="949476"/>
                </a:lnTo>
                <a:cubicBezTo>
                  <a:pt x="5680077" y="986603"/>
                  <a:pt x="5649980" y="1016700"/>
                  <a:pt x="5612853" y="1016700"/>
                </a:cubicBezTo>
                <a:lnTo>
                  <a:pt x="67224" y="1016700"/>
                </a:lnTo>
                <a:cubicBezTo>
                  <a:pt x="30097" y="1016700"/>
                  <a:pt x="0" y="986603"/>
                  <a:pt x="0" y="949476"/>
                </a:cubicBezTo>
                <a:lnTo>
                  <a:pt x="0" y="67224"/>
                </a:lnTo>
                <a:cubicBezTo>
                  <a:pt x="0" y="30122"/>
                  <a:pt x="30122" y="0"/>
                  <a:pt x="67224" y="0"/>
                </a:cubicBezTo>
                <a:close/>
              </a:path>
            </a:pathLst>
          </a:custGeom>
          <a:solidFill>
            <a:srgbClr val="FFD54F">
              <a:alpha val="10196"/>
            </a:srgbClr>
          </a:solidFill>
          <a:ln w="12700">
            <a:solidFill>
              <a:srgbClr val="FFD54F">
                <a:alpha val="30196"/>
              </a:srgbClr>
            </a:solidFill>
            <a:prstDash val="solid"/>
          </a:ln>
        </p:spPr>
      </p:sp>
      <p:sp>
        <p:nvSpPr>
          <p:cNvPr id="60" name="Text 58"/>
          <p:cNvSpPr/>
          <p:nvPr/>
        </p:nvSpPr>
        <p:spPr>
          <a:xfrm>
            <a:off x="6271008" y="4612962"/>
            <a:ext cx="5537235" cy="201660"/>
          </a:xfrm>
          <a:prstGeom prst="rect">
            <a:avLst/>
          </a:prstGeom>
          <a:noFill/>
          <a:ln/>
        </p:spPr>
        <p:txBody>
          <a:bodyPr wrap="square" lIns="0" tIns="0" rIns="0" bIns="0" rtlCol="0" anchor="ctr"/>
          <a:lstStyle/>
          <a:p>
            <a:pPr>
              <a:lnSpc>
                <a:spcPct val="130000"/>
              </a:lnSpc>
            </a:pPr>
            <a:r>
              <a:rPr lang="en-US" sz="1059" b="1" dirty="0">
                <a:solidFill>
                  <a:srgbClr val="ECEFF1"/>
                </a:solidFill>
                <a:latin typeface="Liter" pitchFamily="34" charset="0"/>
                <a:ea typeface="Liter" pitchFamily="34" charset="-122"/>
                <a:cs typeface="Liter" pitchFamily="34" charset="-120"/>
              </a:rPr>
              <a:t>The Vanishing Gradient Problem</a:t>
            </a:r>
            <a:endParaRPr lang="en-US" sz="1600" dirty="0"/>
          </a:p>
        </p:txBody>
      </p:sp>
      <p:sp>
        <p:nvSpPr>
          <p:cNvPr id="61" name="Text 59"/>
          <p:cNvSpPr/>
          <p:nvPr/>
        </p:nvSpPr>
        <p:spPr>
          <a:xfrm>
            <a:off x="6271008" y="4881841"/>
            <a:ext cx="5528833" cy="336099"/>
          </a:xfrm>
          <a:prstGeom prst="rect">
            <a:avLst/>
          </a:prstGeom>
          <a:noFill/>
          <a:ln/>
        </p:spPr>
        <p:txBody>
          <a:bodyPr wrap="square" lIns="0" tIns="0" rIns="0" bIns="0" rtlCol="0" anchor="ctr"/>
          <a:lstStyle/>
          <a:p>
            <a:pPr>
              <a:lnSpc>
                <a:spcPct val="120000"/>
              </a:lnSpc>
            </a:pPr>
            <a:r>
              <a:rPr lang="en-US" sz="926" dirty="0">
                <a:solidFill>
                  <a:srgbClr val="ECEFF1"/>
                </a:solidFill>
                <a:latin typeface="Quattrocento Sans" pitchFamily="34" charset="0"/>
                <a:ea typeface="Quattrocento Sans" pitchFamily="34" charset="-122"/>
                <a:cs typeface="Quattrocento Sans" pitchFamily="34" charset="-120"/>
              </a:rPr>
              <a:t>In deep RNNs, gradients become exponentially small during backpropagation through time (BPTT), making it difficult to learn long-term dependencies.</a:t>
            </a:r>
            <a:endParaRPr lang="en-US" sz="1600" dirty="0"/>
          </a:p>
        </p:txBody>
      </p:sp>
      <p:sp>
        <p:nvSpPr>
          <p:cNvPr id="62" name="Text 60"/>
          <p:cNvSpPr/>
          <p:nvPr/>
        </p:nvSpPr>
        <p:spPr>
          <a:xfrm>
            <a:off x="6271008" y="5285161"/>
            <a:ext cx="5520430" cy="134440"/>
          </a:xfrm>
          <a:prstGeom prst="rect">
            <a:avLst/>
          </a:prstGeom>
          <a:noFill/>
          <a:ln/>
        </p:spPr>
        <p:txBody>
          <a:bodyPr wrap="square" lIns="0" tIns="0" rIns="0" bIns="0" rtlCol="0" anchor="ctr"/>
          <a:lstStyle/>
          <a:p>
            <a:pPr>
              <a:lnSpc>
                <a:spcPct val="110000"/>
              </a:lnSpc>
            </a:pPr>
            <a:r>
              <a:rPr lang="en-US" sz="794" dirty="0">
                <a:solidFill>
                  <a:srgbClr val="78909C"/>
                </a:solidFill>
                <a:latin typeface="Quattrocento Sans" pitchFamily="34" charset="0"/>
                <a:ea typeface="Quattrocento Sans" pitchFamily="34" charset="-122"/>
                <a:cs typeface="Quattrocento Sans" pitchFamily="34" charset="-120"/>
              </a:rPr>
              <a:t>Në RNN-të e thella, gradientët bëhen eksponencialisht të vegjël gjatë backpropagation nëpër kohë.</a:t>
            </a:r>
            <a:endParaRPr lang="en-US" sz="1600" dirty="0"/>
          </a:p>
        </p:txBody>
      </p:sp>
      <p:sp>
        <p:nvSpPr>
          <p:cNvPr id="63" name="Shape 61"/>
          <p:cNvSpPr/>
          <p:nvPr/>
        </p:nvSpPr>
        <p:spPr>
          <a:xfrm>
            <a:off x="6165977" y="5600254"/>
            <a:ext cx="5680077" cy="1251970"/>
          </a:xfrm>
          <a:custGeom>
            <a:avLst/>
            <a:gdLst/>
            <a:ahLst/>
            <a:cxnLst/>
            <a:rect l="l" t="t" r="r" b="b"/>
            <a:pathLst>
              <a:path w="5680077" h="1251970">
                <a:moveTo>
                  <a:pt x="67218" y="0"/>
                </a:moveTo>
                <a:lnTo>
                  <a:pt x="5612859" y="0"/>
                </a:lnTo>
                <a:cubicBezTo>
                  <a:pt x="5649958" y="0"/>
                  <a:pt x="5680077" y="30119"/>
                  <a:pt x="5680077" y="67218"/>
                </a:cubicBezTo>
                <a:lnTo>
                  <a:pt x="5680077" y="1184751"/>
                </a:lnTo>
                <a:cubicBezTo>
                  <a:pt x="5680077" y="1221875"/>
                  <a:pt x="5649983" y="1251970"/>
                  <a:pt x="5612859" y="1251970"/>
                </a:cubicBezTo>
                <a:lnTo>
                  <a:pt x="67218" y="1251970"/>
                </a:lnTo>
                <a:cubicBezTo>
                  <a:pt x="30119" y="1251970"/>
                  <a:pt x="0" y="1221850"/>
                  <a:pt x="0" y="1184751"/>
                </a:cubicBezTo>
                <a:lnTo>
                  <a:pt x="0" y="67218"/>
                </a:lnTo>
                <a:cubicBezTo>
                  <a:pt x="0" y="30095"/>
                  <a:pt x="30095" y="0"/>
                  <a:pt x="67218" y="0"/>
                </a:cubicBezTo>
                <a:close/>
              </a:path>
            </a:pathLst>
          </a:custGeom>
          <a:solidFill>
            <a:srgbClr val="4DB6AC">
              <a:alpha val="10196"/>
            </a:srgbClr>
          </a:solidFill>
          <a:ln w="12700">
            <a:solidFill>
              <a:srgbClr val="4DB6AC">
                <a:alpha val="30196"/>
              </a:srgbClr>
            </a:solidFill>
            <a:prstDash val="solid"/>
          </a:ln>
        </p:spPr>
      </p:sp>
      <p:sp>
        <p:nvSpPr>
          <p:cNvPr id="64" name="Text 62"/>
          <p:cNvSpPr/>
          <p:nvPr/>
        </p:nvSpPr>
        <p:spPr>
          <a:xfrm>
            <a:off x="6271008" y="5705285"/>
            <a:ext cx="5537235" cy="201660"/>
          </a:xfrm>
          <a:prstGeom prst="rect">
            <a:avLst/>
          </a:prstGeom>
          <a:noFill/>
          <a:ln/>
        </p:spPr>
        <p:txBody>
          <a:bodyPr wrap="square" lIns="0" tIns="0" rIns="0" bIns="0" rtlCol="0" anchor="ctr"/>
          <a:lstStyle/>
          <a:p>
            <a:pPr>
              <a:lnSpc>
                <a:spcPct val="130000"/>
              </a:lnSpc>
            </a:pPr>
            <a:r>
              <a:rPr lang="en-US" sz="1059" b="1" dirty="0">
                <a:solidFill>
                  <a:srgbClr val="ECEFF1"/>
                </a:solidFill>
                <a:latin typeface="Liter" pitchFamily="34" charset="0"/>
                <a:ea typeface="Liter" pitchFamily="34" charset="-122"/>
                <a:cs typeface="Liter" pitchFamily="34" charset="-120"/>
              </a:rPr>
              <a:t>RNN Variants</a:t>
            </a:r>
            <a:endParaRPr lang="en-US" sz="1600" dirty="0"/>
          </a:p>
        </p:txBody>
      </p:sp>
      <p:sp>
        <p:nvSpPr>
          <p:cNvPr id="65" name="Shape 63"/>
          <p:cNvSpPr/>
          <p:nvPr/>
        </p:nvSpPr>
        <p:spPr>
          <a:xfrm>
            <a:off x="6271008" y="6024579"/>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4DB6AC"/>
          </a:solidFill>
          <a:ln/>
        </p:spPr>
      </p:sp>
      <p:sp>
        <p:nvSpPr>
          <p:cNvPr id="66" name="Text 64"/>
          <p:cNvSpPr/>
          <p:nvPr/>
        </p:nvSpPr>
        <p:spPr>
          <a:xfrm>
            <a:off x="6405448" y="5974164"/>
            <a:ext cx="2016595" cy="168050"/>
          </a:xfrm>
          <a:prstGeom prst="rect">
            <a:avLst/>
          </a:prstGeom>
          <a:noFill/>
          <a:ln/>
        </p:spPr>
        <p:txBody>
          <a:bodyPr wrap="square" lIns="0" tIns="0" rIns="0" bIns="0" rtlCol="0" anchor="ctr"/>
          <a:lstStyle/>
          <a:p>
            <a:pPr>
              <a:lnSpc>
                <a:spcPct val="120000"/>
              </a:lnSpc>
            </a:pPr>
            <a:r>
              <a:rPr lang="en-US" sz="926" b="1" dirty="0">
                <a:solidFill>
                  <a:srgbClr val="ECEFF1"/>
                </a:solidFill>
                <a:latin typeface="Quattrocento Sans" pitchFamily="34" charset="0"/>
                <a:ea typeface="Quattrocento Sans" pitchFamily="34" charset="-122"/>
                <a:cs typeface="Quattrocento Sans" pitchFamily="34" charset="-120"/>
              </a:rPr>
              <a:t>One-to-One:</a:t>
            </a:r>
            <a:r>
              <a:rPr lang="en-US" sz="926" dirty="0">
                <a:solidFill>
                  <a:srgbClr val="ECEFF1"/>
                </a:solidFill>
                <a:latin typeface="Quattrocento Sans" pitchFamily="34" charset="0"/>
                <a:ea typeface="Quattrocento Sans" pitchFamily="34" charset="-122"/>
                <a:cs typeface="Quattrocento Sans" pitchFamily="34" charset="-120"/>
              </a:rPr>
              <a:t> Standard neural network</a:t>
            </a:r>
            <a:endParaRPr lang="en-US" sz="1600" dirty="0"/>
          </a:p>
        </p:txBody>
      </p:sp>
      <p:sp>
        <p:nvSpPr>
          <p:cNvPr id="67" name="Shape 65"/>
          <p:cNvSpPr/>
          <p:nvPr/>
        </p:nvSpPr>
        <p:spPr>
          <a:xfrm>
            <a:off x="6271008" y="6226238"/>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FD54F"/>
          </a:solidFill>
          <a:ln/>
        </p:spPr>
      </p:sp>
      <p:sp>
        <p:nvSpPr>
          <p:cNvPr id="68" name="Text 66"/>
          <p:cNvSpPr/>
          <p:nvPr/>
        </p:nvSpPr>
        <p:spPr>
          <a:xfrm>
            <a:off x="6405448" y="6175824"/>
            <a:ext cx="1697301" cy="168050"/>
          </a:xfrm>
          <a:prstGeom prst="rect">
            <a:avLst/>
          </a:prstGeom>
          <a:noFill/>
          <a:ln/>
        </p:spPr>
        <p:txBody>
          <a:bodyPr wrap="square" lIns="0" tIns="0" rIns="0" bIns="0" rtlCol="0" anchor="ctr"/>
          <a:lstStyle/>
          <a:p>
            <a:pPr>
              <a:lnSpc>
                <a:spcPct val="120000"/>
              </a:lnSpc>
            </a:pPr>
            <a:r>
              <a:rPr lang="en-US" sz="926" b="1" dirty="0">
                <a:solidFill>
                  <a:srgbClr val="ECEFF1"/>
                </a:solidFill>
                <a:latin typeface="Quattrocento Sans" pitchFamily="34" charset="0"/>
                <a:ea typeface="Quattrocento Sans" pitchFamily="34" charset="-122"/>
                <a:cs typeface="Quattrocento Sans" pitchFamily="34" charset="-120"/>
              </a:rPr>
              <a:t>One-to-Many:</a:t>
            </a:r>
            <a:r>
              <a:rPr lang="en-US" sz="926" dirty="0">
                <a:solidFill>
                  <a:srgbClr val="ECEFF1"/>
                </a:solidFill>
                <a:latin typeface="Quattrocento Sans" pitchFamily="34" charset="0"/>
                <a:ea typeface="Quattrocento Sans" pitchFamily="34" charset="-122"/>
                <a:cs typeface="Quattrocento Sans" pitchFamily="34" charset="-120"/>
              </a:rPr>
              <a:t> Image captioning</a:t>
            </a:r>
            <a:endParaRPr lang="en-US" sz="1600" dirty="0"/>
          </a:p>
        </p:txBody>
      </p:sp>
      <p:sp>
        <p:nvSpPr>
          <p:cNvPr id="69" name="Shape 67"/>
          <p:cNvSpPr/>
          <p:nvPr/>
        </p:nvSpPr>
        <p:spPr>
          <a:xfrm>
            <a:off x="6271008" y="6427898"/>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4DB6AC"/>
          </a:solidFill>
          <a:ln/>
        </p:spPr>
      </p:sp>
      <p:sp>
        <p:nvSpPr>
          <p:cNvPr id="70" name="Text 68"/>
          <p:cNvSpPr/>
          <p:nvPr/>
        </p:nvSpPr>
        <p:spPr>
          <a:xfrm>
            <a:off x="6405448" y="6377483"/>
            <a:ext cx="1772924" cy="168050"/>
          </a:xfrm>
          <a:prstGeom prst="rect">
            <a:avLst/>
          </a:prstGeom>
          <a:noFill/>
          <a:ln/>
        </p:spPr>
        <p:txBody>
          <a:bodyPr wrap="square" lIns="0" tIns="0" rIns="0" bIns="0" rtlCol="0" anchor="ctr"/>
          <a:lstStyle/>
          <a:p>
            <a:pPr>
              <a:lnSpc>
                <a:spcPct val="120000"/>
              </a:lnSpc>
            </a:pPr>
            <a:r>
              <a:rPr lang="en-US" sz="926" b="1" dirty="0">
                <a:solidFill>
                  <a:srgbClr val="ECEFF1"/>
                </a:solidFill>
                <a:latin typeface="Quattrocento Sans" pitchFamily="34" charset="0"/>
                <a:ea typeface="Quattrocento Sans" pitchFamily="34" charset="-122"/>
                <a:cs typeface="Quattrocento Sans" pitchFamily="34" charset="-120"/>
              </a:rPr>
              <a:t>Many-to-One:</a:t>
            </a:r>
            <a:r>
              <a:rPr lang="en-US" sz="926" dirty="0">
                <a:solidFill>
                  <a:srgbClr val="ECEFF1"/>
                </a:solidFill>
                <a:latin typeface="Quattrocento Sans" pitchFamily="34" charset="0"/>
                <a:ea typeface="Quattrocento Sans" pitchFamily="34" charset="-122"/>
                <a:cs typeface="Quattrocento Sans" pitchFamily="34" charset="-120"/>
              </a:rPr>
              <a:t> Sentiment analysis</a:t>
            </a:r>
            <a:endParaRPr lang="en-US" sz="1600" dirty="0"/>
          </a:p>
        </p:txBody>
      </p:sp>
      <p:sp>
        <p:nvSpPr>
          <p:cNvPr id="71" name="Shape 69"/>
          <p:cNvSpPr/>
          <p:nvPr/>
        </p:nvSpPr>
        <p:spPr>
          <a:xfrm>
            <a:off x="6271008" y="6629558"/>
            <a:ext cx="67220" cy="67220"/>
          </a:xfrm>
          <a:custGeom>
            <a:avLst/>
            <a:gdLst/>
            <a:ahLst/>
            <a:cxnLst/>
            <a:rect l="l" t="t" r="r" b="b"/>
            <a:pathLst>
              <a:path w="67220" h="67220">
                <a:moveTo>
                  <a:pt x="33610" y="0"/>
                </a:moveTo>
                <a:lnTo>
                  <a:pt x="33610" y="0"/>
                </a:lnTo>
                <a:cubicBezTo>
                  <a:pt x="52172" y="0"/>
                  <a:pt x="67220" y="15048"/>
                  <a:pt x="67220" y="33610"/>
                </a:cubicBezTo>
                <a:lnTo>
                  <a:pt x="67220" y="33610"/>
                </a:lnTo>
                <a:cubicBezTo>
                  <a:pt x="67220" y="52172"/>
                  <a:pt x="52172" y="67220"/>
                  <a:pt x="33610" y="67220"/>
                </a:cubicBezTo>
                <a:lnTo>
                  <a:pt x="33610" y="67220"/>
                </a:lnTo>
                <a:cubicBezTo>
                  <a:pt x="15048" y="67220"/>
                  <a:pt x="0" y="52172"/>
                  <a:pt x="0" y="33610"/>
                </a:cubicBezTo>
                <a:lnTo>
                  <a:pt x="0" y="33610"/>
                </a:lnTo>
                <a:cubicBezTo>
                  <a:pt x="0" y="15048"/>
                  <a:pt x="15048" y="0"/>
                  <a:pt x="33610" y="0"/>
                </a:cubicBezTo>
                <a:close/>
              </a:path>
            </a:pathLst>
          </a:custGeom>
          <a:solidFill>
            <a:srgbClr val="FFD54F"/>
          </a:solidFill>
          <a:ln/>
        </p:spPr>
      </p:sp>
      <p:sp>
        <p:nvSpPr>
          <p:cNvPr id="72" name="Text 70"/>
          <p:cNvSpPr/>
          <p:nvPr/>
        </p:nvSpPr>
        <p:spPr>
          <a:xfrm>
            <a:off x="6405448" y="6579143"/>
            <a:ext cx="1890558" cy="168050"/>
          </a:xfrm>
          <a:prstGeom prst="rect">
            <a:avLst/>
          </a:prstGeom>
          <a:noFill/>
          <a:ln/>
        </p:spPr>
        <p:txBody>
          <a:bodyPr wrap="square" lIns="0" tIns="0" rIns="0" bIns="0" rtlCol="0" anchor="ctr"/>
          <a:lstStyle/>
          <a:p>
            <a:pPr>
              <a:lnSpc>
                <a:spcPct val="120000"/>
              </a:lnSpc>
            </a:pPr>
            <a:r>
              <a:rPr lang="en-US" sz="926" b="1" dirty="0">
                <a:solidFill>
                  <a:srgbClr val="ECEFF1"/>
                </a:solidFill>
                <a:latin typeface="Quattrocento Sans" pitchFamily="34" charset="0"/>
                <a:ea typeface="Quattrocento Sans" pitchFamily="34" charset="-122"/>
                <a:cs typeface="Quattrocento Sans" pitchFamily="34" charset="-120"/>
              </a:rPr>
              <a:t>Many-to-Many:</a:t>
            </a:r>
            <a:r>
              <a:rPr lang="en-US" sz="926" dirty="0">
                <a:solidFill>
                  <a:srgbClr val="ECEFF1"/>
                </a:solidFill>
                <a:latin typeface="Quattrocento Sans" pitchFamily="34" charset="0"/>
                <a:ea typeface="Quattrocento Sans" pitchFamily="34" charset="-122"/>
                <a:cs typeface="Quattrocento Sans" pitchFamily="34" charset="-120"/>
              </a:rPr>
              <a:t> Machine translation</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3701" y="373701"/>
            <a:ext cx="11612763" cy="373701"/>
          </a:xfrm>
          <a:prstGeom prst="rect">
            <a:avLst/>
          </a:prstGeom>
          <a:noFill/>
          <a:ln/>
        </p:spPr>
        <p:txBody>
          <a:bodyPr wrap="square" lIns="0" tIns="0" rIns="0" bIns="0" rtlCol="0" anchor="ctr"/>
          <a:lstStyle/>
          <a:p>
            <a:pPr>
              <a:lnSpc>
                <a:spcPct val="90000"/>
              </a:lnSpc>
            </a:pPr>
            <a:r>
              <a:rPr lang="en-US" sz="2648" b="1" dirty="0">
                <a:solidFill>
                  <a:srgbClr val="ECEFF1"/>
                </a:solidFill>
                <a:latin typeface="Liter" pitchFamily="34" charset="0"/>
                <a:ea typeface="Liter" pitchFamily="34" charset="-122"/>
                <a:cs typeface="Liter" pitchFamily="34" charset="-120"/>
              </a:rPr>
              <a:t>LSTM &amp; GRU Networks</a:t>
            </a:r>
            <a:endParaRPr lang="en-US" sz="1600" dirty="0"/>
          </a:p>
        </p:txBody>
      </p:sp>
      <p:sp>
        <p:nvSpPr>
          <p:cNvPr id="3" name="Text 1"/>
          <p:cNvSpPr/>
          <p:nvPr/>
        </p:nvSpPr>
        <p:spPr>
          <a:xfrm>
            <a:off x="373701" y="784772"/>
            <a:ext cx="11556708" cy="298961"/>
          </a:xfrm>
          <a:prstGeom prst="rect">
            <a:avLst/>
          </a:prstGeom>
          <a:noFill/>
          <a:ln/>
        </p:spPr>
        <p:txBody>
          <a:bodyPr wrap="square" lIns="0" tIns="0" rIns="0" bIns="0" rtlCol="0" anchor="ctr"/>
          <a:lstStyle/>
          <a:p>
            <a:pPr>
              <a:lnSpc>
                <a:spcPct val="110000"/>
              </a:lnSpc>
            </a:pPr>
            <a:r>
              <a:rPr lang="en-US" sz="1766" b="1" dirty="0">
                <a:solidFill>
                  <a:srgbClr val="4DB6AC"/>
                </a:solidFill>
                <a:latin typeface="Hedvig Letters Sans" pitchFamily="34" charset="0"/>
                <a:ea typeface="Hedvig Letters Sans" pitchFamily="34" charset="-122"/>
                <a:cs typeface="Hedvig Letters Sans" pitchFamily="34" charset="-120"/>
              </a:rPr>
              <a:t>Rrjetet LSTM &amp; GRU</a:t>
            </a:r>
            <a:endParaRPr lang="en-US" sz="1600" dirty="0"/>
          </a:p>
        </p:txBody>
      </p:sp>
      <p:sp>
        <p:nvSpPr>
          <p:cNvPr id="4" name="Shape 2"/>
          <p:cNvSpPr/>
          <p:nvPr/>
        </p:nvSpPr>
        <p:spPr>
          <a:xfrm>
            <a:off x="392386" y="1158474"/>
            <a:ext cx="5624202" cy="1905876"/>
          </a:xfrm>
          <a:custGeom>
            <a:avLst/>
            <a:gdLst/>
            <a:ahLst/>
            <a:cxnLst/>
            <a:rect l="l" t="t" r="r" b="b"/>
            <a:pathLst>
              <a:path w="5624202" h="1905876">
                <a:moveTo>
                  <a:pt x="0" y="0"/>
                </a:moveTo>
                <a:lnTo>
                  <a:pt x="5549454" y="0"/>
                </a:lnTo>
                <a:cubicBezTo>
                  <a:pt x="5590736" y="0"/>
                  <a:pt x="5624202" y="33466"/>
                  <a:pt x="5624202" y="74748"/>
                </a:cubicBezTo>
                <a:lnTo>
                  <a:pt x="5624202" y="1831127"/>
                </a:lnTo>
                <a:cubicBezTo>
                  <a:pt x="5624202" y="1872410"/>
                  <a:pt x="5590736" y="1905876"/>
                  <a:pt x="5549454" y="1905876"/>
                </a:cubicBezTo>
                <a:lnTo>
                  <a:pt x="0" y="1905876"/>
                </a:lnTo>
                <a:lnTo>
                  <a:pt x="0" y="0"/>
                </a:lnTo>
                <a:close/>
              </a:path>
            </a:pathLst>
          </a:custGeom>
          <a:solidFill>
            <a:srgbClr val="4DB6AC">
              <a:alpha val="10196"/>
            </a:srgbClr>
          </a:solidFill>
          <a:ln/>
        </p:spPr>
      </p:sp>
      <p:sp>
        <p:nvSpPr>
          <p:cNvPr id="5" name="Shape 3"/>
          <p:cNvSpPr/>
          <p:nvPr/>
        </p:nvSpPr>
        <p:spPr>
          <a:xfrm>
            <a:off x="392386" y="1158474"/>
            <a:ext cx="37370" cy="1905876"/>
          </a:xfrm>
          <a:custGeom>
            <a:avLst/>
            <a:gdLst/>
            <a:ahLst/>
            <a:cxnLst/>
            <a:rect l="l" t="t" r="r" b="b"/>
            <a:pathLst>
              <a:path w="37370" h="1905876">
                <a:moveTo>
                  <a:pt x="0" y="0"/>
                </a:moveTo>
                <a:lnTo>
                  <a:pt x="37370" y="0"/>
                </a:lnTo>
                <a:lnTo>
                  <a:pt x="37370" y="1905876"/>
                </a:lnTo>
                <a:lnTo>
                  <a:pt x="0" y="1905876"/>
                </a:lnTo>
                <a:lnTo>
                  <a:pt x="0" y="0"/>
                </a:lnTo>
                <a:close/>
              </a:path>
            </a:pathLst>
          </a:custGeom>
          <a:solidFill>
            <a:srgbClr val="4DB6AC"/>
          </a:solidFill>
          <a:ln/>
        </p:spPr>
      </p:sp>
      <p:sp>
        <p:nvSpPr>
          <p:cNvPr id="6" name="Text 4"/>
          <p:cNvSpPr/>
          <p:nvPr/>
        </p:nvSpPr>
        <p:spPr>
          <a:xfrm>
            <a:off x="523182" y="1270584"/>
            <a:ext cx="5456037" cy="822143"/>
          </a:xfrm>
          <a:prstGeom prst="rect">
            <a:avLst/>
          </a:prstGeom>
          <a:noFill/>
          <a:ln/>
        </p:spPr>
        <p:txBody>
          <a:bodyPr wrap="square" lIns="0" tIns="0" rIns="0" bIns="0" rtlCol="0" anchor="ctr"/>
          <a:lstStyle/>
          <a:p>
            <a:pPr>
              <a:lnSpc>
                <a:spcPct val="110000"/>
              </a:lnSpc>
            </a:pPr>
            <a:r>
              <a:rPr lang="en-US" sz="1177" b="1" dirty="0">
                <a:solidFill>
                  <a:srgbClr val="4DB6AC"/>
                </a:solidFill>
                <a:latin typeface="Quattrocento Sans" pitchFamily="34" charset="0"/>
                <a:ea typeface="Quattrocento Sans" pitchFamily="34" charset="-122"/>
                <a:cs typeface="Quattrocento Sans" pitchFamily="34" charset="-120"/>
              </a:rPr>
              <a:t>English:</a:t>
            </a:r>
            <a:r>
              <a:rPr lang="en-US" sz="1177" dirty="0">
                <a:solidFill>
                  <a:srgbClr val="ECEFF1"/>
                </a:solidFill>
                <a:latin typeface="Quattrocento Sans" pitchFamily="34" charset="0"/>
                <a:ea typeface="Quattrocento Sans" pitchFamily="34" charset="-122"/>
                <a:cs typeface="Quattrocento Sans" pitchFamily="34" charset="-120"/>
              </a:rPr>
              <a:t> LSTM (Long Short-Term Memory) and GRU (Gated Recurrent Unit) are specialized RNN architectures designed to solve the vanishing gradient problem. They use gating mechanisms to control information flow and preserve long-term dependencies.</a:t>
            </a:r>
            <a:endParaRPr lang="en-US" sz="1600" dirty="0"/>
          </a:p>
        </p:txBody>
      </p:sp>
      <p:sp>
        <p:nvSpPr>
          <p:cNvPr id="7" name="Text 5"/>
          <p:cNvSpPr/>
          <p:nvPr/>
        </p:nvSpPr>
        <p:spPr>
          <a:xfrm>
            <a:off x="523182" y="2130097"/>
            <a:ext cx="5456037" cy="822143"/>
          </a:xfrm>
          <a:prstGeom prst="rect">
            <a:avLst/>
          </a:prstGeom>
          <a:noFill/>
          <a:ln/>
        </p:spPr>
        <p:txBody>
          <a:bodyPr wrap="square" lIns="0" tIns="0" rIns="0" bIns="0" rtlCol="0" anchor="ctr"/>
          <a:lstStyle/>
          <a:p>
            <a:pPr>
              <a:lnSpc>
                <a:spcPct val="110000"/>
              </a:lnSpc>
            </a:pPr>
            <a:r>
              <a:rPr lang="en-US" sz="1177" b="1" dirty="0">
                <a:solidFill>
                  <a:srgbClr val="FFD54F"/>
                </a:solidFill>
                <a:latin typeface="Quattrocento Sans" pitchFamily="34" charset="0"/>
                <a:ea typeface="Quattrocento Sans" pitchFamily="34" charset="-122"/>
                <a:cs typeface="Quattrocento Sans" pitchFamily="34" charset="-120"/>
              </a:rPr>
              <a:t>Shqip:</a:t>
            </a:r>
            <a:r>
              <a:rPr lang="en-US" sz="1177" dirty="0">
                <a:solidFill>
                  <a:srgbClr val="78909C"/>
                </a:solidFill>
                <a:latin typeface="Quattrocento Sans" pitchFamily="34" charset="0"/>
                <a:ea typeface="Quattrocento Sans" pitchFamily="34" charset="-122"/>
                <a:cs typeface="Quattrocento Sans" pitchFamily="34" charset="-120"/>
              </a:rPr>
              <a:t> LSTM (Memoria e Gjatë afatshkurtër) dhe GRU (Njësia Rekurrente me Porta) janë arkitektura të specializuara RNN të projektuara për të zgjidhur problemin e gradientit zhdukur. Ato përdorin mekanizma portash për të kontrolluar rrjedhën e informacionit.</a:t>
            </a:r>
            <a:endParaRPr lang="en-US" sz="1600" dirty="0"/>
          </a:p>
        </p:txBody>
      </p:sp>
      <p:sp>
        <p:nvSpPr>
          <p:cNvPr id="8" name="Shape 6"/>
          <p:cNvSpPr/>
          <p:nvPr/>
        </p:nvSpPr>
        <p:spPr>
          <a:xfrm>
            <a:off x="378372" y="3143761"/>
            <a:ext cx="5633545" cy="2214179"/>
          </a:xfrm>
          <a:custGeom>
            <a:avLst/>
            <a:gdLst/>
            <a:ahLst/>
            <a:cxnLst/>
            <a:rect l="l" t="t" r="r" b="b"/>
            <a:pathLst>
              <a:path w="5633545" h="2214179">
                <a:moveTo>
                  <a:pt x="74751" y="0"/>
                </a:moveTo>
                <a:lnTo>
                  <a:pt x="5558794" y="0"/>
                </a:lnTo>
                <a:cubicBezTo>
                  <a:pt x="5600078" y="0"/>
                  <a:pt x="5633545" y="33467"/>
                  <a:pt x="5633545" y="74751"/>
                </a:cubicBezTo>
                <a:lnTo>
                  <a:pt x="5633545" y="2139429"/>
                </a:lnTo>
                <a:cubicBezTo>
                  <a:pt x="5633545" y="2180712"/>
                  <a:pt x="5600078" y="2214179"/>
                  <a:pt x="5558794" y="2214179"/>
                </a:cubicBezTo>
                <a:lnTo>
                  <a:pt x="74751" y="2214179"/>
                </a:lnTo>
                <a:cubicBezTo>
                  <a:pt x="33467" y="2214179"/>
                  <a:pt x="0" y="2180712"/>
                  <a:pt x="0" y="2139429"/>
                </a:cubicBezTo>
                <a:lnTo>
                  <a:pt x="0" y="74751"/>
                </a:lnTo>
                <a:cubicBezTo>
                  <a:pt x="0" y="33495"/>
                  <a:pt x="33495" y="0"/>
                  <a:pt x="74751"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95154" y="3260543"/>
            <a:ext cx="5484064" cy="261591"/>
          </a:xfrm>
          <a:prstGeom prst="rect">
            <a:avLst/>
          </a:prstGeom>
          <a:noFill/>
          <a:ln/>
        </p:spPr>
        <p:txBody>
          <a:bodyPr wrap="square" lIns="0" tIns="0" rIns="0" bIns="0" rtlCol="0" anchor="ctr"/>
          <a:lstStyle/>
          <a:p>
            <a:pPr>
              <a:lnSpc>
                <a:spcPct val="130000"/>
              </a:lnSpc>
            </a:pPr>
            <a:r>
              <a:rPr lang="en-US" sz="1324" b="1" dirty="0">
                <a:solidFill>
                  <a:srgbClr val="ECEFF1"/>
                </a:solidFill>
                <a:latin typeface="Liter" pitchFamily="34" charset="0"/>
                <a:ea typeface="Liter" pitchFamily="34" charset="-122"/>
                <a:cs typeface="Liter" pitchFamily="34" charset="-120"/>
              </a:rPr>
              <a:t>LSTM Gates</a:t>
            </a:r>
            <a:endParaRPr lang="en-US" sz="1600" dirty="0"/>
          </a:p>
        </p:txBody>
      </p:sp>
      <p:sp>
        <p:nvSpPr>
          <p:cNvPr id="10" name="Shape 8"/>
          <p:cNvSpPr/>
          <p:nvPr/>
        </p:nvSpPr>
        <p:spPr>
          <a:xfrm>
            <a:off x="495154" y="3596874"/>
            <a:ext cx="5399982" cy="523182"/>
          </a:xfrm>
          <a:custGeom>
            <a:avLst/>
            <a:gdLst/>
            <a:ahLst/>
            <a:cxnLst/>
            <a:rect l="l" t="t" r="r" b="b"/>
            <a:pathLst>
              <a:path w="5399982" h="523182">
                <a:moveTo>
                  <a:pt x="37371" y="0"/>
                </a:moveTo>
                <a:lnTo>
                  <a:pt x="5362611" y="0"/>
                </a:lnTo>
                <a:cubicBezTo>
                  <a:pt x="5383250" y="0"/>
                  <a:pt x="5399982" y="16732"/>
                  <a:pt x="5399982" y="37371"/>
                </a:cubicBezTo>
                <a:lnTo>
                  <a:pt x="5399982" y="485811"/>
                </a:lnTo>
                <a:cubicBezTo>
                  <a:pt x="5399982" y="506450"/>
                  <a:pt x="5383250" y="523182"/>
                  <a:pt x="5362611" y="523182"/>
                </a:cubicBezTo>
                <a:lnTo>
                  <a:pt x="37371" y="523182"/>
                </a:lnTo>
                <a:cubicBezTo>
                  <a:pt x="16732" y="523182"/>
                  <a:pt x="0" y="506450"/>
                  <a:pt x="0" y="485811"/>
                </a:cubicBezTo>
                <a:lnTo>
                  <a:pt x="0" y="37371"/>
                </a:lnTo>
                <a:cubicBezTo>
                  <a:pt x="0" y="16745"/>
                  <a:pt x="16745" y="0"/>
                  <a:pt x="37371" y="0"/>
                </a:cubicBezTo>
                <a:close/>
              </a:path>
            </a:pathLst>
          </a:custGeom>
          <a:solidFill>
            <a:srgbClr val="1A1D21"/>
          </a:solidFill>
          <a:ln/>
        </p:spPr>
      </p:sp>
      <p:sp>
        <p:nvSpPr>
          <p:cNvPr id="11" name="Text 9"/>
          <p:cNvSpPr/>
          <p:nvPr/>
        </p:nvSpPr>
        <p:spPr>
          <a:xfrm>
            <a:off x="569894" y="3671614"/>
            <a:ext cx="5315899" cy="186851"/>
          </a:xfrm>
          <a:prstGeom prst="rect">
            <a:avLst/>
          </a:prstGeom>
          <a:noFill/>
          <a:ln/>
        </p:spPr>
        <p:txBody>
          <a:bodyPr wrap="square" lIns="0" tIns="0" rIns="0" bIns="0" rtlCol="0" anchor="ctr"/>
          <a:lstStyle/>
          <a:p>
            <a:pPr>
              <a:lnSpc>
                <a:spcPct val="120000"/>
              </a:lnSpc>
            </a:pPr>
            <a:r>
              <a:rPr lang="en-US" sz="1030" b="1" dirty="0">
                <a:solidFill>
                  <a:srgbClr val="FFD54F"/>
                </a:solidFill>
                <a:latin typeface="Quattrocento Sans" pitchFamily="34" charset="0"/>
                <a:ea typeface="Quattrocento Sans" pitchFamily="34" charset="-122"/>
                <a:cs typeface="Quattrocento Sans" pitchFamily="34" charset="-120"/>
              </a:rPr>
              <a:t>Forget Gate (fₜ)</a:t>
            </a:r>
            <a:endParaRPr lang="en-US" sz="1600" dirty="0"/>
          </a:p>
        </p:txBody>
      </p:sp>
      <p:sp>
        <p:nvSpPr>
          <p:cNvPr id="12" name="Text 10"/>
          <p:cNvSpPr/>
          <p:nvPr/>
        </p:nvSpPr>
        <p:spPr>
          <a:xfrm>
            <a:off x="569894" y="3895834"/>
            <a:ext cx="5306556" cy="149480"/>
          </a:xfrm>
          <a:prstGeom prst="rect">
            <a:avLst/>
          </a:prstGeom>
          <a:noFill/>
          <a:ln/>
        </p:spPr>
        <p:txBody>
          <a:bodyPr wrap="square" lIns="0" tIns="0" rIns="0" bIns="0" rtlCol="0" anchor="ctr"/>
          <a:lstStyle/>
          <a:p>
            <a:pP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Decides what information to discard from cell state</a:t>
            </a:r>
            <a:endParaRPr lang="en-US" sz="1600" dirty="0"/>
          </a:p>
        </p:txBody>
      </p:sp>
      <p:sp>
        <p:nvSpPr>
          <p:cNvPr id="13" name="Shape 11"/>
          <p:cNvSpPr/>
          <p:nvPr/>
        </p:nvSpPr>
        <p:spPr>
          <a:xfrm>
            <a:off x="495154" y="4157425"/>
            <a:ext cx="5399982" cy="523182"/>
          </a:xfrm>
          <a:custGeom>
            <a:avLst/>
            <a:gdLst/>
            <a:ahLst/>
            <a:cxnLst/>
            <a:rect l="l" t="t" r="r" b="b"/>
            <a:pathLst>
              <a:path w="5399982" h="523182">
                <a:moveTo>
                  <a:pt x="37371" y="0"/>
                </a:moveTo>
                <a:lnTo>
                  <a:pt x="5362611" y="0"/>
                </a:lnTo>
                <a:cubicBezTo>
                  <a:pt x="5383250" y="0"/>
                  <a:pt x="5399982" y="16732"/>
                  <a:pt x="5399982" y="37371"/>
                </a:cubicBezTo>
                <a:lnTo>
                  <a:pt x="5399982" y="485811"/>
                </a:lnTo>
                <a:cubicBezTo>
                  <a:pt x="5399982" y="506450"/>
                  <a:pt x="5383250" y="523182"/>
                  <a:pt x="5362611" y="523182"/>
                </a:cubicBezTo>
                <a:lnTo>
                  <a:pt x="37371" y="523182"/>
                </a:lnTo>
                <a:cubicBezTo>
                  <a:pt x="16732" y="523182"/>
                  <a:pt x="0" y="506450"/>
                  <a:pt x="0" y="485811"/>
                </a:cubicBezTo>
                <a:lnTo>
                  <a:pt x="0" y="37371"/>
                </a:lnTo>
                <a:cubicBezTo>
                  <a:pt x="0" y="16745"/>
                  <a:pt x="16745" y="0"/>
                  <a:pt x="37371" y="0"/>
                </a:cubicBezTo>
                <a:close/>
              </a:path>
            </a:pathLst>
          </a:custGeom>
          <a:solidFill>
            <a:srgbClr val="1A1D21"/>
          </a:solidFill>
          <a:ln/>
        </p:spPr>
      </p:sp>
      <p:sp>
        <p:nvSpPr>
          <p:cNvPr id="14" name="Text 12"/>
          <p:cNvSpPr/>
          <p:nvPr/>
        </p:nvSpPr>
        <p:spPr>
          <a:xfrm>
            <a:off x="569894" y="4232166"/>
            <a:ext cx="5315899" cy="186851"/>
          </a:xfrm>
          <a:prstGeom prst="rect">
            <a:avLst/>
          </a:prstGeom>
          <a:noFill/>
          <a:ln/>
        </p:spPr>
        <p:txBody>
          <a:bodyPr wrap="square" lIns="0" tIns="0" rIns="0" bIns="0" rtlCol="0" anchor="ctr"/>
          <a:lstStyle/>
          <a:p>
            <a:pPr>
              <a:lnSpc>
                <a:spcPct val="120000"/>
              </a:lnSpc>
            </a:pPr>
            <a:r>
              <a:rPr lang="en-US" sz="1030" b="1" dirty="0">
                <a:solidFill>
                  <a:srgbClr val="4DB6AC"/>
                </a:solidFill>
                <a:latin typeface="Quattrocento Sans" pitchFamily="34" charset="0"/>
                <a:ea typeface="Quattrocento Sans" pitchFamily="34" charset="-122"/>
                <a:cs typeface="Quattrocento Sans" pitchFamily="34" charset="-120"/>
              </a:rPr>
              <a:t>Input Gate (iₜ)</a:t>
            </a:r>
            <a:endParaRPr lang="en-US" sz="1600" dirty="0"/>
          </a:p>
        </p:txBody>
      </p:sp>
      <p:sp>
        <p:nvSpPr>
          <p:cNvPr id="15" name="Text 13"/>
          <p:cNvSpPr/>
          <p:nvPr/>
        </p:nvSpPr>
        <p:spPr>
          <a:xfrm>
            <a:off x="569894" y="4456386"/>
            <a:ext cx="5306556" cy="149480"/>
          </a:xfrm>
          <a:prstGeom prst="rect">
            <a:avLst/>
          </a:prstGeom>
          <a:noFill/>
          <a:ln/>
        </p:spPr>
        <p:txBody>
          <a:bodyPr wrap="square" lIns="0" tIns="0" rIns="0" bIns="0" rtlCol="0" anchor="ctr"/>
          <a:lstStyle/>
          <a:p>
            <a:pP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Decides what new information to store in cell state</a:t>
            </a:r>
            <a:endParaRPr lang="en-US" sz="1600" dirty="0"/>
          </a:p>
        </p:txBody>
      </p:sp>
      <p:sp>
        <p:nvSpPr>
          <p:cNvPr id="16" name="Shape 14"/>
          <p:cNvSpPr/>
          <p:nvPr/>
        </p:nvSpPr>
        <p:spPr>
          <a:xfrm>
            <a:off x="495154" y="4717977"/>
            <a:ext cx="5399982" cy="523182"/>
          </a:xfrm>
          <a:custGeom>
            <a:avLst/>
            <a:gdLst/>
            <a:ahLst/>
            <a:cxnLst/>
            <a:rect l="l" t="t" r="r" b="b"/>
            <a:pathLst>
              <a:path w="5399982" h="523182">
                <a:moveTo>
                  <a:pt x="37371" y="0"/>
                </a:moveTo>
                <a:lnTo>
                  <a:pt x="5362611" y="0"/>
                </a:lnTo>
                <a:cubicBezTo>
                  <a:pt x="5383250" y="0"/>
                  <a:pt x="5399982" y="16732"/>
                  <a:pt x="5399982" y="37371"/>
                </a:cubicBezTo>
                <a:lnTo>
                  <a:pt x="5399982" y="485811"/>
                </a:lnTo>
                <a:cubicBezTo>
                  <a:pt x="5399982" y="506450"/>
                  <a:pt x="5383250" y="523182"/>
                  <a:pt x="5362611" y="523182"/>
                </a:cubicBezTo>
                <a:lnTo>
                  <a:pt x="37371" y="523182"/>
                </a:lnTo>
                <a:cubicBezTo>
                  <a:pt x="16732" y="523182"/>
                  <a:pt x="0" y="506450"/>
                  <a:pt x="0" y="485811"/>
                </a:cubicBezTo>
                <a:lnTo>
                  <a:pt x="0" y="37371"/>
                </a:lnTo>
                <a:cubicBezTo>
                  <a:pt x="0" y="16745"/>
                  <a:pt x="16745" y="0"/>
                  <a:pt x="37371" y="0"/>
                </a:cubicBezTo>
                <a:close/>
              </a:path>
            </a:pathLst>
          </a:custGeom>
          <a:solidFill>
            <a:srgbClr val="1A1D21"/>
          </a:solidFill>
          <a:ln/>
        </p:spPr>
      </p:sp>
      <p:sp>
        <p:nvSpPr>
          <p:cNvPr id="17" name="Text 15"/>
          <p:cNvSpPr/>
          <p:nvPr/>
        </p:nvSpPr>
        <p:spPr>
          <a:xfrm>
            <a:off x="569894" y="4792717"/>
            <a:ext cx="5315899" cy="186851"/>
          </a:xfrm>
          <a:prstGeom prst="rect">
            <a:avLst/>
          </a:prstGeom>
          <a:noFill/>
          <a:ln/>
        </p:spPr>
        <p:txBody>
          <a:bodyPr wrap="square" lIns="0" tIns="0" rIns="0" bIns="0" rtlCol="0" anchor="ctr"/>
          <a:lstStyle/>
          <a:p>
            <a:pPr>
              <a:lnSpc>
                <a:spcPct val="120000"/>
              </a:lnSpc>
            </a:pPr>
            <a:r>
              <a:rPr lang="en-US" sz="1030" b="1" dirty="0">
                <a:solidFill>
                  <a:srgbClr val="FFD54F"/>
                </a:solidFill>
                <a:latin typeface="Quattrocento Sans" pitchFamily="34" charset="0"/>
                <a:ea typeface="Quattrocento Sans" pitchFamily="34" charset="-122"/>
                <a:cs typeface="Quattrocento Sans" pitchFamily="34" charset="-120"/>
              </a:rPr>
              <a:t>Output Gate (oₜ)</a:t>
            </a:r>
            <a:endParaRPr lang="en-US" sz="1600" dirty="0"/>
          </a:p>
        </p:txBody>
      </p:sp>
      <p:sp>
        <p:nvSpPr>
          <p:cNvPr id="18" name="Text 16"/>
          <p:cNvSpPr/>
          <p:nvPr/>
        </p:nvSpPr>
        <p:spPr>
          <a:xfrm>
            <a:off x="569894" y="5016938"/>
            <a:ext cx="5306556" cy="149480"/>
          </a:xfrm>
          <a:prstGeom prst="rect">
            <a:avLst/>
          </a:prstGeom>
          <a:noFill/>
          <a:ln/>
        </p:spPr>
        <p:txBody>
          <a:bodyPr wrap="square" lIns="0" tIns="0" rIns="0" bIns="0" rtlCol="0" anchor="ctr"/>
          <a:lstStyle/>
          <a:p>
            <a:pP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Decides what to output based on cell state</a:t>
            </a:r>
            <a:endParaRPr lang="en-US" sz="1600" dirty="0"/>
          </a:p>
        </p:txBody>
      </p:sp>
      <p:sp>
        <p:nvSpPr>
          <p:cNvPr id="19" name="Shape 17"/>
          <p:cNvSpPr/>
          <p:nvPr/>
        </p:nvSpPr>
        <p:spPr>
          <a:xfrm>
            <a:off x="373701" y="5437352"/>
            <a:ext cx="5642887" cy="1420064"/>
          </a:xfrm>
          <a:custGeom>
            <a:avLst/>
            <a:gdLst/>
            <a:ahLst/>
            <a:cxnLst/>
            <a:rect l="l" t="t" r="r" b="b"/>
            <a:pathLst>
              <a:path w="5642887" h="1420064">
                <a:moveTo>
                  <a:pt x="74738" y="0"/>
                </a:moveTo>
                <a:lnTo>
                  <a:pt x="5568149" y="0"/>
                </a:lnTo>
                <a:cubicBezTo>
                  <a:pt x="5609426" y="0"/>
                  <a:pt x="5642887" y="33461"/>
                  <a:pt x="5642887" y="74738"/>
                </a:cubicBezTo>
                <a:lnTo>
                  <a:pt x="5642887" y="1345326"/>
                </a:lnTo>
                <a:cubicBezTo>
                  <a:pt x="5642887" y="1386603"/>
                  <a:pt x="5609426" y="1420064"/>
                  <a:pt x="5568149" y="1420064"/>
                </a:cubicBezTo>
                <a:lnTo>
                  <a:pt x="74738" y="1420064"/>
                </a:lnTo>
                <a:cubicBezTo>
                  <a:pt x="33461" y="1420064"/>
                  <a:pt x="0" y="1386603"/>
                  <a:pt x="0" y="1345326"/>
                </a:cubicBezTo>
                <a:lnTo>
                  <a:pt x="0" y="74738"/>
                </a:lnTo>
                <a:cubicBezTo>
                  <a:pt x="0" y="33489"/>
                  <a:pt x="33489" y="0"/>
                  <a:pt x="74738" y="0"/>
                </a:cubicBezTo>
                <a:close/>
              </a:path>
            </a:pathLst>
          </a:custGeom>
          <a:solidFill>
            <a:srgbClr val="78909C">
              <a:alpha val="10196"/>
            </a:srgbClr>
          </a:solidFill>
          <a:ln/>
        </p:spPr>
      </p:sp>
      <p:sp>
        <p:nvSpPr>
          <p:cNvPr id="20" name="Text 18"/>
          <p:cNvSpPr/>
          <p:nvPr/>
        </p:nvSpPr>
        <p:spPr>
          <a:xfrm>
            <a:off x="485811" y="5549462"/>
            <a:ext cx="5493407" cy="224221"/>
          </a:xfrm>
          <a:prstGeom prst="rect">
            <a:avLst/>
          </a:prstGeom>
          <a:noFill/>
          <a:ln/>
        </p:spPr>
        <p:txBody>
          <a:bodyPr wrap="square" lIns="0" tIns="0" rIns="0" bIns="0" rtlCol="0" anchor="ctr"/>
          <a:lstStyle/>
          <a:p>
            <a:pPr>
              <a:lnSpc>
                <a:spcPct val="130000"/>
              </a:lnSpc>
            </a:pPr>
            <a:r>
              <a:rPr lang="en-US" sz="1177" b="1" dirty="0">
                <a:solidFill>
                  <a:srgbClr val="ECEFF1"/>
                </a:solidFill>
                <a:latin typeface="Liter" pitchFamily="34" charset="0"/>
                <a:ea typeface="Liter" pitchFamily="34" charset="-122"/>
                <a:cs typeface="Liter" pitchFamily="34" charset="-120"/>
              </a:rPr>
              <a:t>GRU Simplification</a:t>
            </a:r>
            <a:endParaRPr lang="en-US" sz="1600" dirty="0"/>
          </a:p>
        </p:txBody>
      </p:sp>
      <p:sp>
        <p:nvSpPr>
          <p:cNvPr id="21" name="Text 19"/>
          <p:cNvSpPr/>
          <p:nvPr/>
        </p:nvSpPr>
        <p:spPr>
          <a:xfrm>
            <a:off x="485811" y="5848423"/>
            <a:ext cx="5484064" cy="373701"/>
          </a:xfrm>
          <a:prstGeom prst="rect">
            <a:avLst/>
          </a:prstGeom>
          <a:noFill/>
          <a:ln/>
        </p:spPr>
        <p:txBody>
          <a:bodyPr wrap="square" lIns="0" tIns="0" rIns="0" bIns="0" rtlCol="0" anchor="ctr"/>
          <a:lstStyle/>
          <a:p>
            <a:pPr>
              <a:lnSpc>
                <a:spcPct val="120000"/>
              </a:lnSpc>
            </a:pPr>
            <a:r>
              <a:rPr lang="en-US" sz="1030" dirty="0">
                <a:solidFill>
                  <a:srgbClr val="ECEFF1"/>
                </a:solidFill>
                <a:latin typeface="Quattrocento Sans" pitchFamily="34" charset="0"/>
                <a:ea typeface="Quattrocento Sans" pitchFamily="34" charset="-122"/>
                <a:cs typeface="Quattrocento Sans" pitchFamily="34" charset="-120"/>
              </a:rPr>
              <a:t>GRU combines forget and input gates into a single "update gate" and merges cell state with hidden state, resulting in fewer parameters.</a:t>
            </a:r>
            <a:endParaRPr lang="en-US" sz="1600" dirty="0"/>
          </a:p>
        </p:txBody>
      </p:sp>
      <p:sp>
        <p:nvSpPr>
          <p:cNvPr id="22" name="Shape 20"/>
          <p:cNvSpPr/>
          <p:nvPr/>
        </p:nvSpPr>
        <p:spPr>
          <a:xfrm>
            <a:off x="485811" y="6296864"/>
            <a:ext cx="2671963" cy="448441"/>
          </a:xfrm>
          <a:custGeom>
            <a:avLst/>
            <a:gdLst/>
            <a:ahLst/>
            <a:cxnLst/>
            <a:rect l="l" t="t" r="r" b="b"/>
            <a:pathLst>
              <a:path w="2671963" h="448441">
                <a:moveTo>
                  <a:pt x="37369" y="0"/>
                </a:moveTo>
                <a:lnTo>
                  <a:pt x="2634595" y="0"/>
                </a:lnTo>
                <a:cubicBezTo>
                  <a:pt x="2655233" y="0"/>
                  <a:pt x="2671963" y="16731"/>
                  <a:pt x="2671963" y="37369"/>
                </a:cubicBezTo>
                <a:lnTo>
                  <a:pt x="2671963" y="411073"/>
                </a:lnTo>
                <a:cubicBezTo>
                  <a:pt x="2671963" y="431711"/>
                  <a:pt x="2655233" y="448441"/>
                  <a:pt x="2634595" y="448441"/>
                </a:cubicBezTo>
                <a:lnTo>
                  <a:pt x="37369" y="448441"/>
                </a:lnTo>
                <a:cubicBezTo>
                  <a:pt x="16731" y="448441"/>
                  <a:pt x="0" y="431711"/>
                  <a:pt x="0" y="411073"/>
                </a:cubicBezTo>
                <a:lnTo>
                  <a:pt x="0" y="37369"/>
                </a:lnTo>
                <a:cubicBezTo>
                  <a:pt x="0" y="16731"/>
                  <a:pt x="16731" y="0"/>
                  <a:pt x="37369" y="0"/>
                </a:cubicBezTo>
                <a:close/>
              </a:path>
            </a:pathLst>
          </a:custGeom>
          <a:solidFill>
            <a:srgbClr val="4DB6AC">
              <a:alpha val="10196"/>
            </a:srgbClr>
          </a:solidFill>
          <a:ln/>
        </p:spPr>
      </p:sp>
      <p:sp>
        <p:nvSpPr>
          <p:cNvPr id="23" name="Text 21"/>
          <p:cNvSpPr/>
          <p:nvPr/>
        </p:nvSpPr>
        <p:spPr>
          <a:xfrm>
            <a:off x="560552" y="6371605"/>
            <a:ext cx="2578538" cy="149480"/>
          </a:xfrm>
          <a:prstGeom prst="rect">
            <a:avLst/>
          </a:prstGeom>
          <a:noFill/>
          <a:ln/>
        </p:spPr>
        <p:txBody>
          <a:bodyPr wrap="square" lIns="0" tIns="0" rIns="0" bIns="0" rtlCol="0" anchor="ctr"/>
          <a:lstStyle/>
          <a:p>
            <a:pPr>
              <a:lnSpc>
                <a:spcPct val="110000"/>
              </a:lnSpc>
            </a:pPr>
            <a:r>
              <a:rPr lang="en-US" sz="883" b="1" dirty="0">
                <a:solidFill>
                  <a:srgbClr val="4DB6AC"/>
                </a:solidFill>
                <a:latin typeface="Quattrocento Sans" pitchFamily="34" charset="0"/>
                <a:ea typeface="Quattrocento Sans" pitchFamily="34" charset="-122"/>
                <a:cs typeface="Quattrocento Sans" pitchFamily="34" charset="-120"/>
              </a:rPr>
              <a:t>Update Gate (zₜ)</a:t>
            </a:r>
            <a:endParaRPr lang="en-US" sz="1600" dirty="0"/>
          </a:p>
        </p:txBody>
      </p:sp>
      <p:sp>
        <p:nvSpPr>
          <p:cNvPr id="24" name="Text 22"/>
          <p:cNvSpPr/>
          <p:nvPr/>
        </p:nvSpPr>
        <p:spPr>
          <a:xfrm>
            <a:off x="560552" y="6521085"/>
            <a:ext cx="2578538" cy="149480"/>
          </a:xfrm>
          <a:prstGeom prst="rect">
            <a:avLst/>
          </a:prstGeom>
          <a:noFill/>
          <a:ln/>
        </p:spPr>
        <p:txBody>
          <a:bodyPr wrap="square" lIns="0" tIns="0" rIns="0" bIns="0" rtlCol="0" anchor="ctr"/>
          <a:lstStyle/>
          <a:p>
            <a:pP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Controls memory update</a:t>
            </a:r>
            <a:endParaRPr lang="en-US" sz="1600" dirty="0"/>
          </a:p>
        </p:txBody>
      </p:sp>
      <p:sp>
        <p:nvSpPr>
          <p:cNvPr id="25" name="Shape 23"/>
          <p:cNvSpPr/>
          <p:nvPr/>
        </p:nvSpPr>
        <p:spPr>
          <a:xfrm>
            <a:off x="3234559" y="6296864"/>
            <a:ext cx="2671963" cy="448441"/>
          </a:xfrm>
          <a:custGeom>
            <a:avLst/>
            <a:gdLst/>
            <a:ahLst/>
            <a:cxnLst/>
            <a:rect l="l" t="t" r="r" b="b"/>
            <a:pathLst>
              <a:path w="2671963" h="448441">
                <a:moveTo>
                  <a:pt x="37369" y="0"/>
                </a:moveTo>
                <a:lnTo>
                  <a:pt x="2634595" y="0"/>
                </a:lnTo>
                <a:cubicBezTo>
                  <a:pt x="2655233" y="0"/>
                  <a:pt x="2671963" y="16731"/>
                  <a:pt x="2671963" y="37369"/>
                </a:cubicBezTo>
                <a:lnTo>
                  <a:pt x="2671963" y="411073"/>
                </a:lnTo>
                <a:cubicBezTo>
                  <a:pt x="2671963" y="431711"/>
                  <a:pt x="2655233" y="448441"/>
                  <a:pt x="2634595" y="448441"/>
                </a:cubicBezTo>
                <a:lnTo>
                  <a:pt x="37369" y="448441"/>
                </a:lnTo>
                <a:cubicBezTo>
                  <a:pt x="16731" y="448441"/>
                  <a:pt x="0" y="431711"/>
                  <a:pt x="0" y="411073"/>
                </a:cubicBezTo>
                <a:lnTo>
                  <a:pt x="0" y="37369"/>
                </a:lnTo>
                <a:cubicBezTo>
                  <a:pt x="0" y="16731"/>
                  <a:pt x="16731" y="0"/>
                  <a:pt x="37369" y="0"/>
                </a:cubicBezTo>
                <a:close/>
              </a:path>
            </a:pathLst>
          </a:custGeom>
          <a:solidFill>
            <a:srgbClr val="FFD54F">
              <a:alpha val="10196"/>
            </a:srgbClr>
          </a:solidFill>
          <a:ln/>
        </p:spPr>
      </p:sp>
      <p:sp>
        <p:nvSpPr>
          <p:cNvPr id="26" name="Text 24"/>
          <p:cNvSpPr/>
          <p:nvPr/>
        </p:nvSpPr>
        <p:spPr>
          <a:xfrm>
            <a:off x="3309299" y="6371605"/>
            <a:ext cx="2578538" cy="149480"/>
          </a:xfrm>
          <a:prstGeom prst="rect">
            <a:avLst/>
          </a:prstGeom>
          <a:noFill/>
          <a:ln/>
        </p:spPr>
        <p:txBody>
          <a:bodyPr wrap="square" lIns="0" tIns="0" rIns="0" bIns="0" rtlCol="0" anchor="ctr"/>
          <a:lstStyle/>
          <a:p>
            <a:pPr>
              <a:lnSpc>
                <a:spcPct val="110000"/>
              </a:lnSpc>
            </a:pPr>
            <a:r>
              <a:rPr lang="en-US" sz="883" b="1" dirty="0">
                <a:solidFill>
                  <a:srgbClr val="FFD54F"/>
                </a:solidFill>
                <a:latin typeface="Quattrocento Sans" pitchFamily="34" charset="0"/>
                <a:ea typeface="Quattrocento Sans" pitchFamily="34" charset="-122"/>
                <a:cs typeface="Quattrocento Sans" pitchFamily="34" charset="-120"/>
              </a:rPr>
              <a:t>Reset Gate (rₜ)</a:t>
            </a:r>
            <a:endParaRPr lang="en-US" sz="1600" dirty="0"/>
          </a:p>
        </p:txBody>
      </p:sp>
      <p:sp>
        <p:nvSpPr>
          <p:cNvPr id="27" name="Text 25"/>
          <p:cNvSpPr/>
          <p:nvPr/>
        </p:nvSpPr>
        <p:spPr>
          <a:xfrm>
            <a:off x="3309299" y="6521085"/>
            <a:ext cx="2578538" cy="149480"/>
          </a:xfrm>
          <a:prstGeom prst="rect">
            <a:avLst/>
          </a:prstGeom>
          <a:noFill/>
          <a:ln/>
        </p:spPr>
        <p:txBody>
          <a:bodyPr wrap="square" lIns="0" tIns="0" rIns="0" bIns="0" rtlCol="0" anchor="ctr"/>
          <a:lstStyle/>
          <a:p>
            <a:pP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Controls memory reset</a:t>
            </a:r>
            <a:endParaRPr lang="en-US" sz="1600" dirty="0"/>
          </a:p>
        </p:txBody>
      </p:sp>
      <p:sp>
        <p:nvSpPr>
          <p:cNvPr id="28" name="Shape 26"/>
          <p:cNvSpPr/>
          <p:nvPr/>
        </p:nvSpPr>
        <p:spPr>
          <a:xfrm>
            <a:off x="6170156" y="1158474"/>
            <a:ext cx="5642887" cy="3475421"/>
          </a:xfrm>
          <a:custGeom>
            <a:avLst/>
            <a:gdLst/>
            <a:ahLst/>
            <a:cxnLst/>
            <a:rect l="l" t="t" r="r" b="b"/>
            <a:pathLst>
              <a:path w="5642887" h="3475421">
                <a:moveTo>
                  <a:pt x="74756" y="0"/>
                </a:moveTo>
                <a:lnTo>
                  <a:pt x="5568131" y="0"/>
                </a:lnTo>
                <a:cubicBezTo>
                  <a:pt x="5609418" y="0"/>
                  <a:pt x="5642887" y="33470"/>
                  <a:pt x="5642887" y="74756"/>
                </a:cubicBezTo>
                <a:lnTo>
                  <a:pt x="5642887" y="3400664"/>
                </a:lnTo>
                <a:cubicBezTo>
                  <a:pt x="5642887" y="3441951"/>
                  <a:pt x="5609418" y="3475421"/>
                  <a:pt x="5568131" y="3475421"/>
                </a:cubicBezTo>
                <a:lnTo>
                  <a:pt x="74756" y="3475421"/>
                </a:lnTo>
                <a:cubicBezTo>
                  <a:pt x="33470" y="3475421"/>
                  <a:pt x="0" y="3441951"/>
                  <a:pt x="0" y="3400664"/>
                </a:cubicBezTo>
                <a:lnTo>
                  <a:pt x="0" y="74756"/>
                </a:lnTo>
                <a:cubicBezTo>
                  <a:pt x="0" y="33497"/>
                  <a:pt x="33497" y="0"/>
                  <a:pt x="74756" y="0"/>
                </a:cubicBezTo>
                <a:close/>
              </a:path>
            </a:pathLst>
          </a:custGeom>
          <a:solidFill>
            <a:srgbClr val="4DB6AC">
              <a:alpha val="10196"/>
            </a:srgbClr>
          </a:solidFill>
          <a:ln/>
        </p:spPr>
      </p:sp>
      <p:sp>
        <p:nvSpPr>
          <p:cNvPr id="29" name="Text 27"/>
          <p:cNvSpPr/>
          <p:nvPr/>
        </p:nvSpPr>
        <p:spPr>
          <a:xfrm>
            <a:off x="6240225" y="1270584"/>
            <a:ext cx="5502749" cy="261591"/>
          </a:xfrm>
          <a:prstGeom prst="rect">
            <a:avLst/>
          </a:prstGeom>
          <a:noFill/>
          <a:ln/>
        </p:spPr>
        <p:txBody>
          <a:bodyPr wrap="square" lIns="0" tIns="0" rIns="0" bIns="0" rtlCol="0" anchor="ctr"/>
          <a:lstStyle/>
          <a:p>
            <a:pPr algn="ctr">
              <a:lnSpc>
                <a:spcPct val="130000"/>
              </a:lnSpc>
            </a:pPr>
            <a:r>
              <a:rPr lang="en-US" sz="1324" b="1" dirty="0">
                <a:solidFill>
                  <a:srgbClr val="ECEFF1"/>
                </a:solidFill>
                <a:latin typeface="Liter" pitchFamily="34" charset="0"/>
                <a:ea typeface="Liter" pitchFamily="34" charset="-122"/>
                <a:cs typeface="Liter" pitchFamily="34" charset="-120"/>
              </a:rPr>
              <a:t>LSTM Cell Structure</a:t>
            </a:r>
            <a:endParaRPr lang="en-US" sz="1600" dirty="0"/>
          </a:p>
        </p:txBody>
      </p:sp>
      <p:sp>
        <p:nvSpPr>
          <p:cNvPr id="30" name="Shape 28"/>
          <p:cNvSpPr/>
          <p:nvPr/>
        </p:nvSpPr>
        <p:spPr>
          <a:xfrm>
            <a:off x="7209221" y="2373002"/>
            <a:ext cx="3568846" cy="579237"/>
          </a:xfrm>
          <a:custGeom>
            <a:avLst/>
            <a:gdLst/>
            <a:ahLst/>
            <a:cxnLst/>
            <a:rect l="l" t="t" r="r" b="b"/>
            <a:pathLst>
              <a:path w="3568846" h="579237">
                <a:moveTo>
                  <a:pt x="74739" y="0"/>
                </a:moveTo>
                <a:lnTo>
                  <a:pt x="3494107" y="0"/>
                </a:lnTo>
                <a:cubicBezTo>
                  <a:pt x="3535384" y="0"/>
                  <a:pt x="3568846" y="33462"/>
                  <a:pt x="3568846" y="74739"/>
                </a:cubicBezTo>
                <a:lnTo>
                  <a:pt x="3568846" y="504498"/>
                </a:lnTo>
                <a:cubicBezTo>
                  <a:pt x="3568846" y="545775"/>
                  <a:pt x="3535384" y="579237"/>
                  <a:pt x="3494107" y="579237"/>
                </a:cubicBezTo>
                <a:lnTo>
                  <a:pt x="74739" y="579237"/>
                </a:lnTo>
                <a:cubicBezTo>
                  <a:pt x="33462" y="579237"/>
                  <a:pt x="0" y="545775"/>
                  <a:pt x="0" y="504498"/>
                </a:cubicBezTo>
                <a:lnTo>
                  <a:pt x="0" y="74739"/>
                </a:lnTo>
                <a:cubicBezTo>
                  <a:pt x="0" y="33489"/>
                  <a:pt x="33489" y="0"/>
                  <a:pt x="74739" y="0"/>
                </a:cubicBezTo>
                <a:close/>
              </a:path>
            </a:pathLst>
          </a:custGeom>
          <a:solidFill>
            <a:srgbClr val="4DB6AC">
              <a:alpha val="20000"/>
            </a:srgbClr>
          </a:solidFill>
          <a:ln w="25400">
            <a:solidFill>
              <a:srgbClr val="4DB6AC"/>
            </a:solidFill>
            <a:prstDash val="solid"/>
          </a:ln>
        </p:spPr>
      </p:sp>
      <p:sp>
        <p:nvSpPr>
          <p:cNvPr id="31" name="Text 29"/>
          <p:cNvSpPr/>
          <p:nvPr/>
        </p:nvSpPr>
        <p:spPr>
          <a:xfrm>
            <a:off x="7330674" y="2494455"/>
            <a:ext cx="822143" cy="186851"/>
          </a:xfrm>
          <a:prstGeom prst="rect">
            <a:avLst/>
          </a:prstGeom>
          <a:noFill/>
          <a:ln/>
        </p:spPr>
        <p:txBody>
          <a:bodyPr wrap="square" lIns="0" tIns="0" rIns="0" bIns="0" rtlCol="0" anchor="ctr"/>
          <a:lstStyle/>
          <a:p>
            <a:pPr>
              <a:lnSpc>
                <a:spcPct val="120000"/>
              </a:lnSpc>
            </a:pPr>
            <a:r>
              <a:rPr lang="en-US" sz="1030" b="1" dirty="0">
                <a:solidFill>
                  <a:srgbClr val="ECEFF1"/>
                </a:solidFill>
                <a:latin typeface="Quattrocento Sans" pitchFamily="34" charset="0"/>
                <a:ea typeface="Quattrocento Sans" pitchFamily="34" charset="-122"/>
                <a:cs typeface="Quattrocento Sans" pitchFamily="34" charset="-120"/>
              </a:rPr>
              <a:t>Cell State (Cₜ)</a:t>
            </a:r>
            <a:endParaRPr lang="en-US" sz="1600" dirty="0"/>
          </a:p>
        </p:txBody>
      </p:sp>
      <p:sp>
        <p:nvSpPr>
          <p:cNvPr id="32" name="Text 30"/>
          <p:cNvSpPr/>
          <p:nvPr/>
        </p:nvSpPr>
        <p:spPr>
          <a:xfrm>
            <a:off x="9971398" y="2513140"/>
            <a:ext cx="738060" cy="149480"/>
          </a:xfrm>
          <a:prstGeom prst="rect">
            <a:avLst/>
          </a:prstGeom>
          <a:noFill/>
          <a:ln/>
        </p:spPr>
        <p:txBody>
          <a:bodyPr wrap="square" lIns="0" tIns="0" rIns="0" bIns="0" rtlCol="0" anchor="ctr"/>
          <a:lstStyle/>
          <a:p>
            <a:pPr>
              <a:lnSpc>
                <a:spcPct val="110000"/>
              </a:lnSpc>
            </a:pPr>
            <a:r>
              <a:rPr lang="en-US" sz="883" dirty="0">
                <a:solidFill>
                  <a:srgbClr val="78909C"/>
                </a:solidFill>
                <a:latin typeface="Quattrocento Sans" pitchFamily="34" charset="0"/>
                <a:ea typeface="Quattrocento Sans" pitchFamily="34" charset="-122"/>
                <a:cs typeface="Quattrocento Sans" pitchFamily="34" charset="-120"/>
              </a:rPr>
              <a:t>Conveyor belt</a:t>
            </a:r>
            <a:endParaRPr lang="en-US" sz="1600" dirty="0"/>
          </a:p>
        </p:txBody>
      </p:sp>
      <p:sp>
        <p:nvSpPr>
          <p:cNvPr id="33" name="Shape 31"/>
          <p:cNvSpPr/>
          <p:nvPr/>
        </p:nvSpPr>
        <p:spPr>
          <a:xfrm>
            <a:off x="7330674" y="2756046"/>
            <a:ext cx="3325940" cy="74740"/>
          </a:xfrm>
          <a:custGeom>
            <a:avLst/>
            <a:gdLst/>
            <a:ahLst/>
            <a:cxnLst/>
            <a:rect l="l" t="t" r="r" b="b"/>
            <a:pathLst>
              <a:path w="3325940" h="74740">
                <a:moveTo>
                  <a:pt x="37370" y="0"/>
                </a:moveTo>
                <a:lnTo>
                  <a:pt x="3288570" y="0"/>
                </a:lnTo>
                <a:cubicBezTo>
                  <a:pt x="3309209" y="0"/>
                  <a:pt x="3325940" y="16731"/>
                  <a:pt x="3325940" y="37370"/>
                </a:cubicBezTo>
                <a:lnTo>
                  <a:pt x="3325940" y="37370"/>
                </a:lnTo>
                <a:cubicBezTo>
                  <a:pt x="3325940" y="58009"/>
                  <a:pt x="3309209" y="74740"/>
                  <a:pt x="3288570" y="74740"/>
                </a:cubicBezTo>
                <a:lnTo>
                  <a:pt x="37370" y="74740"/>
                </a:lnTo>
                <a:cubicBezTo>
                  <a:pt x="16745" y="74740"/>
                  <a:pt x="0" y="57995"/>
                  <a:pt x="0" y="37370"/>
                </a:cubicBezTo>
                <a:lnTo>
                  <a:pt x="0" y="37370"/>
                </a:lnTo>
                <a:cubicBezTo>
                  <a:pt x="0" y="16745"/>
                  <a:pt x="16745" y="0"/>
                  <a:pt x="37370" y="0"/>
                </a:cubicBezTo>
                <a:close/>
              </a:path>
            </a:pathLst>
          </a:custGeom>
          <a:solidFill>
            <a:srgbClr val="FFD54F"/>
          </a:solidFill>
          <a:ln/>
        </p:spPr>
      </p:sp>
      <p:sp>
        <p:nvSpPr>
          <p:cNvPr id="34" name="Shape 32"/>
          <p:cNvSpPr/>
          <p:nvPr/>
        </p:nvSpPr>
        <p:spPr>
          <a:xfrm>
            <a:off x="7204549" y="3040993"/>
            <a:ext cx="1139789" cy="457784"/>
          </a:xfrm>
          <a:custGeom>
            <a:avLst/>
            <a:gdLst/>
            <a:ahLst/>
            <a:cxnLst/>
            <a:rect l="l" t="t" r="r" b="b"/>
            <a:pathLst>
              <a:path w="1139789" h="457784">
                <a:moveTo>
                  <a:pt x="37369" y="0"/>
                </a:moveTo>
                <a:lnTo>
                  <a:pt x="1102420" y="0"/>
                </a:lnTo>
                <a:cubicBezTo>
                  <a:pt x="1123058" y="0"/>
                  <a:pt x="1139789" y="16731"/>
                  <a:pt x="1139789" y="37369"/>
                </a:cubicBezTo>
                <a:lnTo>
                  <a:pt x="1139789" y="420415"/>
                </a:lnTo>
                <a:cubicBezTo>
                  <a:pt x="1139789" y="441053"/>
                  <a:pt x="1123058" y="457784"/>
                  <a:pt x="1102420" y="457784"/>
                </a:cubicBezTo>
                <a:lnTo>
                  <a:pt x="37369" y="457784"/>
                </a:lnTo>
                <a:cubicBezTo>
                  <a:pt x="16731" y="457784"/>
                  <a:pt x="0" y="441053"/>
                  <a:pt x="0" y="420415"/>
                </a:cubicBezTo>
                <a:lnTo>
                  <a:pt x="0" y="37369"/>
                </a:lnTo>
                <a:cubicBezTo>
                  <a:pt x="0" y="16744"/>
                  <a:pt x="16744" y="0"/>
                  <a:pt x="37369" y="0"/>
                </a:cubicBezTo>
                <a:close/>
              </a:path>
            </a:pathLst>
          </a:custGeom>
          <a:solidFill>
            <a:srgbClr val="FFD54F">
              <a:alpha val="20000"/>
            </a:srgbClr>
          </a:solidFill>
          <a:ln w="12700">
            <a:solidFill>
              <a:srgbClr val="FFD54F"/>
            </a:solidFill>
            <a:prstDash val="solid"/>
          </a:ln>
        </p:spPr>
      </p:sp>
      <p:sp>
        <p:nvSpPr>
          <p:cNvPr id="35" name="Text 33"/>
          <p:cNvSpPr/>
          <p:nvPr/>
        </p:nvSpPr>
        <p:spPr>
          <a:xfrm>
            <a:off x="7255933" y="3120405"/>
            <a:ext cx="1037021" cy="149480"/>
          </a:xfrm>
          <a:prstGeom prst="rect">
            <a:avLst/>
          </a:prstGeom>
          <a:noFill/>
          <a:ln/>
        </p:spPr>
        <p:txBody>
          <a:bodyPr wrap="square" lIns="0" tIns="0" rIns="0" bIns="0" rtlCol="0" anchor="ctr"/>
          <a:lstStyle/>
          <a:p>
            <a:pPr algn="ctr">
              <a:lnSpc>
                <a:spcPct val="110000"/>
              </a:lnSpc>
            </a:pPr>
            <a:r>
              <a:rPr lang="en-US" sz="883" b="1" dirty="0">
                <a:solidFill>
                  <a:srgbClr val="FFD54F"/>
                </a:solidFill>
                <a:latin typeface="Quattrocento Sans" pitchFamily="34" charset="0"/>
                <a:ea typeface="Quattrocento Sans" pitchFamily="34" charset="-122"/>
                <a:cs typeface="Quattrocento Sans" pitchFamily="34" charset="-120"/>
              </a:rPr>
              <a:t>Forget Gate</a:t>
            </a:r>
            <a:endParaRPr lang="en-US" sz="1600" dirty="0"/>
          </a:p>
        </p:txBody>
      </p:sp>
      <p:sp>
        <p:nvSpPr>
          <p:cNvPr id="36" name="Text 34"/>
          <p:cNvSpPr/>
          <p:nvPr/>
        </p:nvSpPr>
        <p:spPr>
          <a:xfrm>
            <a:off x="7255933" y="3269885"/>
            <a:ext cx="1037021" cy="149480"/>
          </a:xfrm>
          <a:prstGeom prst="rect">
            <a:avLst/>
          </a:prstGeom>
          <a:noFill/>
          <a:ln/>
        </p:spPr>
        <p:txBody>
          <a:bodyPr wrap="square" lIns="0" tIns="0" rIns="0" bIns="0" rtlCol="0" anchor="ctr"/>
          <a:lstStyle/>
          <a:p>
            <a:pPr algn="ct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fₜ</a:t>
            </a:r>
            <a:endParaRPr lang="en-US" sz="1600" dirty="0"/>
          </a:p>
        </p:txBody>
      </p:sp>
      <p:sp>
        <p:nvSpPr>
          <p:cNvPr id="37" name="Shape 35"/>
          <p:cNvSpPr/>
          <p:nvPr/>
        </p:nvSpPr>
        <p:spPr>
          <a:xfrm>
            <a:off x="8425209" y="3040993"/>
            <a:ext cx="1139789" cy="457784"/>
          </a:xfrm>
          <a:custGeom>
            <a:avLst/>
            <a:gdLst/>
            <a:ahLst/>
            <a:cxnLst/>
            <a:rect l="l" t="t" r="r" b="b"/>
            <a:pathLst>
              <a:path w="1139789" h="457784">
                <a:moveTo>
                  <a:pt x="37369" y="0"/>
                </a:moveTo>
                <a:lnTo>
                  <a:pt x="1102420" y="0"/>
                </a:lnTo>
                <a:cubicBezTo>
                  <a:pt x="1123058" y="0"/>
                  <a:pt x="1139789" y="16731"/>
                  <a:pt x="1139789" y="37369"/>
                </a:cubicBezTo>
                <a:lnTo>
                  <a:pt x="1139789" y="420415"/>
                </a:lnTo>
                <a:cubicBezTo>
                  <a:pt x="1139789" y="441053"/>
                  <a:pt x="1123058" y="457784"/>
                  <a:pt x="1102420" y="457784"/>
                </a:cubicBezTo>
                <a:lnTo>
                  <a:pt x="37369" y="457784"/>
                </a:lnTo>
                <a:cubicBezTo>
                  <a:pt x="16731" y="457784"/>
                  <a:pt x="0" y="441053"/>
                  <a:pt x="0" y="420415"/>
                </a:cubicBezTo>
                <a:lnTo>
                  <a:pt x="0" y="37369"/>
                </a:lnTo>
                <a:cubicBezTo>
                  <a:pt x="0" y="16744"/>
                  <a:pt x="16744" y="0"/>
                  <a:pt x="37369" y="0"/>
                </a:cubicBezTo>
                <a:close/>
              </a:path>
            </a:pathLst>
          </a:custGeom>
          <a:solidFill>
            <a:srgbClr val="4DB6AC">
              <a:alpha val="20000"/>
            </a:srgbClr>
          </a:solidFill>
          <a:ln w="12700">
            <a:solidFill>
              <a:srgbClr val="4DB6AC"/>
            </a:solidFill>
            <a:prstDash val="solid"/>
          </a:ln>
        </p:spPr>
      </p:sp>
      <p:sp>
        <p:nvSpPr>
          <p:cNvPr id="38" name="Text 36"/>
          <p:cNvSpPr/>
          <p:nvPr/>
        </p:nvSpPr>
        <p:spPr>
          <a:xfrm>
            <a:off x="8476593" y="3120405"/>
            <a:ext cx="1037021" cy="149480"/>
          </a:xfrm>
          <a:prstGeom prst="rect">
            <a:avLst/>
          </a:prstGeom>
          <a:noFill/>
          <a:ln/>
        </p:spPr>
        <p:txBody>
          <a:bodyPr wrap="square" lIns="0" tIns="0" rIns="0" bIns="0" rtlCol="0" anchor="ctr"/>
          <a:lstStyle/>
          <a:p>
            <a:pPr algn="ctr">
              <a:lnSpc>
                <a:spcPct val="110000"/>
              </a:lnSpc>
            </a:pPr>
            <a:r>
              <a:rPr lang="en-US" sz="883" b="1" dirty="0">
                <a:solidFill>
                  <a:srgbClr val="4DB6AC"/>
                </a:solidFill>
                <a:latin typeface="Quattrocento Sans" pitchFamily="34" charset="0"/>
                <a:ea typeface="Quattrocento Sans" pitchFamily="34" charset="-122"/>
                <a:cs typeface="Quattrocento Sans" pitchFamily="34" charset="-120"/>
              </a:rPr>
              <a:t>Input Gate</a:t>
            </a:r>
            <a:endParaRPr lang="en-US" sz="1600" dirty="0"/>
          </a:p>
        </p:txBody>
      </p:sp>
      <p:sp>
        <p:nvSpPr>
          <p:cNvPr id="39" name="Text 37"/>
          <p:cNvSpPr/>
          <p:nvPr/>
        </p:nvSpPr>
        <p:spPr>
          <a:xfrm>
            <a:off x="8476593" y="3269885"/>
            <a:ext cx="1037021" cy="149480"/>
          </a:xfrm>
          <a:prstGeom prst="rect">
            <a:avLst/>
          </a:prstGeom>
          <a:noFill/>
          <a:ln/>
        </p:spPr>
        <p:txBody>
          <a:bodyPr wrap="square" lIns="0" tIns="0" rIns="0" bIns="0" rtlCol="0" anchor="ctr"/>
          <a:lstStyle/>
          <a:p>
            <a:pPr algn="ct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iₜ</a:t>
            </a:r>
            <a:endParaRPr lang="en-US" sz="1600" dirty="0"/>
          </a:p>
        </p:txBody>
      </p:sp>
      <p:sp>
        <p:nvSpPr>
          <p:cNvPr id="40" name="Shape 38"/>
          <p:cNvSpPr/>
          <p:nvPr/>
        </p:nvSpPr>
        <p:spPr>
          <a:xfrm>
            <a:off x="9646015" y="3040993"/>
            <a:ext cx="1139789" cy="457784"/>
          </a:xfrm>
          <a:custGeom>
            <a:avLst/>
            <a:gdLst/>
            <a:ahLst/>
            <a:cxnLst/>
            <a:rect l="l" t="t" r="r" b="b"/>
            <a:pathLst>
              <a:path w="1139789" h="457784">
                <a:moveTo>
                  <a:pt x="37369" y="0"/>
                </a:moveTo>
                <a:lnTo>
                  <a:pt x="1102420" y="0"/>
                </a:lnTo>
                <a:cubicBezTo>
                  <a:pt x="1123058" y="0"/>
                  <a:pt x="1139789" y="16731"/>
                  <a:pt x="1139789" y="37369"/>
                </a:cubicBezTo>
                <a:lnTo>
                  <a:pt x="1139789" y="420415"/>
                </a:lnTo>
                <a:cubicBezTo>
                  <a:pt x="1139789" y="441053"/>
                  <a:pt x="1123058" y="457784"/>
                  <a:pt x="1102420" y="457784"/>
                </a:cubicBezTo>
                <a:lnTo>
                  <a:pt x="37369" y="457784"/>
                </a:lnTo>
                <a:cubicBezTo>
                  <a:pt x="16731" y="457784"/>
                  <a:pt x="0" y="441053"/>
                  <a:pt x="0" y="420415"/>
                </a:cubicBezTo>
                <a:lnTo>
                  <a:pt x="0" y="37369"/>
                </a:lnTo>
                <a:cubicBezTo>
                  <a:pt x="0" y="16744"/>
                  <a:pt x="16744" y="0"/>
                  <a:pt x="37369" y="0"/>
                </a:cubicBezTo>
                <a:close/>
              </a:path>
            </a:pathLst>
          </a:custGeom>
          <a:solidFill>
            <a:srgbClr val="FFD54F">
              <a:alpha val="20000"/>
            </a:srgbClr>
          </a:solidFill>
          <a:ln w="12700">
            <a:solidFill>
              <a:srgbClr val="FFD54F"/>
            </a:solidFill>
            <a:prstDash val="solid"/>
          </a:ln>
        </p:spPr>
      </p:sp>
      <p:sp>
        <p:nvSpPr>
          <p:cNvPr id="41" name="Text 39"/>
          <p:cNvSpPr/>
          <p:nvPr/>
        </p:nvSpPr>
        <p:spPr>
          <a:xfrm>
            <a:off x="9697399" y="3120405"/>
            <a:ext cx="1037021" cy="149480"/>
          </a:xfrm>
          <a:prstGeom prst="rect">
            <a:avLst/>
          </a:prstGeom>
          <a:noFill/>
          <a:ln/>
        </p:spPr>
        <p:txBody>
          <a:bodyPr wrap="square" lIns="0" tIns="0" rIns="0" bIns="0" rtlCol="0" anchor="ctr"/>
          <a:lstStyle/>
          <a:p>
            <a:pPr algn="ctr">
              <a:lnSpc>
                <a:spcPct val="110000"/>
              </a:lnSpc>
            </a:pPr>
            <a:r>
              <a:rPr lang="en-US" sz="883" b="1" dirty="0">
                <a:solidFill>
                  <a:srgbClr val="FFD54F"/>
                </a:solidFill>
                <a:latin typeface="Quattrocento Sans" pitchFamily="34" charset="0"/>
                <a:ea typeface="Quattrocento Sans" pitchFamily="34" charset="-122"/>
                <a:cs typeface="Quattrocento Sans" pitchFamily="34" charset="-120"/>
              </a:rPr>
              <a:t>Output Gate</a:t>
            </a:r>
            <a:endParaRPr lang="en-US" sz="1600" dirty="0"/>
          </a:p>
        </p:txBody>
      </p:sp>
      <p:sp>
        <p:nvSpPr>
          <p:cNvPr id="42" name="Text 40"/>
          <p:cNvSpPr/>
          <p:nvPr/>
        </p:nvSpPr>
        <p:spPr>
          <a:xfrm>
            <a:off x="9697399" y="3269885"/>
            <a:ext cx="1037021" cy="149480"/>
          </a:xfrm>
          <a:prstGeom prst="rect">
            <a:avLst/>
          </a:prstGeom>
          <a:noFill/>
          <a:ln/>
        </p:spPr>
        <p:txBody>
          <a:bodyPr wrap="square" lIns="0" tIns="0" rIns="0" bIns="0" rtlCol="0" anchor="ctr"/>
          <a:lstStyle/>
          <a:p>
            <a:pPr algn="ctr">
              <a:lnSpc>
                <a:spcPct val="110000"/>
              </a:lnSpc>
            </a:pPr>
            <a:r>
              <a:rPr lang="en-US" sz="883" dirty="0">
                <a:solidFill>
                  <a:srgbClr val="ECEFF1"/>
                </a:solidFill>
                <a:latin typeface="Quattrocento Sans" pitchFamily="34" charset="0"/>
                <a:ea typeface="Quattrocento Sans" pitchFamily="34" charset="-122"/>
                <a:cs typeface="Quattrocento Sans" pitchFamily="34" charset="-120"/>
              </a:rPr>
              <a:t>oₜ</a:t>
            </a:r>
            <a:endParaRPr lang="en-US" sz="1600" dirty="0"/>
          </a:p>
        </p:txBody>
      </p:sp>
      <p:sp>
        <p:nvSpPr>
          <p:cNvPr id="43" name="Shape 41"/>
          <p:cNvSpPr/>
          <p:nvPr/>
        </p:nvSpPr>
        <p:spPr>
          <a:xfrm>
            <a:off x="7209221" y="3587531"/>
            <a:ext cx="3568846" cy="579237"/>
          </a:xfrm>
          <a:custGeom>
            <a:avLst/>
            <a:gdLst/>
            <a:ahLst/>
            <a:cxnLst/>
            <a:rect l="l" t="t" r="r" b="b"/>
            <a:pathLst>
              <a:path w="3568846" h="579237">
                <a:moveTo>
                  <a:pt x="74739" y="0"/>
                </a:moveTo>
                <a:lnTo>
                  <a:pt x="3494107" y="0"/>
                </a:lnTo>
                <a:cubicBezTo>
                  <a:pt x="3535384" y="0"/>
                  <a:pt x="3568846" y="33462"/>
                  <a:pt x="3568846" y="74739"/>
                </a:cubicBezTo>
                <a:lnTo>
                  <a:pt x="3568846" y="504498"/>
                </a:lnTo>
                <a:cubicBezTo>
                  <a:pt x="3568846" y="545775"/>
                  <a:pt x="3535384" y="579237"/>
                  <a:pt x="3494107" y="579237"/>
                </a:cubicBezTo>
                <a:lnTo>
                  <a:pt x="74739" y="579237"/>
                </a:lnTo>
                <a:cubicBezTo>
                  <a:pt x="33462" y="579237"/>
                  <a:pt x="0" y="545775"/>
                  <a:pt x="0" y="504498"/>
                </a:cubicBezTo>
                <a:lnTo>
                  <a:pt x="0" y="74739"/>
                </a:lnTo>
                <a:cubicBezTo>
                  <a:pt x="0" y="33489"/>
                  <a:pt x="33489" y="0"/>
                  <a:pt x="74739" y="0"/>
                </a:cubicBezTo>
                <a:close/>
              </a:path>
            </a:pathLst>
          </a:custGeom>
          <a:solidFill>
            <a:srgbClr val="4DB6AC">
              <a:alpha val="20000"/>
            </a:srgbClr>
          </a:solidFill>
          <a:ln w="25400">
            <a:solidFill>
              <a:srgbClr val="4DB6AC"/>
            </a:solidFill>
            <a:prstDash val="solid"/>
          </a:ln>
        </p:spPr>
      </p:sp>
      <p:sp>
        <p:nvSpPr>
          <p:cNvPr id="44" name="Text 42"/>
          <p:cNvSpPr/>
          <p:nvPr/>
        </p:nvSpPr>
        <p:spPr>
          <a:xfrm>
            <a:off x="7330674" y="3708984"/>
            <a:ext cx="1008993" cy="186851"/>
          </a:xfrm>
          <a:prstGeom prst="rect">
            <a:avLst/>
          </a:prstGeom>
          <a:noFill/>
          <a:ln/>
        </p:spPr>
        <p:txBody>
          <a:bodyPr wrap="square" lIns="0" tIns="0" rIns="0" bIns="0" rtlCol="0" anchor="ctr"/>
          <a:lstStyle/>
          <a:p>
            <a:pPr>
              <a:lnSpc>
                <a:spcPct val="120000"/>
              </a:lnSpc>
            </a:pPr>
            <a:r>
              <a:rPr lang="en-US" sz="1030" b="1" dirty="0">
                <a:solidFill>
                  <a:srgbClr val="ECEFF1"/>
                </a:solidFill>
                <a:latin typeface="Quattrocento Sans" pitchFamily="34" charset="0"/>
                <a:ea typeface="Quattrocento Sans" pitchFamily="34" charset="-122"/>
                <a:cs typeface="Quattrocento Sans" pitchFamily="34" charset="-120"/>
              </a:rPr>
              <a:t>Hidden State (hₜ)</a:t>
            </a:r>
            <a:endParaRPr lang="en-US" sz="1600" dirty="0"/>
          </a:p>
        </p:txBody>
      </p:sp>
      <p:sp>
        <p:nvSpPr>
          <p:cNvPr id="45" name="Text 43"/>
          <p:cNvSpPr/>
          <p:nvPr/>
        </p:nvSpPr>
        <p:spPr>
          <a:xfrm>
            <a:off x="10315174" y="3727669"/>
            <a:ext cx="401729" cy="149480"/>
          </a:xfrm>
          <a:prstGeom prst="rect">
            <a:avLst/>
          </a:prstGeom>
          <a:noFill/>
          <a:ln/>
        </p:spPr>
        <p:txBody>
          <a:bodyPr wrap="square" lIns="0" tIns="0" rIns="0" bIns="0" rtlCol="0" anchor="ctr"/>
          <a:lstStyle/>
          <a:p>
            <a:pPr>
              <a:lnSpc>
                <a:spcPct val="110000"/>
              </a:lnSpc>
            </a:pPr>
            <a:r>
              <a:rPr lang="en-US" sz="883" dirty="0">
                <a:solidFill>
                  <a:srgbClr val="78909C"/>
                </a:solidFill>
                <a:latin typeface="Quattrocento Sans" pitchFamily="34" charset="0"/>
                <a:ea typeface="Quattrocento Sans" pitchFamily="34" charset="-122"/>
                <a:cs typeface="Quattrocento Sans" pitchFamily="34" charset="-120"/>
              </a:rPr>
              <a:t>Output</a:t>
            </a:r>
            <a:endParaRPr lang="en-US" sz="1600" dirty="0"/>
          </a:p>
        </p:txBody>
      </p:sp>
      <p:sp>
        <p:nvSpPr>
          <p:cNvPr id="46" name="Shape 44"/>
          <p:cNvSpPr/>
          <p:nvPr/>
        </p:nvSpPr>
        <p:spPr>
          <a:xfrm>
            <a:off x="7330674" y="3970575"/>
            <a:ext cx="3325940" cy="74740"/>
          </a:xfrm>
          <a:custGeom>
            <a:avLst/>
            <a:gdLst/>
            <a:ahLst/>
            <a:cxnLst/>
            <a:rect l="l" t="t" r="r" b="b"/>
            <a:pathLst>
              <a:path w="3325940" h="74740">
                <a:moveTo>
                  <a:pt x="37370" y="0"/>
                </a:moveTo>
                <a:lnTo>
                  <a:pt x="3288570" y="0"/>
                </a:lnTo>
                <a:cubicBezTo>
                  <a:pt x="3309209" y="0"/>
                  <a:pt x="3325940" y="16731"/>
                  <a:pt x="3325940" y="37370"/>
                </a:cubicBezTo>
                <a:lnTo>
                  <a:pt x="3325940" y="37370"/>
                </a:lnTo>
                <a:cubicBezTo>
                  <a:pt x="3325940" y="58009"/>
                  <a:pt x="3309209" y="74740"/>
                  <a:pt x="3288570" y="74740"/>
                </a:cubicBezTo>
                <a:lnTo>
                  <a:pt x="37370" y="74740"/>
                </a:lnTo>
                <a:cubicBezTo>
                  <a:pt x="16745" y="74740"/>
                  <a:pt x="0" y="57995"/>
                  <a:pt x="0" y="37370"/>
                </a:cubicBezTo>
                <a:lnTo>
                  <a:pt x="0" y="37370"/>
                </a:lnTo>
                <a:cubicBezTo>
                  <a:pt x="0" y="16745"/>
                  <a:pt x="16745" y="0"/>
                  <a:pt x="37370" y="0"/>
                </a:cubicBezTo>
                <a:close/>
              </a:path>
            </a:pathLst>
          </a:custGeom>
          <a:solidFill>
            <a:srgbClr val="4DB6AC"/>
          </a:solidFill>
          <a:ln/>
        </p:spPr>
      </p:sp>
      <p:sp>
        <p:nvSpPr>
          <p:cNvPr id="47" name="Shape 45"/>
          <p:cNvSpPr/>
          <p:nvPr/>
        </p:nvSpPr>
        <p:spPr>
          <a:xfrm>
            <a:off x="6174828" y="4713306"/>
            <a:ext cx="2774731" cy="906225"/>
          </a:xfrm>
          <a:custGeom>
            <a:avLst/>
            <a:gdLst/>
            <a:ahLst/>
            <a:cxnLst/>
            <a:rect l="l" t="t" r="r" b="b"/>
            <a:pathLst>
              <a:path w="2774731" h="906225">
                <a:moveTo>
                  <a:pt x="74736" y="0"/>
                </a:moveTo>
                <a:lnTo>
                  <a:pt x="2699995" y="0"/>
                </a:lnTo>
                <a:cubicBezTo>
                  <a:pt x="2741270" y="0"/>
                  <a:pt x="2774731" y="33461"/>
                  <a:pt x="2774731" y="74736"/>
                </a:cubicBezTo>
                <a:lnTo>
                  <a:pt x="2774731" y="831489"/>
                </a:lnTo>
                <a:cubicBezTo>
                  <a:pt x="2774731" y="872765"/>
                  <a:pt x="2741270" y="906225"/>
                  <a:pt x="2699995" y="906225"/>
                </a:cubicBezTo>
                <a:lnTo>
                  <a:pt x="74736" y="906225"/>
                </a:lnTo>
                <a:cubicBezTo>
                  <a:pt x="33461" y="906225"/>
                  <a:pt x="0" y="872765"/>
                  <a:pt x="0" y="831489"/>
                </a:cubicBezTo>
                <a:lnTo>
                  <a:pt x="0" y="74736"/>
                </a:lnTo>
                <a:cubicBezTo>
                  <a:pt x="0" y="33488"/>
                  <a:pt x="33488" y="0"/>
                  <a:pt x="74736" y="0"/>
                </a:cubicBezTo>
                <a:close/>
              </a:path>
            </a:pathLst>
          </a:custGeom>
          <a:solidFill>
            <a:srgbClr val="4DB6AC">
              <a:alpha val="10196"/>
            </a:srgbClr>
          </a:solidFill>
          <a:ln w="12700">
            <a:solidFill>
              <a:srgbClr val="4DB6AC">
                <a:alpha val="30196"/>
              </a:srgbClr>
            </a:solidFill>
            <a:prstDash val="solid"/>
          </a:ln>
        </p:spPr>
      </p:sp>
      <p:sp>
        <p:nvSpPr>
          <p:cNvPr id="48" name="Text 46"/>
          <p:cNvSpPr/>
          <p:nvPr/>
        </p:nvSpPr>
        <p:spPr>
          <a:xfrm>
            <a:off x="6235554" y="4830087"/>
            <a:ext cx="2653278" cy="298961"/>
          </a:xfrm>
          <a:prstGeom prst="rect">
            <a:avLst/>
          </a:prstGeom>
          <a:noFill/>
          <a:ln/>
        </p:spPr>
        <p:txBody>
          <a:bodyPr wrap="square" lIns="0" tIns="0" rIns="0" bIns="0" rtlCol="0" anchor="ctr"/>
          <a:lstStyle/>
          <a:p>
            <a:pPr algn="ctr">
              <a:lnSpc>
                <a:spcPct val="110000"/>
              </a:lnSpc>
            </a:pPr>
            <a:r>
              <a:rPr lang="en-US" sz="1766" b="1" dirty="0">
                <a:solidFill>
                  <a:srgbClr val="4DB6AC"/>
                </a:solidFill>
                <a:latin typeface="Liter" pitchFamily="34" charset="0"/>
                <a:ea typeface="Liter" pitchFamily="34" charset="-122"/>
                <a:cs typeface="Liter" pitchFamily="34" charset="-120"/>
              </a:rPr>
              <a:t>1997</a:t>
            </a:r>
            <a:endParaRPr lang="en-US" sz="1600" dirty="0"/>
          </a:p>
        </p:txBody>
      </p:sp>
      <p:sp>
        <p:nvSpPr>
          <p:cNvPr id="49" name="Text 47"/>
          <p:cNvSpPr/>
          <p:nvPr/>
        </p:nvSpPr>
        <p:spPr>
          <a:xfrm>
            <a:off x="6258910" y="5166418"/>
            <a:ext cx="2606566" cy="186851"/>
          </a:xfrm>
          <a:prstGeom prst="rect">
            <a:avLst/>
          </a:prstGeom>
          <a:noFill/>
          <a:ln/>
        </p:spPr>
        <p:txBody>
          <a:bodyPr wrap="square" lIns="0" tIns="0" rIns="0" bIns="0" rtlCol="0" anchor="ctr"/>
          <a:lstStyle/>
          <a:p>
            <a:pPr algn="ctr">
              <a:lnSpc>
                <a:spcPct val="120000"/>
              </a:lnSpc>
            </a:pPr>
            <a:r>
              <a:rPr lang="en-US" sz="1030" dirty="0">
                <a:solidFill>
                  <a:srgbClr val="ECEFF1"/>
                </a:solidFill>
                <a:latin typeface="Quattrocento Sans" pitchFamily="34" charset="0"/>
                <a:ea typeface="Quattrocento Sans" pitchFamily="34" charset="-122"/>
                <a:cs typeface="Quattrocento Sans" pitchFamily="34" charset="-120"/>
              </a:rPr>
              <a:t>LSTM Introduced</a:t>
            </a:r>
            <a:endParaRPr lang="en-US" sz="1600" dirty="0"/>
          </a:p>
        </p:txBody>
      </p:sp>
      <p:sp>
        <p:nvSpPr>
          <p:cNvPr id="50" name="Text 48"/>
          <p:cNvSpPr/>
          <p:nvPr/>
        </p:nvSpPr>
        <p:spPr>
          <a:xfrm>
            <a:off x="6263582" y="5353269"/>
            <a:ext cx="2597223" cy="149480"/>
          </a:xfrm>
          <a:prstGeom prst="rect">
            <a:avLst/>
          </a:prstGeom>
          <a:noFill/>
          <a:ln/>
        </p:spPr>
        <p:txBody>
          <a:bodyPr wrap="square" lIns="0" tIns="0" rIns="0" bIns="0" rtlCol="0" anchor="ctr"/>
          <a:lstStyle/>
          <a:p>
            <a:pPr algn="ctr">
              <a:lnSpc>
                <a:spcPct val="110000"/>
              </a:lnSpc>
            </a:pPr>
            <a:r>
              <a:rPr lang="en-US" sz="883" dirty="0">
                <a:solidFill>
                  <a:srgbClr val="78909C"/>
                </a:solidFill>
                <a:latin typeface="Quattrocento Sans" pitchFamily="34" charset="0"/>
                <a:ea typeface="Quattrocento Sans" pitchFamily="34" charset="-122"/>
                <a:cs typeface="Quattrocento Sans" pitchFamily="34" charset="-120"/>
              </a:rPr>
              <a:t>Hochreiter &amp; Schmidhuber</a:t>
            </a:r>
            <a:endParaRPr lang="en-US" sz="1600" dirty="0"/>
          </a:p>
        </p:txBody>
      </p:sp>
      <p:sp>
        <p:nvSpPr>
          <p:cNvPr id="51" name="Shape 49"/>
          <p:cNvSpPr/>
          <p:nvPr/>
        </p:nvSpPr>
        <p:spPr>
          <a:xfrm>
            <a:off x="9035685" y="4713306"/>
            <a:ext cx="2774731" cy="906225"/>
          </a:xfrm>
          <a:custGeom>
            <a:avLst/>
            <a:gdLst/>
            <a:ahLst/>
            <a:cxnLst/>
            <a:rect l="l" t="t" r="r" b="b"/>
            <a:pathLst>
              <a:path w="2774731" h="906225">
                <a:moveTo>
                  <a:pt x="74736" y="0"/>
                </a:moveTo>
                <a:lnTo>
                  <a:pt x="2699995" y="0"/>
                </a:lnTo>
                <a:cubicBezTo>
                  <a:pt x="2741270" y="0"/>
                  <a:pt x="2774731" y="33461"/>
                  <a:pt x="2774731" y="74736"/>
                </a:cubicBezTo>
                <a:lnTo>
                  <a:pt x="2774731" y="831489"/>
                </a:lnTo>
                <a:cubicBezTo>
                  <a:pt x="2774731" y="872765"/>
                  <a:pt x="2741270" y="906225"/>
                  <a:pt x="2699995" y="906225"/>
                </a:cubicBezTo>
                <a:lnTo>
                  <a:pt x="74736" y="906225"/>
                </a:lnTo>
                <a:cubicBezTo>
                  <a:pt x="33461" y="906225"/>
                  <a:pt x="0" y="872765"/>
                  <a:pt x="0" y="831489"/>
                </a:cubicBezTo>
                <a:lnTo>
                  <a:pt x="0" y="74736"/>
                </a:lnTo>
                <a:cubicBezTo>
                  <a:pt x="0" y="33488"/>
                  <a:pt x="33488" y="0"/>
                  <a:pt x="74736" y="0"/>
                </a:cubicBezTo>
                <a:close/>
              </a:path>
            </a:pathLst>
          </a:custGeom>
          <a:solidFill>
            <a:srgbClr val="FFD54F">
              <a:alpha val="10196"/>
            </a:srgbClr>
          </a:solidFill>
          <a:ln w="12700">
            <a:solidFill>
              <a:srgbClr val="FFD54F">
                <a:alpha val="30196"/>
              </a:srgbClr>
            </a:solidFill>
            <a:prstDash val="solid"/>
          </a:ln>
        </p:spPr>
      </p:sp>
      <p:sp>
        <p:nvSpPr>
          <p:cNvPr id="52" name="Text 50"/>
          <p:cNvSpPr/>
          <p:nvPr/>
        </p:nvSpPr>
        <p:spPr>
          <a:xfrm>
            <a:off x="9096411" y="4830087"/>
            <a:ext cx="2653278" cy="298961"/>
          </a:xfrm>
          <a:prstGeom prst="rect">
            <a:avLst/>
          </a:prstGeom>
          <a:noFill/>
          <a:ln/>
        </p:spPr>
        <p:txBody>
          <a:bodyPr wrap="square" lIns="0" tIns="0" rIns="0" bIns="0" rtlCol="0" anchor="ctr"/>
          <a:lstStyle/>
          <a:p>
            <a:pPr algn="ctr">
              <a:lnSpc>
                <a:spcPct val="110000"/>
              </a:lnSpc>
            </a:pPr>
            <a:r>
              <a:rPr lang="en-US" sz="1766" b="1" dirty="0">
                <a:solidFill>
                  <a:srgbClr val="FFD54F"/>
                </a:solidFill>
                <a:latin typeface="Liter" pitchFamily="34" charset="0"/>
                <a:ea typeface="Liter" pitchFamily="34" charset="-122"/>
                <a:cs typeface="Liter" pitchFamily="34" charset="-120"/>
              </a:rPr>
              <a:t>2014</a:t>
            </a:r>
            <a:endParaRPr lang="en-US" sz="1600" dirty="0"/>
          </a:p>
        </p:txBody>
      </p:sp>
      <p:sp>
        <p:nvSpPr>
          <p:cNvPr id="53" name="Text 51"/>
          <p:cNvSpPr/>
          <p:nvPr/>
        </p:nvSpPr>
        <p:spPr>
          <a:xfrm>
            <a:off x="9119768" y="5166418"/>
            <a:ext cx="2606566" cy="186851"/>
          </a:xfrm>
          <a:prstGeom prst="rect">
            <a:avLst/>
          </a:prstGeom>
          <a:noFill/>
          <a:ln/>
        </p:spPr>
        <p:txBody>
          <a:bodyPr wrap="square" lIns="0" tIns="0" rIns="0" bIns="0" rtlCol="0" anchor="ctr"/>
          <a:lstStyle/>
          <a:p>
            <a:pPr algn="ctr">
              <a:lnSpc>
                <a:spcPct val="120000"/>
              </a:lnSpc>
            </a:pPr>
            <a:r>
              <a:rPr lang="en-US" sz="1030" dirty="0">
                <a:solidFill>
                  <a:srgbClr val="ECEFF1"/>
                </a:solidFill>
                <a:latin typeface="Quattrocento Sans" pitchFamily="34" charset="0"/>
                <a:ea typeface="Quattrocento Sans" pitchFamily="34" charset="-122"/>
                <a:cs typeface="Quattrocento Sans" pitchFamily="34" charset="-120"/>
              </a:rPr>
              <a:t>GRU Introduced</a:t>
            </a:r>
            <a:endParaRPr lang="en-US" sz="1600" dirty="0"/>
          </a:p>
        </p:txBody>
      </p:sp>
      <p:sp>
        <p:nvSpPr>
          <p:cNvPr id="54" name="Text 52"/>
          <p:cNvSpPr/>
          <p:nvPr/>
        </p:nvSpPr>
        <p:spPr>
          <a:xfrm>
            <a:off x="9124439" y="5353269"/>
            <a:ext cx="2597223" cy="149480"/>
          </a:xfrm>
          <a:prstGeom prst="rect">
            <a:avLst/>
          </a:prstGeom>
          <a:noFill/>
          <a:ln/>
        </p:spPr>
        <p:txBody>
          <a:bodyPr wrap="square" lIns="0" tIns="0" rIns="0" bIns="0" rtlCol="0" anchor="ctr"/>
          <a:lstStyle/>
          <a:p>
            <a:pPr algn="ctr">
              <a:lnSpc>
                <a:spcPct val="110000"/>
              </a:lnSpc>
            </a:pPr>
            <a:r>
              <a:rPr lang="en-US" sz="883" dirty="0">
                <a:solidFill>
                  <a:srgbClr val="78909C"/>
                </a:solidFill>
                <a:latin typeface="Quattrocento Sans" pitchFamily="34" charset="0"/>
                <a:ea typeface="Quattrocento Sans" pitchFamily="34" charset="-122"/>
                <a:cs typeface="Quattrocento Sans" pitchFamily="34" charset="-120"/>
              </a:rPr>
              <a:t>Cho et al.</a:t>
            </a:r>
            <a:endParaRPr lang="en-US" sz="1600" dirty="0"/>
          </a:p>
        </p:txBody>
      </p:sp>
      <p:sp>
        <p:nvSpPr>
          <p:cNvPr id="55" name="Shape 53"/>
          <p:cNvSpPr/>
          <p:nvPr/>
        </p:nvSpPr>
        <p:spPr>
          <a:xfrm>
            <a:off x="6170156" y="5698943"/>
            <a:ext cx="5642887" cy="1158474"/>
          </a:xfrm>
          <a:custGeom>
            <a:avLst/>
            <a:gdLst/>
            <a:ahLst/>
            <a:cxnLst/>
            <a:rect l="l" t="t" r="r" b="b"/>
            <a:pathLst>
              <a:path w="5642887" h="1158474">
                <a:moveTo>
                  <a:pt x="74745" y="0"/>
                </a:moveTo>
                <a:lnTo>
                  <a:pt x="5568143" y="0"/>
                </a:lnTo>
                <a:cubicBezTo>
                  <a:pt x="5609423" y="0"/>
                  <a:pt x="5642887" y="33464"/>
                  <a:pt x="5642887" y="74745"/>
                </a:cubicBezTo>
                <a:lnTo>
                  <a:pt x="5642887" y="1083729"/>
                </a:lnTo>
                <a:cubicBezTo>
                  <a:pt x="5642887" y="1125009"/>
                  <a:pt x="5609423" y="1158474"/>
                  <a:pt x="5568143" y="1158474"/>
                </a:cubicBezTo>
                <a:lnTo>
                  <a:pt x="74745" y="1158474"/>
                </a:lnTo>
                <a:cubicBezTo>
                  <a:pt x="33464" y="1158474"/>
                  <a:pt x="0" y="1125009"/>
                  <a:pt x="0" y="1083729"/>
                </a:cubicBezTo>
                <a:lnTo>
                  <a:pt x="0" y="74745"/>
                </a:lnTo>
                <a:cubicBezTo>
                  <a:pt x="0" y="33492"/>
                  <a:pt x="33492" y="0"/>
                  <a:pt x="74745" y="0"/>
                </a:cubicBezTo>
                <a:close/>
              </a:path>
            </a:pathLst>
          </a:custGeom>
          <a:solidFill>
            <a:srgbClr val="78909C">
              <a:alpha val="10196"/>
            </a:srgbClr>
          </a:solidFill>
          <a:ln/>
        </p:spPr>
      </p:sp>
      <p:sp>
        <p:nvSpPr>
          <p:cNvPr id="56" name="Text 54"/>
          <p:cNvSpPr/>
          <p:nvPr/>
        </p:nvSpPr>
        <p:spPr>
          <a:xfrm>
            <a:off x="6282267" y="5811053"/>
            <a:ext cx="5493407" cy="224221"/>
          </a:xfrm>
          <a:prstGeom prst="rect">
            <a:avLst/>
          </a:prstGeom>
          <a:noFill/>
          <a:ln/>
        </p:spPr>
        <p:txBody>
          <a:bodyPr wrap="square" lIns="0" tIns="0" rIns="0" bIns="0" rtlCol="0" anchor="ctr"/>
          <a:lstStyle/>
          <a:p>
            <a:pPr>
              <a:lnSpc>
                <a:spcPct val="130000"/>
              </a:lnSpc>
            </a:pPr>
            <a:r>
              <a:rPr lang="en-US" sz="1177" b="1" dirty="0">
                <a:solidFill>
                  <a:srgbClr val="ECEFF1"/>
                </a:solidFill>
                <a:latin typeface="Liter" pitchFamily="34" charset="0"/>
                <a:ea typeface="Liter" pitchFamily="34" charset="-122"/>
                <a:cs typeface="Liter" pitchFamily="34" charset="-120"/>
              </a:rPr>
              <a:t>When to Use</a:t>
            </a:r>
            <a:endParaRPr lang="en-US" sz="1600" dirty="0"/>
          </a:p>
        </p:txBody>
      </p:sp>
      <p:sp>
        <p:nvSpPr>
          <p:cNvPr id="57" name="Text 55"/>
          <p:cNvSpPr/>
          <p:nvPr/>
        </p:nvSpPr>
        <p:spPr>
          <a:xfrm>
            <a:off x="6282267" y="6110014"/>
            <a:ext cx="5484064" cy="186851"/>
          </a:xfrm>
          <a:prstGeom prst="rect">
            <a:avLst/>
          </a:prstGeom>
          <a:noFill/>
          <a:ln/>
        </p:spPr>
        <p:txBody>
          <a:bodyPr wrap="square" lIns="0" tIns="0" rIns="0" bIns="0" rtlCol="0" anchor="ctr"/>
          <a:lstStyle/>
          <a:p>
            <a:pPr>
              <a:lnSpc>
                <a:spcPct val="120000"/>
              </a:lnSpc>
            </a:pPr>
            <a:r>
              <a:rPr lang="en-US" sz="1030" b="1" dirty="0">
                <a:solidFill>
                  <a:srgbClr val="4DB6AC"/>
                </a:solidFill>
                <a:latin typeface="Quattrocento Sans" pitchFamily="34" charset="0"/>
                <a:ea typeface="Quattrocento Sans" pitchFamily="34" charset="-122"/>
                <a:cs typeface="Quattrocento Sans" pitchFamily="34" charset="-120"/>
              </a:rPr>
              <a:t>• LSTM:</a:t>
            </a:r>
            <a:r>
              <a:rPr lang="en-US" sz="1030" dirty="0">
                <a:solidFill>
                  <a:srgbClr val="ECEFF1"/>
                </a:solidFill>
                <a:latin typeface="Quattrocento Sans" pitchFamily="34" charset="0"/>
                <a:ea typeface="Quattrocento Sans" pitchFamily="34" charset="-122"/>
                <a:cs typeface="Quattrocento Sans" pitchFamily="34" charset="-120"/>
              </a:rPr>
              <a:t> Larger datasets, more complex patterns</a:t>
            </a:r>
            <a:endParaRPr lang="en-US" sz="1600" dirty="0"/>
          </a:p>
        </p:txBody>
      </p:sp>
      <p:sp>
        <p:nvSpPr>
          <p:cNvPr id="58" name="Text 56"/>
          <p:cNvSpPr/>
          <p:nvPr/>
        </p:nvSpPr>
        <p:spPr>
          <a:xfrm>
            <a:off x="6282267" y="6334234"/>
            <a:ext cx="5484064" cy="186851"/>
          </a:xfrm>
          <a:prstGeom prst="rect">
            <a:avLst/>
          </a:prstGeom>
          <a:noFill/>
          <a:ln/>
        </p:spPr>
        <p:txBody>
          <a:bodyPr wrap="square" lIns="0" tIns="0" rIns="0" bIns="0" rtlCol="0" anchor="ctr"/>
          <a:lstStyle/>
          <a:p>
            <a:pPr>
              <a:lnSpc>
                <a:spcPct val="120000"/>
              </a:lnSpc>
            </a:pPr>
            <a:r>
              <a:rPr lang="en-US" sz="1030" b="1" dirty="0">
                <a:solidFill>
                  <a:srgbClr val="FFD54F"/>
                </a:solidFill>
                <a:latin typeface="Quattrocento Sans" pitchFamily="34" charset="0"/>
                <a:ea typeface="Quattrocento Sans" pitchFamily="34" charset="-122"/>
                <a:cs typeface="Quattrocento Sans" pitchFamily="34" charset="-120"/>
              </a:rPr>
              <a:t>• GRU:</a:t>
            </a:r>
            <a:r>
              <a:rPr lang="en-US" sz="1030" dirty="0">
                <a:solidFill>
                  <a:srgbClr val="ECEFF1"/>
                </a:solidFill>
                <a:latin typeface="Quattrocento Sans" pitchFamily="34" charset="0"/>
                <a:ea typeface="Quattrocento Sans" pitchFamily="34" charset="-122"/>
                <a:cs typeface="Quattrocento Sans" pitchFamily="34" charset="-120"/>
              </a:rPr>
              <a:t> Smaller datasets, faster training needed</a:t>
            </a:r>
            <a:endParaRPr lang="en-US" sz="1600" dirty="0"/>
          </a:p>
        </p:txBody>
      </p:sp>
      <p:sp>
        <p:nvSpPr>
          <p:cNvPr id="59" name="Text 57"/>
          <p:cNvSpPr/>
          <p:nvPr/>
        </p:nvSpPr>
        <p:spPr>
          <a:xfrm>
            <a:off x="6282267" y="6558455"/>
            <a:ext cx="5484064" cy="186851"/>
          </a:xfrm>
          <a:prstGeom prst="rect">
            <a:avLst/>
          </a:prstGeom>
          <a:noFill/>
          <a:ln/>
        </p:spPr>
        <p:txBody>
          <a:bodyPr wrap="square" lIns="0" tIns="0" rIns="0" bIns="0" rtlCol="0" anchor="ctr"/>
          <a:lstStyle/>
          <a:p>
            <a:pPr>
              <a:lnSpc>
                <a:spcPct val="120000"/>
              </a:lnSpc>
            </a:pPr>
            <a:r>
              <a:rPr lang="en-US" sz="1030" b="1" dirty="0">
                <a:solidFill>
                  <a:srgbClr val="4DB6AC"/>
                </a:solidFill>
                <a:latin typeface="Quattrocento Sans" pitchFamily="34" charset="0"/>
                <a:ea typeface="Quattrocento Sans" pitchFamily="34" charset="-122"/>
                <a:cs typeface="Quattrocento Sans" pitchFamily="34" charset="-120"/>
              </a:rPr>
              <a:t>• Both:</a:t>
            </a:r>
            <a:r>
              <a:rPr lang="en-US" sz="1030" dirty="0">
                <a:solidFill>
                  <a:srgbClr val="ECEFF1"/>
                </a:solidFill>
                <a:latin typeface="Quattrocento Sans" pitchFamily="34" charset="0"/>
                <a:ea typeface="Quattrocento Sans" pitchFamily="34" charset="-122"/>
                <a:cs typeface="Quattrocento Sans" pitchFamily="34" charset="-120"/>
              </a:rPr>
              <a:t> Long sequences, time series, NLP</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Transformer Architecture</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Arkitektura Transformer</a:t>
            </a:r>
            <a:endParaRPr lang="en-US" sz="1600" dirty="0"/>
          </a:p>
        </p:txBody>
      </p:sp>
      <p:sp>
        <p:nvSpPr>
          <p:cNvPr id="4" name="Shape 2"/>
          <p:cNvSpPr/>
          <p:nvPr/>
        </p:nvSpPr>
        <p:spPr>
          <a:xfrm>
            <a:off x="400050" y="1181100"/>
            <a:ext cx="5619750" cy="1943100"/>
          </a:xfrm>
          <a:custGeom>
            <a:avLst/>
            <a:gdLst/>
            <a:ahLst/>
            <a:cxnLst/>
            <a:rect l="l" t="t" r="r" b="b"/>
            <a:pathLst>
              <a:path w="5619750" h="1943100">
                <a:moveTo>
                  <a:pt x="0" y="0"/>
                </a:moveTo>
                <a:lnTo>
                  <a:pt x="5543542" y="0"/>
                </a:lnTo>
                <a:cubicBezTo>
                  <a:pt x="5585630" y="0"/>
                  <a:pt x="5619750" y="34120"/>
                  <a:pt x="5619750" y="76208"/>
                </a:cubicBezTo>
                <a:lnTo>
                  <a:pt x="5619750" y="1866892"/>
                </a:lnTo>
                <a:cubicBezTo>
                  <a:pt x="5619750" y="1908980"/>
                  <a:pt x="5585630" y="1943100"/>
                  <a:pt x="5543542" y="1943100"/>
                </a:cubicBezTo>
                <a:lnTo>
                  <a:pt x="0" y="1943100"/>
                </a:lnTo>
                <a:lnTo>
                  <a:pt x="0" y="0"/>
                </a:lnTo>
                <a:close/>
              </a:path>
            </a:pathLst>
          </a:custGeom>
          <a:solidFill>
            <a:srgbClr val="4DB6AC">
              <a:alpha val="10196"/>
            </a:srgbClr>
          </a:solidFill>
          <a:ln/>
        </p:spPr>
      </p:sp>
      <p:sp>
        <p:nvSpPr>
          <p:cNvPr id="5" name="Shape 3"/>
          <p:cNvSpPr/>
          <p:nvPr/>
        </p:nvSpPr>
        <p:spPr>
          <a:xfrm>
            <a:off x="400050" y="1181100"/>
            <a:ext cx="38100" cy="1943100"/>
          </a:xfrm>
          <a:custGeom>
            <a:avLst/>
            <a:gdLst/>
            <a:ahLst/>
            <a:cxnLst/>
            <a:rect l="l" t="t" r="r" b="b"/>
            <a:pathLst>
              <a:path w="38100" h="1943100">
                <a:moveTo>
                  <a:pt x="0" y="0"/>
                </a:moveTo>
                <a:lnTo>
                  <a:pt x="38100" y="0"/>
                </a:lnTo>
                <a:lnTo>
                  <a:pt x="38100" y="1943100"/>
                </a:lnTo>
                <a:lnTo>
                  <a:pt x="0" y="1943100"/>
                </a:lnTo>
                <a:lnTo>
                  <a:pt x="0" y="0"/>
                </a:lnTo>
                <a:close/>
              </a:path>
            </a:pathLst>
          </a:custGeom>
          <a:solidFill>
            <a:srgbClr val="4DB6AC"/>
          </a:solidFill>
          <a:ln/>
        </p:spPr>
      </p:sp>
      <p:sp>
        <p:nvSpPr>
          <p:cNvPr id="6" name="Text 4"/>
          <p:cNvSpPr/>
          <p:nvPr/>
        </p:nvSpPr>
        <p:spPr>
          <a:xfrm>
            <a:off x="533400" y="1295400"/>
            <a:ext cx="5448300"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Introduced in "Attention Is All You Need" (2017), Transformers revolutionized NLP by replacing recurrence with attention mechanisms. They process sequences in parallel, enabling faster training and better handling of long-range dependencies.</a:t>
            </a:r>
            <a:endParaRPr lang="en-US" sz="1600" dirty="0"/>
          </a:p>
        </p:txBody>
      </p:sp>
      <p:sp>
        <p:nvSpPr>
          <p:cNvPr id="7" name="Text 5"/>
          <p:cNvSpPr/>
          <p:nvPr/>
        </p:nvSpPr>
        <p:spPr>
          <a:xfrm>
            <a:off x="533400" y="2171700"/>
            <a:ext cx="5448300"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Prezantuar në "Vëmendja është e Gjitha që Ju Nevojitet" (2017), Transformatorët revolucionarizuan NLP-në duke zëvendësuar rekurrencën me mekanizma vëmendjeje. Ato përpunojnë sekuencat në paralel, duke mundësuar trajnim më të shpejtë.</a:t>
            </a:r>
            <a:endParaRPr lang="en-US" sz="1600" dirty="0"/>
          </a:p>
        </p:txBody>
      </p:sp>
      <p:sp>
        <p:nvSpPr>
          <p:cNvPr id="8" name="Shape 6"/>
          <p:cNvSpPr/>
          <p:nvPr/>
        </p:nvSpPr>
        <p:spPr>
          <a:xfrm>
            <a:off x="385763" y="3205163"/>
            <a:ext cx="5629275" cy="1457325"/>
          </a:xfrm>
          <a:custGeom>
            <a:avLst/>
            <a:gdLst/>
            <a:ahLst/>
            <a:cxnLst/>
            <a:rect l="l" t="t" r="r" b="b"/>
            <a:pathLst>
              <a:path w="5629275" h="1457325">
                <a:moveTo>
                  <a:pt x="76204" y="0"/>
                </a:moveTo>
                <a:lnTo>
                  <a:pt x="5553071" y="0"/>
                </a:lnTo>
                <a:cubicBezTo>
                  <a:pt x="5595158" y="0"/>
                  <a:pt x="5629275" y="34117"/>
                  <a:pt x="5629275" y="76204"/>
                </a:cubicBezTo>
                <a:lnTo>
                  <a:pt x="5629275" y="1381121"/>
                </a:lnTo>
                <a:cubicBezTo>
                  <a:pt x="5629275" y="1423208"/>
                  <a:pt x="5595158" y="1457325"/>
                  <a:pt x="5553071" y="1457325"/>
                </a:cubicBezTo>
                <a:lnTo>
                  <a:pt x="76204" y="1457325"/>
                </a:lnTo>
                <a:cubicBezTo>
                  <a:pt x="34117" y="1457325"/>
                  <a:pt x="0" y="1423208"/>
                  <a:pt x="0" y="1381121"/>
                </a:cubicBezTo>
                <a:lnTo>
                  <a:pt x="0" y="76204"/>
                </a:lnTo>
                <a:cubicBezTo>
                  <a:pt x="0" y="34146"/>
                  <a:pt x="34146" y="0"/>
                  <a:pt x="76204"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504825" y="332422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Key Innovations</a:t>
            </a:r>
            <a:endParaRPr lang="en-US" sz="1600" dirty="0"/>
          </a:p>
        </p:txBody>
      </p:sp>
      <p:sp>
        <p:nvSpPr>
          <p:cNvPr id="10" name="Shape 8"/>
          <p:cNvSpPr/>
          <p:nvPr/>
        </p:nvSpPr>
        <p:spPr>
          <a:xfrm>
            <a:off x="515541" y="3705225"/>
            <a:ext cx="150019" cy="133350"/>
          </a:xfrm>
          <a:custGeom>
            <a:avLst/>
            <a:gdLst/>
            <a:ahLst/>
            <a:cxnLst/>
            <a:rect l="l" t="t" r="r" b="b"/>
            <a:pathLst>
              <a:path w="150019" h="133350">
                <a:moveTo>
                  <a:pt x="75009" y="8334"/>
                </a:moveTo>
                <a:cubicBezTo>
                  <a:pt x="53965" y="8334"/>
                  <a:pt x="37114" y="17919"/>
                  <a:pt x="24847" y="29327"/>
                </a:cubicBezTo>
                <a:cubicBezTo>
                  <a:pt x="12658" y="40656"/>
                  <a:pt x="4506" y="54173"/>
                  <a:pt x="625" y="63471"/>
                </a:cubicBezTo>
                <a:cubicBezTo>
                  <a:pt x="-234" y="65529"/>
                  <a:pt x="-234" y="67821"/>
                  <a:pt x="625" y="69879"/>
                </a:cubicBezTo>
                <a:cubicBezTo>
                  <a:pt x="4506" y="79177"/>
                  <a:pt x="12658" y="92720"/>
                  <a:pt x="24847" y="104023"/>
                </a:cubicBezTo>
                <a:cubicBezTo>
                  <a:pt x="37114" y="115405"/>
                  <a:pt x="53965" y="125016"/>
                  <a:pt x="75009" y="125016"/>
                </a:cubicBezTo>
                <a:cubicBezTo>
                  <a:pt x="96054" y="125016"/>
                  <a:pt x="112905" y="115431"/>
                  <a:pt x="125172" y="104023"/>
                </a:cubicBezTo>
                <a:cubicBezTo>
                  <a:pt x="137361" y="92694"/>
                  <a:pt x="145513" y="79177"/>
                  <a:pt x="149394" y="69879"/>
                </a:cubicBezTo>
                <a:cubicBezTo>
                  <a:pt x="150253" y="67821"/>
                  <a:pt x="150253" y="65529"/>
                  <a:pt x="149394" y="63471"/>
                </a:cubicBezTo>
                <a:cubicBezTo>
                  <a:pt x="145513" y="54173"/>
                  <a:pt x="137361" y="40630"/>
                  <a:pt x="125172" y="29327"/>
                </a:cubicBezTo>
                <a:cubicBezTo>
                  <a:pt x="112905" y="17945"/>
                  <a:pt x="96054" y="8334"/>
                  <a:pt x="75009" y="8334"/>
                </a:cubicBezTo>
                <a:close/>
                <a:moveTo>
                  <a:pt x="37505" y="66675"/>
                </a:moveTo>
                <a:cubicBezTo>
                  <a:pt x="37505" y="45976"/>
                  <a:pt x="54310" y="29170"/>
                  <a:pt x="75009" y="29170"/>
                </a:cubicBezTo>
                <a:cubicBezTo>
                  <a:pt x="95709" y="29170"/>
                  <a:pt x="112514" y="45976"/>
                  <a:pt x="112514" y="66675"/>
                </a:cubicBezTo>
                <a:cubicBezTo>
                  <a:pt x="112514" y="87374"/>
                  <a:pt x="95709" y="104180"/>
                  <a:pt x="75009" y="104180"/>
                </a:cubicBezTo>
                <a:cubicBezTo>
                  <a:pt x="54310" y="104180"/>
                  <a:pt x="37505" y="87374"/>
                  <a:pt x="37505" y="66675"/>
                </a:cubicBezTo>
                <a:close/>
                <a:moveTo>
                  <a:pt x="75009" y="50006"/>
                </a:moveTo>
                <a:cubicBezTo>
                  <a:pt x="75009" y="59200"/>
                  <a:pt x="67534" y="66675"/>
                  <a:pt x="58341" y="66675"/>
                </a:cubicBezTo>
                <a:cubicBezTo>
                  <a:pt x="55345" y="66675"/>
                  <a:pt x="52533" y="65894"/>
                  <a:pt x="50084" y="64487"/>
                </a:cubicBezTo>
                <a:cubicBezTo>
                  <a:pt x="49824" y="67326"/>
                  <a:pt x="50058" y="70243"/>
                  <a:pt x="50840" y="73134"/>
                </a:cubicBezTo>
                <a:cubicBezTo>
                  <a:pt x="54408" y="86469"/>
                  <a:pt x="68134" y="94387"/>
                  <a:pt x="81469" y="90819"/>
                </a:cubicBezTo>
                <a:cubicBezTo>
                  <a:pt x="94804" y="87250"/>
                  <a:pt x="102721" y="73525"/>
                  <a:pt x="99153" y="60190"/>
                </a:cubicBezTo>
                <a:cubicBezTo>
                  <a:pt x="95976" y="48287"/>
                  <a:pt x="84698" y="40708"/>
                  <a:pt x="72822" y="41750"/>
                </a:cubicBezTo>
                <a:cubicBezTo>
                  <a:pt x="74202" y="44172"/>
                  <a:pt x="75009" y="46985"/>
                  <a:pt x="75009" y="50006"/>
                </a:cubicBezTo>
                <a:close/>
              </a:path>
            </a:pathLst>
          </a:custGeom>
          <a:solidFill>
            <a:srgbClr val="4DB6AC"/>
          </a:solidFill>
          <a:ln/>
        </p:spPr>
      </p:sp>
      <p:sp>
        <p:nvSpPr>
          <p:cNvPr id="11" name="Text 9"/>
          <p:cNvSpPr/>
          <p:nvPr/>
        </p:nvSpPr>
        <p:spPr>
          <a:xfrm>
            <a:off x="747713" y="3667125"/>
            <a:ext cx="324802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Self-Attention:</a:t>
            </a:r>
            <a:r>
              <a:rPr lang="en-US" sz="1050" dirty="0">
                <a:solidFill>
                  <a:srgbClr val="ECEFF1"/>
                </a:solidFill>
                <a:latin typeface="Quattrocento Sans" pitchFamily="34" charset="0"/>
                <a:ea typeface="Quattrocento Sans" pitchFamily="34" charset="-122"/>
                <a:cs typeface="Quattrocento Sans" pitchFamily="34" charset="-120"/>
              </a:rPr>
              <a:t> Directly relates all positions in sequence</a:t>
            </a:r>
            <a:endParaRPr lang="en-US" sz="1600" dirty="0"/>
          </a:p>
        </p:txBody>
      </p:sp>
      <p:sp>
        <p:nvSpPr>
          <p:cNvPr id="12" name="Shape 10"/>
          <p:cNvSpPr/>
          <p:nvPr/>
        </p:nvSpPr>
        <p:spPr>
          <a:xfrm>
            <a:off x="523875" y="3933825"/>
            <a:ext cx="133350" cy="133350"/>
          </a:xfrm>
          <a:custGeom>
            <a:avLst/>
            <a:gdLst/>
            <a:ahLst/>
            <a:cxnLst/>
            <a:rect l="l" t="t" r="r" b="b"/>
            <a:pathLst>
              <a:path w="133350" h="133350">
                <a:moveTo>
                  <a:pt x="60554" y="1354"/>
                </a:moveTo>
                <a:cubicBezTo>
                  <a:pt x="64435" y="-443"/>
                  <a:pt x="68915" y="-443"/>
                  <a:pt x="72796" y="1354"/>
                </a:cubicBezTo>
                <a:lnTo>
                  <a:pt x="129730" y="27660"/>
                </a:lnTo>
                <a:cubicBezTo>
                  <a:pt x="131944" y="28675"/>
                  <a:pt x="133350" y="30889"/>
                  <a:pt x="133350" y="33337"/>
                </a:cubicBezTo>
                <a:cubicBezTo>
                  <a:pt x="133350" y="35786"/>
                  <a:pt x="131944" y="38000"/>
                  <a:pt x="129730" y="39015"/>
                </a:cubicBezTo>
                <a:lnTo>
                  <a:pt x="72796" y="65321"/>
                </a:lnTo>
                <a:cubicBezTo>
                  <a:pt x="68915" y="67118"/>
                  <a:pt x="64435" y="67118"/>
                  <a:pt x="60554" y="65321"/>
                </a:cubicBezTo>
                <a:lnTo>
                  <a:pt x="3620" y="39015"/>
                </a:lnTo>
                <a:cubicBezTo>
                  <a:pt x="1406" y="37973"/>
                  <a:pt x="0" y="35760"/>
                  <a:pt x="0" y="33337"/>
                </a:cubicBezTo>
                <a:cubicBezTo>
                  <a:pt x="0" y="30915"/>
                  <a:pt x="1406" y="28675"/>
                  <a:pt x="3620" y="27660"/>
                </a:cubicBezTo>
                <a:lnTo>
                  <a:pt x="60554" y="1354"/>
                </a:lnTo>
                <a:close/>
                <a:moveTo>
                  <a:pt x="12528" y="56882"/>
                </a:moveTo>
                <a:lnTo>
                  <a:pt x="55319" y="76650"/>
                </a:lnTo>
                <a:cubicBezTo>
                  <a:pt x="62534" y="79984"/>
                  <a:pt x="70842" y="79984"/>
                  <a:pt x="78057" y="76650"/>
                </a:cubicBezTo>
                <a:lnTo>
                  <a:pt x="120848" y="56882"/>
                </a:lnTo>
                <a:lnTo>
                  <a:pt x="129730" y="60997"/>
                </a:lnTo>
                <a:cubicBezTo>
                  <a:pt x="131944" y="62013"/>
                  <a:pt x="133350" y="64227"/>
                  <a:pt x="133350" y="66675"/>
                </a:cubicBezTo>
                <a:cubicBezTo>
                  <a:pt x="133350" y="69123"/>
                  <a:pt x="131944" y="71337"/>
                  <a:pt x="129730" y="72353"/>
                </a:cubicBezTo>
                <a:lnTo>
                  <a:pt x="72796" y="98658"/>
                </a:lnTo>
                <a:cubicBezTo>
                  <a:pt x="68915" y="100455"/>
                  <a:pt x="64435" y="100455"/>
                  <a:pt x="60554" y="98658"/>
                </a:cubicBezTo>
                <a:lnTo>
                  <a:pt x="3620" y="72353"/>
                </a:lnTo>
                <a:cubicBezTo>
                  <a:pt x="1406" y="71311"/>
                  <a:pt x="0" y="69097"/>
                  <a:pt x="0" y="66675"/>
                </a:cubicBezTo>
                <a:cubicBezTo>
                  <a:pt x="0" y="64253"/>
                  <a:pt x="1406" y="62013"/>
                  <a:pt x="3620" y="60997"/>
                </a:cubicBezTo>
                <a:lnTo>
                  <a:pt x="12502" y="56882"/>
                </a:lnTo>
                <a:close/>
                <a:moveTo>
                  <a:pt x="3620" y="94335"/>
                </a:moveTo>
                <a:lnTo>
                  <a:pt x="12502" y="90220"/>
                </a:lnTo>
                <a:lnTo>
                  <a:pt x="55293" y="109988"/>
                </a:lnTo>
                <a:cubicBezTo>
                  <a:pt x="62508" y="113321"/>
                  <a:pt x="70816" y="113321"/>
                  <a:pt x="78031" y="109988"/>
                </a:cubicBezTo>
                <a:lnTo>
                  <a:pt x="120822" y="90220"/>
                </a:lnTo>
                <a:lnTo>
                  <a:pt x="129704" y="94335"/>
                </a:lnTo>
                <a:cubicBezTo>
                  <a:pt x="131918" y="95350"/>
                  <a:pt x="133324" y="97564"/>
                  <a:pt x="133324" y="100013"/>
                </a:cubicBezTo>
                <a:cubicBezTo>
                  <a:pt x="133324" y="102461"/>
                  <a:pt x="131918" y="104675"/>
                  <a:pt x="129704" y="105690"/>
                </a:cubicBezTo>
                <a:lnTo>
                  <a:pt x="72770" y="131996"/>
                </a:lnTo>
                <a:cubicBezTo>
                  <a:pt x="68889" y="133793"/>
                  <a:pt x="64409" y="133793"/>
                  <a:pt x="60528" y="131996"/>
                </a:cubicBezTo>
                <a:lnTo>
                  <a:pt x="3620" y="105690"/>
                </a:lnTo>
                <a:cubicBezTo>
                  <a:pt x="1406" y="104648"/>
                  <a:pt x="0" y="102435"/>
                  <a:pt x="0" y="100013"/>
                </a:cubicBezTo>
                <a:cubicBezTo>
                  <a:pt x="0" y="97590"/>
                  <a:pt x="1406" y="95350"/>
                  <a:pt x="3620" y="94335"/>
                </a:cubicBezTo>
                <a:close/>
              </a:path>
            </a:pathLst>
          </a:custGeom>
          <a:solidFill>
            <a:srgbClr val="FFD54F"/>
          </a:solidFill>
          <a:ln/>
        </p:spPr>
      </p:sp>
      <p:sp>
        <p:nvSpPr>
          <p:cNvPr id="13" name="Text 11"/>
          <p:cNvSpPr/>
          <p:nvPr/>
        </p:nvSpPr>
        <p:spPr>
          <a:xfrm>
            <a:off x="747713" y="3895725"/>
            <a:ext cx="345757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Multi-Head Attention:</a:t>
            </a:r>
            <a:r>
              <a:rPr lang="en-US" sz="1050" dirty="0">
                <a:solidFill>
                  <a:srgbClr val="ECEFF1"/>
                </a:solidFill>
                <a:latin typeface="Quattrocento Sans" pitchFamily="34" charset="0"/>
                <a:ea typeface="Quattrocento Sans" pitchFamily="34" charset="-122"/>
                <a:cs typeface="Quattrocento Sans" pitchFamily="34" charset="-120"/>
              </a:rPr>
              <a:t> Multiple attention patterns in parallel</a:t>
            </a:r>
            <a:endParaRPr lang="en-US" sz="1600" dirty="0"/>
          </a:p>
        </p:txBody>
      </p:sp>
      <p:sp>
        <p:nvSpPr>
          <p:cNvPr id="14" name="Shape 12"/>
          <p:cNvSpPr/>
          <p:nvPr/>
        </p:nvSpPr>
        <p:spPr>
          <a:xfrm>
            <a:off x="532209" y="4162425"/>
            <a:ext cx="116681" cy="133350"/>
          </a:xfrm>
          <a:custGeom>
            <a:avLst/>
            <a:gdLst/>
            <a:ahLst/>
            <a:cxnLst/>
            <a:rect l="l" t="t" r="r" b="b"/>
            <a:pathLst>
              <a:path w="116681" h="133350">
                <a:moveTo>
                  <a:pt x="88240" y="-2578"/>
                </a:moveTo>
                <a:cubicBezTo>
                  <a:pt x="91340" y="-339"/>
                  <a:pt x="92486" y="3724"/>
                  <a:pt x="91079" y="7267"/>
                </a:cubicBezTo>
                <a:lnTo>
                  <a:pt x="70660" y="58341"/>
                </a:lnTo>
                <a:lnTo>
                  <a:pt x="108347" y="58341"/>
                </a:lnTo>
                <a:cubicBezTo>
                  <a:pt x="111863" y="58341"/>
                  <a:pt x="114988" y="60528"/>
                  <a:pt x="116186" y="63836"/>
                </a:cubicBezTo>
                <a:cubicBezTo>
                  <a:pt x="117384" y="67144"/>
                  <a:pt x="116369" y="70842"/>
                  <a:pt x="113686" y="73082"/>
                </a:cubicBezTo>
                <a:lnTo>
                  <a:pt x="38677" y="135590"/>
                </a:lnTo>
                <a:cubicBezTo>
                  <a:pt x="35734" y="138038"/>
                  <a:pt x="31540" y="138168"/>
                  <a:pt x="28441" y="135928"/>
                </a:cubicBezTo>
                <a:cubicBezTo>
                  <a:pt x="25342" y="133689"/>
                  <a:pt x="24196" y="129626"/>
                  <a:pt x="25602" y="126083"/>
                </a:cubicBezTo>
                <a:lnTo>
                  <a:pt x="46021" y="75009"/>
                </a:lnTo>
                <a:lnTo>
                  <a:pt x="8334" y="75009"/>
                </a:lnTo>
                <a:cubicBezTo>
                  <a:pt x="4818" y="75009"/>
                  <a:pt x="1693" y="72822"/>
                  <a:pt x="495" y="69514"/>
                </a:cubicBezTo>
                <a:cubicBezTo>
                  <a:pt x="-703" y="66206"/>
                  <a:pt x="313" y="62508"/>
                  <a:pt x="2995" y="60268"/>
                </a:cubicBezTo>
                <a:lnTo>
                  <a:pt x="78005" y="-2240"/>
                </a:lnTo>
                <a:cubicBezTo>
                  <a:pt x="80948" y="-4688"/>
                  <a:pt x="85141" y="-4818"/>
                  <a:pt x="88240" y="-2578"/>
                </a:cubicBezTo>
                <a:close/>
              </a:path>
            </a:pathLst>
          </a:custGeom>
          <a:solidFill>
            <a:srgbClr val="4DB6AC"/>
          </a:solidFill>
          <a:ln/>
        </p:spPr>
      </p:sp>
      <p:sp>
        <p:nvSpPr>
          <p:cNvPr id="15" name="Text 13"/>
          <p:cNvSpPr/>
          <p:nvPr/>
        </p:nvSpPr>
        <p:spPr>
          <a:xfrm>
            <a:off x="747713" y="4124325"/>
            <a:ext cx="3219450"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Parallel Processing:</a:t>
            </a:r>
            <a:r>
              <a:rPr lang="en-US" sz="1050" dirty="0">
                <a:solidFill>
                  <a:srgbClr val="ECEFF1"/>
                </a:solidFill>
                <a:latin typeface="Quattrocento Sans" pitchFamily="34" charset="0"/>
                <a:ea typeface="Quattrocento Sans" pitchFamily="34" charset="-122"/>
                <a:cs typeface="Quattrocento Sans" pitchFamily="34" charset="-120"/>
              </a:rPr>
              <a:t> No sequential computation needed</a:t>
            </a:r>
            <a:endParaRPr lang="en-US" sz="1600" dirty="0"/>
          </a:p>
        </p:txBody>
      </p:sp>
      <p:sp>
        <p:nvSpPr>
          <p:cNvPr id="16" name="Shape 14"/>
          <p:cNvSpPr/>
          <p:nvPr/>
        </p:nvSpPr>
        <p:spPr>
          <a:xfrm>
            <a:off x="540544" y="4391025"/>
            <a:ext cx="100013" cy="133350"/>
          </a:xfrm>
          <a:custGeom>
            <a:avLst/>
            <a:gdLst/>
            <a:ahLst/>
            <a:cxnLst/>
            <a:rect l="l" t="t" r="r" b="b"/>
            <a:pathLst>
              <a:path w="100013" h="133350">
                <a:moveTo>
                  <a:pt x="0" y="49121"/>
                </a:moveTo>
                <a:cubicBezTo>
                  <a:pt x="0" y="21982"/>
                  <a:pt x="22399" y="0"/>
                  <a:pt x="50006" y="0"/>
                </a:cubicBezTo>
                <a:cubicBezTo>
                  <a:pt x="77614" y="0"/>
                  <a:pt x="100013" y="21982"/>
                  <a:pt x="100013" y="49121"/>
                </a:cubicBezTo>
                <a:cubicBezTo>
                  <a:pt x="100013" y="80192"/>
                  <a:pt x="68707" y="117437"/>
                  <a:pt x="55632" y="131631"/>
                </a:cubicBezTo>
                <a:cubicBezTo>
                  <a:pt x="52559" y="134965"/>
                  <a:pt x="47428" y="134965"/>
                  <a:pt x="44355" y="131631"/>
                </a:cubicBezTo>
                <a:cubicBezTo>
                  <a:pt x="31280" y="117437"/>
                  <a:pt x="-26" y="80192"/>
                  <a:pt x="-26" y="49121"/>
                </a:cubicBezTo>
                <a:close/>
                <a:moveTo>
                  <a:pt x="50006" y="66675"/>
                </a:moveTo>
                <a:cubicBezTo>
                  <a:pt x="59206" y="66675"/>
                  <a:pt x="66675" y="59206"/>
                  <a:pt x="66675" y="50006"/>
                </a:cubicBezTo>
                <a:cubicBezTo>
                  <a:pt x="66675" y="40807"/>
                  <a:pt x="59206" y="33337"/>
                  <a:pt x="50006" y="33337"/>
                </a:cubicBezTo>
                <a:cubicBezTo>
                  <a:pt x="40807" y="33337"/>
                  <a:pt x="33337" y="40807"/>
                  <a:pt x="33337" y="50006"/>
                </a:cubicBezTo>
                <a:cubicBezTo>
                  <a:pt x="33337" y="59206"/>
                  <a:pt x="40807" y="66675"/>
                  <a:pt x="50006" y="66675"/>
                </a:cubicBezTo>
                <a:close/>
              </a:path>
            </a:pathLst>
          </a:custGeom>
          <a:solidFill>
            <a:srgbClr val="FFD54F"/>
          </a:solidFill>
          <a:ln/>
        </p:spPr>
      </p:sp>
      <p:sp>
        <p:nvSpPr>
          <p:cNvPr id="17" name="Text 15"/>
          <p:cNvSpPr/>
          <p:nvPr/>
        </p:nvSpPr>
        <p:spPr>
          <a:xfrm>
            <a:off x="747713" y="4352925"/>
            <a:ext cx="2809875" cy="190500"/>
          </a:xfrm>
          <a:prstGeom prst="rect">
            <a:avLst/>
          </a:prstGeom>
          <a:noFill/>
          <a:ln/>
        </p:spPr>
        <p:txBody>
          <a:bodyPr wrap="square" lIns="0" tIns="0" rIns="0" bIns="0" rtlCol="0" anchor="ctr"/>
          <a:lstStyle/>
          <a:p>
            <a:pPr>
              <a:lnSpc>
                <a:spcPct val="120000"/>
              </a:lnSpc>
            </a:pPr>
            <a:r>
              <a:rPr lang="en-US" sz="1050" b="1" dirty="0">
                <a:solidFill>
                  <a:srgbClr val="ECEFF1"/>
                </a:solidFill>
                <a:latin typeface="Quattrocento Sans" pitchFamily="34" charset="0"/>
                <a:ea typeface="Quattrocento Sans" pitchFamily="34" charset="-122"/>
                <a:cs typeface="Quattrocento Sans" pitchFamily="34" charset="-120"/>
              </a:rPr>
              <a:t>Positional Encoding:</a:t>
            </a:r>
            <a:r>
              <a:rPr lang="en-US" sz="1050" dirty="0">
                <a:solidFill>
                  <a:srgbClr val="ECEFF1"/>
                </a:solidFill>
                <a:latin typeface="Quattrocento Sans" pitchFamily="34" charset="0"/>
                <a:ea typeface="Quattrocento Sans" pitchFamily="34" charset="-122"/>
                <a:cs typeface="Quattrocento Sans" pitchFamily="34" charset="-120"/>
              </a:rPr>
              <a:t> Injects position information</a:t>
            </a:r>
            <a:endParaRPr lang="en-US" sz="1600" dirty="0"/>
          </a:p>
        </p:txBody>
      </p:sp>
      <p:sp>
        <p:nvSpPr>
          <p:cNvPr id="18" name="Shape 16"/>
          <p:cNvSpPr/>
          <p:nvPr/>
        </p:nvSpPr>
        <p:spPr>
          <a:xfrm>
            <a:off x="381000" y="4743450"/>
            <a:ext cx="5638800" cy="1181100"/>
          </a:xfrm>
          <a:custGeom>
            <a:avLst/>
            <a:gdLst/>
            <a:ahLst/>
            <a:cxnLst/>
            <a:rect l="l" t="t" r="r" b="b"/>
            <a:pathLst>
              <a:path w="5638800" h="1181100">
                <a:moveTo>
                  <a:pt x="76205" y="0"/>
                </a:moveTo>
                <a:lnTo>
                  <a:pt x="5562595" y="0"/>
                </a:lnTo>
                <a:cubicBezTo>
                  <a:pt x="5604654" y="0"/>
                  <a:pt x="5638800" y="34146"/>
                  <a:pt x="5638800" y="76205"/>
                </a:cubicBezTo>
                <a:lnTo>
                  <a:pt x="5638800" y="1104895"/>
                </a:lnTo>
                <a:cubicBezTo>
                  <a:pt x="5638800" y="1146982"/>
                  <a:pt x="5604682" y="1181100"/>
                  <a:pt x="5562595" y="1181100"/>
                </a:cubicBezTo>
                <a:lnTo>
                  <a:pt x="76205" y="1181100"/>
                </a:lnTo>
                <a:cubicBezTo>
                  <a:pt x="34146" y="1181100"/>
                  <a:pt x="0" y="1146954"/>
                  <a:pt x="0" y="1104895"/>
                </a:cubicBezTo>
                <a:lnTo>
                  <a:pt x="0" y="76205"/>
                </a:lnTo>
                <a:cubicBezTo>
                  <a:pt x="0" y="34146"/>
                  <a:pt x="34146" y="0"/>
                  <a:pt x="76205" y="0"/>
                </a:cubicBezTo>
                <a:close/>
              </a:path>
            </a:pathLst>
          </a:custGeom>
          <a:solidFill>
            <a:srgbClr val="78909C">
              <a:alpha val="10196"/>
            </a:srgbClr>
          </a:solidFill>
          <a:ln/>
        </p:spPr>
      </p:sp>
      <p:sp>
        <p:nvSpPr>
          <p:cNvPr id="19" name="Text 17"/>
          <p:cNvSpPr/>
          <p:nvPr/>
        </p:nvSpPr>
        <p:spPr>
          <a:xfrm>
            <a:off x="495300" y="48577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Transformer Variants</a:t>
            </a:r>
            <a:endParaRPr lang="en-US" sz="1600" dirty="0"/>
          </a:p>
        </p:txBody>
      </p:sp>
      <p:sp>
        <p:nvSpPr>
          <p:cNvPr id="20" name="Text 18"/>
          <p:cNvSpPr/>
          <p:nvPr/>
        </p:nvSpPr>
        <p:spPr>
          <a:xfrm>
            <a:off x="495300" y="516255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Encoder-only:</a:t>
            </a:r>
            <a:r>
              <a:rPr lang="en-US" sz="1050" dirty="0">
                <a:solidFill>
                  <a:srgbClr val="ECEFF1"/>
                </a:solidFill>
                <a:latin typeface="Quattrocento Sans" pitchFamily="34" charset="0"/>
                <a:ea typeface="Quattrocento Sans" pitchFamily="34" charset="-122"/>
                <a:cs typeface="Quattrocento Sans" pitchFamily="34" charset="-120"/>
              </a:rPr>
              <a:t> BERT (understanding tasks)</a:t>
            </a:r>
            <a:endParaRPr lang="en-US" sz="1600" dirty="0"/>
          </a:p>
        </p:txBody>
      </p:sp>
      <p:sp>
        <p:nvSpPr>
          <p:cNvPr id="21" name="Text 19"/>
          <p:cNvSpPr/>
          <p:nvPr/>
        </p:nvSpPr>
        <p:spPr>
          <a:xfrm>
            <a:off x="495300" y="5391150"/>
            <a:ext cx="5476875" cy="190500"/>
          </a:xfrm>
          <a:prstGeom prst="rect">
            <a:avLst/>
          </a:prstGeom>
          <a:noFill/>
          <a:ln/>
        </p:spPr>
        <p:txBody>
          <a:bodyPr wrap="square" lIns="0" tIns="0" rIns="0" bIns="0" rtlCol="0" anchor="ctr"/>
          <a:lstStyle/>
          <a:p>
            <a:pPr>
              <a:lnSpc>
                <a:spcPct val="120000"/>
              </a:lnSpc>
            </a:pPr>
            <a:r>
              <a:rPr lang="en-US" sz="1050" b="1" dirty="0">
                <a:solidFill>
                  <a:srgbClr val="FFD54F"/>
                </a:solidFill>
                <a:latin typeface="Quattrocento Sans" pitchFamily="34" charset="0"/>
                <a:ea typeface="Quattrocento Sans" pitchFamily="34" charset="-122"/>
                <a:cs typeface="Quattrocento Sans" pitchFamily="34" charset="-120"/>
              </a:rPr>
              <a:t>• Decoder-only:</a:t>
            </a:r>
            <a:r>
              <a:rPr lang="en-US" sz="1050" dirty="0">
                <a:solidFill>
                  <a:srgbClr val="ECEFF1"/>
                </a:solidFill>
                <a:latin typeface="Quattrocento Sans" pitchFamily="34" charset="0"/>
                <a:ea typeface="Quattrocento Sans" pitchFamily="34" charset="-122"/>
                <a:cs typeface="Quattrocento Sans" pitchFamily="34" charset="-120"/>
              </a:rPr>
              <a:t> GPT (generation tasks)</a:t>
            </a:r>
            <a:endParaRPr lang="en-US" sz="1600" dirty="0"/>
          </a:p>
        </p:txBody>
      </p:sp>
      <p:sp>
        <p:nvSpPr>
          <p:cNvPr id="22" name="Text 20"/>
          <p:cNvSpPr/>
          <p:nvPr/>
        </p:nvSpPr>
        <p:spPr>
          <a:xfrm>
            <a:off x="495300" y="5619750"/>
            <a:ext cx="547687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 Encoder-Decoder:</a:t>
            </a:r>
            <a:r>
              <a:rPr lang="en-US" sz="1050" dirty="0">
                <a:solidFill>
                  <a:srgbClr val="ECEFF1"/>
                </a:solidFill>
                <a:latin typeface="Quattrocento Sans" pitchFamily="34" charset="0"/>
                <a:ea typeface="Quattrocento Sans" pitchFamily="34" charset="-122"/>
                <a:cs typeface="Quattrocento Sans" pitchFamily="34" charset="-120"/>
              </a:rPr>
              <a:t> T5, BART (translation, summarization)</a:t>
            </a:r>
            <a:endParaRPr lang="en-US" sz="1600" dirty="0"/>
          </a:p>
        </p:txBody>
      </p:sp>
      <p:sp>
        <p:nvSpPr>
          <p:cNvPr id="23" name="Shape 21"/>
          <p:cNvSpPr/>
          <p:nvPr/>
        </p:nvSpPr>
        <p:spPr>
          <a:xfrm>
            <a:off x="6172200" y="1181100"/>
            <a:ext cx="5638800" cy="4210050"/>
          </a:xfrm>
          <a:custGeom>
            <a:avLst/>
            <a:gdLst/>
            <a:ahLst/>
            <a:cxnLst/>
            <a:rect l="l" t="t" r="r" b="b"/>
            <a:pathLst>
              <a:path w="5638800" h="4210050">
                <a:moveTo>
                  <a:pt x="76202" y="0"/>
                </a:moveTo>
                <a:lnTo>
                  <a:pt x="5562598" y="0"/>
                </a:lnTo>
                <a:cubicBezTo>
                  <a:pt x="5604683" y="0"/>
                  <a:pt x="5638800" y="34117"/>
                  <a:pt x="5638800" y="76202"/>
                </a:cubicBezTo>
                <a:lnTo>
                  <a:pt x="5638800" y="4133848"/>
                </a:lnTo>
                <a:cubicBezTo>
                  <a:pt x="5638800" y="4175933"/>
                  <a:pt x="5604683" y="4210050"/>
                  <a:pt x="5562598" y="4210050"/>
                </a:cubicBezTo>
                <a:lnTo>
                  <a:pt x="76202" y="4210050"/>
                </a:lnTo>
                <a:cubicBezTo>
                  <a:pt x="34117" y="4210050"/>
                  <a:pt x="0" y="4175933"/>
                  <a:pt x="0" y="4133848"/>
                </a:cubicBezTo>
                <a:lnTo>
                  <a:pt x="0" y="76202"/>
                </a:lnTo>
                <a:cubicBezTo>
                  <a:pt x="0" y="34117"/>
                  <a:pt x="34117" y="0"/>
                  <a:pt x="76202" y="0"/>
                </a:cubicBezTo>
                <a:close/>
              </a:path>
            </a:pathLst>
          </a:custGeom>
          <a:solidFill>
            <a:srgbClr val="4DB6AC">
              <a:alpha val="10196"/>
            </a:srgbClr>
          </a:solidFill>
          <a:ln/>
        </p:spPr>
      </p:sp>
      <p:sp>
        <p:nvSpPr>
          <p:cNvPr id="24" name="Text 22"/>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Transformer Block</a:t>
            </a:r>
            <a:endParaRPr lang="en-US" sz="1600" dirty="0"/>
          </a:p>
        </p:txBody>
      </p:sp>
      <p:sp>
        <p:nvSpPr>
          <p:cNvPr id="25" name="Shape 23"/>
          <p:cNvSpPr/>
          <p:nvPr/>
        </p:nvSpPr>
        <p:spPr>
          <a:xfrm>
            <a:off x="7172325" y="1924050"/>
            <a:ext cx="3638550" cy="361950"/>
          </a:xfrm>
          <a:custGeom>
            <a:avLst/>
            <a:gdLst/>
            <a:ahLst/>
            <a:cxnLst/>
            <a:rect l="l" t="t" r="r" b="b"/>
            <a:pathLst>
              <a:path w="3638550" h="361950">
                <a:moveTo>
                  <a:pt x="76201" y="0"/>
                </a:moveTo>
                <a:lnTo>
                  <a:pt x="3562349" y="0"/>
                </a:lnTo>
                <a:cubicBezTo>
                  <a:pt x="3604434" y="0"/>
                  <a:pt x="3638550" y="34116"/>
                  <a:pt x="3638550" y="76201"/>
                </a:cubicBezTo>
                <a:lnTo>
                  <a:pt x="3638550" y="285749"/>
                </a:lnTo>
                <a:cubicBezTo>
                  <a:pt x="3638550" y="327834"/>
                  <a:pt x="3604434" y="361950"/>
                  <a:pt x="3562349" y="361950"/>
                </a:cubicBezTo>
                <a:lnTo>
                  <a:pt x="76201" y="361950"/>
                </a:lnTo>
                <a:cubicBezTo>
                  <a:pt x="34116" y="361950"/>
                  <a:pt x="0" y="327834"/>
                  <a:pt x="0" y="2857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26" name="Text 24"/>
          <p:cNvSpPr/>
          <p:nvPr/>
        </p:nvSpPr>
        <p:spPr>
          <a:xfrm>
            <a:off x="7224713" y="2009775"/>
            <a:ext cx="35337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Input + Positional Encoding</a:t>
            </a:r>
            <a:endParaRPr lang="en-US" sz="1600" dirty="0"/>
          </a:p>
        </p:txBody>
      </p:sp>
      <p:sp>
        <p:nvSpPr>
          <p:cNvPr id="27" name="Text 25"/>
          <p:cNvSpPr/>
          <p:nvPr/>
        </p:nvSpPr>
        <p:spPr>
          <a:xfrm>
            <a:off x="8948738" y="2333625"/>
            <a:ext cx="171450" cy="266700"/>
          </a:xfrm>
          <a:prstGeom prst="rect">
            <a:avLst/>
          </a:prstGeom>
          <a:noFill/>
          <a:ln/>
        </p:spPr>
        <p:txBody>
          <a:bodyPr wrap="square" lIns="0" tIns="0" rIns="0" bIns="0" rtlCol="0" anchor="ctr"/>
          <a:lstStyle/>
          <a:p>
            <a:pPr>
              <a:lnSpc>
                <a:spcPct val="130000"/>
              </a:lnSpc>
            </a:pPr>
            <a:r>
              <a:rPr lang="en-US" sz="1350" dirty="0">
                <a:solidFill>
                  <a:srgbClr val="4DB6AC"/>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7477125" y="2647950"/>
            <a:ext cx="3028950" cy="361950"/>
          </a:xfrm>
          <a:custGeom>
            <a:avLst/>
            <a:gdLst/>
            <a:ahLst/>
            <a:cxnLst/>
            <a:rect l="l" t="t" r="r" b="b"/>
            <a:pathLst>
              <a:path w="3028950" h="361950">
                <a:moveTo>
                  <a:pt x="76201" y="0"/>
                </a:moveTo>
                <a:lnTo>
                  <a:pt x="2952749" y="0"/>
                </a:lnTo>
                <a:cubicBezTo>
                  <a:pt x="2994834" y="0"/>
                  <a:pt x="3028950" y="34116"/>
                  <a:pt x="3028950" y="76201"/>
                </a:cubicBezTo>
                <a:lnTo>
                  <a:pt x="3028950" y="285749"/>
                </a:lnTo>
                <a:cubicBezTo>
                  <a:pt x="3028950" y="327834"/>
                  <a:pt x="2994834" y="361950"/>
                  <a:pt x="2952749" y="361950"/>
                </a:cubicBezTo>
                <a:lnTo>
                  <a:pt x="76201" y="361950"/>
                </a:lnTo>
                <a:cubicBezTo>
                  <a:pt x="34116" y="361950"/>
                  <a:pt x="0" y="327834"/>
                  <a:pt x="0" y="2857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29" name="Text 27"/>
          <p:cNvSpPr/>
          <p:nvPr/>
        </p:nvSpPr>
        <p:spPr>
          <a:xfrm>
            <a:off x="7529513" y="2733675"/>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Multi-Head Attention</a:t>
            </a:r>
            <a:endParaRPr lang="en-US" sz="1600" dirty="0"/>
          </a:p>
        </p:txBody>
      </p:sp>
      <p:sp>
        <p:nvSpPr>
          <p:cNvPr id="30" name="Text 28"/>
          <p:cNvSpPr/>
          <p:nvPr/>
        </p:nvSpPr>
        <p:spPr>
          <a:xfrm>
            <a:off x="8948738" y="3057525"/>
            <a:ext cx="171450" cy="266700"/>
          </a:xfrm>
          <a:prstGeom prst="rect">
            <a:avLst/>
          </a:prstGeom>
          <a:noFill/>
          <a:ln/>
        </p:spPr>
        <p:txBody>
          <a:bodyPr wrap="square" lIns="0" tIns="0" rIns="0" bIns="0" rtlCol="0" anchor="ctr"/>
          <a:lstStyle/>
          <a:p>
            <a:pPr>
              <a:lnSpc>
                <a:spcPct val="130000"/>
              </a:lnSpc>
            </a:pPr>
            <a:r>
              <a:rPr lang="en-US" sz="1350" dirty="0">
                <a:solidFill>
                  <a:srgbClr val="FFD54F"/>
                </a:solidFill>
                <a:latin typeface="Quattrocento Sans" pitchFamily="34" charset="0"/>
                <a:ea typeface="Quattrocento Sans" pitchFamily="34" charset="-122"/>
                <a:cs typeface="Quattrocento Sans" pitchFamily="34" charset="-120"/>
              </a:rPr>
              <a:t>↓</a:t>
            </a:r>
            <a:endParaRPr lang="en-US" sz="1600" dirty="0"/>
          </a:p>
        </p:txBody>
      </p:sp>
      <p:sp>
        <p:nvSpPr>
          <p:cNvPr id="31" name="Shape 29"/>
          <p:cNvSpPr/>
          <p:nvPr/>
        </p:nvSpPr>
        <p:spPr>
          <a:xfrm>
            <a:off x="7477125" y="3371850"/>
            <a:ext cx="3028950" cy="361950"/>
          </a:xfrm>
          <a:custGeom>
            <a:avLst/>
            <a:gdLst/>
            <a:ahLst/>
            <a:cxnLst/>
            <a:rect l="l" t="t" r="r" b="b"/>
            <a:pathLst>
              <a:path w="3028950" h="361950">
                <a:moveTo>
                  <a:pt x="76201" y="0"/>
                </a:moveTo>
                <a:lnTo>
                  <a:pt x="2952749" y="0"/>
                </a:lnTo>
                <a:cubicBezTo>
                  <a:pt x="2994834" y="0"/>
                  <a:pt x="3028950" y="34116"/>
                  <a:pt x="3028950" y="76201"/>
                </a:cubicBezTo>
                <a:lnTo>
                  <a:pt x="3028950" y="285749"/>
                </a:lnTo>
                <a:cubicBezTo>
                  <a:pt x="3028950" y="327834"/>
                  <a:pt x="2994834" y="361950"/>
                  <a:pt x="2952749" y="361950"/>
                </a:cubicBezTo>
                <a:lnTo>
                  <a:pt x="76201" y="361950"/>
                </a:lnTo>
                <a:cubicBezTo>
                  <a:pt x="34116" y="361950"/>
                  <a:pt x="0" y="327834"/>
                  <a:pt x="0" y="2857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32" name="Text 30"/>
          <p:cNvSpPr/>
          <p:nvPr/>
        </p:nvSpPr>
        <p:spPr>
          <a:xfrm>
            <a:off x="7529513" y="3457575"/>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Add &amp; Norm</a:t>
            </a:r>
            <a:endParaRPr lang="en-US" sz="1600" dirty="0"/>
          </a:p>
        </p:txBody>
      </p:sp>
      <p:sp>
        <p:nvSpPr>
          <p:cNvPr id="33" name="Text 31"/>
          <p:cNvSpPr/>
          <p:nvPr/>
        </p:nvSpPr>
        <p:spPr>
          <a:xfrm>
            <a:off x="8948738" y="3781425"/>
            <a:ext cx="171450" cy="266700"/>
          </a:xfrm>
          <a:prstGeom prst="rect">
            <a:avLst/>
          </a:prstGeom>
          <a:noFill/>
          <a:ln/>
        </p:spPr>
        <p:txBody>
          <a:bodyPr wrap="square" lIns="0" tIns="0" rIns="0" bIns="0" rtlCol="0" anchor="ctr"/>
          <a:lstStyle/>
          <a:p>
            <a:pPr>
              <a:lnSpc>
                <a:spcPct val="130000"/>
              </a:lnSpc>
            </a:pPr>
            <a:r>
              <a:rPr lang="en-US" sz="1350" dirty="0">
                <a:solidFill>
                  <a:srgbClr val="4DB6AC"/>
                </a:solidFill>
                <a:latin typeface="Quattrocento Sans" pitchFamily="34" charset="0"/>
                <a:ea typeface="Quattrocento Sans" pitchFamily="34" charset="-122"/>
                <a:cs typeface="Quattrocento Sans" pitchFamily="34" charset="-120"/>
              </a:rPr>
              <a:t>↓</a:t>
            </a:r>
            <a:endParaRPr lang="en-US" sz="1600" dirty="0"/>
          </a:p>
        </p:txBody>
      </p:sp>
      <p:sp>
        <p:nvSpPr>
          <p:cNvPr id="34" name="Shape 32"/>
          <p:cNvSpPr/>
          <p:nvPr/>
        </p:nvSpPr>
        <p:spPr>
          <a:xfrm>
            <a:off x="7477125" y="4095750"/>
            <a:ext cx="3028950" cy="361950"/>
          </a:xfrm>
          <a:custGeom>
            <a:avLst/>
            <a:gdLst/>
            <a:ahLst/>
            <a:cxnLst/>
            <a:rect l="l" t="t" r="r" b="b"/>
            <a:pathLst>
              <a:path w="3028950" h="361950">
                <a:moveTo>
                  <a:pt x="76201" y="0"/>
                </a:moveTo>
                <a:lnTo>
                  <a:pt x="2952749" y="0"/>
                </a:lnTo>
                <a:cubicBezTo>
                  <a:pt x="2994834" y="0"/>
                  <a:pt x="3028950" y="34116"/>
                  <a:pt x="3028950" y="76201"/>
                </a:cubicBezTo>
                <a:lnTo>
                  <a:pt x="3028950" y="285749"/>
                </a:lnTo>
                <a:cubicBezTo>
                  <a:pt x="3028950" y="327834"/>
                  <a:pt x="2994834" y="361950"/>
                  <a:pt x="2952749" y="361950"/>
                </a:cubicBezTo>
                <a:lnTo>
                  <a:pt x="76201" y="361950"/>
                </a:lnTo>
                <a:cubicBezTo>
                  <a:pt x="34116" y="361950"/>
                  <a:pt x="0" y="327834"/>
                  <a:pt x="0" y="2857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35" name="Text 33"/>
          <p:cNvSpPr/>
          <p:nvPr/>
        </p:nvSpPr>
        <p:spPr>
          <a:xfrm>
            <a:off x="7529513" y="4181475"/>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Feed Forward Network</a:t>
            </a:r>
            <a:endParaRPr lang="en-US" sz="1600" dirty="0"/>
          </a:p>
        </p:txBody>
      </p:sp>
      <p:sp>
        <p:nvSpPr>
          <p:cNvPr id="36" name="Text 34"/>
          <p:cNvSpPr/>
          <p:nvPr/>
        </p:nvSpPr>
        <p:spPr>
          <a:xfrm>
            <a:off x="8948738" y="4505325"/>
            <a:ext cx="171450" cy="266700"/>
          </a:xfrm>
          <a:prstGeom prst="rect">
            <a:avLst/>
          </a:prstGeom>
          <a:noFill/>
          <a:ln/>
        </p:spPr>
        <p:txBody>
          <a:bodyPr wrap="square" lIns="0" tIns="0" rIns="0" bIns="0" rtlCol="0" anchor="ctr"/>
          <a:lstStyle/>
          <a:p>
            <a:pPr>
              <a:lnSpc>
                <a:spcPct val="130000"/>
              </a:lnSpc>
            </a:pPr>
            <a:r>
              <a:rPr lang="en-US" sz="1350" dirty="0">
                <a:solidFill>
                  <a:srgbClr val="FFD54F"/>
                </a:solidFill>
                <a:latin typeface="Quattrocento Sans" pitchFamily="34" charset="0"/>
                <a:ea typeface="Quattrocento Sans" pitchFamily="34" charset="-122"/>
                <a:cs typeface="Quattrocento Sans" pitchFamily="34" charset="-120"/>
              </a:rPr>
              <a:t>↓</a:t>
            </a:r>
            <a:endParaRPr lang="en-US" sz="1600" dirty="0"/>
          </a:p>
        </p:txBody>
      </p:sp>
      <p:sp>
        <p:nvSpPr>
          <p:cNvPr id="37" name="Shape 35"/>
          <p:cNvSpPr/>
          <p:nvPr/>
        </p:nvSpPr>
        <p:spPr>
          <a:xfrm>
            <a:off x="7477125" y="4819650"/>
            <a:ext cx="3028950" cy="361950"/>
          </a:xfrm>
          <a:custGeom>
            <a:avLst/>
            <a:gdLst/>
            <a:ahLst/>
            <a:cxnLst/>
            <a:rect l="l" t="t" r="r" b="b"/>
            <a:pathLst>
              <a:path w="3028950" h="361950">
                <a:moveTo>
                  <a:pt x="76201" y="0"/>
                </a:moveTo>
                <a:lnTo>
                  <a:pt x="2952749" y="0"/>
                </a:lnTo>
                <a:cubicBezTo>
                  <a:pt x="2994834" y="0"/>
                  <a:pt x="3028950" y="34116"/>
                  <a:pt x="3028950" y="76201"/>
                </a:cubicBezTo>
                <a:lnTo>
                  <a:pt x="3028950" y="285749"/>
                </a:lnTo>
                <a:cubicBezTo>
                  <a:pt x="3028950" y="327834"/>
                  <a:pt x="2994834" y="361950"/>
                  <a:pt x="2952749" y="361950"/>
                </a:cubicBezTo>
                <a:lnTo>
                  <a:pt x="76201" y="361950"/>
                </a:lnTo>
                <a:cubicBezTo>
                  <a:pt x="34116" y="361950"/>
                  <a:pt x="0" y="327834"/>
                  <a:pt x="0" y="2857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38" name="Text 36"/>
          <p:cNvSpPr/>
          <p:nvPr/>
        </p:nvSpPr>
        <p:spPr>
          <a:xfrm>
            <a:off x="7529513" y="4905375"/>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Add &amp; Norm</a:t>
            </a:r>
            <a:endParaRPr lang="en-US" sz="1600" dirty="0"/>
          </a:p>
        </p:txBody>
      </p:sp>
      <p:sp>
        <p:nvSpPr>
          <p:cNvPr id="39" name="Text 37"/>
          <p:cNvSpPr/>
          <p:nvPr/>
        </p:nvSpPr>
        <p:spPr>
          <a:xfrm>
            <a:off x="8210550" y="5267325"/>
            <a:ext cx="15621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Repeat N times (typically 6-12)</a:t>
            </a:r>
            <a:endParaRPr lang="en-US" sz="1600" dirty="0"/>
          </a:p>
        </p:txBody>
      </p:sp>
      <p:sp>
        <p:nvSpPr>
          <p:cNvPr id="40" name="Shape 38"/>
          <p:cNvSpPr/>
          <p:nvPr/>
        </p:nvSpPr>
        <p:spPr>
          <a:xfrm>
            <a:off x="6176963" y="5472113"/>
            <a:ext cx="5629275" cy="1000125"/>
          </a:xfrm>
          <a:custGeom>
            <a:avLst/>
            <a:gdLst/>
            <a:ahLst/>
            <a:cxnLst/>
            <a:rect l="l" t="t" r="r" b="b"/>
            <a:pathLst>
              <a:path w="5629275" h="1000125">
                <a:moveTo>
                  <a:pt x="76200" y="0"/>
                </a:moveTo>
                <a:lnTo>
                  <a:pt x="5553075" y="0"/>
                </a:lnTo>
                <a:cubicBezTo>
                  <a:pt x="5595159" y="0"/>
                  <a:pt x="5629275" y="34116"/>
                  <a:pt x="5629275" y="76200"/>
                </a:cubicBezTo>
                <a:lnTo>
                  <a:pt x="5629275" y="923925"/>
                </a:lnTo>
                <a:cubicBezTo>
                  <a:pt x="5629275" y="966009"/>
                  <a:pt x="5595159" y="1000125"/>
                  <a:pt x="5553075" y="1000125"/>
                </a:cubicBezTo>
                <a:lnTo>
                  <a:pt x="76200" y="1000125"/>
                </a:lnTo>
                <a:cubicBezTo>
                  <a:pt x="34116" y="1000125"/>
                  <a:pt x="0" y="966009"/>
                  <a:pt x="0" y="923925"/>
                </a:cubicBezTo>
                <a:lnTo>
                  <a:pt x="0" y="76200"/>
                </a:lnTo>
                <a:cubicBezTo>
                  <a:pt x="0" y="34144"/>
                  <a:pt x="34144" y="0"/>
                  <a:pt x="76200" y="0"/>
                </a:cubicBezTo>
                <a:close/>
              </a:path>
            </a:pathLst>
          </a:custGeom>
          <a:solidFill>
            <a:srgbClr val="FFD54F">
              <a:alpha val="10196"/>
            </a:srgbClr>
          </a:solidFill>
          <a:ln w="12700">
            <a:solidFill>
              <a:srgbClr val="FFD54F">
                <a:alpha val="30196"/>
              </a:srgbClr>
            </a:solidFill>
            <a:prstDash val="solid"/>
          </a:ln>
        </p:spPr>
      </p:sp>
      <p:sp>
        <p:nvSpPr>
          <p:cNvPr id="41" name="Text 39"/>
          <p:cNvSpPr/>
          <p:nvPr/>
        </p:nvSpPr>
        <p:spPr>
          <a:xfrm>
            <a:off x="6296025" y="559117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Impact &amp; Applications</a:t>
            </a:r>
            <a:endParaRPr lang="en-US" sz="1600" dirty="0"/>
          </a:p>
        </p:txBody>
      </p:sp>
      <p:sp>
        <p:nvSpPr>
          <p:cNvPr id="42" name="Shape 40"/>
          <p:cNvSpPr/>
          <p:nvPr/>
        </p:nvSpPr>
        <p:spPr>
          <a:xfrm>
            <a:off x="6315075" y="59245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DB6AC"/>
          </a:solidFill>
          <a:ln/>
        </p:spPr>
      </p:sp>
      <p:sp>
        <p:nvSpPr>
          <p:cNvPr id="43" name="Text 41"/>
          <p:cNvSpPr/>
          <p:nvPr/>
        </p:nvSpPr>
        <p:spPr>
          <a:xfrm>
            <a:off x="6538913" y="5895975"/>
            <a:ext cx="8667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GPT, BERT, T5</a:t>
            </a:r>
            <a:endParaRPr lang="en-US" sz="1600" dirty="0"/>
          </a:p>
        </p:txBody>
      </p:sp>
      <p:sp>
        <p:nvSpPr>
          <p:cNvPr id="44" name="Shape 42"/>
          <p:cNvSpPr/>
          <p:nvPr/>
        </p:nvSpPr>
        <p:spPr>
          <a:xfrm>
            <a:off x="9048750" y="59245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DB6AC"/>
          </a:solidFill>
          <a:ln/>
        </p:spPr>
      </p:sp>
      <p:sp>
        <p:nvSpPr>
          <p:cNvPr id="45" name="Text 43"/>
          <p:cNvSpPr/>
          <p:nvPr/>
        </p:nvSpPr>
        <p:spPr>
          <a:xfrm>
            <a:off x="9272588" y="5895975"/>
            <a:ext cx="12192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Vision Transformers</a:t>
            </a:r>
            <a:endParaRPr lang="en-US" sz="1600" dirty="0"/>
          </a:p>
        </p:txBody>
      </p:sp>
      <p:sp>
        <p:nvSpPr>
          <p:cNvPr id="46" name="Shape 44"/>
          <p:cNvSpPr/>
          <p:nvPr/>
        </p:nvSpPr>
        <p:spPr>
          <a:xfrm>
            <a:off x="6315075" y="61912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FFD54F"/>
          </a:solidFill>
          <a:ln/>
        </p:spPr>
      </p:sp>
      <p:sp>
        <p:nvSpPr>
          <p:cNvPr id="47" name="Text 45"/>
          <p:cNvSpPr/>
          <p:nvPr/>
        </p:nvSpPr>
        <p:spPr>
          <a:xfrm>
            <a:off x="6538913" y="6162675"/>
            <a:ext cx="10287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ChatGPT, Claude</a:t>
            </a:r>
            <a:endParaRPr lang="en-US" sz="1600" dirty="0"/>
          </a:p>
        </p:txBody>
      </p:sp>
      <p:sp>
        <p:nvSpPr>
          <p:cNvPr id="48" name="Shape 46"/>
          <p:cNvSpPr/>
          <p:nvPr/>
        </p:nvSpPr>
        <p:spPr>
          <a:xfrm>
            <a:off x="9048750" y="619125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FFD54F"/>
          </a:solidFill>
          <a:ln/>
        </p:spPr>
      </p:sp>
      <p:sp>
        <p:nvSpPr>
          <p:cNvPr id="49" name="Text 47"/>
          <p:cNvSpPr/>
          <p:nvPr/>
        </p:nvSpPr>
        <p:spPr>
          <a:xfrm>
            <a:off x="9272588" y="6162675"/>
            <a:ext cx="10382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Code Generation</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2844" y="372844"/>
            <a:ext cx="11614092" cy="372844"/>
          </a:xfrm>
          <a:prstGeom prst="rect">
            <a:avLst/>
          </a:prstGeom>
          <a:noFill/>
          <a:ln/>
        </p:spPr>
        <p:txBody>
          <a:bodyPr wrap="square" lIns="0" tIns="0" rIns="0" bIns="0" rtlCol="0" anchor="ctr"/>
          <a:lstStyle/>
          <a:p>
            <a:pPr>
              <a:lnSpc>
                <a:spcPct val="90000"/>
              </a:lnSpc>
            </a:pPr>
            <a:r>
              <a:rPr lang="en-US" sz="2642" b="1" dirty="0">
                <a:solidFill>
                  <a:srgbClr val="ECEFF1"/>
                </a:solidFill>
                <a:latin typeface="Liter" pitchFamily="34" charset="0"/>
                <a:ea typeface="Liter" pitchFamily="34" charset="-122"/>
                <a:cs typeface="Liter" pitchFamily="34" charset="-120"/>
              </a:rPr>
              <a:t>Attention Mechanism</a:t>
            </a:r>
            <a:endParaRPr lang="en-US" sz="1600" dirty="0"/>
          </a:p>
        </p:txBody>
      </p:sp>
      <p:sp>
        <p:nvSpPr>
          <p:cNvPr id="3" name="Text 1"/>
          <p:cNvSpPr/>
          <p:nvPr/>
        </p:nvSpPr>
        <p:spPr>
          <a:xfrm>
            <a:off x="372844" y="782972"/>
            <a:ext cx="11558165" cy="298275"/>
          </a:xfrm>
          <a:prstGeom prst="rect">
            <a:avLst/>
          </a:prstGeom>
          <a:noFill/>
          <a:ln/>
        </p:spPr>
        <p:txBody>
          <a:bodyPr wrap="square" lIns="0" tIns="0" rIns="0" bIns="0" rtlCol="0" anchor="ctr"/>
          <a:lstStyle/>
          <a:p>
            <a:pPr>
              <a:lnSpc>
                <a:spcPct val="110000"/>
              </a:lnSpc>
            </a:pPr>
            <a:r>
              <a:rPr lang="en-US" sz="1761" b="1" dirty="0">
                <a:solidFill>
                  <a:srgbClr val="4DB6AC"/>
                </a:solidFill>
                <a:latin typeface="Hedvig Letters Sans" pitchFamily="34" charset="0"/>
                <a:ea typeface="Hedvig Letters Sans" pitchFamily="34" charset="-122"/>
                <a:cs typeface="Hedvig Letters Sans" pitchFamily="34" charset="-120"/>
              </a:rPr>
              <a:t>Mekanizmi i Vëmendjes</a:t>
            </a:r>
            <a:endParaRPr lang="en-US" sz="1600" dirty="0"/>
          </a:p>
        </p:txBody>
      </p:sp>
      <p:sp>
        <p:nvSpPr>
          <p:cNvPr id="4" name="Shape 2"/>
          <p:cNvSpPr/>
          <p:nvPr/>
        </p:nvSpPr>
        <p:spPr>
          <a:xfrm>
            <a:off x="391486" y="1155817"/>
            <a:ext cx="5629945" cy="1696440"/>
          </a:xfrm>
          <a:custGeom>
            <a:avLst/>
            <a:gdLst/>
            <a:ahLst/>
            <a:cxnLst/>
            <a:rect l="l" t="t" r="r" b="b"/>
            <a:pathLst>
              <a:path w="5629945" h="1696440">
                <a:moveTo>
                  <a:pt x="0" y="0"/>
                </a:moveTo>
                <a:lnTo>
                  <a:pt x="5555369" y="0"/>
                </a:lnTo>
                <a:cubicBezTo>
                  <a:pt x="5596556" y="0"/>
                  <a:pt x="5629945" y="33389"/>
                  <a:pt x="5629945" y="74576"/>
                </a:cubicBezTo>
                <a:lnTo>
                  <a:pt x="5629945" y="1621865"/>
                </a:lnTo>
                <a:cubicBezTo>
                  <a:pt x="5629945" y="1663052"/>
                  <a:pt x="5596556" y="1696440"/>
                  <a:pt x="5555369" y="1696440"/>
                </a:cubicBezTo>
                <a:lnTo>
                  <a:pt x="0" y="1696440"/>
                </a:lnTo>
                <a:lnTo>
                  <a:pt x="0" y="0"/>
                </a:lnTo>
                <a:close/>
              </a:path>
            </a:pathLst>
          </a:custGeom>
          <a:solidFill>
            <a:srgbClr val="4DB6AC">
              <a:alpha val="10196"/>
            </a:srgbClr>
          </a:solidFill>
          <a:ln/>
        </p:spPr>
      </p:sp>
      <p:sp>
        <p:nvSpPr>
          <p:cNvPr id="5" name="Shape 3"/>
          <p:cNvSpPr/>
          <p:nvPr/>
        </p:nvSpPr>
        <p:spPr>
          <a:xfrm>
            <a:off x="391486" y="1155817"/>
            <a:ext cx="37284" cy="1696440"/>
          </a:xfrm>
          <a:custGeom>
            <a:avLst/>
            <a:gdLst/>
            <a:ahLst/>
            <a:cxnLst/>
            <a:rect l="l" t="t" r="r" b="b"/>
            <a:pathLst>
              <a:path w="37284" h="1696440">
                <a:moveTo>
                  <a:pt x="0" y="0"/>
                </a:moveTo>
                <a:lnTo>
                  <a:pt x="37284" y="0"/>
                </a:lnTo>
                <a:lnTo>
                  <a:pt x="37284" y="1696440"/>
                </a:lnTo>
                <a:lnTo>
                  <a:pt x="0" y="1696440"/>
                </a:lnTo>
                <a:lnTo>
                  <a:pt x="0" y="0"/>
                </a:lnTo>
                <a:close/>
              </a:path>
            </a:pathLst>
          </a:custGeom>
          <a:solidFill>
            <a:srgbClr val="4DB6AC"/>
          </a:solidFill>
          <a:ln/>
        </p:spPr>
      </p:sp>
      <p:sp>
        <p:nvSpPr>
          <p:cNvPr id="6" name="Text 4"/>
          <p:cNvSpPr/>
          <p:nvPr/>
        </p:nvSpPr>
        <p:spPr>
          <a:xfrm>
            <a:off x="521982" y="1267670"/>
            <a:ext cx="5462165" cy="820257"/>
          </a:xfrm>
          <a:prstGeom prst="rect">
            <a:avLst/>
          </a:prstGeom>
          <a:noFill/>
          <a:ln/>
        </p:spPr>
        <p:txBody>
          <a:bodyPr wrap="square" lIns="0" tIns="0" rIns="0" bIns="0" rtlCol="0" anchor="ctr"/>
          <a:lstStyle/>
          <a:p>
            <a:pPr>
              <a:lnSpc>
                <a:spcPct val="110000"/>
              </a:lnSpc>
            </a:pPr>
            <a:r>
              <a:rPr lang="en-US" sz="1174" b="1" dirty="0">
                <a:solidFill>
                  <a:srgbClr val="4DB6AC"/>
                </a:solidFill>
                <a:latin typeface="Quattrocento Sans" pitchFamily="34" charset="0"/>
                <a:ea typeface="Quattrocento Sans" pitchFamily="34" charset="-122"/>
                <a:cs typeface="Quattrocento Sans" pitchFamily="34" charset="-120"/>
              </a:rPr>
              <a:t>English:</a:t>
            </a:r>
            <a:r>
              <a:rPr lang="en-US" sz="1174" dirty="0">
                <a:solidFill>
                  <a:srgbClr val="ECEFF1"/>
                </a:solidFill>
                <a:latin typeface="Quattrocento Sans" pitchFamily="34" charset="0"/>
                <a:ea typeface="Quattrocento Sans" pitchFamily="34" charset="-122"/>
                <a:cs typeface="Quattrocento Sans" pitchFamily="34" charset="-120"/>
              </a:rPr>
              <a:t> Attention allows models to focus on relevant parts of the input when producing each part of the output. It computes a weighted sum of all input positions, where weights indicate importance. This enables direct modeling of relationships regardless of distance.</a:t>
            </a:r>
            <a:endParaRPr lang="en-US" sz="1600" dirty="0"/>
          </a:p>
        </p:txBody>
      </p:sp>
      <p:sp>
        <p:nvSpPr>
          <p:cNvPr id="7" name="Text 5"/>
          <p:cNvSpPr/>
          <p:nvPr/>
        </p:nvSpPr>
        <p:spPr>
          <a:xfrm>
            <a:off x="521982" y="2125211"/>
            <a:ext cx="5462165" cy="615193"/>
          </a:xfrm>
          <a:prstGeom prst="rect">
            <a:avLst/>
          </a:prstGeom>
          <a:noFill/>
          <a:ln/>
        </p:spPr>
        <p:txBody>
          <a:bodyPr wrap="square" lIns="0" tIns="0" rIns="0" bIns="0" rtlCol="0" anchor="ctr"/>
          <a:lstStyle/>
          <a:p>
            <a:pPr>
              <a:lnSpc>
                <a:spcPct val="110000"/>
              </a:lnSpc>
            </a:pPr>
            <a:r>
              <a:rPr lang="en-US" sz="1174" b="1" dirty="0">
                <a:solidFill>
                  <a:srgbClr val="FFD54F"/>
                </a:solidFill>
                <a:latin typeface="Quattrocento Sans" pitchFamily="34" charset="0"/>
                <a:ea typeface="Quattrocento Sans" pitchFamily="34" charset="-122"/>
                <a:cs typeface="Quattrocento Sans" pitchFamily="34" charset="-120"/>
              </a:rPr>
              <a:t>Shqip:</a:t>
            </a:r>
            <a:r>
              <a:rPr lang="en-US" sz="1174" dirty="0">
                <a:solidFill>
                  <a:srgbClr val="78909C"/>
                </a:solidFill>
                <a:latin typeface="Quattrocento Sans" pitchFamily="34" charset="0"/>
                <a:ea typeface="Quattrocento Sans" pitchFamily="34" charset="-122"/>
                <a:cs typeface="Quattrocento Sans" pitchFamily="34" charset="-120"/>
              </a:rPr>
              <a:t> Vëmendja i lejon modelet të fokusohen në pjesët relevante të hyrjes kur prodhojnë çdo pjesë të daljes. Ajo llogarit një shumë të peshuar të të gjitha pozicioneve të hyrjes, ku peshat tregojnë rëndësinë.</a:t>
            </a:r>
            <a:endParaRPr lang="en-US" sz="1600" dirty="0"/>
          </a:p>
        </p:txBody>
      </p:sp>
      <p:sp>
        <p:nvSpPr>
          <p:cNvPr id="8" name="Shape 6"/>
          <p:cNvSpPr/>
          <p:nvPr/>
        </p:nvSpPr>
        <p:spPr>
          <a:xfrm>
            <a:off x="377505" y="2931486"/>
            <a:ext cx="5639266" cy="1612550"/>
          </a:xfrm>
          <a:custGeom>
            <a:avLst/>
            <a:gdLst/>
            <a:ahLst/>
            <a:cxnLst/>
            <a:rect l="l" t="t" r="r" b="b"/>
            <a:pathLst>
              <a:path w="5639266" h="1612550">
                <a:moveTo>
                  <a:pt x="74564" y="0"/>
                </a:moveTo>
                <a:lnTo>
                  <a:pt x="5564702" y="0"/>
                </a:lnTo>
                <a:cubicBezTo>
                  <a:pt x="5605855" y="0"/>
                  <a:pt x="5639266" y="33411"/>
                  <a:pt x="5639266" y="74564"/>
                </a:cubicBezTo>
                <a:lnTo>
                  <a:pt x="5639266" y="1537986"/>
                </a:lnTo>
                <a:cubicBezTo>
                  <a:pt x="5639266" y="1579139"/>
                  <a:pt x="5605855" y="1612550"/>
                  <a:pt x="5564702" y="1612550"/>
                </a:cubicBezTo>
                <a:lnTo>
                  <a:pt x="74564" y="1612550"/>
                </a:lnTo>
                <a:cubicBezTo>
                  <a:pt x="33411" y="1612550"/>
                  <a:pt x="0" y="1579139"/>
                  <a:pt x="0" y="1537986"/>
                </a:cubicBezTo>
                <a:lnTo>
                  <a:pt x="0" y="74564"/>
                </a:lnTo>
                <a:cubicBezTo>
                  <a:pt x="0" y="33411"/>
                  <a:pt x="33411" y="0"/>
                  <a:pt x="74564"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94018" y="3048000"/>
            <a:ext cx="5490128" cy="260991"/>
          </a:xfrm>
          <a:prstGeom prst="rect">
            <a:avLst/>
          </a:prstGeom>
          <a:noFill/>
          <a:ln/>
        </p:spPr>
        <p:txBody>
          <a:bodyPr wrap="square" lIns="0" tIns="0" rIns="0" bIns="0" rtlCol="0" anchor="ctr"/>
          <a:lstStyle/>
          <a:p>
            <a:pPr>
              <a:lnSpc>
                <a:spcPct val="130000"/>
              </a:lnSpc>
            </a:pPr>
            <a:r>
              <a:rPr lang="en-US" sz="1321" b="1" dirty="0">
                <a:solidFill>
                  <a:srgbClr val="ECEFF1"/>
                </a:solidFill>
                <a:latin typeface="Liter" pitchFamily="34" charset="0"/>
                <a:ea typeface="Liter" pitchFamily="34" charset="-122"/>
                <a:cs typeface="Liter" pitchFamily="34" charset="-120"/>
              </a:rPr>
              <a:t>Scaled Dot-Product Attention</a:t>
            </a:r>
            <a:endParaRPr lang="en-US" sz="1600" dirty="0"/>
          </a:p>
        </p:txBody>
      </p:sp>
      <p:sp>
        <p:nvSpPr>
          <p:cNvPr id="10" name="Shape 8"/>
          <p:cNvSpPr/>
          <p:nvPr/>
        </p:nvSpPr>
        <p:spPr>
          <a:xfrm>
            <a:off x="494018" y="3383560"/>
            <a:ext cx="5406239" cy="484697"/>
          </a:xfrm>
          <a:custGeom>
            <a:avLst/>
            <a:gdLst/>
            <a:ahLst/>
            <a:cxnLst/>
            <a:rect l="l" t="t" r="r" b="b"/>
            <a:pathLst>
              <a:path w="5406239" h="484697">
                <a:moveTo>
                  <a:pt x="74571" y="0"/>
                </a:moveTo>
                <a:lnTo>
                  <a:pt x="5331668" y="0"/>
                </a:lnTo>
                <a:cubicBezTo>
                  <a:pt x="5372852" y="0"/>
                  <a:pt x="5406239" y="33386"/>
                  <a:pt x="5406239" y="74571"/>
                </a:cubicBezTo>
                <a:lnTo>
                  <a:pt x="5406239" y="410127"/>
                </a:lnTo>
                <a:cubicBezTo>
                  <a:pt x="5406239" y="451311"/>
                  <a:pt x="5372852" y="484697"/>
                  <a:pt x="5331668" y="484697"/>
                </a:cubicBezTo>
                <a:lnTo>
                  <a:pt x="74571" y="484697"/>
                </a:lnTo>
                <a:cubicBezTo>
                  <a:pt x="33386" y="484697"/>
                  <a:pt x="0" y="451311"/>
                  <a:pt x="0" y="410127"/>
                </a:cubicBezTo>
                <a:lnTo>
                  <a:pt x="0" y="74571"/>
                </a:lnTo>
                <a:cubicBezTo>
                  <a:pt x="0" y="33414"/>
                  <a:pt x="33414" y="0"/>
                  <a:pt x="74571" y="0"/>
                </a:cubicBezTo>
                <a:close/>
              </a:path>
            </a:pathLst>
          </a:custGeom>
          <a:solidFill>
            <a:srgbClr val="1A1D21"/>
          </a:solidFill>
          <a:ln/>
        </p:spPr>
      </p:sp>
      <p:sp>
        <p:nvSpPr>
          <p:cNvPr id="11" name="Text 9"/>
          <p:cNvSpPr/>
          <p:nvPr/>
        </p:nvSpPr>
        <p:spPr>
          <a:xfrm>
            <a:off x="559266" y="3495413"/>
            <a:ext cx="5275743" cy="260991"/>
          </a:xfrm>
          <a:prstGeom prst="rect">
            <a:avLst/>
          </a:prstGeom>
          <a:noFill/>
          <a:ln/>
        </p:spPr>
        <p:txBody>
          <a:bodyPr wrap="square" lIns="0" tIns="0" rIns="0" bIns="0" rtlCol="0" anchor="ctr"/>
          <a:lstStyle/>
          <a:p>
            <a:pPr algn="ctr">
              <a:lnSpc>
                <a:spcPct val="120000"/>
              </a:lnSpc>
            </a:pPr>
            <a:r>
              <a:rPr lang="en-US" sz="1468" dirty="0">
                <a:solidFill>
                  <a:srgbClr val="FFD54F"/>
                </a:solidFill>
                <a:latin typeface="Noto Sans SC" pitchFamily="34" charset="0"/>
                <a:ea typeface="Noto Sans SC" pitchFamily="34" charset="-122"/>
                <a:cs typeface="Noto Sans SC" pitchFamily="34" charset="-120"/>
              </a:rPr>
              <a:t>Attention(Q,K,V) = softmax(QKᵀ/√dₖ)V</a:t>
            </a:r>
            <a:endParaRPr lang="en-US" sz="1600" dirty="0"/>
          </a:p>
        </p:txBody>
      </p:sp>
      <p:sp>
        <p:nvSpPr>
          <p:cNvPr id="12" name="Shape 10"/>
          <p:cNvSpPr/>
          <p:nvPr/>
        </p:nvSpPr>
        <p:spPr>
          <a:xfrm>
            <a:off x="494018" y="3942826"/>
            <a:ext cx="1752367" cy="484697"/>
          </a:xfrm>
          <a:custGeom>
            <a:avLst/>
            <a:gdLst/>
            <a:ahLst/>
            <a:cxnLst/>
            <a:rect l="l" t="t" r="r" b="b"/>
            <a:pathLst>
              <a:path w="1752367" h="484697">
                <a:moveTo>
                  <a:pt x="37283" y="0"/>
                </a:moveTo>
                <a:lnTo>
                  <a:pt x="1715084" y="0"/>
                </a:lnTo>
                <a:cubicBezTo>
                  <a:pt x="1735675" y="0"/>
                  <a:pt x="1752367" y="16692"/>
                  <a:pt x="1752367" y="37283"/>
                </a:cubicBezTo>
                <a:lnTo>
                  <a:pt x="1752367" y="447414"/>
                </a:lnTo>
                <a:cubicBezTo>
                  <a:pt x="1752367" y="468005"/>
                  <a:pt x="1735675" y="484697"/>
                  <a:pt x="1715084" y="484697"/>
                </a:cubicBezTo>
                <a:lnTo>
                  <a:pt x="37283" y="484697"/>
                </a:lnTo>
                <a:cubicBezTo>
                  <a:pt x="16692" y="484697"/>
                  <a:pt x="0" y="468005"/>
                  <a:pt x="0" y="447414"/>
                </a:cubicBezTo>
                <a:lnTo>
                  <a:pt x="0" y="37283"/>
                </a:lnTo>
                <a:cubicBezTo>
                  <a:pt x="0" y="16706"/>
                  <a:pt x="16706" y="0"/>
                  <a:pt x="37283" y="0"/>
                </a:cubicBezTo>
                <a:close/>
              </a:path>
            </a:pathLst>
          </a:custGeom>
          <a:solidFill>
            <a:srgbClr val="4DB6AC">
              <a:alpha val="10196"/>
            </a:srgbClr>
          </a:solidFill>
          <a:ln/>
        </p:spPr>
      </p:sp>
      <p:sp>
        <p:nvSpPr>
          <p:cNvPr id="13" name="Text 11"/>
          <p:cNvSpPr/>
          <p:nvPr/>
        </p:nvSpPr>
        <p:spPr>
          <a:xfrm>
            <a:off x="535963" y="4017394"/>
            <a:ext cx="1668477" cy="186422"/>
          </a:xfrm>
          <a:prstGeom prst="rect">
            <a:avLst/>
          </a:prstGeom>
          <a:noFill/>
          <a:ln/>
        </p:spPr>
        <p:txBody>
          <a:bodyPr wrap="square" lIns="0" tIns="0" rIns="0" bIns="0" rtlCol="0" anchor="ctr"/>
          <a:lstStyle/>
          <a:p>
            <a:pPr algn="ctr">
              <a:lnSpc>
                <a:spcPct val="120000"/>
              </a:lnSpc>
            </a:pPr>
            <a:r>
              <a:rPr lang="en-US" sz="1028" b="1" dirty="0">
                <a:solidFill>
                  <a:srgbClr val="4DB6AC"/>
                </a:solidFill>
                <a:latin typeface="Quattrocento Sans" pitchFamily="34" charset="0"/>
                <a:ea typeface="Quattrocento Sans" pitchFamily="34" charset="-122"/>
                <a:cs typeface="Quattrocento Sans" pitchFamily="34" charset="-120"/>
              </a:rPr>
              <a:t>Q (Query)</a:t>
            </a:r>
            <a:endParaRPr lang="en-US" sz="1600" dirty="0"/>
          </a:p>
        </p:txBody>
      </p:sp>
      <p:sp>
        <p:nvSpPr>
          <p:cNvPr id="14" name="Text 12"/>
          <p:cNvSpPr/>
          <p:nvPr/>
        </p:nvSpPr>
        <p:spPr>
          <a:xfrm>
            <a:off x="540624" y="4203817"/>
            <a:ext cx="1659156" cy="149138"/>
          </a:xfrm>
          <a:prstGeom prst="rect">
            <a:avLst/>
          </a:prstGeom>
          <a:noFill/>
          <a:ln/>
        </p:spPr>
        <p:txBody>
          <a:bodyPr wrap="square" lIns="0" tIns="0" rIns="0" bIns="0" rtlCol="0" anchor="ctr"/>
          <a:lstStyle/>
          <a:p>
            <a:pPr algn="ctr">
              <a:lnSpc>
                <a:spcPct val="110000"/>
              </a:lnSpc>
            </a:pPr>
            <a:r>
              <a:rPr lang="en-US" sz="881" dirty="0">
                <a:solidFill>
                  <a:srgbClr val="ECEFF1"/>
                </a:solidFill>
                <a:latin typeface="Quattrocento Sans" pitchFamily="34" charset="0"/>
                <a:ea typeface="Quattrocento Sans" pitchFamily="34" charset="-122"/>
                <a:cs typeface="Quattrocento Sans" pitchFamily="34" charset="-120"/>
              </a:rPr>
              <a:t>What we want</a:t>
            </a:r>
            <a:endParaRPr lang="en-US" sz="1600" dirty="0"/>
          </a:p>
        </p:txBody>
      </p:sp>
      <p:sp>
        <p:nvSpPr>
          <p:cNvPr id="15" name="Shape 13"/>
          <p:cNvSpPr/>
          <p:nvPr/>
        </p:nvSpPr>
        <p:spPr>
          <a:xfrm>
            <a:off x="2321537" y="3942826"/>
            <a:ext cx="1752367" cy="484697"/>
          </a:xfrm>
          <a:custGeom>
            <a:avLst/>
            <a:gdLst/>
            <a:ahLst/>
            <a:cxnLst/>
            <a:rect l="l" t="t" r="r" b="b"/>
            <a:pathLst>
              <a:path w="1752367" h="484697">
                <a:moveTo>
                  <a:pt x="37283" y="0"/>
                </a:moveTo>
                <a:lnTo>
                  <a:pt x="1715084" y="0"/>
                </a:lnTo>
                <a:cubicBezTo>
                  <a:pt x="1735675" y="0"/>
                  <a:pt x="1752367" y="16692"/>
                  <a:pt x="1752367" y="37283"/>
                </a:cubicBezTo>
                <a:lnTo>
                  <a:pt x="1752367" y="447414"/>
                </a:lnTo>
                <a:cubicBezTo>
                  <a:pt x="1752367" y="468005"/>
                  <a:pt x="1735675" y="484697"/>
                  <a:pt x="1715084" y="484697"/>
                </a:cubicBezTo>
                <a:lnTo>
                  <a:pt x="37283" y="484697"/>
                </a:lnTo>
                <a:cubicBezTo>
                  <a:pt x="16692" y="484697"/>
                  <a:pt x="0" y="468005"/>
                  <a:pt x="0" y="447414"/>
                </a:cubicBezTo>
                <a:lnTo>
                  <a:pt x="0" y="37283"/>
                </a:lnTo>
                <a:cubicBezTo>
                  <a:pt x="0" y="16706"/>
                  <a:pt x="16706" y="0"/>
                  <a:pt x="37283" y="0"/>
                </a:cubicBezTo>
                <a:close/>
              </a:path>
            </a:pathLst>
          </a:custGeom>
          <a:solidFill>
            <a:srgbClr val="FFD54F">
              <a:alpha val="10196"/>
            </a:srgbClr>
          </a:solidFill>
          <a:ln/>
        </p:spPr>
      </p:sp>
      <p:sp>
        <p:nvSpPr>
          <p:cNvPr id="16" name="Text 14"/>
          <p:cNvSpPr/>
          <p:nvPr/>
        </p:nvSpPr>
        <p:spPr>
          <a:xfrm>
            <a:off x="2363482" y="4017394"/>
            <a:ext cx="1668477" cy="186422"/>
          </a:xfrm>
          <a:prstGeom prst="rect">
            <a:avLst/>
          </a:prstGeom>
          <a:noFill/>
          <a:ln/>
        </p:spPr>
        <p:txBody>
          <a:bodyPr wrap="square" lIns="0" tIns="0" rIns="0" bIns="0" rtlCol="0" anchor="ctr"/>
          <a:lstStyle/>
          <a:p>
            <a:pPr algn="ctr">
              <a:lnSpc>
                <a:spcPct val="120000"/>
              </a:lnSpc>
            </a:pPr>
            <a:r>
              <a:rPr lang="en-US" sz="1028" b="1" dirty="0">
                <a:solidFill>
                  <a:srgbClr val="FFD54F"/>
                </a:solidFill>
                <a:latin typeface="Quattrocento Sans" pitchFamily="34" charset="0"/>
                <a:ea typeface="Quattrocento Sans" pitchFamily="34" charset="-122"/>
                <a:cs typeface="Quattrocento Sans" pitchFamily="34" charset="-120"/>
              </a:rPr>
              <a:t>K (Key)</a:t>
            </a:r>
            <a:endParaRPr lang="en-US" sz="1600" dirty="0"/>
          </a:p>
        </p:txBody>
      </p:sp>
      <p:sp>
        <p:nvSpPr>
          <p:cNvPr id="17" name="Text 15"/>
          <p:cNvSpPr/>
          <p:nvPr/>
        </p:nvSpPr>
        <p:spPr>
          <a:xfrm>
            <a:off x="2368142" y="4203817"/>
            <a:ext cx="1659156" cy="149138"/>
          </a:xfrm>
          <a:prstGeom prst="rect">
            <a:avLst/>
          </a:prstGeom>
          <a:noFill/>
          <a:ln/>
        </p:spPr>
        <p:txBody>
          <a:bodyPr wrap="square" lIns="0" tIns="0" rIns="0" bIns="0" rtlCol="0" anchor="ctr"/>
          <a:lstStyle/>
          <a:p>
            <a:pPr algn="ctr">
              <a:lnSpc>
                <a:spcPct val="110000"/>
              </a:lnSpc>
            </a:pPr>
            <a:r>
              <a:rPr lang="en-US" sz="881" dirty="0">
                <a:solidFill>
                  <a:srgbClr val="ECEFF1"/>
                </a:solidFill>
                <a:latin typeface="Quattrocento Sans" pitchFamily="34" charset="0"/>
                <a:ea typeface="Quattrocento Sans" pitchFamily="34" charset="-122"/>
                <a:cs typeface="Quattrocento Sans" pitchFamily="34" charset="-120"/>
              </a:rPr>
              <a:t>What we have</a:t>
            </a:r>
            <a:endParaRPr lang="en-US" sz="1600" dirty="0"/>
          </a:p>
        </p:txBody>
      </p:sp>
      <p:sp>
        <p:nvSpPr>
          <p:cNvPr id="18" name="Shape 16"/>
          <p:cNvSpPr/>
          <p:nvPr/>
        </p:nvSpPr>
        <p:spPr>
          <a:xfrm>
            <a:off x="4149201" y="3942826"/>
            <a:ext cx="1752367" cy="484697"/>
          </a:xfrm>
          <a:custGeom>
            <a:avLst/>
            <a:gdLst/>
            <a:ahLst/>
            <a:cxnLst/>
            <a:rect l="l" t="t" r="r" b="b"/>
            <a:pathLst>
              <a:path w="1752367" h="484697">
                <a:moveTo>
                  <a:pt x="37283" y="0"/>
                </a:moveTo>
                <a:lnTo>
                  <a:pt x="1715084" y="0"/>
                </a:lnTo>
                <a:cubicBezTo>
                  <a:pt x="1735675" y="0"/>
                  <a:pt x="1752367" y="16692"/>
                  <a:pt x="1752367" y="37283"/>
                </a:cubicBezTo>
                <a:lnTo>
                  <a:pt x="1752367" y="447414"/>
                </a:lnTo>
                <a:cubicBezTo>
                  <a:pt x="1752367" y="468005"/>
                  <a:pt x="1735675" y="484697"/>
                  <a:pt x="1715084" y="484697"/>
                </a:cubicBezTo>
                <a:lnTo>
                  <a:pt x="37283" y="484697"/>
                </a:lnTo>
                <a:cubicBezTo>
                  <a:pt x="16692" y="484697"/>
                  <a:pt x="0" y="468005"/>
                  <a:pt x="0" y="447414"/>
                </a:cubicBezTo>
                <a:lnTo>
                  <a:pt x="0" y="37283"/>
                </a:lnTo>
                <a:cubicBezTo>
                  <a:pt x="0" y="16706"/>
                  <a:pt x="16706" y="0"/>
                  <a:pt x="37283" y="0"/>
                </a:cubicBezTo>
                <a:close/>
              </a:path>
            </a:pathLst>
          </a:custGeom>
          <a:solidFill>
            <a:srgbClr val="4DB6AC">
              <a:alpha val="10196"/>
            </a:srgbClr>
          </a:solidFill>
          <a:ln/>
        </p:spPr>
      </p:sp>
      <p:sp>
        <p:nvSpPr>
          <p:cNvPr id="19" name="Text 17"/>
          <p:cNvSpPr/>
          <p:nvPr/>
        </p:nvSpPr>
        <p:spPr>
          <a:xfrm>
            <a:off x="4191146" y="4017394"/>
            <a:ext cx="1668477" cy="186422"/>
          </a:xfrm>
          <a:prstGeom prst="rect">
            <a:avLst/>
          </a:prstGeom>
          <a:noFill/>
          <a:ln/>
        </p:spPr>
        <p:txBody>
          <a:bodyPr wrap="square" lIns="0" tIns="0" rIns="0" bIns="0" rtlCol="0" anchor="ctr"/>
          <a:lstStyle/>
          <a:p>
            <a:pPr algn="ctr">
              <a:lnSpc>
                <a:spcPct val="120000"/>
              </a:lnSpc>
            </a:pPr>
            <a:r>
              <a:rPr lang="en-US" sz="1028" b="1" dirty="0">
                <a:solidFill>
                  <a:srgbClr val="4DB6AC"/>
                </a:solidFill>
                <a:latin typeface="Quattrocento Sans" pitchFamily="34" charset="0"/>
                <a:ea typeface="Quattrocento Sans" pitchFamily="34" charset="-122"/>
                <a:cs typeface="Quattrocento Sans" pitchFamily="34" charset="-120"/>
              </a:rPr>
              <a:t>V (Value)</a:t>
            </a:r>
            <a:endParaRPr lang="en-US" sz="1600" dirty="0"/>
          </a:p>
        </p:txBody>
      </p:sp>
      <p:sp>
        <p:nvSpPr>
          <p:cNvPr id="20" name="Text 18"/>
          <p:cNvSpPr/>
          <p:nvPr/>
        </p:nvSpPr>
        <p:spPr>
          <a:xfrm>
            <a:off x="4195806" y="4203817"/>
            <a:ext cx="1659156" cy="149138"/>
          </a:xfrm>
          <a:prstGeom prst="rect">
            <a:avLst/>
          </a:prstGeom>
          <a:noFill/>
          <a:ln/>
        </p:spPr>
        <p:txBody>
          <a:bodyPr wrap="square" lIns="0" tIns="0" rIns="0" bIns="0" rtlCol="0" anchor="ctr"/>
          <a:lstStyle/>
          <a:p>
            <a:pPr algn="ctr">
              <a:lnSpc>
                <a:spcPct val="110000"/>
              </a:lnSpc>
            </a:pPr>
            <a:r>
              <a:rPr lang="en-US" sz="881" dirty="0">
                <a:solidFill>
                  <a:srgbClr val="ECEFF1"/>
                </a:solidFill>
                <a:latin typeface="Quattrocento Sans" pitchFamily="34" charset="0"/>
                <a:ea typeface="Quattrocento Sans" pitchFamily="34" charset="-122"/>
                <a:cs typeface="Quattrocento Sans" pitchFamily="34" charset="-120"/>
              </a:rPr>
              <a:t>Actual content</a:t>
            </a:r>
            <a:endParaRPr lang="en-US" sz="1600" dirty="0"/>
          </a:p>
        </p:txBody>
      </p:sp>
      <p:sp>
        <p:nvSpPr>
          <p:cNvPr id="21" name="Shape 19"/>
          <p:cNvSpPr/>
          <p:nvPr/>
        </p:nvSpPr>
        <p:spPr>
          <a:xfrm>
            <a:off x="372844" y="4623266"/>
            <a:ext cx="5648587" cy="1304954"/>
          </a:xfrm>
          <a:custGeom>
            <a:avLst/>
            <a:gdLst/>
            <a:ahLst/>
            <a:cxnLst/>
            <a:rect l="l" t="t" r="r" b="b"/>
            <a:pathLst>
              <a:path w="5648587" h="1304954">
                <a:moveTo>
                  <a:pt x="74565" y="0"/>
                </a:moveTo>
                <a:lnTo>
                  <a:pt x="5574022" y="0"/>
                </a:lnTo>
                <a:cubicBezTo>
                  <a:pt x="5615203" y="0"/>
                  <a:pt x="5648587" y="33384"/>
                  <a:pt x="5648587" y="74565"/>
                </a:cubicBezTo>
                <a:lnTo>
                  <a:pt x="5648587" y="1230389"/>
                </a:lnTo>
                <a:cubicBezTo>
                  <a:pt x="5648587" y="1271570"/>
                  <a:pt x="5615203" y="1304954"/>
                  <a:pt x="5574022" y="1304954"/>
                </a:cubicBezTo>
                <a:lnTo>
                  <a:pt x="74565" y="1304954"/>
                </a:lnTo>
                <a:cubicBezTo>
                  <a:pt x="33384" y="1304954"/>
                  <a:pt x="0" y="1271570"/>
                  <a:pt x="0" y="1230389"/>
                </a:cubicBezTo>
                <a:lnTo>
                  <a:pt x="0" y="74565"/>
                </a:lnTo>
                <a:cubicBezTo>
                  <a:pt x="0" y="33411"/>
                  <a:pt x="33411" y="0"/>
                  <a:pt x="74565" y="0"/>
                </a:cubicBezTo>
                <a:close/>
              </a:path>
            </a:pathLst>
          </a:custGeom>
          <a:solidFill>
            <a:srgbClr val="78909C">
              <a:alpha val="10196"/>
            </a:srgbClr>
          </a:solidFill>
          <a:ln/>
        </p:spPr>
      </p:sp>
      <p:sp>
        <p:nvSpPr>
          <p:cNvPr id="22" name="Text 20"/>
          <p:cNvSpPr/>
          <p:nvPr/>
        </p:nvSpPr>
        <p:spPr>
          <a:xfrm>
            <a:off x="484697" y="4735119"/>
            <a:ext cx="5499450" cy="223706"/>
          </a:xfrm>
          <a:prstGeom prst="rect">
            <a:avLst/>
          </a:prstGeom>
          <a:noFill/>
          <a:ln/>
        </p:spPr>
        <p:txBody>
          <a:bodyPr wrap="square" lIns="0" tIns="0" rIns="0" bIns="0" rtlCol="0" anchor="ctr"/>
          <a:lstStyle/>
          <a:p>
            <a:pPr>
              <a:lnSpc>
                <a:spcPct val="130000"/>
              </a:lnSpc>
            </a:pPr>
            <a:r>
              <a:rPr lang="en-US" sz="1174" b="1" dirty="0">
                <a:solidFill>
                  <a:srgbClr val="ECEFF1"/>
                </a:solidFill>
                <a:latin typeface="Liter" pitchFamily="34" charset="0"/>
                <a:ea typeface="Liter" pitchFamily="34" charset="-122"/>
                <a:cs typeface="Liter" pitchFamily="34" charset="-120"/>
              </a:rPr>
              <a:t>Multi-Head Attention</a:t>
            </a:r>
            <a:endParaRPr lang="en-US" sz="1600" dirty="0"/>
          </a:p>
        </p:txBody>
      </p:sp>
      <p:sp>
        <p:nvSpPr>
          <p:cNvPr id="23" name="Text 21"/>
          <p:cNvSpPr/>
          <p:nvPr/>
        </p:nvSpPr>
        <p:spPr>
          <a:xfrm>
            <a:off x="484697" y="5033394"/>
            <a:ext cx="5490128" cy="372844"/>
          </a:xfrm>
          <a:prstGeom prst="rect">
            <a:avLst/>
          </a:prstGeom>
          <a:noFill/>
          <a:ln/>
        </p:spPr>
        <p:txBody>
          <a:bodyPr wrap="square" lIns="0" tIns="0" rIns="0" bIns="0" rtlCol="0" anchor="ctr"/>
          <a:lstStyle/>
          <a:p>
            <a:pPr>
              <a:lnSpc>
                <a:spcPct val="120000"/>
              </a:lnSpc>
            </a:pPr>
            <a:r>
              <a:rPr lang="en-US" sz="1028" dirty="0">
                <a:solidFill>
                  <a:srgbClr val="ECEFF1"/>
                </a:solidFill>
                <a:latin typeface="Quattrocento Sans" pitchFamily="34" charset="0"/>
                <a:ea typeface="Quattrocento Sans" pitchFamily="34" charset="-122"/>
                <a:cs typeface="Quattrocento Sans" pitchFamily="34" charset="-120"/>
              </a:rPr>
              <a:t>Instead of single attention, use multiple attention heads in parallel, each learning different types of relationships.</a:t>
            </a:r>
            <a:endParaRPr lang="en-US" sz="1600" dirty="0"/>
          </a:p>
        </p:txBody>
      </p:sp>
      <p:sp>
        <p:nvSpPr>
          <p:cNvPr id="24" name="Shape 22"/>
          <p:cNvSpPr/>
          <p:nvPr/>
        </p:nvSpPr>
        <p:spPr>
          <a:xfrm>
            <a:off x="484697" y="5480807"/>
            <a:ext cx="5424881" cy="335560"/>
          </a:xfrm>
          <a:custGeom>
            <a:avLst/>
            <a:gdLst/>
            <a:ahLst/>
            <a:cxnLst/>
            <a:rect l="l" t="t" r="r" b="b"/>
            <a:pathLst>
              <a:path w="5424881" h="335560">
                <a:moveTo>
                  <a:pt x="37284" y="0"/>
                </a:moveTo>
                <a:lnTo>
                  <a:pt x="5387597" y="0"/>
                </a:lnTo>
                <a:cubicBezTo>
                  <a:pt x="5408188" y="0"/>
                  <a:pt x="5424881" y="16693"/>
                  <a:pt x="5424881" y="37284"/>
                </a:cubicBezTo>
                <a:lnTo>
                  <a:pt x="5424881" y="298276"/>
                </a:lnTo>
                <a:cubicBezTo>
                  <a:pt x="5424881" y="318867"/>
                  <a:pt x="5408188" y="335560"/>
                  <a:pt x="5387597" y="335560"/>
                </a:cubicBezTo>
                <a:lnTo>
                  <a:pt x="37284" y="335560"/>
                </a:lnTo>
                <a:cubicBezTo>
                  <a:pt x="16706" y="335560"/>
                  <a:pt x="0" y="318853"/>
                  <a:pt x="0" y="298276"/>
                </a:cubicBezTo>
                <a:lnTo>
                  <a:pt x="0" y="37284"/>
                </a:lnTo>
                <a:cubicBezTo>
                  <a:pt x="0" y="16693"/>
                  <a:pt x="16693" y="0"/>
                  <a:pt x="37284" y="0"/>
                </a:cubicBezTo>
                <a:close/>
              </a:path>
            </a:pathLst>
          </a:custGeom>
          <a:solidFill>
            <a:srgbClr val="1A1D21"/>
          </a:solidFill>
          <a:ln/>
        </p:spPr>
      </p:sp>
      <p:sp>
        <p:nvSpPr>
          <p:cNvPr id="25" name="Text 23"/>
          <p:cNvSpPr/>
          <p:nvPr/>
        </p:nvSpPr>
        <p:spPr>
          <a:xfrm>
            <a:off x="526642" y="5555376"/>
            <a:ext cx="5340991" cy="186422"/>
          </a:xfrm>
          <a:prstGeom prst="rect">
            <a:avLst/>
          </a:prstGeom>
          <a:noFill/>
          <a:ln/>
        </p:spPr>
        <p:txBody>
          <a:bodyPr wrap="square" lIns="0" tIns="0" rIns="0" bIns="0" rtlCol="0" anchor="ctr"/>
          <a:lstStyle/>
          <a:p>
            <a:pPr algn="ctr">
              <a:lnSpc>
                <a:spcPct val="120000"/>
              </a:lnSpc>
            </a:pPr>
            <a:r>
              <a:rPr lang="en-US" sz="1028" dirty="0">
                <a:solidFill>
                  <a:srgbClr val="FFD54F"/>
                </a:solidFill>
                <a:latin typeface="MiSans" pitchFamily="34" charset="0"/>
                <a:ea typeface="MiSans" pitchFamily="34" charset="-122"/>
                <a:cs typeface="MiSans" pitchFamily="34" charset="-120"/>
              </a:rPr>
              <a:t>MultiHead = Concat(head₁,...,headₕ)Wᴼ</a:t>
            </a:r>
            <a:endParaRPr lang="en-US" sz="1600" dirty="0"/>
          </a:p>
        </p:txBody>
      </p:sp>
      <p:sp>
        <p:nvSpPr>
          <p:cNvPr id="26" name="Shape 24"/>
          <p:cNvSpPr/>
          <p:nvPr/>
        </p:nvSpPr>
        <p:spPr>
          <a:xfrm>
            <a:off x="6172608" y="1155817"/>
            <a:ext cx="5648587" cy="3467450"/>
          </a:xfrm>
          <a:custGeom>
            <a:avLst/>
            <a:gdLst/>
            <a:ahLst/>
            <a:cxnLst/>
            <a:rect l="l" t="t" r="r" b="b"/>
            <a:pathLst>
              <a:path w="5648587" h="3467450">
                <a:moveTo>
                  <a:pt x="74585" y="0"/>
                </a:moveTo>
                <a:lnTo>
                  <a:pt x="5574002" y="0"/>
                </a:lnTo>
                <a:cubicBezTo>
                  <a:pt x="5615194" y="0"/>
                  <a:pt x="5648587" y="33393"/>
                  <a:pt x="5648587" y="74585"/>
                </a:cubicBezTo>
                <a:lnTo>
                  <a:pt x="5648587" y="3392865"/>
                </a:lnTo>
                <a:cubicBezTo>
                  <a:pt x="5648587" y="3434057"/>
                  <a:pt x="5615194" y="3467450"/>
                  <a:pt x="5574002" y="3467450"/>
                </a:cubicBezTo>
                <a:lnTo>
                  <a:pt x="74585" y="3467450"/>
                </a:lnTo>
                <a:cubicBezTo>
                  <a:pt x="33393" y="3467450"/>
                  <a:pt x="0" y="3434057"/>
                  <a:pt x="0" y="3392865"/>
                </a:cubicBezTo>
                <a:lnTo>
                  <a:pt x="0" y="74585"/>
                </a:lnTo>
                <a:cubicBezTo>
                  <a:pt x="0" y="33420"/>
                  <a:pt x="33420" y="0"/>
                  <a:pt x="74585" y="0"/>
                </a:cubicBezTo>
                <a:close/>
              </a:path>
            </a:pathLst>
          </a:custGeom>
          <a:solidFill>
            <a:srgbClr val="4DB6AC">
              <a:alpha val="10196"/>
            </a:srgbClr>
          </a:solidFill>
          <a:ln/>
        </p:spPr>
      </p:sp>
      <p:sp>
        <p:nvSpPr>
          <p:cNvPr id="27" name="Text 25"/>
          <p:cNvSpPr/>
          <p:nvPr/>
        </p:nvSpPr>
        <p:spPr>
          <a:xfrm>
            <a:off x="6242516" y="1267670"/>
            <a:ext cx="5508771" cy="260991"/>
          </a:xfrm>
          <a:prstGeom prst="rect">
            <a:avLst/>
          </a:prstGeom>
          <a:noFill/>
          <a:ln/>
        </p:spPr>
        <p:txBody>
          <a:bodyPr wrap="square" lIns="0" tIns="0" rIns="0" bIns="0" rtlCol="0" anchor="ctr"/>
          <a:lstStyle/>
          <a:p>
            <a:pPr algn="ctr">
              <a:lnSpc>
                <a:spcPct val="130000"/>
              </a:lnSpc>
            </a:pPr>
            <a:r>
              <a:rPr lang="en-US" sz="1321" b="1" dirty="0">
                <a:solidFill>
                  <a:srgbClr val="ECEFF1"/>
                </a:solidFill>
                <a:latin typeface="Liter" pitchFamily="34" charset="0"/>
                <a:ea typeface="Liter" pitchFamily="34" charset="-122"/>
                <a:cs typeface="Liter" pitchFamily="34" charset="-120"/>
              </a:rPr>
              <a:t>Self-Attention Visualization</a:t>
            </a:r>
            <a:endParaRPr lang="en-US" sz="1600" dirty="0"/>
          </a:p>
        </p:txBody>
      </p:sp>
      <p:pic>
        <p:nvPicPr>
          <p:cNvPr id="28" name="Image 0" descr="https://kimi-web-img.moonshot.cn/img/jalammar.github.io/886289b4ec9037558dc395a1811dcd097f998677.png"/>
          <p:cNvPicPr>
            <a:picLocks noChangeAspect="1"/>
          </p:cNvPicPr>
          <p:nvPr/>
        </p:nvPicPr>
        <p:blipFill>
          <a:blip r:embed="rId3"/>
          <a:srcRect t="33" b="33"/>
          <a:stretch/>
        </p:blipFill>
        <p:spPr>
          <a:xfrm>
            <a:off x="7661217" y="1826936"/>
            <a:ext cx="2656514" cy="2591266"/>
          </a:xfrm>
          <a:prstGeom prst="roundRect">
            <a:avLst>
              <a:gd name="adj" fmla="val 2878"/>
            </a:avLst>
          </a:prstGeom>
        </p:spPr>
      </p:pic>
      <p:sp>
        <p:nvSpPr>
          <p:cNvPr id="29" name="Text 26"/>
          <p:cNvSpPr/>
          <p:nvPr/>
        </p:nvSpPr>
        <p:spPr>
          <a:xfrm>
            <a:off x="7465474" y="4511413"/>
            <a:ext cx="3066642" cy="186422"/>
          </a:xfrm>
          <a:prstGeom prst="rect">
            <a:avLst/>
          </a:prstGeom>
          <a:noFill/>
          <a:ln/>
        </p:spPr>
        <p:txBody>
          <a:bodyPr wrap="square" lIns="0" tIns="0" rIns="0" bIns="0" rtlCol="0" anchor="ctr"/>
          <a:lstStyle/>
          <a:p>
            <a:pPr algn="ctr">
              <a:lnSpc>
                <a:spcPct val="120000"/>
              </a:lnSpc>
            </a:pPr>
            <a:r>
              <a:rPr lang="en-US" sz="1028" dirty="0">
                <a:solidFill>
                  <a:srgbClr val="78909C"/>
                </a:solidFill>
                <a:latin typeface="Quattrocento Sans" pitchFamily="34" charset="0"/>
                <a:ea typeface="Quattrocento Sans" pitchFamily="34" charset="-122"/>
                <a:cs typeface="Quattrocento Sans" pitchFamily="34" charset="-120"/>
              </a:rPr>
              <a:t>Each word attends to all other words in the sequence</a:t>
            </a:r>
            <a:endParaRPr lang="en-US" sz="1600" dirty="0"/>
          </a:p>
        </p:txBody>
      </p:sp>
      <p:sp>
        <p:nvSpPr>
          <p:cNvPr id="30" name="Shape 27"/>
          <p:cNvSpPr/>
          <p:nvPr/>
        </p:nvSpPr>
        <p:spPr>
          <a:xfrm>
            <a:off x="6177268" y="4702495"/>
            <a:ext cx="5639266" cy="1165138"/>
          </a:xfrm>
          <a:custGeom>
            <a:avLst/>
            <a:gdLst/>
            <a:ahLst/>
            <a:cxnLst/>
            <a:rect l="l" t="t" r="r" b="b"/>
            <a:pathLst>
              <a:path w="5639266" h="1165138">
                <a:moveTo>
                  <a:pt x="74569" y="0"/>
                </a:moveTo>
                <a:lnTo>
                  <a:pt x="5564697" y="0"/>
                </a:lnTo>
                <a:cubicBezTo>
                  <a:pt x="5605880" y="0"/>
                  <a:pt x="5639266" y="33386"/>
                  <a:pt x="5639266" y="74569"/>
                </a:cubicBezTo>
                <a:lnTo>
                  <a:pt x="5639266" y="1090569"/>
                </a:lnTo>
                <a:cubicBezTo>
                  <a:pt x="5639266" y="1131724"/>
                  <a:pt x="5605853" y="1165138"/>
                  <a:pt x="5564697" y="1165138"/>
                </a:cubicBezTo>
                <a:lnTo>
                  <a:pt x="74569" y="1165138"/>
                </a:lnTo>
                <a:cubicBezTo>
                  <a:pt x="33386" y="1165138"/>
                  <a:pt x="0" y="1131752"/>
                  <a:pt x="0" y="1090569"/>
                </a:cubicBezTo>
                <a:lnTo>
                  <a:pt x="0" y="74569"/>
                </a:lnTo>
                <a:cubicBezTo>
                  <a:pt x="0" y="33386"/>
                  <a:pt x="33386" y="0"/>
                  <a:pt x="74569" y="0"/>
                </a:cubicBezTo>
                <a:close/>
              </a:path>
            </a:pathLst>
          </a:custGeom>
          <a:solidFill>
            <a:srgbClr val="FFD54F">
              <a:alpha val="10196"/>
            </a:srgbClr>
          </a:solidFill>
          <a:ln w="12700">
            <a:solidFill>
              <a:srgbClr val="FFD54F">
                <a:alpha val="30196"/>
              </a:srgbClr>
            </a:solidFill>
            <a:prstDash val="solid"/>
          </a:ln>
        </p:spPr>
      </p:sp>
      <p:sp>
        <p:nvSpPr>
          <p:cNvPr id="31" name="Text 28"/>
          <p:cNvSpPr/>
          <p:nvPr/>
        </p:nvSpPr>
        <p:spPr>
          <a:xfrm>
            <a:off x="6293782" y="4819009"/>
            <a:ext cx="5480807" cy="223706"/>
          </a:xfrm>
          <a:prstGeom prst="rect">
            <a:avLst/>
          </a:prstGeom>
          <a:noFill/>
          <a:ln/>
        </p:spPr>
        <p:txBody>
          <a:bodyPr wrap="square" lIns="0" tIns="0" rIns="0" bIns="0" rtlCol="0" anchor="ctr"/>
          <a:lstStyle/>
          <a:p>
            <a:pPr>
              <a:lnSpc>
                <a:spcPct val="130000"/>
              </a:lnSpc>
            </a:pPr>
            <a:r>
              <a:rPr lang="en-US" sz="1174" b="1" dirty="0">
                <a:solidFill>
                  <a:srgbClr val="ECEFF1"/>
                </a:solidFill>
                <a:latin typeface="Liter" pitchFamily="34" charset="0"/>
                <a:ea typeface="Liter" pitchFamily="34" charset="-122"/>
                <a:cs typeface="Liter" pitchFamily="34" charset="-120"/>
              </a:rPr>
              <a:t>Types of Attention</a:t>
            </a:r>
            <a:endParaRPr lang="en-US" sz="1600" dirty="0"/>
          </a:p>
        </p:txBody>
      </p:sp>
      <p:sp>
        <p:nvSpPr>
          <p:cNvPr id="32" name="Shape 29"/>
          <p:cNvSpPr/>
          <p:nvPr/>
        </p:nvSpPr>
        <p:spPr>
          <a:xfrm>
            <a:off x="6293782" y="5191853"/>
            <a:ext cx="74569" cy="74569"/>
          </a:xfrm>
          <a:custGeom>
            <a:avLst/>
            <a:gdLst/>
            <a:ahLst/>
            <a:cxnLst/>
            <a:rect l="l" t="t" r="r" b="b"/>
            <a:pathLst>
              <a:path w="74569" h="74569">
                <a:moveTo>
                  <a:pt x="37284" y="0"/>
                </a:moveTo>
                <a:lnTo>
                  <a:pt x="37284" y="0"/>
                </a:lnTo>
                <a:cubicBezTo>
                  <a:pt x="57876" y="0"/>
                  <a:pt x="74569" y="16693"/>
                  <a:pt x="74569" y="37284"/>
                </a:cubicBezTo>
                <a:lnTo>
                  <a:pt x="74569" y="37284"/>
                </a:lnTo>
                <a:cubicBezTo>
                  <a:pt x="74569" y="57876"/>
                  <a:pt x="57876" y="74569"/>
                  <a:pt x="37284" y="74569"/>
                </a:cubicBezTo>
                <a:lnTo>
                  <a:pt x="37284" y="74569"/>
                </a:lnTo>
                <a:cubicBezTo>
                  <a:pt x="16693" y="74569"/>
                  <a:pt x="0" y="57876"/>
                  <a:pt x="0" y="37284"/>
                </a:cubicBezTo>
                <a:lnTo>
                  <a:pt x="0" y="37284"/>
                </a:lnTo>
                <a:cubicBezTo>
                  <a:pt x="0" y="16693"/>
                  <a:pt x="16693" y="0"/>
                  <a:pt x="37284" y="0"/>
                </a:cubicBezTo>
                <a:close/>
              </a:path>
            </a:pathLst>
          </a:custGeom>
          <a:solidFill>
            <a:srgbClr val="4DB6AC"/>
          </a:solidFill>
          <a:ln/>
        </p:spPr>
      </p:sp>
      <p:sp>
        <p:nvSpPr>
          <p:cNvPr id="33" name="Text 30"/>
          <p:cNvSpPr/>
          <p:nvPr/>
        </p:nvSpPr>
        <p:spPr>
          <a:xfrm>
            <a:off x="6442920" y="5117284"/>
            <a:ext cx="2684477" cy="186422"/>
          </a:xfrm>
          <a:prstGeom prst="rect">
            <a:avLst/>
          </a:prstGeom>
          <a:noFill/>
          <a:ln/>
        </p:spPr>
        <p:txBody>
          <a:bodyPr wrap="square" lIns="0" tIns="0" rIns="0" bIns="0" rtlCol="0" anchor="ctr"/>
          <a:lstStyle/>
          <a:p>
            <a:pPr>
              <a:lnSpc>
                <a:spcPct val="120000"/>
              </a:lnSpc>
            </a:pPr>
            <a:r>
              <a:rPr lang="en-US" sz="1028" b="1" dirty="0">
                <a:solidFill>
                  <a:srgbClr val="ECEFF1"/>
                </a:solidFill>
                <a:latin typeface="Quattrocento Sans" pitchFamily="34" charset="0"/>
                <a:ea typeface="Quattrocento Sans" pitchFamily="34" charset="-122"/>
                <a:cs typeface="Quattrocento Sans" pitchFamily="34" charset="-120"/>
              </a:rPr>
              <a:t>Self-Attention:</a:t>
            </a:r>
            <a:r>
              <a:rPr lang="en-US" sz="1028" dirty="0">
                <a:solidFill>
                  <a:srgbClr val="ECEFF1"/>
                </a:solidFill>
                <a:latin typeface="Quattrocento Sans" pitchFamily="34" charset="0"/>
                <a:ea typeface="Quattrocento Sans" pitchFamily="34" charset="-122"/>
                <a:cs typeface="Quattrocento Sans" pitchFamily="34" charset="-120"/>
              </a:rPr>
              <a:t> Input attends to itself (encoder)</a:t>
            </a:r>
            <a:endParaRPr lang="en-US" sz="1600" dirty="0"/>
          </a:p>
        </p:txBody>
      </p:sp>
      <p:sp>
        <p:nvSpPr>
          <p:cNvPr id="34" name="Shape 31"/>
          <p:cNvSpPr/>
          <p:nvPr/>
        </p:nvSpPr>
        <p:spPr>
          <a:xfrm>
            <a:off x="6293782" y="5415560"/>
            <a:ext cx="74569" cy="74569"/>
          </a:xfrm>
          <a:custGeom>
            <a:avLst/>
            <a:gdLst/>
            <a:ahLst/>
            <a:cxnLst/>
            <a:rect l="l" t="t" r="r" b="b"/>
            <a:pathLst>
              <a:path w="74569" h="74569">
                <a:moveTo>
                  <a:pt x="37284" y="0"/>
                </a:moveTo>
                <a:lnTo>
                  <a:pt x="37284" y="0"/>
                </a:lnTo>
                <a:cubicBezTo>
                  <a:pt x="57876" y="0"/>
                  <a:pt x="74569" y="16693"/>
                  <a:pt x="74569" y="37284"/>
                </a:cubicBezTo>
                <a:lnTo>
                  <a:pt x="74569" y="37284"/>
                </a:lnTo>
                <a:cubicBezTo>
                  <a:pt x="74569" y="57876"/>
                  <a:pt x="57876" y="74569"/>
                  <a:pt x="37284" y="74569"/>
                </a:cubicBezTo>
                <a:lnTo>
                  <a:pt x="37284" y="74569"/>
                </a:lnTo>
                <a:cubicBezTo>
                  <a:pt x="16693" y="74569"/>
                  <a:pt x="0" y="57876"/>
                  <a:pt x="0" y="37284"/>
                </a:cubicBezTo>
                <a:lnTo>
                  <a:pt x="0" y="37284"/>
                </a:lnTo>
                <a:cubicBezTo>
                  <a:pt x="0" y="16693"/>
                  <a:pt x="16693" y="0"/>
                  <a:pt x="37284" y="0"/>
                </a:cubicBezTo>
                <a:close/>
              </a:path>
            </a:pathLst>
          </a:custGeom>
          <a:solidFill>
            <a:srgbClr val="FFD54F"/>
          </a:solidFill>
          <a:ln/>
        </p:spPr>
      </p:sp>
      <p:sp>
        <p:nvSpPr>
          <p:cNvPr id="35" name="Text 32"/>
          <p:cNvSpPr/>
          <p:nvPr/>
        </p:nvSpPr>
        <p:spPr>
          <a:xfrm>
            <a:off x="6442920" y="5340991"/>
            <a:ext cx="2852257" cy="186422"/>
          </a:xfrm>
          <a:prstGeom prst="rect">
            <a:avLst/>
          </a:prstGeom>
          <a:noFill/>
          <a:ln/>
        </p:spPr>
        <p:txBody>
          <a:bodyPr wrap="square" lIns="0" tIns="0" rIns="0" bIns="0" rtlCol="0" anchor="ctr"/>
          <a:lstStyle/>
          <a:p>
            <a:pPr>
              <a:lnSpc>
                <a:spcPct val="120000"/>
              </a:lnSpc>
            </a:pPr>
            <a:r>
              <a:rPr lang="en-US" sz="1028" b="1" dirty="0">
                <a:solidFill>
                  <a:srgbClr val="ECEFF1"/>
                </a:solidFill>
                <a:latin typeface="Quattrocento Sans" pitchFamily="34" charset="0"/>
                <a:ea typeface="Quattrocento Sans" pitchFamily="34" charset="-122"/>
                <a:cs typeface="Quattrocento Sans" pitchFamily="34" charset="-120"/>
              </a:rPr>
              <a:t>Masked Self-Attention:</a:t>
            </a:r>
            <a:r>
              <a:rPr lang="en-US" sz="1028" dirty="0">
                <a:solidFill>
                  <a:srgbClr val="ECEFF1"/>
                </a:solidFill>
                <a:latin typeface="Quattrocento Sans" pitchFamily="34" charset="0"/>
                <a:ea typeface="Quattrocento Sans" pitchFamily="34" charset="-122"/>
                <a:cs typeface="Quattrocento Sans" pitchFamily="34" charset="-120"/>
              </a:rPr>
              <a:t> Can't see future (decoder)</a:t>
            </a:r>
            <a:endParaRPr lang="en-US" sz="1600" dirty="0"/>
          </a:p>
        </p:txBody>
      </p:sp>
      <p:sp>
        <p:nvSpPr>
          <p:cNvPr id="36" name="Shape 33"/>
          <p:cNvSpPr/>
          <p:nvPr/>
        </p:nvSpPr>
        <p:spPr>
          <a:xfrm>
            <a:off x="6293782" y="5639266"/>
            <a:ext cx="74569" cy="74569"/>
          </a:xfrm>
          <a:custGeom>
            <a:avLst/>
            <a:gdLst/>
            <a:ahLst/>
            <a:cxnLst/>
            <a:rect l="l" t="t" r="r" b="b"/>
            <a:pathLst>
              <a:path w="74569" h="74569">
                <a:moveTo>
                  <a:pt x="37284" y="0"/>
                </a:moveTo>
                <a:lnTo>
                  <a:pt x="37284" y="0"/>
                </a:lnTo>
                <a:cubicBezTo>
                  <a:pt x="57876" y="0"/>
                  <a:pt x="74569" y="16693"/>
                  <a:pt x="74569" y="37284"/>
                </a:cubicBezTo>
                <a:lnTo>
                  <a:pt x="74569" y="37284"/>
                </a:lnTo>
                <a:cubicBezTo>
                  <a:pt x="74569" y="57876"/>
                  <a:pt x="57876" y="74569"/>
                  <a:pt x="37284" y="74569"/>
                </a:cubicBezTo>
                <a:lnTo>
                  <a:pt x="37284" y="74569"/>
                </a:lnTo>
                <a:cubicBezTo>
                  <a:pt x="16693" y="74569"/>
                  <a:pt x="0" y="57876"/>
                  <a:pt x="0" y="37284"/>
                </a:cubicBezTo>
                <a:lnTo>
                  <a:pt x="0" y="37284"/>
                </a:lnTo>
                <a:cubicBezTo>
                  <a:pt x="0" y="16693"/>
                  <a:pt x="16693" y="0"/>
                  <a:pt x="37284" y="0"/>
                </a:cubicBezTo>
                <a:close/>
              </a:path>
            </a:pathLst>
          </a:custGeom>
          <a:solidFill>
            <a:srgbClr val="4DB6AC"/>
          </a:solidFill>
          <a:ln/>
        </p:spPr>
      </p:sp>
      <p:sp>
        <p:nvSpPr>
          <p:cNvPr id="37" name="Text 34"/>
          <p:cNvSpPr/>
          <p:nvPr/>
        </p:nvSpPr>
        <p:spPr>
          <a:xfrm>
            <a:off x="6442920" y="5564697"/>
            <a:ext cx="3010716" cy="186422"/>
          </a:xfrm>
          <a:prstGeom prst="rect">
            <a:avLst/>
          </a:prstGeom>
          <a:noFill/>
          <a:ln/>
        </p:spPr>
        <p:txBody>
          <a:bodyPr wrap="square" lIns="0" tIns="0" rIns="0" bIns="0" rtlCol="0" anchor="ctr"/>
          <a:lstStyle/>
          <a:p>
            <a:pPr>
              <a:lnSpc>
                <a:spcPct val="120000"/>
              </a:lnSpc>
            </a:pPr>
            <a:r>
              <a:rPr lang="en-US" sz="1028" b="1" dirty="0">
                <a:solidFill>
                  <a:srgbClr val="ECEFF1"/>
                </a:solidFill>
                <a:latin typeface="Quattrocento Sans" pitchFamily="34" charset="0"/>
                <a:ea typeface="Quattrocento Sans" pitchFamily="34" charset="-122"/>
                <a:cs typeface="Quattrocento Sans" pitchFamily="34" charset="-120"/>
              </a:rPr>
              <a:t>Cross-Attention:</a:t>
            </a:r>
            <a:r>
              <a:rPr lang="en-US" sz="1028" dirty="0">
                <a:solidFill>
                  <a:srgbClr val="ECEFF1"/>
                </a:solidFill>
                <a:latin typeface="Quattrocento Sans" pitchFamily="34" charset="0"/>
                <a:ea typeface="Quattrocento Sans" pitchFamily="34" charset="-122"/>
                <a:cs typeface="Quattrocento Sans" pitchFamily="34" charset="-120"/>
              </a:rPr>
              <a:t> Decoder attends to encoder output</a:t>
            </a:r>
            <a:endParaRPr lang="en-US" sz="1600" dirty="0"/>
          </a:p>
        </p:txBody>
      </p:sp>
      <p:sp>
        <p:nvSpPr>
          <p:cNvPr id="38" name="Shape 35"/>
          <p:cNvSpPr/>
          <p:nvPr/>
        </p:nvSpPr>
        <p:spPr>
          <a:xfrm>
            <a:off x="6177268" y="5951523"/>
            <a:ext cx="2777688" cy="904147"/>
          </a:xfrm>
          <a:custGeom>
            <a:avLst/>
            <a:gdLst/>
            <a:ahLst/>
            <a:cxnLst/>
            <a:rect l="l" t="t" r="r" b="b"/>
            <a:pathLst>
              <a:path w="2777688" h="904147">
                <a:moveTo>
                  <a:pt x="74565" y="0"/>
                </a:moveTo>
                <a:lnTo>
                  <a:pt x="2703123" y="0"/>
                </a:lnTo>
                <a:cubicBezTo>
                  <a:pt x="2744304" y="0"/>
                  <a:pt x="2777688" y="33384"/>
                  <a:pt x="2777688" y="74565"/>
                </a:cubicBezTo>
                <a:lnTo>
                  <a:pt x="2777688" y="829582"/>
                </a:lnTo>
                <a:cubicBezTo>
                  <a:pt x="2777688" y="870763"/>
                  <a:pt x="2744304" y="904147"/>
                  <a:pt x="2703123" y="904147"/>
                </a:cubicBezTo>
                <a:lnTo>
                  <a:pt x="74565" y="904147"/>
                </a:lnTo>
                <a:cubicBezTo>
                  <a:pt x="33384" y="904147"/>
                  <a:pt x="0" y="870763"/>
                  <a:pt x="0" y="829582"/>
                </a:cubicBezTo>
                <a:lnTo>
                  <a:pt x="0" y="74565"/>
                </a:lnTo>
                <a:cubicBezTo>
                  <a:pt x="0" y="33411"/>
                  <a:pt x="33411" y="0"/>
                  <a:pt x="74565" y="0"/>
                </a:cubicBezTo>
                <a:close/>
              </a:path>
            </a:pathLst>
          </a:custGeom>
          <a:solidFill>
            <a:srgbClr val="4DB6AC">
              <a:alpha val="10196"/>
            </a:srgbClr>
          </a:solidFill>
          <a:ln w="12700">
            <a:solidFill>
              <a:srgbClr val="4DB6AC">
                <a:alpha val="30196"/>
              </a:srgbClr>
            </a:solidFill>
            <a:prstDash val="solid"/>
          </a:ln>
        </p:spPr>
      </p:sp>
      <p:sp>
        <p:nvSpPr>
          <p:cNvPr id="39" name="Text 36"/>
          <p:cNvSpPr/>
          <p:nvPr/>
        </p:nvSpPr>
        <p:spPr>
          <a:xfrm>
            <a:off x="6237856" y="6068037"/>
            <a:ext cx="2656514" cy="298275"/>
          </a:xfrm>
          <a:prstGeom prst="rect">
            <a:avLst/>
          </a:prstGeom>
          <a:noFill/>
          <a:ln/>
        </p:spPr>
        <p:txBody>
          <a:bodyPr wrap="square" lIns="0" tIns="0" rIns="0" bIns="0" rtlCol="0" anchor="ctr"/>
          <a:lstStyle/>
          <a:p>
            <a:pPr algn="ctr">
              <a:lnSpc>
                <a:spcPct val="110000"/>
              </a:lnSpc>
            </a:pPr>
            <a:r>
              <a:rPr lang="en-US" sz="1761" b="1" dirty="0">
                <a:solidFill>
                  <a:srgbClr val="4DB6AC"/>
                </a:solidFill>
                <a:latin typeface="Liter" pitchFamily="34" charset="0"/>
                <a:ea typeface="Liter" pitchFamily="34" charset="-122"/>
                <a:cs typeface="Liter" pitchFamily="34" charset="-120"/>
              </a:rPr>
              <a:t>O(1)</a:t>
            </a:r>
            <a:endParaRPr lang="en-US" sz="1600" dirty="0"/>
          </a:p>
        </p:txBody>
      </p:sp>
      <p:sp>
        <p:nvSpPr>
          <p:cNvPr id="40" name="Text 37"/>
          <p:cNvSpPr/>
          <p:nvPr/>
        </p:nvSpPr>
        <p:spPr>
          <a:xfrm>
            <a:off x="6261158" y="6403596"/>
            <a:ext cx="2609908" cy="186422"/>
          </a:xfrm>
          <a:prstGeom prst="rect">
            <a:avLst/>
          </a:prstGeom>
          <a:noFill/>
          <a:ln/>
        </p:spPr>
        <p:txBody>
          <a:bodyPr wrap="square" lIns="0" tIns="0" rIns="0" bIns="0" rtlCol="0" anchor="ctr"/>
          <a:lstStyle/>
          <a:p>
            <a:pPr algn="ctr">
              <a:lnSpc>
                <a:spcPct val="120000"/>
              </a:lnSpc>
            </a:pPr>
            <a:r>
              <a:rPr lang="en-US" sz="1028" dirty="0">
                <a:solidFill>
                  <a:srgbClr val="ECEFF1"/>
                </a:solidFill>
                <a:latin typeface="Quattrocento Sans" pitchFamily="34" charset="0"/>
                <a:ea typeface="Quattrocento Sans" pitchFamily="34" charset="-122"/>
                <a:cs typeface="Quattrocento Sans" pitchFamily="34" charset="-120"/>
              </a:rPr>
              <a:t>Path Length</a:t>
            </a:r>
            <a:endParaRPr lang="en-US" sz="1600" dirty="0"/>
          </a:p>
        </p:txBody>
      </p:sp>
      <p:sp>
        <p:nvSpPr>
          <p:cNvPr id="41" name="Text 38"/>
          <p:cNvSpPr/>
          <p:nvPr/>
        </p:nvSpPr>
        <p:spPr>
          <a:xfrm>
            <a:off x="6265819" y="6590018"/>
            <a:ext cx="2600587" cy="149138"/>
          </a:xfrm>
          <a:prstGeom prst="rect">
            <a:avLst/>
          </a:prstGeom>
          <a:noFill/>
          <a:ln/>
        </p:spPr>
        <p:txBody>
          <a:bodyPr wrap="square" lIns="0" tIns="0" rIns="0" bIns="0" rtlCol="0" anchor="ctr"/>
          <a:lstStyle/>
          <a:p>
            <a:pPr algn="ctr">
              <a:lnSpc>
                <a:spcPct val="110000"/>
              </a:lnSpc>
            </a:pPr>
            <a:r>
              <a:rPr lang="en-US" sz="881" dirty="0">
                <a:solidFill>
                  <a:srgbClr val="78909C"/>
                </a:solidFill>
                <a:latin typeface="Quattrocento Sans" pitchFamily="34" charset="0"/>
                <a:ea typeface="Quattrocento Sans" pitchFamily="34" charset="-122"/>
                <a:cs typeface="Quattrocento Sans" pitchFamily="34" charset="-120"/>
              </a:rPr>
              <a:t>vs O(n) in RNNs</a:t>
            </a:r>
            <a:endParaRPr lang="en-US" sz="1600" dirty="0"/>
          </a:p>
        </p:txBody>
      </p:sp>
      <p:sp>
        <p:nvSpPr>
          <p:cNvPr id="42" name="Shape 39"/>
          <p:cNvSpPr/>
          <p:nvPr/>
        </p:nvSpPr>
        <p:spPr>
          <a:xfrm>
            <a:off x="9039866" y="5951523"/>
            <a:ext cx="2777688" cy="904147"/>
          </a:xfrm>
          <a:custGeom>
            <a:avLst/>
            <a:gdLst/>
            <a:ahLst/>
            <a:cxnLst/>
            <a:rect l="l" t="t" r="r" b="b"/>
            <a:pathLst>
              <a:path w="2777688" h="904147">
                <a:moveTo>
                  <a:pt x="74565" y="0"/>
                </a:moveTo>
                <a:lnTo>
                  <a:pt x="2703123" y="0"/>
                </a:lnTo>
                <a:cubicBezTo>
                  <a:pt x="2744304" y="0"/>
                  <a:pt x="2777688" y="33384"/>
                  <a:pt x="2777688" y="74565"/>
                </a:cubicBezTo>
                <a:lnTo>
                  <a:pt x="2777688" y="829582"/>
                </a:lnTo>
                <a:cubicBezTo>
                  <a:pt x="2777688" y="870763"/>
                  <a:pt x="2744304" y="904147"/>
                  <a:pt x="2703123" y="904147"/>
                </a:cubicBezTo>
                <a:lnTo>
                  <a:pt x="74565" y="904147"/>
                </a:lnTo>
                <a:cubicBezTo>
                  <a:pt x="33384" y="904147"/>
                  <a:pt x="0" y="870763"/>
                  <a:pt x="0" y="829582"/>
                </a:cubicBezTo>
                <a:lnTo>
                  <a:pt x="0" y="74565"/>
                </a:lnTo>
                <a:cubicBezTo>
                  <a:pt x="0" y="33411"/>
                  <a:pt x="33411" y="0"/>
                  <a:pt x="74565" y="0"/>
                </a:cubicBezTo>
                <a:close/>
              </a:path>
            </a:pathLst>
          </a:custGeom>
          <a:solidFill>
            <a:srgbClr val="FFD54F">
              <a:alpha val="10196"/>
            </a:srgbClr>
          </a:solidFill>
          <a:ln w="12700">
            <a:solidFill>
              <a:srgbClr val="FFD54F">
                <a:alpha val="30196"/>
              </a:srgbClr>
            </a:solidFill>
            <a:prstDash val="solid"/>
          </a:ln>
        </p:spPr>
      </p:sp>
      <p:sp>
        <p:nvSpPr>
          <p:cNvPr id="43" name="Text 40"/>
          <p:cNvSpPr/>
          <p:nvPr/>
        </p:nvSpPr>
        <p:spPr>
          <a:xfrm>
            <a:off x="9100453" y="6068037"/>
            <a:ext cx="2656514" cy="298275"/>
          </a:xfrm>
          <a:prstGeom prst="rect">
            <a:avLst/>
          </a:prstGeom>
          <a:noFill/>
          <a:ln/>
        </p:spPr>
        <p:txBody>
          <a:bodyPr wrap="square" lIns="0" tIns="0" rIns="0" bIns="0" rtlCol="0" anchor="ctr"/>
          <a:lstStyle/>
          <a:p>
            <a:pPr algn="ctr">
              <a:lnSpc>
                <a:spcPct val="110000"/>
              </a:lnSpc>
            </a:pPr>
            <a:r>
              <a:rPr lang="en-US" sz="1761" b="1" dirty="0">
                <a:solidFill>
                  <a:srgbClr val="FFD54F"/>
                </a:solidFill>
                <a:latin typeface="Liter" pitchFamily="34" charset="0"/>
                <a:ea typeface="Liter" pitchFamily="34" charset="-122"/>
                <a:cs typeface="Liter" pitchFamily="34" charset="-120"/>
              </a:rPr>
              <a:t>O(n²)</a:t>
            </a:r>
            <a:endParaRPr lang="en-US" sz="1600" dirty="0"/>
          </a:p>
        </p:txBody>
      </p:sp>
      <p:sp>
        <p:nvSpPr>
          <p:cNvPr id="44" name="Text 41"/>
          <p:cNvSpPr/>
          <p:nvPr/>
        </p:nvSpPr>
        <p:spPr>
          <a:xfrm>
            <a:off x="9123756" y="6403596"/>
            <a:ext cx="2609908" cy="186422"/>
          </a:xfrm>
          <a:prstGeom prst="rect">
            <a:avLst/>
          </a:prstGeom>
          <a:noFill/>
          <a:ln/>
        </p:spPr>
        <p:txBody>
          <a:bodyPr wrap="square" lIns="0" tIns="0" rIns="0" bIns="0" rtlCol="0" anchor="ctr"/>
          <a:lstStyle/>
          <a:p>
            <a:pPr algn="ctr">
              <a:lnSpc>
                <a:spcPct val="120000"/>
              </a:lnSpc>
            </a:pPr>
            <a:r>
              <a:rPr lang="en-US" sz="1028" dirty="0">
                <a:solidFill>
                  <a:srgbClr val="ECEFF1"/>
                </a:solidFill>
                <a:latin typeface="Quattrocento Sans" pitchFamily="34" charset="0"/>
                <a:ea typeface="Quattrocento Sans" pitchFamily="34" charset="-122"/>
                <a:cs typeface="Quattrocento Sans" pitchFamily="34" charset="-120"/>
              </a:rPr>
              <a:t>Complexity</a:t>
            </a:r>
            <a:endParaRPr lang="en-US" sz="1600" dirty="0"/>
          </a:p>
        </p:txBody>
      </p:sp>
      <p:sp>
        <p:nvSpPr>
          <p:cNvPr id="45" name="Text 42"/>
          <p:cNvSpPr/>
          <p:nvPr/>
        </p:nvSpPr>
        <p:spPr>
          <a:xfrm>
            <a:off x="9128416" y="6590018"/>
            <a:ext cx="2600587" cy="149138"/>
          </a:xfrm>
          <a:prstGeom prst="rect">
            <a:avLst/>
          </a:prstGeom>
          <a:noFill/>
          <a:ln/>
        </p:spPr>
        <p:txBody>
          <a:bodyPr wrap="square" lIns="0" tIns="0" rIns="0" bIns="0" rtlCol="0" anchor="ctr"/>
          <a:lstStyle/>
          <a:p>
            <a:pPr algn="ctr">
              <a:lnSpc>
                <a:spcPct val="110000"/>
              </a:lnSpc>
            </a:pPr>
            <a:r>
              <a:rPr lang="en-US" sz="881" dirty="0">
                <a:solidFill>
                  <a:srgbClr val="78909C"/>
                </a:solidFill>
                <a:latin typeface="Quattrocento Sans" pitchFamily="34" charset="0"/>
                <a:ea typeface="Quattrocento Sans" pitchFamily="34" charset="-122"/>
                <a:cs typeface="Quattrocento Sans" pitchFamily="34" charset="-120"/>
              </a:rPr>
              <a:t>Quadratic in sequence length</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static.vecteezy.com/88ac660cfad759e8bbcd9c03637b6ee8b8943982.jpg"/>
          <p:cNvPicPr>
            <a:picLocks noChangeAspect="1"/>
          </p:cNvPicPr>
          <p:nvPr/>
        </p:nvPicPr>
        <p:blipFill>
          <a:blip r:embed="rId3">
            <a:alphaModFix amt="30000"/>
          </a:blip>
          <a:srcRect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sp>
      <p:sp>
        <p:nvSpPr>
          <p:cNvPr id="4" name="Shape 1"/>
          <p:cNvSpPr/>
          <p:nvPr/>
        </p:nvSpPr>
        <p:spPr>
          <a:xfrm>
            <a:off x="385763" y="1157288"/>
            <a:ext cx="3028950" cy="428625"/>
          </a:xfrm>
          <a:custGeom>
            <a:avLst/>
            <a:gdLst/>
            <a:ahLst/>
            <a:cxnLst/>
            <a:rect l="l" t="t" r="r" b="b"/>
            <a:pathLst>
              <a:path w="3028950" h="428625">
                <a:moveTo>
                  <a:pt x="214313" y="0"/>
                </a:moveTo>
                <a:lnTo>
                  <a:pt x="2814638" y="0"/>
                </a:lnTo>
                <a:cubicBezTo>
                  <a:pt x="2932920" y="0"/>
                  <a:pt x="3028950" y="96030"/>
                  <a:pt x="3028950" y="214313"/>
                </a:cubicBezTo>
                <a:lnTo>
                  <a:pt x="3028950" y="214313"/>
                </a:lnTo>
                <a:cubicBezTo>
                  <a:pt x="3028950" y="332595"/>
                  <a:pt x="2932920" y="428625"/>
                  <a:pt x="2814638" y="428625"/>
                </a:cubicBezTo>
                <a:lnTo>
                  <a:pt x="214313" y="428625"/>
                </a:lnTo>
                <a:cubicBezTo>
                  <a:pt x="96030" y="428625"/>
                  <a:pt x="0" y="332595"/>
                  <a:pt x="0" y="214313"/>
                </a:cubicBezTo>
                <a:lnTo>
                  <a:pt x="0" y="214313"/>
                </a:lnTo>
                <a:cubicBezTo>
                  <a:pt x="0" y="96030"/>
                  <a:pt x="96030" y="0"/>
                  <a:pt x="214312"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619125" y="1266825"/>
            <a:ext cx="2659261" cy="209550"/>
          </a:xfrm>
          <a:prstGeom prst="rect">
            <a:avLst/>
          </a:prstGeom>
          <a:noFill/>
          <a:ln/>
        </p:spPr>
        <p:txBody>
          <a:bodyPr wrap="square" lIns="0" tIns="0" rIns="0" bIns="0" rtlCol="0" anchor="ctr"/>
          <a:lstStyle/>
          <a:p>
            <a:pPr>
              <a:lnSpc>
                <a:spcPct val="120000"/>
              </a:lnSpc>
            </a:pPr>
            <a:r>
              <a:rPr lang="en-US" sz="1500" b="1" kern="0" spc="75" dirty="0">
                <a:solidFill>
                  <a:srgbClr val="4DB6AC"/>
                </a:solidFill>
                <a:latin typeface="Quattrocento Sans" pitchFamily="34" charset="0"/>
                <a:ea typeface="Quattrocento Sans" pitchFamily="34" charset="-122"/>
                <a:cs typeface="Quattrocento Sans" pitchFamily="34" charset="-120"/>
              </a:rPr>
              <a:t>CHAPTER 04 | KAPITULLI 04</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Training &amp;</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Optimization</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Trajnimi &amp; Optimizimi</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How neural networks learn from data</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Si mësojnë rrjetet nervore nga të dhënat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Backpropagation Algorithm</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Algoritmi i Prapapërhapjes</a:t>
            </a:r>
            <a:endParaRPr lang="en-US" sz="1600" dirty="0"/>
          </a:p>
        </p:txBody>
      </p:sp>
      <p:sp>
        <p:nvSpPr>
          <p:cNvPr id="4" name="Shape 2"/>
          <p:cNvSpPr/>
          <p:nvPr/>
        </p:nvSpPr>
        <p:spPr>
          <a:xfrm>
            <a:off x="400050" y="1181100"/>
            <a:ext cx="5619750" cy="1943100"/>
          </a:xfrm>
          <a:custGeom>
            <a:avLst/>
            <a:gdLst/>
            <a:ahLst/>
            <a:cxnLst/>
            <a:rect l="l" t="t" r="r" b="b"/>
            <a:pathLst>
              <a:path w="5619750" h="1943100">
                <a:moveTo>
                  <a:pt x="0" y="0"/>
                </a:moveTo>
                <a:lnTo>
                  <a:pt x="5543542" y="0"/>
                </a:lnTo>
                <a:cubicBezTo>
                  <a:pt x="5585630" y="0"/>
                  <a:pt x="5619750" y="34120"/>
                  <a:pt x="5619750" y="76208"/>
                </a:cubicBezTo>
                <a:lnTo>
                  <a:pt x="5619750" y="1866892"/>
                </a:lnTo>
                <a:cubicBezTo>
                  <a:pt x="5619750" y="1908980"/>
                  <a:pt x="5585630" y="1943100"/>
                  <a:pt x="5543542" y="1943100"/>
                </a:cubicBezTo>
                <a:lnTo>
                  <a:pt x="0" y="1943100"/>
                </a:lnTo>
                <a:lnTo>
                  <a:pt x="0" y="0"/>
                </a:lnTo>
                <a:close/>
              </a:path>
            </a:pathLst>
          </a:custGeom>
          <a:solidFill>
            <a:srgbClr val="4DB6AC">
              <a:alpha val="10196"/>
            </a:srgbClr>
          </a:solidFill>
          <a:ln/>
        </p:spPr>
      </p:sp>
      <p:sp>
        <p:nvSpPr>
          <p:cNvPr id="5" name="Shape 3"/>
          <p:cNvSpPr/>
          <p:nvPr/>
        </p:nvSpPr>
        <p:spPr>
          <a:xfrm>
            <a:off x="400050" y="1181100"/>
            <a:ext cx="38100" cy="1943100"/>
          </a:xfrm>
          <a:custGeom>
            <a:avLst/>
            <a:gdLst/>
            <a:ahLst/>
            <a:cxnLst/>
            <a:rect l="l" t="t" r="r" b="b"/>
            <a:pathLst>
              <a:path w="38100" h="1943100">
                <a:moveTo>
                  <a:pt x="0" y="0"/>
                </a:moveTo>
                <a:lnTo>
                  <a:pt x="38100" y="0"/>
                </a:lnTo>
                <a:lnTo>
                  <a:pt x="38100" y="1943100"/>
                </a:lnTo>
                <a:lnTo>
                  <a:pt x="0" y="1943100"/>
                </a:lnTo>
                <a:lnTo>
                  <a:pt x="0" y="0"/>
                </a:lnTo>
                <a:close/>
              </a:path>
            </a:pathLst>
          </a:custGeom>
          <a:solidFill>
            <a:srgbClr val="4DB6AC"/>
          </a:solidFill>
          <a:ln/>
        </p:spPr>
      </p:sp>
      <p:sp>
        <p:nvSpPr>
          <p:cNvPr id="6" name="Text 4"/>
          <p:cNvSpPr/>
          <p:nvPr/>
        </p:nvSpPr>
        <p:spPr>
          <a:xfrm>
            <a:off x="533400" y="1295400"/>
            <a:ext cx="5448300" cy="83820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Backpropagation is the cornerstone algorithm for training neural networks. It efficiently computes gradients of the loss function with respect to all weights using the chain rule, propagating errors backward from output to input layers.</a:t>
            </a:r>
            <a:endParaRPr lang="en-US" sz="1600" dirty="0"/>
          </a:p>
        </p:txBody>
      </p:sp>
      <p:sp>
        <p:nvSpPr>
          <p:cNvPr id="7" name="Text 5"/>
          <p:cNvSpPr/>
          <p:nvPr/>
        </p:nvSpPr>
        <p:spPr>
          <a:xfrm>
            <a:off x="533400" y="2171700"/>
            <a:ext cx="5448300" cy="83820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Prapapërhapja është algoritmi themelor për trajnimin e rrjeteve nervore. Ai llogarit në mënyrë efikase gradientët e funksionit të humbjes në lidhje me të gjitha peshat duke përdorur rregullin e zinxhirit, duke përhapur gabimet prapa nga shtresat e daljes në ato hyrëse.</a:t>
            </a:r>
            <a:endParaRPr lang="en-US" sz="1600" dirty="0"/>
          </a:p>
        </p:txBody>
      </p:sp>
      <p:sp>
        <p:nvSpPr>
          <p:cNvPr id="8" name="Shape 6"/>
          <p:cNvSpPr/>
          <p:nvPr/>
        </p:nvSpPr>
        <p:spPr>
          <a:xfrm>
            <a:off x="385763" y="3205163"/>
            <a:ext cx="5629275" cy="2257425"/>
          </a:xfrm>
          <a:custGeom>
            <a:avLst/>
            <a:gdLst/>
            <a:ahLst/>
            <a:cxnLst/>
            <a:rect l="l" t="t" r="r" b="b"/>
            <a:pathLst>
              <a:path w="5629275" h="2257425">
                <a:moveTo>
                  <a:pt x="76211" y="0"/>
                </a:moveTo>
                <a:lnTo>
                  <a:pt x="5553064" y="0"/>
                </a:lnTo>
                <a:cubicBezTo>
                  <a:pt x="5595154" y="0"/>
                  <a:pt x="5629275" y="34121"/>
                  <a:pt x="5629275" y="76211"/>
                </a:cubicBezTo>
                <a:lnTo>
                  <a:pt x="5629275" y="2181214"/>
                </a:lnTo>
                <a:cubicBezTo>
                  <a:pt x="5629275" y="2223304"/>
                  <a:pt x="5595154" y="2257425"/>
                  <a:pt x="5553064" y="2257425"/>
                </a:cubicBezTo>
                <a:lnTo>
                  <a:pt x="76211" y="2257425"/>
                </a:lnTo>
                <a:cubicBezTo>
                  <a:pt x="34121" y="2257425"/>
                  <a:pt x="0" y="2223304"/>
                  <a:pt x="0" y="2181214"/>
                </a:cubicBezTo>
                <a:lnTo>
                  <a:pt x="0" y="76211"/>
                </a:lnTo>
                <a:cubicBezTo>
                  <a:pt x="0" y="34149"/>
                  <a:pt x="34149" y="0"/>
                  <a:pt x="76211"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504825" y="332422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Two-Phase Process</a:t>
            </a:r>
            <a:endParaRPr lang="en-US" sz="1600" dirty="0"/>
          </a:p>
        </p:txBody>
      </p:sp>
      <p:sp>
        <p:nvSpPr>
          <p:cNvPr id="10" name="Shape 8"/>
          <p:cNvSpPr/>
          <p:nvPr/>
        </p:nvSpPr>
        <p:spPr>
          <a:xfrm>
            <a:off x="504825" y="3667125"/>
            <a:ext cx="5391150" cy="800100"/>
          </a:xfrm>
          <a:custGeom>
            <a:avLst/>
            <a:gdLst/>
            <a:ahLst/>
            <a:cxnLst/>
            <a:rect l="l" t="t" r="r" b="b"/>
            <a:pathLst>
              <a:path w="5391150" h="800100">
                <a:moveTo>
                  <a:pt x="76202" y="0"/>
                </a:moveTo>
                <a:lnTo>
                  <a:pt x="5314948" y="0"/>
                </a:lnTo>
                <a:cubicBezTo>
                  <a:pt x="5357033" y="0"/>
                  <a:pt x="5391150" y="34117"/>
                  <a:pt x="5391150" y="76202"/>
                </a:cubicBezTo>
                <a:lnTo>
                  <a:pt x="5391150" y="723898"/>
                </a:lnTo>
                <a:cubicBezTo>
                  <a:pt x="5391150" y="765983"/>
                  <a:pt x="5357033" y="800100"/>
                  <a:pt x="5314948" y="800100"/>
                </a:cubicBezTo>
                <a:lnTo>
                  <a:pt x="76202" y="800100"/>
                </a:lnTo>
                <a:cubicBezTo>
                  <a:pt x="34117" y="800100"/>
                  <a:pt x="0" y="765983"/>
                  <a:pt x="0" y="723898"/>
                </a:cubicBezTo>
                <a:lnTo>
                  <a:pt x="0" y="76202"/>
                </a:lnTo>
                <a:cubicBezTo>
                  <a:pt x="0" y="34145"/>
                  <a:pt x="34145" y="0"/>
                  <a:pt x="76202" y="0"/>
                </a:cubicBezTo>
                <a:close/>
              </a:path>
            </a:pathLst>
          </a:custGeom>
          <a:solidFill>
            <a:srgbClr val="1A1D21"/>
          </a:solidFill>
          <a:ln/>
        </p:spPr>
      </p:sp>
      <p:sp>
        <p:nvSpPr>
          <p:cNvPr id="11" name="Shape 9"/>
          <p:cNvSpPr/>
          <p:nvPr/>
        </p:nvSpPr>
        <p:spPr>
          <a:xfrm>
            <a:off x="619125" y="37814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DB6AC"/>
          </a:solidFill>
          <a:ln/>
        </p:spPr>
      </p:sp>
      <p:sp>
        <p:nvSpPr>
          <p:cNvPr id="12" name="Text 10"/>
          <p:cNvSpPr/>
          <p:nvPr/>
        </p:nvSpPr>
        <p:spPr>
          <a:xfrm>
            <a:off x="581025" y="3781425"/>
            <a:ext cx="381000" cy="304800"/>
          </a:xfrm>
          <a:prstGeom prst="rect">
            <a:avLst/>
          </a:prstGeom>
          <a:noFill/>
          <a:ln/>
        </p:spPr>
        <p:txBody>
          <a:bodyPr wrap="square" lIns="0" tIns="0" rIns="0" bIns="0" rtlCol="0" anchor="ctr"/>
          <a:lstStyle/>
          <a:p>
            <a:pPr algn="ctr">
              <a:lnSpc>
                <a:spcPct val="130000"/>
              </a:lnSpc>
            </a:pPr>
            <a:r>
              <a:rPr lang="en-US" sz="1200" b="1" dirty="0">
                <a:solidFill>
                  <a:srgbClr val="1A1D21"/>
                </a:solidFill>
                <a:latin typeface="Quattrocento Sans" pitchFamily="34" charset="0"/>
                <a:ea typeface="Quattrocento Sans" pitchFamily="34" charset="-122"/>
                <a:cs typeface="Quattrocento Sans" pitchFamily="34" charset="-120"/>
              </a:rPr>
              <a:t>1</a:t>
            </a:r>
            <a:endParaRPr lang="en-US" sz="1600" dirty="0"/>
          </a:p>
        </p:txBody>
      </p:sp>
      <p:sp>
        <p:nvSpPr>
          <p:cNvPr id="13" name="Text 11"/>
          <p:cNvSpPr/>
          <p:nvPr/>
        </p:nvSpPr>
        <p:spPr>
          <a:xfrm>
            <a:off x="1000125" y="3819525"/>
            <a:ext cx="98107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Forward Pass</a:t>
            </a:r>
            <a:endParaRPr lang="en-US" sz="1600" dirty="0"/>
          </a:p>
        </p:txBody>
      </p:sp>
      <p:sp>
        <p:nvSpPr>
          <p:cNvPr id="14" name="Text 12"/>
          <p:cNvSpPr/>
          <p:nvPr/>
        </p:nvSpPr>
        <p:spPr>
          <a:xfrm>
            <a:off x="1000125" y="4162425"/>
            <a:ext cx="48482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Compute predictions and loss</a:t>
            </a:r>
            <a:endParaRPr lang="en-US" sz="1600" dirty="0"/>
          </a:p>
        </p:txBody>
      </p:sp>
      <p:sp>
        <p:nvSpPr>
          <p:cNvPr id="15" name="Shape 13"/>
          <p:cNvSpPr/>
          <p:nvPr/>
        </p:nvSpPr>
        <p:spPr>
          <a:xfrm>
            <a:off x="504825" y="4543425"/>
            <a:ext cx="5391150" cy="800100"/>
          </a:xfrm>
          <a:custGeom>
            <a:avLst/>
            <a:gdLst/>
            <a:ahLst/>
            <a:cxnLst/>
            <a:rect l="l" t="t" r="r" b="b"/>
            <a:pathLst>
              <a:path w="5391150" h="800100">
                <a:moveTo>
                  <a:pt x="76202" y="0"/>
                </a:moveTo>
                <a:lnTo>
                  <a:pt x="5314948" y="0"/>
                </a:lnTo>
                <a:cubicBezTo>
                  <a:pt x="5357033" y="0"/>
                  <a:pt x="5391150" y="34117"/>
                  <a:pt x="5391150" y="76202"/>
                </a:cubicBezTo>
                <a:lnTo>
                  <a:pt x="5391150" y="723898"/>
                </a:lnTo>
                <a:cubicBezTo>
                  <a:pt x="5391150" y="765983"/>
                  <a:pt x="5357033" y="800100"/>
                  <a:pt x="5314948" y="800100"/>
                </a:cubicBezTo>
                <a:lnTo>
                  <a:pt x="76202" y="800100"/>
                </a:lnTo>
                <a:cubicBezTo>
                  <a:pt x="34117" y="800100"/>
                  <a:pt x="0" y="765983"/>
                  <a:pt x="0" y="723898"/>
                </a:cubicBezTo>
                <a:lnTo>
                  <a:pt x="0" y="76202"/>
                </a:lnTo>
                <a:cubicBezTo>
                  <a:pt x="0" y="34145"/>
                  <a:pt x="34145" y="0"/>
                  <a:pt x="76202" y="0"/>
                </a:cubicBezTo>
                <a:close/>
              </a:path>
            </a:pathLst>
          </a:custGeom>
          <a:solidFill>
            <a:srgbClr val="1A1D21"/>
          </a:solidFill>
          <a:ln/>
        </p:spPr>
      </p:sp>
      <p:sp>
        <p:nvSpPr>
          <p:cNvPr id="16" name="Shape 14"/>
          <p:cNvSpPr/>
          <p:nvPr/>
        </p:nvSpPr>
        <p:spPr>
          <a:xfrm>
            <a:off x="619125" y="46577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FFD54F"/>
          </a:solidFill>
          <a:ln/>
        </p:spPr>
      </p:sp>
      <p:sp>
        <p:nvSpPr>
          <p:cNvPr id="17" name="Text 15"/>
          <p:cNvSpPr/>
          <p:nvPr/>
        </p:nvSpPr>
        <p:spPr>
          <a:xfrm>
            <a:off x="581025" y="4657725"/>
            <a:ext cx="381000" cy="304800"/>
          </a:xfrm>
          <a:prstGeom prst="rect">
            <a:avLst/>
          </a:prstGeom>
          <a:noFill/>
          <a:ln/>
        </p:spPr>
        <p:txBody>
          <a:bodyPr wrap="square" lIns="0" tIns="0" rIns="0" bIns="0" rtlCol="0" anchor="ctr"/>
          <a:lstStyle/>
          <a:p>
            <a:pPr algn="ctr">
              <a:lnSpc>
                <a:spcPct val="130000"/>
              </a:lnSpc>
            </a:pPr>
            <a:r>
              <a:rPr lang="en-US" sz="1200" b="1" dirty="0">
                <a:solidFill>
                  <a:srgbClr val="1A1D21"/>
                </a:solidFill>
                <a:latin typeface="Quattrocento Sans" pitchFamily="34" charset="0"/>
                <a:ea typeface="Quattrocento Sans" pitchFamily="34" charset="-122"/>
                <a:cs typeface="Quattrocento Sans" pitchFamily="34" charset="-120"/>
              </a:rPr>
              <a:t>2</a:t>
            </a:r>
            <a:endParaRPr lang="en-US" sz="1600" dirty="0"/>
          </a:p>
        </p:txBody>
      </p:sp>
      <p:sp>
        <p:nvSpPr>
          <p:cNvPr id="18" name="Text 16"/>
          <p:cNvSpPr/>
          <p:nvPr/>
        </p:nvSpPr>
        <p:spPr>
          <a:xfrm>
            <a:off x="1000125" y="4695825"/>
            <a:ext cx="1095375"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Backward Pass</a:t>
            </a:r>
            <a:endParaRPr lang="en-US" sz="1600" dirty="0"/>
          </a:p>
        </p:txBody>
      </p:sp>
      <p:sp>
        <p:nvSpPr>
          <p:cNvPr id="19" name="Text 17"/>
          <p:cNvSpPr/>
          <p:nvPr/>
        </p:nvSpPr>
        <p:spPr>
          <a:xfrm>
            <a:off x="1000125" y="5038725"/>
            <a:ext cx="48482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Compute gradients and update weights</a:t>
            </a:r>
            <a:endParaRPr lang="en-US" sz="1600" dirty="0"/>
          </a:p>
        </p:txBody>
      </p:sp>
      <p:sp>
        <p:nvSpPr>
          <p:cNvPr id="20" name="Shape 18"/>
          <p:cNvSpPr/>
          <p:nvPr/>
        </p:nvSpPr>
        <p:spPr>
          <a:xfrm>
            <a:off x="381000" y="5543550"/>
            <a:ext cx="5638800" cy="1143000"/>
          </a:xfrm>
          <a:custGeom>
            <a:avLst/>
            <a:gdLst/>
            <a:ahLst/>
            <a:cxnLst/>
            <a:rect l="l" t="t" r="r" b="b"/>
            <a:pathLst>
              <a:path w="5638800" h="1143000">
                <a:moveTo>
                  <a:pt x="76204" y="0"/>
                </a:moveTo>
                <a:lnTo>
                  <a:pt x="5562596" y="0"/>
                </a:lnTo>
                <a:cubicBezTo>
                  <a:pt x="5604682" y="0"/>
                  <a:pt x="5638800" y="34118"/>
                  <a:pt x="5638800" y="76204"/>
                </a:cubicBezTo>
                <a:lnTo>
                  <a:pt x="5638800" y="1066796"/>
                </a:lnTo>
                <a:cubicBezTo>
                  <a:pt x="5638800" y="1108882"/>
                  <a:pt x="5604682" y="1143000"/>
                  <a:pt x="5562596" y="1143000"/>
                </a:cubicBezTo>
                <a:lnTo>
                  <a:pt x="76204" y="1143000"/>
                </a:lnTo>
                <a:cubicBezTo>
                  <a:pt x="34118" y="1143000"/>
                  <a:pt x="0" y="1108882"/>
                  <a:pt x="0" y="1066796"/>
                </a:cubicBezTo>
                <a:lnTo>
                  <a:pt x="0" y="76204"/>
                </a:lnTo>
                <a:cubicBezTo>
                  <a:pt x="0" y="34146"/>
                  <a:pt x="34146" y="0"/>
                  <a:pt x="76204" y="0"/>
                </a:cubicBezTo>
                <a:close/>
              </a:path>
            </a:pathLst>
          </a:custGeom>
          <a:solidFill>
            <a:srgbClr val="78909C">
              <a:alpha val="10196"/>
            </a:srgbClr>
          </a:solidFill>
          <a:ln/>
        </p:spPr>
      </p:sp>
      <p:sp>
        <p:nvSpPr>
          <p:cNvPr id="21" name="Text 19"/>
          <p:cNvSpPr/>
          <p:nvPr/>
        </p:nvSpPr>
        <p:spPr>
          <a:xfrm>
            <a:off x="495300" y="56578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Chain Rule Application</a:t>
            </a:r>
            <a:endParaRPr lang="en-US" sz="1600" dirty="0"/>
          </a:p>
        </p:txBody>
      </p:sp>
      <p:sp>
        <p:nvSpPr>
          <p:cNvPr id="22" name="Shape 20"/>
          <p:cNvSpPr/>
          <p:nvPr/>
        </p:nvSpPr>
        <p:spPr>
          <a:xfrm>
            <a:off x="495300" y="5962650"/>
            <a:ext cx="5410200" cy="342900"/>
          </a:xfrm>
          <a:custGeom>
            <a:avLst/>
            <a:gdLst/>
            <a:ahLst/>
            <a:cxnLst/>
            <a:rect l="l" t="t" r="r" b="b"/>
            <a:pathLst>
              <a:path w="5410200" h="342900">
                <a:moveTo>
                  <a:pt x="38100" y="0"/>
                </a:moveTo>
                <a:lnTo>
                  <a:pt x="5372100" y="0"/>
                </a:lnTo>
                <a:cubicBezTo>
                  <a:pt x="5393142" y="0"/>
                  <a:pt x="5410200" y="17058"/>
                  <a:pt x="5410200" y="38100"/>
                </a:cubicBezTo>
                <a:lnTo>
                  <a:pt x="5410200" y="304800"/>
                </a:lnTo>
                <a:cubicBezTo>
                  <a:pt x="5410200" y="325842"/>
                  <a:pt x="5393142" y="342900"/>
                  <a:pt x="5372100" y="342900"/>
                </a:cubicBezTo>
                <a:lnTo>
                  <a:pt x="38100" y="342900"/>
                </a:lnTo>
                <a:cubicBezTo>
                  <a:pt x="17058" y="342900"/>
                  <a:pt x="0" y="325842"/>
                  <a:pt x="0" y="304800"/>
                </a:cubicBezTo>
                <a:lnTo>
                  <a:pt x="0" y="38100"/>
                </a:lnTo>
                <a:cubicBezTo>
                  <a:pt x="0" y="17072"/>
                  <a:pt x="17072" y="0"/>
                  <a:pt x="38100" y="0"/>
                </a:cubicBezTo>
                <a:close/>
              </a:path>
            </a:pathLst>
          </a:custGeom>
          <a:solidFill>
            <a:srgbClr val="1A1D21"/>
          </a:solidFill>
          <a:ln/>
        </p:spPr>
      </p:sp>
      <p:sp>
        <p:nvSpPr>
          <p:cNvPr id="23" name="Text 21"/>
          <p:cNvSpPr/>
          <p:nvPr/>
        </p:nvSpPr>
        <p:spPr>
          <a:xfrm>
            <a:off x="538163" y="6038850"/>
            <a:ext cx="5324475" cy="190500"/>
          </a:xfrm>
          <a:prstGeom prst="rect">
            <a:avLst/>
          </a:prstGeom>
          <a:noFill/>
          <a:ln/>
        </p:spPr>
        <p:txBody>
          <a:bodyPr wrap="square" lIns="0" tIns="0" rIns="0" bIns="0" rtlCol="0" anchor="ctr"/>
          <a:lstStyle/>
          <a:p>
            <a:pPr algn="ctr">
              <a:lnSpc>
                <a:spcPct val="120000"/>
              </a:lnSpc>
            </a:pPr>
            <a:r>
              <a:rPr lang="en-US" sz="1050" dirty="0">
                <a:solidFill>
                  <a:srgbClr val="FFD54F"/>
                </a:solidFill>
                <a:latin typeface="MiSans" pitchFamily="34" charset="0"/>
                <a:ea typeface="MiSans" pitchFamily="34" charset="-122"/>
                <a:cs typeface="MiSans" pitchFamily="34" charset="-120"/>
              </a:rPr>
              <a:t>∂L/∂w = ∂L/∂a · ∂a/∂z · ∂z/∂w</a:t>
            </a:r>
            <a:endParaRPr lang="en-US" sz="1600" dirty="0"/>
          </a:p>
        </p:txBody>
      </p:sp>
      <p:sp>
        <p:nvSpPr>
          <p:cNvPr id="24" name="Text 22"/>
          <p:cNvSpPr/>
          <p:nvPr/>
        </p:nvSpPr>
        <p:spPr>
          <a:xfrm>
            <a:off x="495300" y="6381750"/>
            <a:ext cx="5476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Gradients flow backward through the network, multiplying partial derivatives at each layer.</a:t>
            </a:r>
            <a:endParaRPr lang="en-US" sz="1600" dirty="0"/>
          </a:p>
        </p:txBody>
      </p:sp>
      <p:sp>
        <p:nvSpPr>
          <p:cNvPr id="25" name="Shape 23"/>
          <p:cNvSpPr/>
          <p:nvPr/>
        </p:nvSpPr>
        <p:spPr>
          <a:xfrm>
            <a:off x="6172200" y="1181100"/>
            <a:ext cx="5638800" cy="4648200"/>
          </a:xfrm>
          <a:custGeom>
            <a:avLst/>
            <a:gdLst/>
            <a:ahLst/>
            <a:cxnLst/>
            <a:rect l="l" t="t" r="r" b="b"/>
            <a:pathLst>
              <a:path w="5638800" h="4648200">
                <a:moveTo>
                  <a:pt x="76184" y="0"/>
                </a:moveTo>
                <a:lnTo>
                  <a:pt x="5562616" y="0"/>
                </a:lnTo>
                <a:cubicBezTo>
                  <a:pt x="5604663" y="0"/>
                  <a:pt x="5638800" y="34137"/>
                  <a:pt x="5638800" y="76184"/>
                </a:cubicBezTo>
                <a:lnTo>
                  <a:pt x="5638800" y="4572016"/>
                </a:lnTo>
                <a:cubicBezTo>
                  <a:pt x="5638800" y="4614091"/>
                  <a:pt x="5604691" y="4648200"/>
                  <a:pt x="5562616" y="4648200"/>
                </a:cubicBezTo>
                <a:lnTo>
                  <a:pt x="76184" y="4648200"/>
                </a:lnTo>
                <a:cubicBezTo>
                  <a:pt x="34137" y="4648200"/>
                  <a:pt x="0" y="4614063"/>
                  <a:pt x="0" y="4572016"/>
                </a:cubicBezTo>
                <a:lnTo>
                  <a:pt x="0" y="76184"/>
                </a:lnTo>
                <a:cubicBezTo>
                  <a:pt x="0" y="34109"/>
                  <a:pt x="34109" y="0"/>
                  <a:pt x="76184" y="0"/>
                </a:cubicBezTo>
                <a:close/>
              </a:path>
            </a:pathLst>
          </a:custGeom>
          <a:solidFill>
            <a:srgbClr val="4DB6AC">
              <a:alpha val="10196"/>
            </a:srgbClr>
          </a:solidFill>
          <a:ln/>
        </p:spPr>
      </p:sp>
      <p:sp>
        <p:nvSpPr>
          <p:cNvPr id="26" name="Text 24"/>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Backpropagation Flow</a:t>
            </a:r>
            <a:endParaRPr lang="en-US" sz="1600" dirty="0"/>
          </a:p>
        </p:txBody>
      </p:sp>
      <p:sp>
        <p:nvSpPr>
          <p:cNvPr id="27" name="Shape 25"/>
          <p:cNvSpPr/>
          <p:nvPr/>
        </p:nvSpPr>
        <p:spPr>
          <a:xfrm>
            <a:off x="7172325" y="1876425"/>
            <a:ext cx="3638550" cy="514350"/>
          </a:xfrm>
          <a:custGeom>
            <a:avLst/>
            <a:gdLst/>
            <a:ahLst/>
            <a:cxnLst/>
            <a:rect l="l" t="t" r="r" b="b"/>
            <a:pathLst>
              <a:path w="3638550" h="514350">
                <a:moveTo>
                  <a:pt x="76201" y="0"/>
                </a:moveTo>
                <a:lnTo>
                  <a:pt x="3562349" y="0"/>
                </a:lnTo>
                <a:cubicBezTo>
                  <a:pt x="3604434" y="0"/>
                  <a:pt x="3638550" y="34116"/>
                  <a:pt x="3638550" y="76201"/>
                </a:cubicBezTo>
                <a:lnTo>
                  <a:pt x="3638550" y="438149"/>
                </a:lnTo>
                <a:cubicBezTo>
                  <a:pt x="3638550" y="480234"/>
                  <a:pt x="3604434" y="514350"/>
                  <a:pt x="3562349" y="514350"/>
                </a:cubicBezTo>
                <a:lnTo>
                  <a:pt x="76201" y="514350"/>
                </a:lnTo>
                <a:cubicBezTo>
                  <a:pt x="34116" y="514350"/>
                  <a:pt x="0" y="480234"/>
                  <a:pt x="0" y="4381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28" name="Text 26"/>
          <p:cNvSpPr/>
          <p:nvPr/>
        </p:nvSpPr>
        <p:spPr>
          <a:xfrm>
            <a:off x="7224713" y="1962150"/>
            <a:ext cx="35337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Compute Loss L</a:t>
            </a:r>
            <a:endParaRPr lang="en-US" sz="1600" dirty="0"/>
          </a:p>
        </p:txBody>
      </p:sp>
      <p:sp>
        <p:nvSpPr>
          <p:cNvPr id="29" name="Text 27"/>
          <p:cNvSpPr/>
          <p:nvPr/>
        </p:nvSpPr>
        <p:spPr>
          <a:xfrm>
            <a:off x="7229475" y="2152650"/>
            <a:ext cx="35242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L = Loss(y, ŷ)</a:t>
            </a:r>
            <a:endParaRPr lang="en-US" sz="1600" dirty="0"/>
          </a:p>
        </p:txBody>
      </p:sp>
      <p:sp>
        <p:nvSpPr>
          <p:cNvPr id="30" name="Text 28"/>
          <p:cNvSpPr/>
          <p:nvPr/>
        </p:nvSpPr>
        <p:spPr>
          <a:xfrm>
            <a:off x="8512671" y="2438400"/>
            <a:ext cx="1057275" cy="266700"/>
          </a:xfrm>
          <a:prstGeom prst="rect">
            <a:avLst/>
          </a:prstGeom>
          <a:noFill/>
          <a:ln/>
        </p:spPr>
        <p:txBody>
          <a:bodyPr wrap="square" lIns="0" tIns="0" rIns="0" bIns="0" rtlCol="0" anchor="ctr"/>
          <a:lstStyle/>
          <a:p>
            <a:pPr>
              <a:lnSpc>
                <a:spcPct val="120000"/>
              </a:lnSpc>
            </a:pPr>
            <a:r>
              <a:rPr lang="en-US" sz="1500" dirty="0">
                <a:solidFill>
                  <a:srgbClr val="FFD54F"/>
                </a:solidFill>
                <a:latin typeface="Quattrocento Sans" pitchFamily="34" charset="0"/>
                <a:ea typeface="Quattrocento Sans" pitchFamily="34" charset="-122"/>
                <a:cs typeface="Quattrocento Sans" pitchFamily="34" charset="-120"/>
              </a:rPr>
              <a:t>↑ Backward</a:t>
            </a:r>
            <a:endParaRPr lang="en-US" sz="1600" dirty="0"/>
          </a:p>
        </p:txBody>
      </p:sp>
      <p:sp>
        <p:nvSpPr>
          <p:cNvPr id="31" name="Shape 29"/>
          <p:cNvSpPr/>
          <p:nvPr/>
        </p:nvSpPr>
        <p:spPr>
          <a:xfrm>
            <a:off x="7477125" y="2752725"/>
            <a:ext cx="3028950" cy="514350"/>
          </a:xfrm>
          <a:custGeom>
            <a:avLst/>
            <a:gdLst/>
            <a:ahLst/>
            <a:cxnLst/>
            <a:rect l="l" t="t" r="r" b="b"/>
            <a:pathLst>
              <a:path w="3028950" h="514350">
                <a:moveTo>
                  <a:pt x="76201" y="0"/>
                </a:moveTo>
                <a:lnTo>
                  <a:pt x="2952749" y="0"/>
                </a:lnTo>
                <a:cubicBezTo>
                  <a:pt x="2994834" y="0"/>
                  <a:pt x="3028950" y="34116"/>
                  <a:pt x="3028950" y="76201"/>
                </a:cubicBezTo>
                <a:lnTo>
                  <a:pt x="3028950" y="438149"/>
                </a:lnTo>
                <a:cubicBezTo>
                  <a:pt x="3028950" y="480234"/>
                  <a:pt x="2994834" y="514350"/>
                  <a:pt x="2952749" y="514350"/>
                </a:cubicBezTo>
                <a:lnTo>
                  <a:pt x="76201" y="514350"/>
                </a:lnTo>
                <a:cubicBezTo>
                  <a:pt x="34116" y="514350"/>
                  <a:pt x="0" y="480234"/>
                  <a:pt x="0" y="4381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32" name="Text 30"/>
          <p:cNvSpPr/>
          <p:nvPr/>
        </p:nvSpPr>
        <p:spPr>
          <a:xfrm>
            <a:off x="7529513" y="2838450"/>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Output Layer Gradients</a:t>
            </a:r>
            <a:endParaRPr lang="en-US" sz="1600" dirty="0"/>
          </a:p>
        </p:txBody>
      </p:sp>
      <p:sp>
        <p:nvSpPr>
          <p:cNvPr id="33" name="Text 31"/>
          <p:cNvSpPr/>
          <p:nvPr/>
        </p:nvSpPr>
        <p:spPr>
          <a:xfrm>
            <a:off x="7534275" y="3028950"/>
            <a:ext cx="29146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∂L/∂W⁽ᴸ⁾, ∂L/∂b⁽ᴸ⁾</a:t>
            </a:r>
            <a:endParaRPr lang="en-US" sz="1600" dirty="0"/>
          </a:p>
        </p:txBody>
      </p:sp>
      <p:sp>
        <p:nvSpPr>
          <p:cNvPr id="34" name="Text 32"/>
          <p:cNvSpPr/>
          <p:nvPr/>
        </p:nvSpPr>
        <p:spPr>
          <a:xfrm>
            <a:off x="8512671" y="3314700"/>
            <a:ext cx="1057275" cy="266700"/>
          </a:xfrm>
          <a:prstGeom prst="rect">
            <a:avLst/>
          </a:prstGeom>
          <a:noFill/>
          <a:ln/>
        </p:spPr>
        <p:txBody>
          <a:bodyPr wrap="square" lIns="0" tIns="0" rIns="0" bIns="0" rtlCol="0" anchor="ctr"/>
          <a:lstStyle/>
          <a:p>
            <a:pPr>
              <a:lnSpc>
                <a:spcPct val="120000"/>
              </a:lnSpc>
            </a:pPr>
            <a:r>
              <a:rPr lang="en-US" sz="1500" dirty="0">
                <a:solidFill>
                  <a:srgbClr val="FFD54F"/>
                </a:solidFill>
                <a:latin typeface="Quattrocento Sans" pitchFamily="34" charset="0"/>
                <a:ea typeface="Quattrocento Sans" pitchFamily="34" charset="-122"/>
                <a:cs typeface="Quattrocento Sans" pitchFamily="34" charset="-120"/>
              </a:rPr>
              <a:t>↑ Backward</a:t>
            </a:r>
            <a:endParaRPr lang="en-US" sz="1600" dirty="0"/>
          </a:p>
        </p:txBody>
      </p:sp>
      <p:sp>
        <p:nvSpPr>
          <p:cNvPr id="35" name="Shape 33"/>
          <p:cNvSpPr/>
          <p:nvPr/>
        </p:nvSpPr>
        <p:spPr>
          <a:xfrm>
            <a:off x="7477125" y="3629025"/>
            <a:ext cx="3028950" cy="514350"/>
          </a:xfrm>
          <a:custGeom>
            <a:avLst/>
            <a:gdLst/>
            <a:ahLst/>
            <a:cxnLst/>
            <a:rect l="l" t="t" r="r" b="b"/>
            <a:pathLst>
              <a:path w="3028950" h="514350">
                <a:moveTo>
                  <a:pt x="76201" y="0"/>
                </a:moveTo>
                <a:lnTo>
                  <a:pt x="2952749" y="0"/>
                </a:lnTo>
                <a:cubicBezTo>
                  <a:pt x="2994834" y="0"/>
                  <a:pt x="3028950" y="34116"/>
                  <a:pt x="3028950" y="76201"/>
                </a:cubicBezTo>
                <a:lnTo>
                  <a:pt x="3028950" y="438149"/>
                </a:lnTo>
                <a:cubicBezTo>
                  <a:pt x="3028950" y="480234"/>
                  <a:pt x="2994834" y="514350"/>
                  <a:pt x="2952749" y="514350"/>
                </a:cubicBezTo>
                <a:lnTo>
                  <a:pt x="76201" y="514350"/>
                </a:lnTo>
                <a:cubicBezTo>
                  <a:pt x="34116" y="514350"/>
                  <a:pt x="0" y="480234"/>
                  <a:pt x="0" y="4381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36" name="Text 34"/>
          <p:cNvSpPr/>
          <p:nvPr/>
        </p:nvSpPr>
        <p:spPr>
          <a:xfrm>
            <a:off x="7529513" y="3714750"/>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Hidden Layer 2 Gradients</a:t>
            </a:r>
            <a:endParaRPr lang="en-US" sz="1600" dirty="0"/>
          </a:p>
        </p:txBody>
      </p:sp>
      <p:sp>
        <p:nvSpPr>
          <p:cNvPr id="37" name="Text 35"/>
          <p:cNvSpPr/>
          <p:nvPr/>
        </p:nvSpPr>
        <p:spPr>
          <a:xfrm>
            <a:off x="7534275" y="3905250"/>
            <a:ext cx="29146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∂L/∂W⁽²⁾, ∂L/∂b⁽²⁾</a:t>
            </a:r>
            <a:endParaRPr lang="en-US" sz="1600" dirty="0"/>
          </a:p>
        </p:txBody>
      </p:sp>
      <p:sp>
        <p:nvSpPr>
          <p:cNvPr id="38" name="Text 36"/>
          <p:cNvSpPr/>
          <p:nvPr/>
        </p:nvSpPr>
        <p:spPr>
          <a:xfrm>
            <a:off x="8512671" y="4191000"/>
            <a:ext cx="1057275" cy="266700"/>
          </a:xfrm>
          <a:prstGeom prst="rect">
            <a:avLst/>
          </a:prstGeom>
          <a:noFill/>
          <a:ln/>
        </p:spPr>
        <p:txBody>
          <a:bodyPr wrap="square" lIns="0" tIns="0" rIns="0" bIns="0" rtlCol="0" anchor="ctr"/>
          <a:lstStyle/>
          <a:p>
            <a:pPr>
              <a:lnSpc>
                <a:spcPct val="120000"/>
              </a:lnSpc>
            </a:pPr>
            <a:r>
              <a:rPr lang="en-US" sz="1500" dirty="0">
                <a:solidFill>
                  <a:srgbClr val="FFD54F"/>
                </a:solidFill>
                <a:latin typeface="Quattrocento Sans" pitchFamily="34" charset="0"/>
                <a:ea typeface="Quattrocento Sans" pitchFamily="34" charset="-122"/>
                <a:cs typeface="Quattrocento Sans" pitchFamily="34" charset="-120"/>
              </a:rPr>
              <a:t>↑ Backward</a:t>
            </a:r>
            <a:endParaRPr lang="en-US" sz="1600" dirty="0"/>
          </a:p>
        </p:txBody>
      </p:sp>
      <p:sp>
        <p:nvSpPr>
          <p:cNvPr id="39" name="Shape 37"/>
          <p:cNvSpPr/>
          <p:nvPr/>
        </p:nvSpPr>
        <p:spPr>
          <a:xfrm>
            <a:off x="7477125" y="4505325"/>
            <a:ext cx="3028950" cy="514350"/>
          </a:xfrm>
          <a:custGeom>
            <a:avLst/>
            <a:gdLst/>
            <a:ahLst/>
            <a:cxnLst/>
            <a:rect l="l" t="t" r="r" b="b"/>
            <a:pathLst>
              <a:path w="3028950" h="514350">
                <a:moveTo>
                  <a:pt x="76201" y="0"/>
                </a:moveTo>
                <a:lnTo>
                  <a:pt x="2952749" y="0"/>
                </a:lnTo>
                <a:cubicBezTo>
                  <a:pt x="2994834" y="0"/>
                  <a:pt x="3028950" y="34116"/>
                  <a:pt x="3028950" y="76201"/>
                </a:cubicBezTo>
                <a:lnTo>
                  <a:pt x="3028950" y="438149"/>
                </a:lnTo>
                <a:cubicBezTo>
                  <a:pt x="3028950" y="480234"/>
                  <a:pt x="2994834" y="514350"/>
                  <a:pt x="2952749" y="514350"/>
                </a:cubicBezTo>
                <a:lnTo>
                  <a:pt x="76201" y="514350"/>
                </a:lnTo>
                <a:cubicBezTo>
                  <a:pt x="34116" y="514350"/>
                  <a:pt x="0" y="480234"/>
                  <a:pt x="0" y="438149"/>
                </a:cubicBezTo>
                <a:lnTo>
                  <a:pt x="0" y="76201"/>
                </a:lnTo>
                <a:cubicBezTo>
                  <a:pt x="0" y="34145"/>
                  <a:pt x="34145" y="0"/>
                  <a:pt x="76201" y="0"/>
                </a:cubicBezTo>
                <a:close/>
              </a:path>
            </a:pathLst>
          </a:custGeom>
          <a:solidFill>
            <a:srgbClr val="FFD54F">
              <a:alpha val="20000"/>
            </a:srgbClr>
          </a:solidFill>
          <a:ln w="25400">
            <a:solidFill>
              <a:srgbClr val="FFD54F"/>
            </a:solidFill>
            <a:prstDash val="solid"/>
          </a:ln>
        </p:spPr>
      </p:sp>
      <p:sp>
        <p:nvSpPr>
          <p:cNvPr id="40" name="Text 38"/>
          <p:cNvSpPr/>
          <p:nvPr/>
        </p:nvSpPr>
        <p:spPr>
          <a:xfrm>
            <a:off x="7529513" y="4591050"/>
            <a:ext cx="29241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Hidden Layer 1 Gradients</a:t>
            </a:r>
            <a:endParaRPr lang="en-US" sz="1600" dirty="0"/>
          </a:p>
        </p:txBody>
      </p:sp>
      <p:sp>
        <p:nvSpPr>
          <p:cNvPr id="41" name="Text 39"/>
          <p:cNvSpPr/>
          <p:nvPr/>
        </p:nvSpPr>
        <p:spPr>
          <a:xfrm>
            <a:off x="7534275" y="4781550"/>
            <a:ext cx="29146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∂L/∂W⁽¹⁾, ∂L/∂b⁽¹⁾</a:t>
            </a:r>
            <a:endParaRPr lang="en-US" sz="1600" dirty="0"/>
          </a:p>
        </p:txBody>
      </p:sp>
      <p:sp>
        <p:nvSpPr>
          <p:cNvPr id="42" name="Text 40"/>
          <p:cNvSpPr/>
          <p:nvPr/>
        </p:nvSpPr>
        <p:spPr>
          <a:xfrm>
            <a:off x="8512671" y="5067300"/>
            <a:ext cx="1057275" cy="266700"/>
          </a:xfrm>
          <a:prstGeom prst="rect">
            <a:avLst/>
          </a:prstGeom>
          <a:noFill/>
          <a:ln/>
        </p:spPr>
        <p:txBody>
          <a:bodyPr wrap="square" lIns="0" tIns="0" rIns="0" bIns="0" rtlCol="0" anchor="ctr"/>
          <a:lstStyle/>
          <a:p>
            <a:pPr>
              <a:lnSpc>
                <a:spcPct val="120000"/>
              </a:lnSpc>
            </a:pPr>
            <a:r>
              <a:rPr lang="en-US" sz="1500" dirty="0">
                <a:solidFill>
                  <a:srgbClr val="4DB6AC"/>
                </a:solidFill>
                <a:latin typeface="Quattrocento Sans" pitchFamily="34" charset="0"/>
                <a:ea typeface="Quattrocento Sans" pitchFamily="34" charset="-122"/>
                <a:cs typeface="Quattrocento Sans" pitchFamily="34" charset="-120"/>
              </a:rPr>
              <a:t>↑ Backward</a:t>
            </a:r>
            <a:endParaRPr lang="en-US" sz="1600" dirty="0"/>
          </a:p>
        </p:txBody>
      </p:sp>
      <p:sp>
        <p:nvSpPr>
          <p:cNvPr id="43" name="Shape 41"/>
          <p:cNvSpPr/>
          <p:nvPr/>
        </p:nvSpPr>
        <p:spPr>
          <a:xfrm>
            <a:off x="7172325" y="5381625"/>
            <a:ext cx="3638550" cy="514350"/>
          </a:xfrm>
          <a:custGeom>
            <a:avLst/>
            <a:gdLst/>
            <a:ahLst/>
            <a:cxnLst/>
            <a:rect l="l" t="t" r="r" b="b"/>
            <a:pathLst>
              <a:path w="3638550" h="514350">
                <a:moveTo>
                  <a:pt x="76201" y="0"/>
                </a:moveTo>
                <a:lnTo>
                  <a:pt x="3562349" y="0"/>
                </a:lnTo>
                <a:cubicBezTo>
                  <a:pt x="3604434" y="0"/>
                  <a:pt x="3638550" y="34116"/>
                  <a:pt x="3638550" y="76201"/>
                </a:cubicBezTo>
                <a:lnTo>
                  <a:pt x="3638550" y="438149"/>
                </a:lnTo>
                <a:cubicBezTo>
                  <a:pt x="3638550" y="480234"/>
                  <a:pt x="3604434" y="514350"/>
                  <a:pt x="3562349" y="514350"/>
                </a:cubicBezTo>
                <a:lnTo>
                  <a:pt x="76201" y="514350"/>
                </a:lnTo>
                <a:cubicBezTo>
                  <a:pt x="34116" y="514350"/>
                  <a:pt x="0" y="480234"/>
                  <a:pt x="0" y="438149"/>
                </a:cubicBezTo>
                <a:lnTo>
                  <a:pt x="0" y="76201"/>
                </a:lnTo>
                <a:cubicBezTo>
                  <a:pt x="0" y="34145"/>
                  <a:pt x="34145" y="0"/>
                  <a:pt x="76201" y="0"/>
                </a:cubicBezTo>
                <a:close/>
              </a:path>
            </a:pathLst>
          </a:custGeom>
          <a:solidFill>
            <a:srgbClr val="4DB6AC">
              <a:alpha val="20000"/>
            </a:srgbClr>
          </a:solidFill>
          <a:ln w="25400">
            <a:solidFill>
              <a:srgbClr val="4DB6AC"/>
            </a:solidFill>
            <a:prstDash val="solid"/>
          </a:ln>
        </p:spPr>
      </p:sp>
      <p:sp>
        <p:nvSpPr>
          <p:cNvPr id="44" name="Text 42"/>
          <p:cNvSpPr/>
          <p:nvPr/>
        </p:nvSpPr>
        <p:spPr>
          <a:xfrm>
            <a:off x="7224713" y="5467350"/>
            <a:ext cx="353377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Update All Weights</a:t>
            </a:r>
            <a:endParaRPr lang="en-US" sz="1600" dirty="0"/>
          </a:p>
        </p:txBody>
      </p:sp>
      <p:sp>
        <p:nvSpPr>
          <p:cNvPr id="45" name="Text 43"/>
          <p:cNvSpPr/>
          <p:nvPr/>
        </p:nvSpPr>
        <p:spPr>
          <a:xfrm>
            <a:off x="7229475" y="5657850"/>
            <a:ext cx="35242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W = W - η·∂L/∂W</a:t>
            </a:r>
            <a:endParaRPr lang="en-US" sz="1600" dirty="0"/>
          </a:p>
        </p:txBody>
      </p:sp>
      <p:sp>
        <p:nvSpPr>
          <p:cNvPr id="46" name="Shape 44"/>
          <p:cNvSpPr/>
          <p:nvPr/>
        </p:nvSpPr>
        <p:spPr>
          <a:xfrm>
            <a:off x="6176963" y="5910263"/>
            <a:ext cx="2771775" cy="923925"/>
          </a:xfrm>
          <a:custGeom>
            <a:avLst/>
            <a:gdLst/>
            <a:ahLst/>
            <a:cxnLst/>
            <a:rect l="l" t="t" r="r" b="b"/>
            <a:pathLst>
              <a:path w="2771775" h="923925">
                <a:moveTo>
                  <a:pt x="76196" y="0"/>
                </a:moveTo>
                <a:lnTo>
                  <a:pt x="2695579" y="0"/>
                </a:lnTo>
                <a:cubicBezTo>
                  <a:pt x="2737661" y="0"/>
                  <a:pt x="2771775" y="34114"/>
                  <a:pt x="2771775" y="76196"/>
                </a:cubicBezTo>
                <a:lnTo>
                  <a:pt x="2771775" y="847729"/>
                </a:lnTo>
                <a:cubicBezTo>
                  <a:pt x="2771775" y="889811"/>
                  <a:pt x="2737661" y="923925"/>
                  <a:pt x="2695579" y="923925"/>
                </a:cubicBezTo>
                <a:lnTo>
                  <a:pt x="76196" y="923925"/>
                </a:lnTo>
                <a:cubicBezTo>
                  <a:pt x="34114" y="923925"/>
                  <a:pt x="0" y="889811"/>
                  <a:pt x="0" y="847729"/>
                </a:cubicBezTo>
                <a:lnTo>
                  <a:pt x="0" y="76196"/>
                </a:lnTo>
                <a:cubicBezTo>
                  <a:pt x="0" y="34114"/>
                  <a:pt x="34114" y="0"/>
                  <a:pt x="76196" y="0"/>
                </a:cubicBezTo>
                <a:close/>
              </a:path>
            </a:pathLst>
          </a:custGeom>
          <a:solidFill>
            <a:srgbClr val="4DB6AC">
              <a:alpha val="10196"/>
            </a:srgbClr>
          </a:solidFill>
          <a:ln w="12700">
            <a:solidFill>
              <a:srgbClr val="4DB6AC">
                <a:alpha val="30196"/>
              </a:srgbClr>
            </a:solidFill>
            <a:prstDash val="solid"/>
          </a:ln>
        </p:spPr>
      </p:sp>
      <p:sp>
        <p:nvSpPr>
          <p:cNvPr id="47" name="Text 45"/>
          <p:cNvSpPr/>
          <p:nvPr/>
        </p:nvSpPr>
        <p:spPr>
          <a:xfrm>
            <a:off x="6238875" y="6029325"/>
            <a:ext cx="2647950" cy="304800"/>
          </a:xfrm>
          <a:prstGeom prst="rect">
            <a:avLst/>
          </a:prstGeom>
          <a:noFill/>
          <a:ln/>
        </p:spPr>
        <p:txBody>
          <a:bodyPr wrap="square" lIns="0" tIns="0" rIns="0" bIns="0" rtlCol="0" anchor="ctr"/>
          <a:lstStyle/>
          <a:p>
            <a:pPr algn="ctr">
              <a:lnSpc>
                <a:spcPct val="110000"/>
              </a:lnSpc>
            </a:pPr>
            <a:r>
              <a:rPr lang="en-US" sz="1800" b="1" dirty="0">
                <a:solidFill>
                  <a:srgbClr val="4DB6AC"/>
                </a:solidFill>
                <a:latin typeface="Liter" pitchFamily="34" charset="0"/>
                <a:ea typeface="Liter" pitchFamily="34" charset="-122"/>
                <a:cs typeface="Liter" pitchFamily="34" charset="-120"/>
              </a:rPr>
              <a:t>1986</a:t>
            </a:r>
            <a:endParaRPr lang="en-US" sz="1600" dirty="0"/>
          </a:p>
        </p:txBody>
      </p:sp>
      <p:sp>
        <p:nvSpPr>
          <p:cNvPr id="48" name="Text 46"/>
          <p:cNvSpPr/>
          <p:nvPr/>
        </p:nvSpPr>
        <p:spPr>
          <a:xfrm>
            <a:off x="6262688" y="637222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Popularized</a:t>
            </a:r>
            <a:endParaRPr lang="en-US" sz="1600" dirty="0"/>
          </a:p>
        </p:txBody>
      </p:sp>
      <p:sp>
        <p:nvSpPr>
          <p:cNvPr id="49" name="Text 47"/>
          <p:cNvSpPr/>
          <p:nvPr/>
        </p:nvSpPr>
        <p:spPr>
          <a:xfrm>
            <a:off x="6267450" y="65627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Rumelhart et al.</a:t>
            </a:r>
            <a:endParaRPr lang="en-US" sz="1600" dirty="0"/>
          </a:p>
        </p:txBody>
      </p:sp>
      <p:sp>
        <p:nvSpPr>
          <p:cNvPr id="50" name="Shape 48"/>
          <p:cNvSpPr/>
          <p:nvPr/>
        </p:nvSpPr>
        <p:spPr>
          <a:xfrm>
            <a:off x="9034463" y="5910263"/>
            <a:ext cx="2771775" cy="923925"/>
          </a:xfrm>
          <a:custGeom>
            <a:avLst/>
            <a:gdLst/>
            <a:ahLst/>
            <a:cxnLst/>
            <a:rect l="l" t="t" r="r" b="b"/>
            <a:pathLst>
              <a:path w="2771775" h="923925">
                <a:moveTo>
                  <a:pt x="76196" y="0"/>
                </a:moveTo>
                <a:lnTo>
                  <a:pt x="2695579" y="0"/>
                </a:lnTo>
                <a:cubicBezTo>
                  <a:pt x="2737661" y="0"/>
                  <a:pt x="2771775" y="34114"/>
                  <a:pt x="2771775" y="76196"/>
                </a:cubicBezTo>
                <a:lnTo>
                  <a:pt x="2771775" y="847729"/>
                </a:lnTo>
                <a:cubicBezTo>
                  <a:pt x="2771775" y="889811"/>
                  <a:pt x="2737661" y="923925"/>
                  <a:pt x="2695579" y="923925"/>
                </a:cubicBezTo>
                <a:lnTo>
                  <a:pt x="76196" y="923925"/>
                </a:lnTo>
                <a:cubicBezTo>
                  <a:pt x="34114" y="923925"/>
                  <a:pt x="0" y="889811"/>
                  <a:pt x="0" y="847729"/>
                </a:cubicBezTo>
                <a:lnTo>
                  <a:pt x="0" y="76196"/>
                </a:lnTo>
                <a:cubicBezTo>
                  <a:pt x="0" y="34114"/>
                  <a:pt x="34114" y="0"/>
                  <a:pt x="76196" y="0"/>
                </a:cubicBezTo>
                <a:close/>
              </a:path>
            </a:pathLst>
          </a:custGeom>
          <a:solidFill>
            <a:srgbClr val="FFD54F">
              <a:alpha val="10196"/>
            </a:srgbClr>
          </a:solidFill>
          <a:ln w="12700">
            <a:solidFill>
              <a:srgbClr val="FFD54F">
                <a:alpha val="30196"/>
              </a:srgbClr>
            </a:solidFill>
            <a:prstDash val="solid"/>
          </a:ln>
        </p:spPr>
      </p:sp>
      <p:sp>
        <p:nvSpPr>
          <p:cNvPr id="51" name="Text 49"/>
          <p:cNvSpPr/>
          <p:nvPr/>
        </p:nvSpPr>
        <p:spPr>
          <a:xfrm>
            <a:off x="9096375" y="6029325"/>
            <a:ext cx="2647950" cy="304800"/>
          </a:xfrm>
          <a:prstGeom prst="rect">
            <a:avLst/>
          </a:prstGeom>
          <a:noFill/>
          <a:ln/>
        </p:spPr>
        <p:txBody>
          <a:bodyPr wrap="square" lIns="0" tIns="0" rIns="0" bIns="0" rtlCol="0" anchor="ctr"/>
          <a:lstStyle/>
          <a:p>
            <a:pPr algn="ctr">
              <a:lnSpc>
                <a:spcPct val="110000"/>
              </a:lnSpc>
            </a:pPr>
            <a:r>
              <a:rPr lang="en-US" sz="1800" b="1" dirty="0">
                <a:solidFill>
                  <a:srgbClr val="FFD54F"/>
                </a:solidFill>
                <a:latin typeface="Liter" pitchFamily="34" charset="0"/>
                <a:ea typeface="Liter" pitchFamily="34" charset="-122"/>
                <a:cs typeface="Liter" pitchFamily="34" charset="-120"/>
              </a:rPr>
              <a:t>O(n)</a:t>
            </a:r>
            <a:endParaRPr lang="en-US" sz="1600" dirty="0"/>
          </a:p>
        </p:txBody>
      </p:sp>
      <p:sp>
        <p:nvSpPr>
          <p:cNvPr id="52" name="Text 50"/>
          <p:cNvSpPr/>
          <p:nvPr/>
        </p:nvSpPr>
        <p:spPr>
          <a:xfrm>
            <a:off x="9120188" y="637222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Complexity</a:t>
            </a:r>
            <a:endParaRPr lang="en-US" sz="1600" dirty="0"/>
          </a:p>
        </p:txBody>
      </p:sp>
      <p:sp>
        <p:nvSpPr>
          <p:cNvPr id="53" name="Text 51"/>
          <p:cNvSpPr/>
          <p:nvPr/>
        </p:nvSpPr>
        <p:spPr>
          <a:xfrm>
            <a:off x="9124950" y="656272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Linear in layers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76878" y="376878"/>
            <a:ext cx="11607839" cy="376878"/>
          </a:xfrm>
          <a:prstGeom prst="rect">
            <a:avLst/>
          </a:prstGeom>
          <a:noFill/>
          <a:ln/>
        </p:spPr>
        <p:txBody>
          <a:bodyPr wrap="square" lIns="0" tIns="0" rIns="0" bIns="0" rtlCol="0" anchor="ctr"/>
          <a:lstStyle/>
          <a:p>
            <a:pPr>
              <a:lnSpc>
                <a:spcPct val="90000"/>
              </a:lnSpc>
            </a:pPr>
            <a:r>
              <a:rPr lang="en-US" sz="2671" b="1" dirty="0">
                <a:solidFill>
                  <a:srgbClr val="ECEFF1"/>
                </a:solidFill>
                <a:latin typeface="Liter" pitchFamily="34" charset="0"/>
                <a:ea typeface="Liter" pitchFamily="34" charset="-122"/>
                <a:cs typeface="Liter" pitchFamily="34" charset="-120"/>
              </a:rPr>
              <a:t>Loss Functions</a:t>
            </a:r>
            <a:endParaRPr lang="en-US" sz="1600" dirty="0"/>
          </a:p>
        </p:txBody>
      </p:sp>
      <p:sp>
        <p:nvSpPr>
          <p:cNvPr id="3" name="Text 1"/>
          <p:cNvSpPr/>
          <p:nvPr/>
        </p:nvSpPr>
        <p:spPr>
          <a:xfrm>
            <a:off x="376878" y="791444"/>
            <a:ext cx="11551308" cy="301502"/>
          </a:xfrm>
          <a:prstGeom prst="rect">
            <a:avLst/>
          </a:prstGeom>
          <a:noFill/>
          <a:ln/>
        </p:spPr>
        <p:txBody>
          <a:bodyPr wrap="square" lIns="0" tIns="0" rIns="0" bIns="0" rtlCol="0" anchor="ctr"/>
          <a:lstStyle/>
          <a:p>
            <a:pPr>
              <a:lnSpc>
                <a:spcPct val="110000"/>
              </a:lnSpc>
            </a:pPr>
            <a:r>
              <a:rPr lang="en-US" sz="1781" b="1" dirty="0">
                <a:solidFill>
                  <a:srgbClr val="4DB6AC"/>
                </a:solidFill>
                <a:latin typeface="Hedvig Letters Sans" pitchFamily="34" charset="0"/>
                <a:ea typeface="Hedvig Letters Sans" pitchFamily="34" charset="-122"/>
                <a:cs typeface="Hedvig Letters Sans" pitchFamily="34" charset="-120"/>
              </a:rPr>
              <a:t>Funksionet e Humbjes</a:t>
            </a:r>
            <a:endParaRPr lang="en-US" sz="1600" dirty="0"/>
          </a:p>
        </p:txBody>
      </p:sp>
      <p:sp>
        <p:nvSpPr>
          <p:cNvPr id="4" name="Shape 2"/>
          <p:cNvSpPr/>
          <p:nvPr/>
        </p:nvSpPr>
        <p:spPr>
          <a:xfrm>
            <a:off x="395722" y="1168321"/>
            <a:ext cx="5624903" cy="1714794"/>
          </a:xfrm>
          <a:custGeom>
            <a:avLst/>
            <a:gdLst/>
            <a:ahLst/>
            <a:cxnLst/>
            <a:rect l="l" t="t" r="r" b="b"/>
            <a:pathLst>
              <a:path w="5624903" h="1714794">
                <a:moveTo>
                  <a:pt x="0" y="0"/>
                </a:moveTo>
                <a:lnTo>
                  <a:pt x="5549520" y="0"/>
                </a:lnTo>
                <a:cubicBezTo>
                  <a:pt x="5591153" y="0"/>
                  <a:pt x="5624903" y="33750"/>
                  <a:pt x="5624903" y="75382"/>
                </a:cubicBezTo>
                <a:lnTo>
                  <a:pt x="5624903" y="1639412"/>
                </a:lnTo>
                <a:cubicBezTo>
                  <a:pt x="5624903" y="1681045"/>
                  <a:pt x="5591153" y="1714794"/>
                  <a:pt x="5549520" y="1714794"/>
                </a:cubicBezTo>
                <a:lnTo>
                  <a:pt x="0" y="1714794"/>
                </a:lnTo>
                <a:lnTo>
                  <a:pt x="0" y="0"/>
                </a:lnTo>
                <a:close/>
              </a:path>
            </a:pathLst>
          </a:custGeom>
          <a:solidFill>
            <a:srgbClr val="4DB6AC">
              <a:alpha val="10196"/>
            </a:srgbClr>
          </a:solidFill>
          <a:ln/>
        </p:spPr>
      </p:sp>
      <p:sp>
        <p:nvSpPr>
          <p:cNvPr id="5" name="Shape 3"/>
          <p:cNvSpPr/>
          <p:nvPr/>
        </p:nvSpPr>
        <p:spPr>
          <a:xfrm>
            <a:off x="395722" y="1168321"/>
            <a:ext cx="37688" cy="1714794"/>
          </a:xfrm>
          <a:custGeom>
            <a:avLst/>
            <a:gdLst/>
            <a:ahLst/>
            <a:cxnLst/>
            <a:rect l="l" t="t" r="r" b="b"/>
            <a:pathLst>
              <a:path w="37688" h="1714794">
                <a:moveTo>
                  <a:pt x="0" y="0"/>
                </a:moveTo>
                <a:lnTo>
                  <a:pt x="37688" y="0"/>
                </a:lnTo>
                <a:lnTo>
                  <a:pt x="37688" y="1714794"/>
                </a:lnTo>
                <a:lnTo>
                  <a:pt x="0" y="1714794"/>
                </a:lnTo>
                <a:lnTo>
                  <a:pt x="0" y="0"/>
                </a:lnTo>
                <a:close/>
              </a:path>
            </a:pathLst>
          </a:custGeom>
          <a:solidFill>
            <a:srgbClr val="4DB6AC"/>
          </a:solidFill>
          <a:ln/>
        </p:spPr>
      </p:sp>
      <p:sp>
        <p:nvSpPr>
          <p:cNvPr id="6" name="Text 4"/>
          <p:cNvSpPr/>
          <p:nvPr/>
        </p:nvSpPr>
        <p:spPr>
          <a:xfrm>
            <a:off x="527629" y="1281385"/>
            <a:ext cx="5455308" cy="829131"/>
          </a:xfrm>
          <a:prstGeom prst="rect">
            <a:avLst/>
          </a:prstGeom>
          <a:noFill/>
          <a:ln/>
        </p:spPr>
        <p:txBody>
          <a:bodyPr wrap="square" lIns="0" tIns="0" rIns="0" bIns="0" rtlCol="0" anchor="ctr"/>
          <a:lstStyle/>
          <a:p>
            <a:pPr>
              <a:lnSpc>
                <a:spcPct val="110000"/>
              </a:lnSpc>
            </a:pPr>
            <a:r>
              <a:rPr lang="en-US" sz="1187" b="1" dirty="0">
                <a:solidFill>
                  <a:srgbClr val="4DB6AC"/>
                </a:solidFill>
                <a:latin typeface="Quattrocento Sans" pitchFamily="34" charset="0"/>
                <a:ea typeface="Quattrocento Sans" pitchFamily="34" charset="-122"/>
                <a:cs typeface="Quattrocento Sans" pitchFamily="34" charset="-120"/>
              </a:rPr>
              <a:t>English:</a:t>
            </a:r>
            <a:r>
              <a:rPr lang="en-US" sz="1187" dirty="0">
                <a:solidFill>
                  <a:srgbClr val="ECEFF1"/>
                </a:solidFill>
                <a:latin typeface="Quattrocento Sans" pitchFamily="34" charset="0"/>
                <a:ea typeface="Quattrocento Sans" pitchFamily="34" charset="-122"/>
                <a:cs typeface="Quattrocento Sans" pitchFamily="34" charset="-120"/>
              </a:rPr>
              <a:t> Loss functions measure the discrepancy between predicted outputs and ground truth labels. They guide the learning process by providing a signal for how much the model's predictions need to improve. Choosing the right loss function is crucial for task performance.</a:t>
            </a:r>
            <a:endParaRPr lang="en-US" sz="1600" dirty="0"/>
          </a:p>
        </p:txBody>
      </p:sp>
      <p:sp>
        <p:nvSpPr>
          <p:cNvPr id="7" name="Text 5"/>
          <p:cNvSpPr/>
          <p:nvPr/>
        </p:nvSpPr>
        <p:spPr>
          <a:xfrm>
            <a:off x="527629" y="2148204"/>
            <a:ext cx="5455308" cy="621849"/>
          </a:xfrm>
          <a:prstGeom prst="rect">
            <a:avLst/>
          </a:prstGeom>
          <a:noFill/>
          <a:ln/>
        </p:spPr>
        <p:txBody>
          <a:bodyPr wrap="square" lIns="0" tIns="0" rIns="0" bIns="0" rtlCol="0" anchor="ctr"/>
          <a:lstStyle/>
          <a:p>
            <a:pPr>
              <a:lnSpc>
                <a:spcPct val="110000"/>
              </a:lnSpc>
            </a:pPr>
            <a:r>
              <a:rPr lang="en-US" sz="1187" b="1" dirty="0">
                <a:solidFill>
                  <a:srgbClr val="FFD54F"/>
                </a:solidFill>
                <a:latin typeface="Quattrocento Sans" pitchFamily="34" charset="0"/>
                <a:ea typeface="Quattrocento Sans" pitchFamily="34" charset="-122"/>
                <a:cs typeface="Quattrocento Sans" pitchFamily="34" charset="-120"/>
              </a:rPr>
              <a:t>Shqip:</a:t>
            </a:r>
            <a:r>
              <a:rPr lang="en-US" sz="1187" dirty="0">
                <a:solidFill>
                  <a:srgbClr val="78909C"/>
                </a:solidFill>
                <a:latin typeface="Quattrocento Sans" pitchFamily="34" charset="0"/>
                <a:ea typeface="Quattrocento Sans" pitchFamily="34" charset="-122"/>
                <a:cs typeface="Quattrocento Sans" pitchFamily="34" charset="-120"/>
              </a:rPr>
              <a:t> Funksionet e humbjes masin mospërputhjen midis daljeve të parashikuara dhe etiketave të vërteta. Ato udhëheqin procesin e mësimit duke ofruar një sinjal për sa duhet të përmirësohen parashikimet e modelit.</a:t>
            </a:r>
            <a:endParaRPr lang="en-US" sz="1600" dirty="0"/>
          </a:p>
        </p:txBody>
      </p:sp>
      <p:sp>
        <p:nvSpPr>
          <p:cNvPr id="8" name="Shape 6"/>
          <p:cNvSpPr/>
          <p:nvPr/>
        </p:nvSpPr>
        <p:spPr>
          <a:xfrm>
            <a:off x="381589" y="2963202"/>
            <a:ext cx="5634325" cy="2609879"/>
          </a:xfrm>
          <a:custGeom>
            <a:avLst/>
            <a:gdLst/>
            <a:ahLst/>
            <a:cxnLst/>
            <a:rect l="l" t="t" r="r" b="b"/>
            <a:pathLst>
              <a:path w="5634325" h="2609879">
                <a:moveTo>
                  <a:pt x="75373" y="0"/>
                </a:moveTo>
                <a:lnTo>
                  <a:pt x="5558951" y="0"/>
                </a:lnTo>
                <a:cubicBezTo>
                  <a:pt x="5600579" y="0"/>
                  <a:pt x="5634325" y="33746"/>
                  <a:pt x="5634325" y="75373"/>
                </a:cubicBezTo>
                <a:lnTo>
                  <a:pt x="5634325" y="2534506"/>
                </a:lnTo>
                <a:cubicBezTo>
                  <a:pt x="5634325" y="2576134"/>
                  <a:pt x="5600579" y="2609879"/>
                  <a:pt x="5558951" y="2609879"/>
                </a:cubicBezTo>
                <a:lnTo>
                  <a:pt x="75373" y="2609879"/>
                </a:lnTo>
                <a:cubicBezTo>
                  <a:pt x="33746" y="2609879"/>
                  <a:pt x="0" y="2576134"/>
                  <a:pt x="0" y="2534506"/>
                </a:cubicBezTo>
                <a:lnTo>
                  <a:pt x="0" y="75373"/>
                </a:lnTo>
                <a:cubicBezTo>
                  <a:pt x="0" y="33774"/>
                  <a:pt x="33774" y="0"/>
                  <a:pt x="75373"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99363" y="3080977"/>
            <a:ext cx="5483573" cy="263815"/>
          </a:xfrm>
          <a:prstGeom prst="rect">
            <a:avLst/>
          </a:prstGeom>
          <a:noFill/>
          <a:ln/>
        </p:spPr>
        <p:txBody>
          <a:bodyPr wrap="square" lIns="0" tIns="0" rIns="0" bIns="0" rtlCol="0" anchor="ctr"/>
          <a:lstStyle/>
          <a:p>
            <a:pPr>
              <a:lnSpc>
                <a:spcPct val="130000"/>
              </a:lnSpc>
            </a:pPr>
            <a:r>
              <a:rPr lang="en-US" sz="1335" b="1" dirty="0">
                <a:solidFill>
                  <a:srgbClr val="ECEFF1"/>
                </a:solidFill>
                <a:latin typeface="Liter" pitchFamily="34" charset="0"/>
                <a:ea typeface="Liter" pitchFamily="34" charset="-122"/>
                <a:cs typeface="Liter" pitchFamily="34" charset="-120"/>
              </a:rPr>
              <a:t>Regression Losses</a:t>
            </a:r>
            <a:endParaRPr lang="en-US" sz="1600" dirty="0"/>
          </a:p>
        </p:txBody>
      </p:sp>
      <p:sp>
        <p:nvSpPr>
          <p:cNvPr id="10" name="Shape 8"/>
          <p:cNvSpPr/>
          <p:nvPr/>
        </p:nvSpPr>
        <p:spPr>
          <a:xfrm>
            <a:off x="499363" y="3420167"/>
            <a:ext cx="5398776" cy="979883"/>
          </a:xfrm>
          <a:custGeom>
            <a:avLst/>
            <a:gdLst/>
            <a:ahLst/>
            <a:cxnLst/>
            <a:rect l="l" t="t" r="r" b="b"/>
            <a:pathLst>
              <a:path w="5398776" h="979883">
                <a:moveTo>
                  <a:pt x="75373" y="0"/>
                </a:moveTo>
                <a:lnTo>
                  <a:pt x="5323403" y="0"/>
                </a:lnTo>
                <a:cubicBezTo>
                  <a:pt x="5365030" y="0"/>
                  <a:pt x="5398776" y="33745"/>
                  <a:pt x="5398776" y="75373"/>
                </a:cubicBezTo>
                <a:lnTo>
                  <a:pt x="5398776" y="904510"/>
                </a:lnTo>
                <a:cubicBezTo>
                  <a:pt x="5398776" y="946137"/>
                  <a:pt x="5365030" y="979883"/>
                  <a:pt x="5323403" y="979883"/>
                </a:cubicBezTo>
                <a:lnTo>
                  <a:pt x="75373" y="979883"/>
                </a:lnTo>
                <a:cubicBezTo>
                  <a:pt x="33745" y="979883"/>
                  <a:pt x="0" y="946137"/>
                  <a:pt x="0" y="904510"/>
                </a:cubicBezTo>
                <a:lnTo>
                  <a:pt x="0" y="75373"/>
                </a:lnTo>
                <a:cubicBezTo>
                  <a:pt x="0" y="33745"/>
                  <a:pt x="33745" y="0"/>
                  <a:pt x="75373" y="0"/>
                </a:cubicBezTo>
                <a:close/>
              </a:path>
            </a:pathLst>
          </a:custGeom>
          <a:solidFill>
            <a:srgbClr val="1A1D21"/>
          </a:solidFill>
          <a:ln/>
        </p:spPr>
      </p:sp>
      <p:sp>
        <p:nvSpPr>
          <p:cNvPr id="11" name="Text 9"/>
          <p:cNvSpPr/>
          <p:nvPr/>
        </p:nvSpPr>
        <p:spPr>
          <a:xfrm>
            <a:off x="612427" y="3533230"/>
            <a:ext cx="1856124"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Mean Squared Error (MSE)</a:t>
            </a:r>
            <a:endParaRPr lang="en-US" sz="1600" dirty="0"/>
          </a:p>
        </p:txBody>
      </p:sp>
      <p:sp>
        <p:nvSpPr>
          <p:cNvPr id="12" name="Text 10"/>
          <p:cNvSpPr/>
          <p:nvPr/>
        </p:nvSpPr>
        <p:spPr>
          <a:xfrm>
            <a:off x="5058997" y="3570918"/>
            <a:ext cx="782022" cy="150751"/>
          </a:xfrm>
          <a:prstGeom prst="rect">
            <a:avLst/>
          </a:prstGeom>
          <a:noFill/>
          <a:ln/>
        </p:spPr>
        <p:txBody>
          <a:bodyPr wrap="square" lIns="0" tIns="0" rIns="0" bIns="0" rtlCol="0" anchor="ctr"/>
          <a:lstStyle/>
          <a:p>
            <a:pPr>
              <a:lnSpc>
                <a:spcPct val="110000"/>
              </a:lnSpc>
            </a:pPr>
            <a:r>
              <a:rPr lang="en-US" sz="890" dirty="0">
                <a:solidFill>
                  <a:srgbClr val="4DB6AC"/>
                </a:solidFill>
                <a:latin typeface="Quattrocento Sans" pitchFamily="34" charset="0"/>
                <a:ea typeface="Quattrocento Sans" pitchFamily="34" charset="-122"/>
                <a:cs typeface="Quattrocento Sans" pitchFamily="34" charset="-120"/>
              </a:rPr>
              <a:t>Most Common</a:t>
            </a:r>
            <a:endParaRPr lang="en-US" sz="1600" dirty="0"/>
          </a:p>
        </p:txBody>
      </p:sp>
      <p:sp>
        <p:nvSpPr>
          <p:cNvPr id="13" name="Shape 11"/>
          <p:cNvSpPr/>
          <p:nvPr/>
        </p:nvSpPr>
        <p:spPr>
          <a:xfrm>
            <a:off x="612427" y="3797045"/>
            <a:ext cx="5172649" cy="263815"/>
          </a:xfrm>
          <a:custGeom>
            <a:avLst/>
            <a:gdLst/>
            <a:ahLst/>
            <a:cxnLst/>
            <a:rect l="l" t="t" r="r" b="b"/>
            <a:pathLst>
              <a:path w="5172649" h="263815">
                <a:moveTo>
                  <a:pt x="37689" y="0"/>
                </a:moveTo>
                <a:lnTo>
                  <a:pt x="5134961" y="0"/>
                </a:lnTo>
                <a:cubicBezTo>
                  <a:pt x="5155775" y="0"/>
                  <a:pt x="5172649" y="16874"/>
                  <a:pt x="5172649" y="37689"/>
                </a:cubicBezTo>
                <a:lnTo>
                  <a:pt x="5172649" y="226126"/>
                </a:lnTo>
                <a:cubicBezTo>
                  <a:pt x="5172649" y="246941"/>
                  <a:pt x="5155775" y="263815"/>
                  <a:pt x="5134961" y="263815"/>
                </a:cubicBezTo>
                <a:lnTo>
                  <a:pt x="37689" y="263815"/>
                </a:lnTo>
                <a:cubicBezTo>
                  <a:pt x="16888" y="263815"/>
                  <a:pt x="0" y="246927"/>
                  <a:pt x="0" y="226126"/>
                </a:cubicBezTo>
                <a:lnTo>
                  <a:pt x="0" y="37689"/>
                </a:lnTo>
                <a:cubicBezTo>
                  <a:pt x="0" y="16888"/>
                  <a:pt x="16888" y="0"/>
                  <a:pt x="37689" y="0"/>
                </a:cubicBezTo>
                <a:close/>
              </a:path>
            </a:pathLst>
          </a:custGeom>
          <a:solidFill>
            <a:srgbClr val="4DB6AC">
              <a:alpha val="10196"/>
            </a:srgbClr>
          </a:solidFill>
          <a:ln/>
        </p:spPr>
      </p:sp>
      <p:sp>
        <p:nvSpPr>
          <p:cNvPr id="14" name="Text 12"/>
          <p:cNvSpPr/>
          <p:nvPr/>
        </p:nvSpPr>
        <p:spPr>
          <a:xfrm>
            <a:off x="617138" y="3834733"/>
            <a:ext cx="5163227" cy="188439"/>
          </a:xfrm>
          <a:prstGeom prst="rect">
            <a:avLst/>
          </a:prstGeom>
          <a:noFill/>
          <a:ln/>
        </p:spPr>
        <p:txBody>
          <a:bodyPr wrap="square" lIns="0" tIns="0" rIns="0" bIns="0" rtlCol="0" anchor="ctr"/>
          <a:lstStyle/>
          <a:p>
            <a:pPr algn="ctr">
              <a:lnSpc>
                <a:spcPct val="120000"/>
              </a:lnSpc>
            </a:pPr>
            <a:r>
              <a:rPr lang="en-US" sz="1039" dirty="0">
                <a:solidFill>
                  <a:srgbClr val="FFD54F"/>
                </a:solidFill>
                <a:latin typeface="MiSans" pitchFamily="34" charset="0"/>
                <a:ea typeface="MiSans" pitchFamily="34" charset="-122"/>
                <a:cs typeface="MiSans" pitchFamily="34" charset="-120"/>
              </a:rPr>
              <a:t>MSE = (1/n)Σ(yᵢ - ŷᵢ)²</a:t>
            </a:r>
            <a:endParaRPr lang="en-US" sz="1600" dirty="0"/>
          </a:p>
        </p:txBody>
      </p:sp>
      <p:sp>
        <p:nvSpPr>
          <p:cNvPr id="15" name="Text 13"/>
          <p:cNvSpPr/>
          <p:nvPr/>
        </p:nvSpPr>
        <p:spPr>
          <a:xfrm>
            <a:off x="612427" y="4098547"/>
            <a:ext cx="5238603" cy="188439"/>
          </a:xfrm>
          <a:prstGeom prst="rect">
            <a:avLst/>
          </a:prstGeom>
          <a:noFill/>
          <a:ln/>
        </p:spPr>
        <p:txBody>
          <a:bodyPr wrap="square" lIns="0" tIns="0" rIns="0" bIns="0" rtlCol="0" anchor="ctr"/>
          <a:lstStyle/>
          <a:p>
            <a:pPr>
              <a:lnSpc>
                <a:spcPct val="120000"/>
              </a:lnSpc>
            </a:pPr>
            <a:r>
              <a:rPr lang="en-US" sz="1039" dirty="0">
                <a:solidFill>
                  <a:srgbClr val="ECEFF1"/>
                </a:solidFill>
                <a:latin typeface="Quattrocento Sans" pitchFamily="34" charset="0"/>
                <a:ea typeface="Quattrocento Sans" pitchFamily="34" charset="-122"/>
                <a:cs typeface="Quattrocento Sans" pitchFamily="34" charset="-120"/>
              </a:rPr>
              <a:t>Penalizes large errors more heavily. Sensitive to outliers.</a:t>
            </a:r>
            <a:endParaRPr lang="en-US" sz="1600" dirty="0"/>
          </a:p>
        </p:txBody>
      </p:sp>
      <p:sp>
        <p:nvSpPr>
          <p:cNvPr id="16" name="Shape 14"/>
          <p:cNvSpPr/>
          <p:nvPr/>
        </p:nvSpPr>
        <p:spPr>
          <a:xfrm>
            <a:off x="499363" y="4475425"/>
            <a:ext cx="5398776" cy="979883"/>
          </a:xfrm>
          <a:custGeom>
            <a:avLst/>
            <a:gdLst/>
            <a:ahLst/>
            <a:cxnLst/>
            <a:rect l="l" t="t" r="r" b="b"/>
            <a:pathLst>
              <a:path w="5398776" h="979883">
                <a:moveTo>
                  <a:pt x="75373" y="0"/>
                </a:moveTo>
                <a:lnTo>
                  <a:pt x="5323403" y="0"/>
                </a:lnTo>
                <a:cubicBezTo>
                  <a:pt x="5365030" y="0"/>
                  <a:pt x="5398776" y="33745"/>
                  <a:pt x="5398776" y="75373"/>
                </a:cubicBezTo>
                <a:lnTo>
                  <a:pt x="5398776" y="904510"/>
                </a:lnTo>
                <a:cubicBezTo>
                  <a:pt x="5398776" y="946137"/>
                  <a:pt x="5365030" y="979883"/>
                  <a:pt x="5323403" y="979883"/>
                </a:cubicBezTo>
                <a:lnTo>
                  <a:pt x="75373" y="979883"/>
                </a:lnTo>
                <a:cubicBezTo>
                  <a:pt x="33745" y="979883"/>
                  <a:pt x="0" y="946137"/>
                  <a:pt x="0" y="904510"/>
                </a:cubicBezTo>
                <a:lnTo>
                  <a:pt x="0" y="75373"/>
                </a:lnTo>
                <a:cubicBezTo>
                  <a:pt x="0" y="33745"/>
                  <a:pt x="33745" y="0"/>
                  <a:pt x="75373" y="0"/>
                </a:cubicBezTo>
                <a:close/>
              </a:path>
            </a:pathLst>
          </a:custGeom>
          <a:solidFill>
            <a:srgbClr val="1A1D21"/>
          </a:solidFill>
          <a:ln/>
        </p:spPr>
      </p:sp>
      <p:sp>
        <p:nvSpPr>
          <p:cNvPr id="17" name="Text 15"/>
          <p:cNvSpPr/>
          <p:nvPr/>
        </p:nvSpPr>
        <p:spPr>
          <a:xfrm>
            <a:off x="612427" y="4588488"/>
            <a:ext cx="1903233"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Mean Absolute Error (MAE)</a:t>
            </a:r>
            <a:endParaRPr lang="en-US" sz="1600" dirty="0"/>
          </a:p>
        </p:txBody>
      </p:sp>
      <p:sp>
        <p:nvSpPr>
          <p:cNvPr id="18" name="Text 16"/>
          <p:cNvSpPr/>
          <p:nvPr/>
        </p:nvSpPr>
        <p:spPr>
          <a:xfrm>
            <a:off x="5443530" y="4626176"/>
            <a:ext cx="395722" cy="150751"/>
          </a:xfrm>
          <a:prstGeom prst="rect">
            <a:avLst/>
          </a:prstGeom>
          <a:noFill/>
          <a:ln/>
        </p:spPr>
        <p:txBody>
          <a:bodyPr wrap="square" lIns="0" tIns="0" rIns="0" bIns="0" rtlCol="0" anchor="ctr"/>
          <a:lstStyle/>
          <a:p>
            <a:pPr>
              <a:lnSpc>
                <a:spcPct val="110000"/>
              </a:lnSpc>
            </a:pPr>
            <a:r>
              <a:rPr lang="en-US" sz="890" dirty="0">
                <a:solidFill>
                  <a:srgbClr val="FFD54F"/>
                </a:solidFill>
                <a:latin typeface="Quattrocento Sans" pitchFamily="34" charset="0"/>
                <a:ea typeface="Quattrocento Sans" pitchFamily="34" charset="-122"/>
                <a:cs typeface="Quattrocento Sans" pitchFamily="34" charset="-120"/>
              </a:rPr>
              <a:t>Robust</a:t>
            </a:r>
            <a:endParaRPr lang="en-US" sz="1600" dirty="0"/>
          </a:p>
        </p:txBody>
      </p:sp>
      <p:sp>
        <p:nvSpPr>
          <p:cNvPr id="19" name="Shape 17"/>
          <p:cNvSpPr/>
          <p:nvPr/>
        </p:nvSpPr>
        <p:spPr>
          <a:xfrm>
            <a:off x="612427" y="4852303"/>
            <a:ext cx="5172649" cy="263815"/>
          </a:xfrm>
          <a:custGeom>
            <a:avLst/>
            <a:gdLst/>
            <a:ahLst/>
            <a:cxnLst/>
            <a:rect l="l" t="t" r="r" b="b"/>
            <a:pathLst>
              <a:path w="5172649" h="263815">
                <a:moveTo>
                  <a:pt x="37689" y="0"/>
                </a:moveTo>
                <a:lnTo>
                  <a:pt x="5134961" y="0"/>
                </a:lnTo>
                <a:cubicBezTo>
                  <a:pt x="5155775" y="0"/>
                  <a:pt x="5172649" y="16874"/>
                  <a:pt x="5172649" y="37689"/>
                </a:cubicBezTo>
                <a:lnTo>
                  <a:pt x="5172649" y="226126"/>
                </a:lnTo>
                <a:cubicBezTo>
                  <a:pt x="5172649" y="246941"/>
                  <a:pt x="5155775" y="263815"/>
                  <a:pt x="5134961" y="263815"/>
                </a:cubicBezTo>
                <a:lnTo>
                  <a:pt x="37689" y="263815"/>
                </a:lnTo>
                <a:cubicBezTo>
                  <a:pt x="16888" y="263815"/>
                  <a:pt x="0" y="246927"/>
                  <a:pt x="0" y="226126"/>
                </a:cubicBezTo>
                <a:lnTo>
                  <a:pt x="0" y="37689"/>
                </a:lnTo>
                <a:cubicBezTo>
                  <a:pt x="0" y="16888"/>
                  <a:pt x="16888" y="0"/>
                  <a:pt x="37689" y="0"/>
                </a:cubicBezTo>
                <a:close/>
              </a:path>
            </a:pathLst>
          </a:custGeom>
          <a:solidFill>
            <a:srgbClr val="FFD54F">
              <a:alpha val="10196"/>
            </a:srgbClr>
          </a:solidFill>
          <a:ln/>
        </p:spPr>
      </p:sp>
      <p:sp>
        <p:nvSpPr>
          <p:cNvPr id="20" name="Text 18"/>
          <p:cNvSpPr/>
          <p:nvPr/>
        </p:nvSpPr>
        <p:spPr>
          <a:xfrm>
            <a:off x="617138" y="4889991"/>
            <a:ext cx="5163227" cy="188439"/>
          </a:xfrm>
          <a:prstGeom prst="rect">
            <a:avLst/>
          </a:prstGeom>
          <a:noFill/>
          <a:ln/>
        </p:spPr>
        <p:txBody>
          <a:bodyPr wrap="square" lIns="0" tIns="0" rIns="0" bIns="0" rtlCol="0" anchor="ctr"/>
          <a:lstStyle/>
          <a:p>
            <a:pPr algn="ctr">
              <a:lnSpc>
                <a:spcPct val="120000"/>
              </a:lnSpc>
            </a:pPr>
            <a:r>
              <a:rPr lang="en-US" sz="1039" dirty="0">
                <a:solidFill>
                  <a:srgbClr val="FFD54F"/>
                </a:solidFill>
                <a:latin typeface="MiSans" pitchFamily="34" charset="0"/>
                <a:ea typeface="MiSans" pitchFamily="34" charset="-122"/>
                <a:cs typeface="MiSans" pitchFamily="34" charset="-120"/>
              </a:rPr>
              <a:t>MAE = (1/n)Σ|yᵢ - ŷᵢ|</a:t>
            </a:r>
            <a:endParaRPr lang="en-US" sz="1600" dirty="0"/>
          </a:p>
        </p:txBody>
      </p:sp>
      <p:sp>
        <p:nvSpPr>
          <p:cNvPr id="21" name="Text 19"/>
          <p:cNvSpPr/>
          <p:nvPr/>
        </p:nvSpPr>
        <p:spPr>
          <a:xfrm>
            <a:off x="612427" y="5153805"/>
            <a:ext cx="5238603" cy="188439"/>
          </a:xfrm>
          <a:prstGeom prst="rect">
            <a:avLst/>
          </a:prstGeom>
          <a:noFill/>
          <a:ln/>
        </p:spPr>
        <p:txBody>
          <a:bodyPr wrap="square" lIns="0" tIns="0" rIns="0" bIns="0" rtlCol="0" anchor="ctr"/>
          <a:lstStyle/>
          <a:p>
            <a:pPr>
              <a:lnSpc>
                <a:spcPct val="120000"/>
              </a:lnSpc>
            </a:pPr>
            <a:r>
              <a:rPr lang="en-US" sz="1039" dirty="0">
                <a:solidFill>
                  <a:srgbClr val="ECEFF1"/>
                </a:solidFill>
                <a:latin typeface="Quattrocento Sans" pitchFamily="34" charset="0"/>
                <a:ea typeface="Quattrocento Sans" pitchFamily="34" charset="-122"/>
                <a:cs typeface="Quattrocento Sans" pitchFamily="34" charset="-120"/>
              </a:rPr>
              <a:t>Less sensitive to outliers. Linear penalty.</a:t>
            </a:r>
            <a:endParaRPr lang="en-US" sz="1600" dirty="0"/>
          </a:p>
        </p:txBody>
      </p:sp>
      <p:sp>
        <p:nvSpPr>
          <p:cNvPr id="22" name="Shape 20"/>
          <p:cNvSpPr/>
          <p:nvPr/>
        </p:nvSpPr>
        <p:spPr>
          <a:xfrm>
            <a:off x="6177117" y="1173032"/>
            <a:ext cx="5634325" cy="2534504"/>
          </a:xfrm>
          <a:custGeom>
            <a:avLst/>
            <a:gdLst/>
            <a:ahLst/>
            <a:cxnLst/>
            <a:rect l="l" t="t" r="r" b="b"/>
            <a:pathLst>
              <a:path w="5634325" h="2534504">
                <a:moveTo>
                  <a:pt x="75376" y="0"/>
                </a:moveTo>
                <a:lnTo>
                  <a:pt x="5558948" y="0"/>
                </a:lnTo>
                <a:cubicBezTo>
                  <a:pt x="5600578" y="0"/>
                  <a:pt x="5634325" y="33747"/>
                  <a:pt x="5634325" y="75376"/>
                </a:cubicBezTo>
                <a:lnTo>
                  <a:pt x="5634325" y="2459128"/>
                </a:lnTo>
                <a:cubicBezTo>
                  <a:pt x="5634325" y="2500757"/>
                  <a:pt x="5600578" y="2534504"/>
                  <a:pt x="5558948" y="2534504"/>
                </a:cubicBezTo>
                <a:lnTo>
                  <a:pt x="75376" y="2534504"/>
                </a:lnTo>
                <a:cubicBezTo>
                  <a:pt x="33747" y="2534504"/>
                  <a:pt x="0" y="2500757"/>
                  <a:pt x="0" y="2459128"/>
                </a:cubicBezTo>
                <a:lnTo>
                  <a:pt x="0" y="75376"/>
                </a:lnTo>
                <a:cubicBezTo>
                  <a:pt x="0" y="33775"/>
                  <a:pt x="33775" y="0"/>
                  <a:pt x="75376" y="0"/>
                </a:cubicBezTo>
                <a:close/>
              </a:path>
            </a:pathLst>
          </a:custGeom>
          <a:solidFill>
            <a:srgbClr val="FFD54F">
              <a:alpha val="5098"/>
            </a:srgbClr>
          </a:solidFill>
          <a:ln w="12700">
            <a:solidFill>
              <a:srgbClr val="FFD54F">
                <a:alpha val="30196"/>
              </a:srgbClr>
            </a:solidFill>
            <a:prstDash val="solid"/>
          </a:ln>
        </p:spPr>
      </p:sp>
      <p:sp>
        <p:nvSpPr>
          <p:cNvPr id="23" name="Text 21"/>
          <p:cNvSpPr/>
          <p:nvPr/>
        </p:nvSpPr>
        <p:spPr>
          <a:xfrm>
            <a:off x="6294891" y="1290807"/>
            <a:ext cx="5483573" cy="263815"/>
          </a:xfrm>
          <a:prstGeom prst="rect">
            <a:avLst/>
          </a:prstGeom>
          <a:noFill/>
          <a:ln/>
        </p:spPr>
        <p:txBody>
          <a:bodyPr wrap="square" lIns="0" tIns="0" rIns="0" bIns="0" rtlCol="0" anchor="ctr"/>
          <a:lstStyle/>
          <a:p>
            <a:pPr>
              <a:lnSpc>
                <a:spcPct val="130000"/>
              </a:lnSpc>
            </a:pPr>
            <a:r>
              <a:rPr lang="en-US" sz="1335" b="1" dirty="0">
                <a:solidFill>
                  <a:srgbClr val="ECEFF1"/>
                </a:solidFill>
                <a:latin typeface="Liter" pitchFamily="34" charset="0"/>
                <a:ea typeface="Liter" pitchFamily="34" charset="-122"/>
                <a:cs typeface="Liter" pitchFamily="34" charset="-120"/>
              </a:rPr>
              <a:t>Classification Losses</a:t>
            </a:r>
            <a:endParaRPr lang="en-US" sz="1600" dirty="0"/>
          </a:p>
        </p:txBody>
      </p:sp>
      <p:sp>
        <p:nvSpPr>
          <p:cNvPr id="24" name="Shape 22"/>
          <p:cNvSpPr/>
          <p:nvPr/>
        </p:nvSpPr>
        <p:spPr>
          <a:xfrm>
            <a:off x="6294891" y="1629997"/>
            <a:ext cx="5398776" cy="942195"/>
          </a:xfrm>
          <a:custGeom>
            <a:avLst/>
            <a:gdLst/>
            <a:ahLst/>
            <a:cxnLst/>
            <a:rect l="l" t="t" r="r" b="b"/>
            <a:pathLst>
              <a:path w="5398776" h="942195">
                <a:moveTo>
                  <a:pt x="75376" y="0"/>
                </a:moveTo>
                <a:lnTo>
                  <a:pt x="5323400" y="0"/>
                </a:lnTo>
                <a:cubicBezTo>
                  <a:pt x="5365029" y="0"/>
                  <a:pt x="5398776" y="33747"/>
                  <a:pt x="5398776" y="75376"/>
                </a:cubicBezTo>
                <a:lnTo>
                  <a:pt x="5398776" y="866819"/>
                </a:lnTo>
                <a:cubicBezTo>
                  <a:pt x="5398776" y="908448"/>
                  <a:pt x="5365029" y="942195"/>
                  <a:pt x="5323400" y="942195"/>
                </a:cubicBezTo>
                <a:lnTo>
                  <a:pt x="75376" y="942195"/>
                </a:lnTo>
                <a:cubicBezTo>
                  <a:pt x="33747" y="942195"/>
                  <a:pt x="0" y="908448"/>
                  <a:pt x="0" y="866819"/>
                </a:cubicBezTo>
                <a:lnTo>
                  <a:pt x="0" y="75376"/>
                </a:lnTo>
                <a:cubicBezTo>
                  <a:pt x="0" y="33775"/>
                  <a:pt x="33775" y="0"/>
                  <a:pt x="75376" y="0"/>
                </a:cubicBezTo>
                <a:close/>
              </a:path>
            </a:pathLst>
          </a:custGeom>
          <a:solidFill>
            <a:srgbClr val="1A1D21"/>
          </a:solidFill>
          <a:ln/>
        </p:spPr>
      </p:sp>
      <p:sp>
        <p:nvSpPr>
          <p:cNvPr id="25" name="Text 23"/>
          <p:cNvSpPr/>
          <p:nvPr/>
        </p:nvSpPr>
        <p:spPr>
          <a:xfrm>
            <a:off x="6407955" y="1743060"/>
            <a:ext cx="1498090"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Binary Cross-Entropy</a:t>
            </a:r>
            <a:endParaRPr lang="en-US" sz="1600" dirty="0"/>
          </a:p>
        </p:txBody>
      </p:sp>
      <p:sp>
        <p:nvSpPr>
          <p:cNvPr id="26" name="Text 24"/>
          <p:cNvSpPr/>
          <p:nvPr/>
        </p:nvSpPr>
        <p:spPr>
          <a:xfrm>
            <a:off x="10978188" y="1780748"/>
            <a:ext cx="659536" cy="150751"/>
          </a:xfrm>
          <a:prstGeom prst="rect">
            <a:avLst/>
          </a:prstGeom>
          <a:noFill/>
          <a:ln/>
        </p:spPr>
        <p:txBody>
          <a:bodyPr wrap="square" lIns="0" tIns="0" rIns="0" bIns="0" rtlCol="0" anchor="ctr"/>
          <a:lstStyle/>
          <a:p>
            <a:pPr>
              <a:lnSpc>
                <a:spcPct val="110000"/>
              </a:lnSpc>
            </a:pPr>
            <a:r>
              <a:rPr lang="en-US" sz="890" dirty="0">
                <a:solidFill>
                  <a:srgbClr val="4DB6AC"/>
                </a:solidFill>
                <a:latin typeface="Quattrocento Sans" pitchFamily="34" charset="0"/>
                <a:ea typeface="Quattrocento Sans" pitchFamily="34" charset="-122"/>
                <a:cs typeface="Quattrocento Sans" pitchFamily="34" charset="-120"/>
              </a:rPr>
              <a:t>Binary Tasks</a:t>
            </a:r>
            <a:endParaRPr lang="en-US" sz="1600" dirty="0"/>
          </a:p>
        </p:txBody>
      </p:sp>
      <p:sp>
        <p:nvSpPr>
          <p:cNvPr id="27" name="Shape 25"/>
          <p:cNvSpPr/>
          <p:nvPr/>
        </p:nvSpPr>
        <p:spPr>
          <a:xfrm>
            <a:off x="6407955" y="2006875"/>
            <a:ext cx="5172649" cy="226127"/>
          </a:xfrm>
          <a:custGeom>
            <a:avLst/>
            <a:gdLst/>
            <a:ahLst/>
            <a:cxnLst/>
            <a:rect l="l" t="t" r="r" b="b"/>
            <a:pathLst>
              <a:path w="5172649" h="226127">
                <a:moveTo>
                  <a:pt x="37689" y="0"/>
                </a:moveTo>
                <a:lnTo>
                  <a:pt x="5134961" y="0"/>
                </a:lnTo>
                <a:cubicBezTo>
                  <a:pt x="5155775" y="0"/>
                  <a:pt x="5172649" y="16874"/>
                  <a:pt x="5172649" y="37689"/>
                </a:cubicBezTo>
                <a:lnTo>
                  <a:pt x="5172649" y="188438"/>
                </a:lnTo>
                <a:cubicBezTo>
                  <a:pt x="5172649" y="209253"/>
                  <a:pt x="5155775" y="226127"/>
                  <a:pt x="5134961" y="226127"/>
                </a:cubicBezTo>
                <a:lnTo>
                  <a:pt x="37689" y="226127"/>
                </a:lnTo>
                <a:cubicBezTo>
                  <a:pt x="16888" y="226127"/>
                  <a:pt x="0" y="209239"/>
                  <a:pt x="0" y="188438"/>
                </a:cubicBezTo>
                <a:lnTo>
                  <a:pt x="0" y="37689"/>
                </a:lnTo>
                <a:cubicBezTo>
                  <a:pt x="0" y="16888"/>
                  <a:pt x="16888" y="0"/>
                  <a:pt x="37689" y="0"/>
                </a:cubicBezTo>
                <a:close/>
              </a:path>
            </a:pathLst>
          </a:custGeom>
          <a:solidFill>
            <a:srgbClr val="4DB6AC">
              <a:alpha val="10196"/>
            </a:srgbClr>
          </a:solidFill>
          <a:ln/>
        </p:spPr>
      </p:sp>
      <p:sp>
        <p:nvSpPr>
          <p:cNvPr id="28" name="Text 26"/>
          <p:cNvSpPr/>
          <p:nvPr/>
        </p:nvSpPr>
        <p:spPr>
          <a:xfrm>
            <a:off x="6417377" y="2044563"/>
            <a:ext cx="5153805" cy="150751"/>
          </a:xfrm>
          <a:prstGeom prst="rect">
            <a:avLst/>
          </a:prstGeom>
          <a:noFill/>
          <a:ln/>
        </p:spPr>
        <p:txBody>
          <a:bodyPr wrap="square" lIns="0" tIns="0" rIns="0" bIns="0" rtlCol="0" anchor="ctr"/>
          <a:lstStyle/>
          <a:p>
            <a:pPr algn="ctr">
              <a:lnSpc>
                <a:spcPct val="110000"/>
              </a:lnSpc>
            </a:pPr>
            <a:r>
              <a:rPr lang="en-US" sz="890" dirty="0">
                <a:solidFill>
                  <a:srgbClr val="FFD54F"/>
                </a:solidFill>
                <a:latin typeface="MiSans" pitchFamily="34" charset="0"/>
                <a:ea typeface="MiSans" pitchFamily="34" charset="-122"/>
                <a:cs typeface="MiSans" pitchFamily="34" charset="-120"/>
              </a:rPr>
              <a:t>BCE = -[y·log(ŷ) + (1-y)·log(1-ŷ)]</a:t>
            </a:r>
            <a:endParaRPr lang="en-US" sz="1600" dirty="0"/>
          </a:p>
        </p:txBody>
      </p:sp>
      <p:sp>
        <p:nvSpPr>
          <p:cNvPr id="29" name="Text 27"/>
          <p:cNvSpPr/>
          <p:nvPr/>
        </p:nvSpPr>
        <p:spPr>
          <a:xfrm>
            <a:off x="6407955" y="2270689"/>
            <a:ext cx="5238603" cy="188439"/>
          </a:xfrm>
          <a:prstGeom prst="rect">
            <a:avLst/>
          </a:prstGeom>
          <a:noFill/>
          <a:ln/>
        </p:spPr>
        <p:txBody>
          <a:bodyPr wrap="square" lIns="0" tIns="0" rIns="0" bIns="0" rtlCol="0" anchor="ctr"/>
          <a:lstStyle/>
          <a:p>
            <a:pPr>
              <a:lnSpc>
                <a:spcPct val="120000"/>
              </a:lnSpc>
            </a:pPr>
            <a:r>
              <a:rPr lang="en-US" sz="1039" dirty="0">
                <a:solidFill>
                  <a:srgbClr val="ECEFF1"/>
                </a:solidFill>
                <a:latin typeface="Quattrocento Sans" pitchFamily="34" charset="0"/>
                <a:ea typeface="Quattrocento Sans" pitchFamily="34" charset="-122"/>
                <a:cs typeface="Quattrocento Sans" pitchFamily="34" charset="-120"/>
              </a:rPr>
              <a:t>For binary classification (0 or 1).</a:t>
            </a:r>
            <a:endParaRPr lang="en-US" sz="1600" dirty="0"/>
          </a:p>
        </p:txBody>
      </p:sp>
      <p:sp>
        <p:nvSpPr>
          <p:cNvPr id="30" name="Shape 28"/>
          <p:cNvSpPr/>
          <p:nvPr/>
        </p:nvSpPr>
        <p:spPr>
          <a:xfrm>
            <a:off x="6294891" y="2647567"/>
            <a:ext cx="5398776" cy="942195"/>
          </a:xfrm>
          <a:custGeom>
            <a:avLst/>
            <a:gdLst/>
            <a:ahLst/>
            <a:cxnLst/>
            <a:rect l="l" t="t" r="r" b="b"/>
            <a:pathLst>
              <a:path w="5398776" h="942195">
                <a:moveTo>
                  <a:pt x="75376" y="0"/>
                </a:moveTo>
                <a:lnTo>
                  <a:pt x="5323400" y="0"/>
                </a:lnTo>
                <a:cubicBezTo>
                  <a:pt x="5365029" y="0"/>
                  <a:pt x="5398776" y="33747"/>
                  <a:pt x="5398776" y="75376"/>
                </a:cubicBezTo>
                <a:lnTo>
                  <a:pt x="5398776" y="866819"/>
                </a:lnTo>
                <a:cubicBezTo>
                  <a:pt x="5398776" y="908448"/>
                  <a:pt x="5365029" y="942195"/>
                  <a:pt x="5323400" y="942195"/>
                </a:cubicBezTo>
                <a:lnTo>
                  <a:pt x="75376" y="942195"/>
                </a:lnTo>
                <a:cubicBezTo>
                  <a:pt x="33747" y="942195"/>
                  <a:pt x="0" y="908448"/>
                  <a:pt x="0" y="866819"/>
                </a:cubicBezTo>
                <a:lnTo>
                  <a:pt x="0" y="75376"/>
                </a:lnTo>
                <a:cubicBezTo>
                  <a:pt x="0" y="33775"/>
                  <a:pt x="33775" y="0"/>
                  <a:pt x="75376" y="0"/>
                </a:cubicBezTo>
                <a:close/>
              </a:path>
            </a:pathLst>
          </a:custGeom>
          <a:solidFill>
            <a:srgbClr val="1A1D21"/>
          </a:solidFill>
          <a:ln/>
        </p:spPr>
      </p:sp>
      <p:sp>
        <p:nvSpPr>
          <p:cNvPr id="31" name="Text 29"/>
          <p:cNvSpPr/>
          <p:nvPr/>
        </p:nvSpPr>
        <p:spPr>
          <a:xfrm>
            <a:off x="6407955" y="2760631"/>
            <a:ext cx="1846702"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Categorical Cross-Entropy</a:t>
            </a:r>
            <a:endParaRPr lang="en-US" sz="1600" dirty="0"/>
          </a:p>
        </p:txBody>
      </p:sp>
      <p:sp>
        <p:nvSpPr>
          <p:cNvPr id="32" name="Text 30"/>
          <p:cNvSpPr/>
          <p:nvPr/>
        </p:nvSpPr>
        <p:spPr>
          <a:xfrm>
            <a:off x="11026476" y="2798318"/>
            <a:ext cx="612427" cy="150751"/>
          </a:xfrm>
          <a:prstGeom prst="rect">
            <a:avLst/>
          </a:prstGeom>
          <a:noFill/>
          <a:ln/>
        </p:spPr>
        <p:txBody>
          <a:bodyPr wrap="square" lIns="0" tIns="0" rIns="0" bIns="0" rtlCol="0" anchor="ctr"/>
          <a:lstStyle/>
          <a:p>
            <a:pPr>
              <a:lnSpc>
                <a:spcPct val="110000"/>
              </a:lnSpc>
            </a:pPr>
            <a:r>
              <a:rPr lang="en-US" sz="890" dirty="0">
                <a:solidFill>
                  <a:srgbClr val="FFD54F"/>
                </a:solidFill>
                <a:latin typeface="Quattrocento Sans" pitchFamily="34" charset="0"/>
                <a:ea typeface="Quattrocento Sans" pitchFamily="34" charset="-122"/>
                <a:cs typeface="Quattrocento Sans" pitchFamily="34" charset="-120"/>
              </a:rPr>
              <a:t>Multi-Class</a:t>
            </a:r>
            <a:endParaRPr lang="en-US" sz="1600" dirty="0"/>
          </a:p>
        </p:txBody>
      </p:sp>
      <p:sp>
        <p:nvSpPr>
          <p:cNvPr id="33" name="Shape 31"/>
          <p:cNvSpPr/>
          <p:nvPr/>
        </p:nvSpPr>
        <p:spPr>
          <a:xfrm>
            <a:off x="6407955" y="3024445"/>
            <a:ext cx="5172649" cy="226127"/>
          </a:xfrm>
          <a:custGeom>
            <a:avLst/>
            <a:gdLst/>
            <a:ahLst/>
            <a:cxnLst/>
            <a:rect l="l" t="t" r="r" b="b"/>
            <a:pathLst>
              <a:path w="5172649" h="226127">
                <a:moveTo>
                  <a:pt x="37689" y="0"/>
                </a:moveTo>
                <a:lnTo>
                  <a:pt x="5134961" y="0"/>
                </a:lnTo>
                <a:cubicBezTo>
                  <a:pt x="5155775" y="0"/>
                  <a:pt x="5172649" y="16874"/>
                  <a:pt x="5172649" y="37689"/>
                </a:cubicBezTo>
                <a:lnTo>
                  <a:pt x="5172649" y="188438"/>
                </a:lnTo>
                <a:cubicBezTo>
                  <a:pt x="5172649" y="209253"/>
                  <a:pt x="5155775" y="226127"/>
                  <a:pt x="5134961" y="226127"/>
                </a:cubicBezTo>
                <a:lnTo>
                  <a:pt x="37689" y="226127"/>
                </a:lnTo>
                <a:cubicBezTo>
                  <a:pt x="16888" y="226127"/>
                  <a:pt x="0" y="209239"/>
                  <a:pt x="0" y="188438"/>
                </a:cubicBezTo>
                <a:lnTo>
                  <a:pt x="0" y="37689"/>
                </a:lnTo>
                <a:cubicBezTo>
                  <a:pt x="0" y="16888"/>
                  <a:pt x="16888" y="0"/>
                  <a:pt x="37689" y="0"/>
                </a:cubicBezTo>
                <a:close/>
              </a:path>
            </a:pathLst>
          </a:custGeom>
          <a:solidFill>
            <a:srgbClr val="FFD54F">
              <a:alpha val="10196"/>
            </a:srgbClr>
          </a:solidFill>
          <a:ln/>
        </p:spPr>
      </p:sp>
      <p:sp>
        <p:nvSpPr>
          <p:cNvPr id="34" name="Text 32"/>
          <p:cNvSpPr/>
          <p:nvPr/>
        </p:nvSpPr>
        <p:spPr>
          <a:xfrm>
            <a:off x="6417377" y="3062133"/>
            <a:ext cx="5153805" cy="150751"/>
          </a:xfrm>
          <a:prstGeom prst="rect">
            <a:avLst/>
          </a:prstGeom>
          <a:noFill/>
          <a:ln/>
        </p:spPr>
        <p:txBody>
          <a:bodyPr wrap="square" lIns="0" tIns="0" rIns="0" bIns="0" rtlCol="0" anchor="ctr"/>
          <a:lstStyle/>
          <a:p>
            <a:pPr algn="ctr">
              <a:lnSpc>
                <a:spcPct val="110000"/>
              </a:lnSpc>
            </a:pPr>
            <a:r>
              <a:rPr lang="en-US" sz="890" dirty="0">
                <a:solidFill>
                  <a:srgbClr val="FFD54F"/>
                </a:solidFill>
                <a:latin typeface="MiSans" pitchFamily="34" charset="0"/>
                <a:ea typeface="MiSans" pitchFamily="34" charset="-122"/>
                <a:cs typeface="MiSans" pitchFamily="34" charset="-120"/>
              </a:rPr>
              <a:t>CCE = -Σyᵢ·log(ŷᵢ)</a:t>
            </a:r>
            <a:endParaRPr lang="en-US" sz="1600" dirty="0"/>
          </a:p>
        </p:txBody>
      </p:sp>
      <p:sp>
        <p:nvSpPr>
          <p:cNvPr id="35" name="Text 33"/>
          <p:cNvSpPr/>
          <p:nvPr/>
        </p:nvSpPr>
        <p:spPr>
          <a:xfrm>
            <a:off x="6407955" y="3288260"/>
            <a:ext cx="5238603" cy="188439"/>
          </a:xfrm>
          <a:prstGeom prst="rect">
            <a:avLst/>
          </a:prstGeom>
          <a:noFill/>
          <a:ln/>
        </p:spPr>
        <p:txBody>
          <a:bodyPr wrap="square" lIns="0" tIns="0" rIns="0" bIns="0" rtlCol="0" anchor="ctr"/>
          <a:lstStyle/>
          <a:p>
            <a:pPr>
              <a:lnSpc>
                <a:spcPct val="120000"/>
              </a:lnSpc>
            </a:pPr>
            <a:r>
              <a:rPr lang="en-US" sz="1039" dirty="0">
                <a:solidFill>
                  <a:srgbClr val="ECEFF1"/>
                </a:solidFill>
                <a:latin typeface="Quattrocento Sans" pitchFamily="34" charset="0"/>
                <a:ea typeface="Quattrocento Sans" pitchFamily="34" charset="-122"/>
                <a:cs typeface="Quattrocento Sans" pitchFamily="34" charset="-120"/>
              </a:rPr>
              <a:t>For multi-class classification with softmax.</a:t>
            </a:r>
            <a:endParaRPr lang="en-US" sz="1600" dirty="0"/>
          </a:p>
        </p:txBody>
      </p:sp>
      <p:sp>
        <p:nvSpPr>
          <p:cNvPr id="36" name="Shape 34"/>
          <p:cNvSpPr/>
          <p:nvPr/>
        </p:nvSpPr>
        <p:spPr>
          <a:xfrm>
            <a:off x="6172406" y="3787623"/>
            <a:ext cx="5643747" cy="1394448"/>
          </a:xfrm>
          <a:custGeom>
            <a:avLst/>
            <a:gdLst/>
            <a:ahLst/>
            <a:cxnLst/>
            <a:rect l="l" t="t" r="r" b="b"/>
            <a:pathLst>
              <a:path w="5643747" h="1394448">
                <a:moveTo>
                  <a:pt x="75370" y="0"/>
                </a:moveTo>
                <a:lnTo>
                  <a:pt x="5568377" y="0"/>
                </a:lnTo>
                <a:cubicBezTo>
                  <a:pt x="5610002" y="0"/>
                  <a:pt x="5643747" y="33744"/>
                  <a:pt x="5643747" y="75370"/>
                </a:cubicBezTo>
                <a:lnTo>
                  <a:pt x="5643747" y="1319078"/>
                </a:lnTo>
                <a:cubicBezTo>
                  <a:pt x="5643747" y="1360704"/>
                  <a:pt x="5610002" y="1394448"/>
                  <a:pt x="5568377" y="1394448"/>
                </a:cubicBezTo>
                <a:lnTo>
                  <a:pt x="75370" y="1394448"/>
                </a:lnTo>
                <a:cubicBezTo>
                  <a:pt x="33744" y="1394448"/>
                  <a:pt x="0" y="1360704"/>
                  <a:pt x="0" y="1319078"/>
                </a:cubicBezTo>
                <a:lnTo>
                  <a:pt x="0" y="75370"/>
                </a:lnTo>
                <a:cubicBezTo>
                  <a:pt x="0" y="33772"/>
                  <a:pt x="33772" y="0"/>
                  <a:pt x="75370" y="0"/>
                </a:cubicBezTo>
                <a:close/>
              </a:path>
            </a:pathLst>
          </a:custGeom>
          <a:solidFill>
            <a:srgbClr val="78909C">
              <a:alpha val="10196"/>
            </a:srgbClr>
          </a:solidFill>
          <a:ln/>
        </p:spPr>
      </p:sp>
      <p:sp>
        <p:nvSpPr>
          <p:cNvPr id="37" name="Text 35"/>
          <p:cNvSpPr/>
          <p:nvPr/>
        </p:nvSpPr>
        <p:spPr>
          <a:xfrm>
            <a:off x="6285469" y="3900686"/>
            <a:ext cx="5492995"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Specialized Losses</a:t>
            </a:r>
            <a:endParaRPr lang="en-US" sz="1600" dirty="0"/>
          </a:p>
        </p:txBody>
      </p:sp>
      <p:sp>
        <p:nvSpPr>
          <p:cNvPr id="38" name="Shape 36"/>
          <p:cNvSpPr/>
          <p:nvPr/>
        </p:nvSpPr>
        <p:spPr>
          <a:xfrm>
            <a:off x="6296069" y="4230454"/>
            <a:ext cx="148396" cy="131907"/>
          </a:xfrm>
          <a:custGeom>
            <a:avLst/>
            <a:gdLst/>
            <a:ahLst/>
            <a:cxnLst/>
            <a:rect l="l" t="t" r="r" b="b"/>
            <a:pathLst>
              <a:path w="148396" h="131907">
                <a:moveTo>
                  <a:pt x="79737" y="-4869"/>
                </a:moveTo>
                <a:cubicBezTo>
                  <a:pt x="78681" y="-6930"/>
                  <a:pt x="76542" y="-8244"/>
                  <a:pt x="74224" y="-8244"/>
                </a:cubicBezTo>
                <a:cubicBezTo>
                  <a:pt x="71905" y="-8244"/>
                  <a:pt x="69767" y="-6930"/>
                  <a:pt x="68710" y="-4869"/>
                </a:cubicBezTo>
                <a:lnTo>
                  <a:pt x="49749" y="32281"/>
                </a:lnTo>
                <a:lnTo>
                  <a:pt x="8553" y="38825"/>
                </a:lnTo>
                <a:cubicBezTo>
                  <a:pt x="6260" y="39186"/>
                  <a:pt x="4354" y="40809"/>
                  <a:pt x="3633" y="43024"/>
                </a:cubicBezTo>
                <a:cubicBezTo>
                  <a:pt x="2911" y="45240"/>
                  <a:pt x="3504" y="47662"/>
                  <a:pt x="5127" y="49311"/>
                </a:cubicBezTo>
                <a:lnTo>
                  <a:pt x="34600" y="78809"/>
                </a:lnTo>
                <a:lnTo>
                  <a:pt x="28108" y="120005"/>
                </a:lnTo>
                <a:cubicBezTo>
                  <a:pt x="27747" y="122298"/>
                  <a:pt x="28700" y="124616"/>
                  <a:pt x="30581" y="125982"/>
                </a:cubicBezTo>
                <a:cubicBezTo>
                  <a:pt x="32462" y="127347"/>
                  <a:pt x="34935" y="127553"/>
                  <a:pt x="37022" y="126497"/>
                </a:cubicBezTo>
                <a:lnTo>
                  <a:pt x="74224" y="107587"/>
                </a:lnTo>
                <a:lnTo>
                  <a:pt x="111400" y="126497"/>
                </a:lnTo>
                <a:cubicBezTo>
                  <a:pt x="113461" y="127553"/>
                  <a:pt x="115960" y="127347"/>
                  <a:pt x="117841" y="125982"/>
                </a:cubicBezTo>
                <a:cubicBezTo>
                  <a:pt x="119721" y="124616"/>
                  <a:pt x="120675" y="122323"/>
                  <a:pt x="120314" y="120005"/>
                </a:cubicBezTo>
                <a:lnTo>
                  <a:pt x="113796" y="78809"/>
                </a:lnTo>
                <a:lnTo>
                  <a:pt x="143269" y="49311"/>
                </a:lnTo>
                <a:cubicBezTo>
                  <a:pt x="144918" y="47662"/>
                  <a:pt x="145484" y="45240"/>
                  <a:pt x="144763" y="43024"/>
                </a:cubicBezTo>
                <a:cubicBezTo>
                  <a:pt x="144042" y="40809"/>
                  <a:pt x="142161" y="39186"/>
                  <a:pt x="139842" y="38825"/>
                </a:cubicBezTo>
                <a:lnTo>
                  <a:pt x="98673" y="32281"/>
                </a:lnTo>
                <a:lnTo>
                  <a:pt x="79737" y="-4869"/>
                </a:lnTo>
                <a:close/>
              </a:path>
            </a:pathLst>
          </a:custGeom>
          <a:solidFill>
            <a:srgbClr val="4DB6AC"/>
          </a:solidFill>
          <a:ln/>
        </p:spPr>
      </p:sp>
      <p:sp>
        <p:nvSpPr>
          <p:cNvPr id="39" name="Text 37"/>
          <p:cNvSpPr/>
          <p:nvPr/>
        </p:nvSpPr>
        <p:spPr>
          <a:xfrm>
            <a:off x="6525729" y="4202189"/>
            <a:ext cx="2110516" cy="188439"/>
          </a:xfrm>
          <a:prstGeom prst="rect">
            <a:avLst/>
          </a:prstGeom>
          <a:noFill/>
          <a:ln/>
        </p:spPr>
        <p:txBody>
          <a:bodyPr wrap="square" lIns="0" tIns="0" rIns="0" bIns="0" rtlCol="0" anchor="ctr"/>
          <a:lstStyle/>
          <a:p>
            <a:pPr>
              <a:lnSpc>
                <a:spcPct val="120000"/>
              </a:lnSpc>
            </a:pPr>
            <a:r>
              <a:rPr lang="en-US" sz="1039" b="1" dirty="0">
                <a:solidFill>
                  <a:srgbClr val="ECEFF1"/>
                </a:solidFill>
                <a:latin typeface="Quattrocento Sans" pitchFamily="34" charset="0"/>
                <a:ea typeface="Quattrocento Sans" pitchFamily="34" charset="-122"/>
                <a:cs typeface="Quattrocento Sans" pitchFamily="34" charset="-120"/>
              </a:rPr>
              <a:t>Focal Loss:</a:t>
            </a:r>
            <a:r>
              <a:rPr lang="en-US" sz="1039" dirty="0">
                <a:solidFill>
                  <a:srgbClr val="ECEFF1"/>
                </a:solidFill>
                <a:latin typeface="Quattrocento Sans" pitchFamily="34" charset="0"/>
                <a:ea typeface="Quattrocento Sans" pitchFamily="34" charset="-122"/>
                <a:cs typeface="Quattrocento Sans" pitchFamily="34" charset="-120"/>
              </a:rPr>
              <a:t> Handles class imbalance</a:t>
            </a:r>
            <a:endParaRPr lang="en-US" sz="1600" dirty="0"/>
          </a:p>
        </p:txBody>
      </p:sp>
      <p:sp>
        <p:nvSpPr>
          <p:cNvPr id="40" name="Shape 38"/>
          <p:cNvSpPr/>
          <p:nvPr/>
        </p:nvSpPr>
        <p:spPr>
          <a:xfrm>
            <a:off x="6296069" y="4456581"/>
            <a:ext cx="148396" cy="131907"/>
          </a:xfrm>
          <a:custGeom>
            <a:avLst/>
            <a:gdLst/>
            <a:ahLst/>
            <a:cxnLst/>
            <a:rect l="l" t="t" r="r" b="b"/>
            <a:pathLst>
              <a:path w="148396" h="131907">
                <a:moveTo>
                  <a:pt x="79737" y="-4869"/>
                </a:moveTo>
                <a:cubicBezTo>
                  <a:pt x="78681" y="-6930"/>
                  <a:pt x="76542" y="-8244"/>
                  <a:pt x="74224" y="-8244"/>
                </a:cubicBezTo>
                <a:cubicBezTo>
                  <a:pt x="71905" y="-8244"/>
                  <a:pt x="69767" y="-6930"/>
                  <a:pt x="68710" y="-4869"/>
                </a:cubicBezTo>
                <a:lnTo>
                  <a:pt x="49749" y="32281"/>
                </a:lnTo>
                <a:lnTo>
                  <a:pt x="8553" y="38825"/>
                </a:lnTo>
                <a:cubicBezTo>
                  <a:pt x="6260" y="39186"/>
                  <a:pt x="4354" y="40809"/>
                  <a:pt x="3633" y="43024"/>
                </a:cubicBezTo>
                <a:cubicBezTo>
                  <a:pt x="2911" y="45240"/>
                  <a:pt x="3504" y="47662"/>
                  <a:pt x="5127" y="49311"/>
                </a:cubicBezTo>
                <a:lnTo>
                  <a:pt x="34600" y="78809"/>
                </a:lnTo>
                <a:lnTo>
                  <a:pt x="28108" y="120005"/>
                </a:lnTo>
                <a:cubicBezTo>
                  <a:pt x="27747" y="122298"/>
                  <a:pt x="28700" y="124616"/>
                  <a:pt x="30581" y="125982"/>
                </a:cubicBezTo>
                <a:cubicBezTo>
                  <a:pt x="32462" y="127347"/>
                  <a:pt x="34935" y="127553"/>
                  <a:pt x="37022" y="126497"/>
                </a:cubicBezTo>
                <a:lnTo>
                  <a:pt x="74224" y="107587"/>
                </a:lnTo>
                <a:lnTo>
                  <a:pt x="111400" y="126497"/>
                </a:lnTo>
                <a:cubicBezTo>
                  <a:pt x="113461" y="127553"/>
                  <a:pt x="115960" y="127347"/>
                  <a:pt x="117841" y="125982"/>
                </a:cubicBezTo>
                <a:cubicBezTo>
                  <a:pt x="119721" y="124616"/>
                  <a:pt x="120675" y="122323"/>
                  <a:pt x="120314" y="120005"/>
                </a:cubicBezTo>
                <a:lnTo>
                  <a:pt x="113796" y="78809"/>
                </a:lnTo>
                <a:lnTo>
                  <a:pt x="143269" y="49311"/>
                </a:lnTo>
                <a:cubicBezTo>
                  <a:pt x="144918" y="47662"/>
                  <a:pt x="145484" y="45240"/>
                  <a:pt x="144763" y="43024"/>
                </a:cubicBezTo>
                <a:cubicBezTo>
                  <a:pt x="144042" y="40809"/>
                  <a:pt x="142161" y="39186"/>
                  <a:pt x="139842" y="38825"/>
                </a:cubicBezTo>
                <a:lnTo>
                  <a:pt x="98673" y="32281"/>
                </a:lnTo>
                <a:lnTo>
                  <a:pt x="79737" y="-4869"/>
                </a:lnTo>
                <a:close/>
              </a:path>
            </a:pathLst>
          </a:custGeom>
          <a:solidFill>
            <a:srgbClr val="FFD54F"/>
          </a:solidFill>
          <a:ln/>
        </p:spPr>
      </p:sp>
      <p:sp>
        <p:nvSpPr>
          <p:cNvPr id="41" name="Text 39"/>
          <p:cNvSpPr/>
          <p:nvPr/>
        </p:nvSpPr>
        <p:spPr>
          <a:xfrm>
            <a:off x="6525729" y="4428315"/>
            <a:ext cx="2053985" cy="188439"/>
          </a:xfrm>
          <a:prstGeom prst="rect">
            <a:avLst/>
          </a:prstGeom>
          <a:noFill/>
          <a:ln/>
        </p:spPr>
        <p:txBody>
          <a:bodyPr wrap="square" lIns="0" tIns="0" rIns="0" bIns="0" rtlCol="0" anchor="ctr"/>
          <a:lstStyle/>
          <a:p>
            <a:pPr>
              <a:lnSpc>
                <a:spcPct val="120000"/>
              </a:lnSpc>
            </a:pPr>
            <a:r>
              <a:rPr lang="en-US" sz="1039" b="1" dirty="0">
                <a:solidFill>
                  <a:srgbClr val="ECEFF1"/>
                </a:solidFill>
                <a:latin typeface="Quattrocento Sans" pitchFamily="34" charset="0"/>
                <a:ea typeface="Quattrocento Sans" pitchFamily="34" charset="-122"/>
                <a:cs typeface="Quattrocento Sans" pitchFamily="34" charset="-120"/>
              </a:rPr>
              <a:t>Huber Loss:</a:t>
            </a:r>
            <a:r>
              <a:rPr lang="en-US" sz="1039" dirty="0">
                <a:solidFill>
                  <a:srgbClr val="ECEFF1"/>
                </a:solidFill>
                <a:latin typeface="Quattrocento Sans" pitchFamily="34" charset="0"/>
                <a:ea typeface="Quattrocento Sans" pitchFamily="34" charset="-122"/>
                <a:cs typeface="Quattrocento Sans" pitchFamily="34" charset="-120"/>
              </a:rPr>
              <a:t> Combines MSE &amp; MAE</a:t>
            </a:r>
            <a:endParaRPr lang="en-US" sz="1600" dirty="0"/>
          </a:p>
        </p:txBody>
      </p:sp>
      <p:sp>
        <p:nvSpPr>
          <p:cNvPr id="42" name="Shape 40"/>
          <p:cNvSpPr/>
          <p:nvPr/>
        </p:nvSpPr>
        <p:spPr>
          <a:xfrm>
            <a:off x="6296069" y="4682708"/>
            <a:ext cx="148396" cy="131907"/>
          </a:xfrm>
          <a:custGeom>
            <a:avLst/>
            <a:gdLst/>
            <a:ahLst/>
            <a:cxnLst/>
            <a:rect l="l" t="t" r="r" b="b"/>
            <a:pathLst>
              <a:path w="148396" h="131907">
                <a:moveTo>
                  <a:pt x="79737" y="-4869"/>
                </a:moveTo>
                <a:cubicBezTo>
                  <a:pt x="78681" y="-6930"/>
                  <a:pt x="76542" y="-8244"/>
                  <a:pt x="74224" y="-8244"/>
                </a:cubicBezTo>
                <a:cubicBezTo>
                  <a:pt x="71905" y="-8244"/>
                  <a:pt x="69767" y="-6930"/>
                  <a:pt x="68710" y="-4869"/>
                </a:cubicBezTo>
                <a:lnTo>
                  <a:pt x="49749" y="32281"/>
                </a:lnTo>
                <a:lnTo>
                  <a:pt x="8553" y="38825"/>
                </a:lnTo>
                <a:cubicBezTo>
                  <a:pt x="6260" y="39186"/>
                  <a:pt x="4354" y="40809"/>
                  <a:pt x="3633" y="43024"/>
                </a:cubicBezTo>
                <a:cubicBezTo>
                  <a:pt x="2911" y="45240"/>
                  <a:pt x="3504" y="47662"/>
                  <a:pt x="5127" y="49311"/>
                </a:cubicBezTo>
                <a:lnTo>
                  <a:pt x="34600" y="78809"/>
                </a:lnTo>
                <a:lnTo>
                  <a:pt x="28108" y="120005"/>
                </a:lnTo>
                <a:cubicBezTo>
                  <a:pt x="27747" y="122298"/>
                  <a:pt x="28700" y="124616"/>
                  <a:pt x="30581" y="125982"/>
                </a:cubicBezTo>
                <a:cubicBezTo>
                  <a:pt x="32462" y="127347"/>
                  <a:pt x="34935" y="127553"/>
                  <a:pt x="37022" y="126497"/>
                </a:cubicBezTo>
                <a:lnTo>
                  <a:pt x="74224" y="107587"/>
                </a:lnTo>
                <a:lnTo>
                  <a:pt x="111400" y="126497"/>
                </a:lnTo>
                <a:cubicBezTo>
                  <a:pt x="113461" y="127553"/>
                  <a:pt x="115960" y="127347"/>
                  <a:pt x="117841" y="125982"/>
                </a:cubicBezTo>
                <a:cubicBezTo>
                  <a:pt x="119721" y="124616"/>
                  <a:pt x="120675" y="122323"/>
                  <a:pt x="120314" y="120005"/>
                </a:cubicBezTo>
                <a:lnTo>
                  <a:pt x="113796" y="78809"/>
                </a:lnTo>
                <a:lnTo>
                  <a:pt x="143269" y="49311"/>
                </a:lnTo>
                <a:cubicBezTo>
                  <a:pt x="144918" y="47662"/>
                  <a:pt x="145484" y="45240"/>
                  <a:pt x="144763" y="43024"/>
                </a:cubicBezTo>
                <a:cubicBezTo>
                  <a:pt x="144042" y="40809"/>
                  <a:pt x="142161" y="39186"/>
                  <a:pt x="139842" y="38825"/>
                </a:cubicBezTo>
                <a:lnTo>
                  <a:pt x="98673" y="32281"/>
                </a:lnTo>
                <a:lnTo>
                  <a:pt x="79737" y="-4869"/>
                </a:lnTo>
                <a:close/>
              </a:path>
            </a:pathLst>
          </a:custGeom>
          <a:solidFill>
            <a:srgbClr val="4DB6AC"/>
          </a:solidFill>
          <a:ln/>
        </p:spPr>
      </p:sp>
      <p:sp>
        <p:nvSpPr>
          <p:cNvPr id="43" name="Text 41"/>
          <p:cNvSpPr/>
          <p:nvPr/>
        </p:nvSpPr>
        <p:spPr>
          <a:xfrm>
            <a:off x="6525729" y="4654442"/>
            <a:ext cx="1827858" cy="188439"/>
          </a:xfrm>
          <a:prstGeom prst="rect">
            <a:avLst/>
          </a:prstGeom>
          <a:noFill/>
          <a:ln/>
        </p:spPr>
        <p:txBody>
          <a:bodyPr wrap="square" lIns="0" tIns="0" rIns="0" bIns="0" rtlCol="0" anchor="ctr"/>
          <a:lstStyle/>
          <a:p>
            <a:pPr>
              <a:lnSpc>
                <a:spcPct val="120000"/>
              </a:lnSpc>
            </a:pPr>
            <a:r>
              <a:rPr lang="en-US" sz="1039" b="1" dirty="0">
                <a:solidFill>
                  <a:srgbClr val="ECEFF1"/>
                </a:solidFill>
                <a:latin typeface="Quattrocento Sans" pitchFamily="34" charset="0"/>
                <a:ea typeface="Quattrocento Sans" pitchFamily="34" charset="-122"/>
                <a:cs typeface="Quattrocento Sans" pitchFamily="34" charset="-120"/>
              </a:rPr>
              <a:t>Dice Loss:</a:t>
            </a:r>
            <a:r>
              <a:rPr lang="en-US" sz="1039" dirty="0">
                <a:solidFill>
                  <a:srgbClr val="ECEFF1"/>
                </a:solidFill>
                <a:latin typeface="Quattrocento Sans" pitchFamily="34" charset="0"/>
                <a:ea typeface="Quattrocento Sans" pitchFamily="34" charset="-122"/>
                <a:cs typeface="Quattrocento Sans" pitchFamily="34" charset="-120"/>
              </a:rPr>
              <a:t> Image segmentation</a:t>
            </a:r>
            <a:endParaRPr lang="en-US" sz="1600" dirty="0"/>
          </a:p>
        </p:txBody>
      </p:sp>
      <p:sp>
        <p:nvSpPr>
          <p:cNvPr id="44" name="Shape 42"/>
          <p:cNvSpPr/>
          <p:nvPr/>
        </p:nvSpPr>
        <p:spPr>
          <a:xfrm>
            <a:off x="6296069" y="4908835"/>
            <a:ext cx="148396" cy="131907"/>
          </a:xfrm>
          <a:custGeom>
            <a:avLst/>
            <a:gdLst/>
            <a:ahLst/>
            <a:cxnLst/>
            <a:rect l="l" t="t" r="r" b="b"/>
            <a:pathLst>
              <a:path w="148396" h="131907">
                <a:moveTo>
                  <a:pt x="79737" y="-4869"/>
                </a:moveTo>
                <a:cubicBezTo>
                  <a:pt x="78681" y="-6930"/>
                  <a:pt x="76542" y="-8244"/>
                  <a:pt x="74224" y="-8244"/>
                </a:cubicBezTo>
                <a:cubicBezTo>
                  <a:pt x="71905" y="-8244"/>
                  <a:pt x="69767" y="-6930"/>
                  <a:pt x="68710" y="-4869"/>
                </a:cubicBezTo>
                <a:lnTo>
                  <a:pt x="49749" y="32281"/>
                </a:lnTo>
                <a:lnTo>
                  <a:pt x="8553" y="38825"/>
                </a:lnTo>
                <a:cubicBezTo>
                  <a:pt x="6260" y="39186"/>
                  <a:pt x="4354" y="40809"/>
                  <a:pt x="3633" y="43024"/>
                </a:cubicBezTo>
                <a:cubicBezTo>
                  <a:pt x="2911" y="45240"/>
                  <a:pt x="3504" y="47662"/>
                  <a:pt x="5127" y="49311"/>
                </a:cubicBezTo>
                <a:lnTo>
                  <a:pt x="34600" y="78809"/>
                </a:lnTo>
                <a:lnTo>
                  <a:pt x="28108" y="120005"/>
                </a:lnTo>
                <a:cubicBezTo>
                  <a:pt x="27747" y="122298"/>
                  <a:pt x="28700" y="124616"/>
                  <a:pt x="30581" y="125982"/>
                </a:cubicBezTo>
                <a:cubicBezTo>
                  <a:pt x="32462" y="127347"/>
                  <a:pt x="34935" y="127553"/>
                  <a:pt x="37022" y="126497"/>
                </a:cubicBezTo>
                <a:lnTo>
                  <a:pt x="74224" y="107587"/>
                </a:lnTo>
                <a:lnTo>
                  <a:pt x="111400" y="126497"/>
                </a:lnTo>
                <a:cubicBezTo>
                  <a:pt x="113461" y="127553"/>
                  <a:pt x="115960" y="127347"/>
                  <a:pt x="117841" y="125982"/>
                </a:cubicBezTo>
                <a:cubicBezTo>
                  <a:pt x="119721" y="124616"/>
                  <a:pt x="120675" y="122323"/>
                  <a:pt x="120314" y="120005"/>
                </a:cubicBezTo>
                <a:lnTo>
                  <a:pt x="113796" y="78809"/>
                </a:lnTo>
                <a:lnTo>
                  <a:pt x="143269" y="49311"/>
                </a:lnTo>
                <a:cubicBezTo>
                  <a:pt x="144918" y="47662"/>
                  <a:pt x="145484" y="45240"/>
                  <a:pt x="144763" y="43024"/>
                </a:cubicBezTo>
                <a:cubicBezTo>
                  <a:pt x="144042" y="40809"/>
                  <a:pt x="142161" y="39186"/>
                  <a:pt x="139842" y="38825"/>
                </a:cubicBezTo>
                <a:lnTo>
                  <a:pt x="98673" y="32281"/>
                </a:lnTo>
                <a:lnTo>
                  <a:pt x="79737" y="-4869"/>
                </a:lnTo>
                <a:close/>
              </a:path>
            </a:pathLst>
          </a:custGeom>
          <a:solidFill>
            <a:srgbClr val="FFD54F"/>
          </a:solidFill>
          <a:ln/>
        </p:spPr>
      </p:sp>
      <p:sp>
        <p:nvSpPr>
          <p:cNvPr id="45" name="Text 43"/>
          <p:cNvSpPr/>
          <p:nvPr/>
        </p:nvSpPr>
        <p:spPr>
          <a:xfrm>
            <a:off x="6525729" y="4880569"/>
            <a:ext cx="1799592" cy="188439"/>
          </a:xfrm>
          <a:prstGeom prst="rect">
            <a:avLst/>
          </a:prstGeom>
          <a:noFill/>
          <a:ln/>
        </p:spPr>
        <p:txBody>
          <a:bodyPr wrap="square" lIns="0" tIns="0" rIns="0" bIns="0" rtlCol="0" anchor="ctr"/>
          <a:lstStyle/>
          <a:p>
            <a:pPr>
              <a:lnSpc>
                <a:spcPct val="120000"/>
              </a:lnSpc>
            </a:pPr>
            <a:r>
              <a:rPr lang="en-US" sz="1039" b="1" dirty="0">
                <a:solidFill>
                  <a:srgbClr val="ECEFF1"/>
                </a:solidFill>
                <a:latin typeface="Quattrocento Sans" pitchFamily="34" charset="0"/>
                <a:ea typeface="Quattrocento Sans" pitchFamily="34" charset="-122"/>
                <a:cs typeface="Quattrocento Sans" pitchFamily="34" charset="-120"/>
              </a:rPr>
              <a:t>Triplet Loss:</a:t>
            </a:r>
            <a:r>
              <a:rPr lang="en-US" sz="1039" dirty="0">
                <a:solidFill>
                  <a:srgbClr val="ECEFF1"/>
                </a:solidFill>
                <a:latin typeface="Quattrocento Sans" pitchFamily="34" charset="0"/>
                <a:ea typeface="Quattrocento Sans" pitchFamily="34" charset="-122"/>
                <a:cs typeface="Quattrocento Sans" pitchFamily="34" charset="-120"/>
              </a:rPr>
              <a:t> Similarity learning</a:t>
            </a:r>
            <a:endParaRPr lang="en-US" sz="1600" dirty="0"/>
          </a:p>
        </p:txBody>
      </p:sp>
      <p:sp>
        <p:nvSpPr>
          <p:cNvPr id="46" name="Shape 44"/>
          <p:cNvSpPr/>
          <p:nvPr/>
        </p:nvSpPr>
        <p:spPr>
          <a:xfrm>
            <a:off x="6177117" y="5262158"/>
            <a:ext cx="5634325" cy="1592309"/>
          </a:xfrm>
          <a:custGeom>
            <a:avLst/>
            <a:gdLst/>
            <a:ahLst/>
            <a:cxnLst/>
            <a:rect l="l" t="t" r="r" b="b"/>
            <a:pathLst>
              <a:path w="5634325" h="1592309">
                <a:moveTo>
                  <a:pt x="75380" y="0"/>
                </a:moveTo>
                <a:lnTo>
                  <a:pt x="5558945" y="0"/>
                </a:lnTo>
                <a:cubicBezTo>
                  <a:pt x="5600576" y="0"/>
                  <a:pt x="5634325" y="33749"/>
                  <a:pt x="5634325" y="75380"/>
                </a:cubicBezTo>
                <a:lnTo>
                  <a:pt x="5634325" y="1516929"/>
                </a:lnTo>
                <a:cubicBezTo>
                  <a:pt x="5634325" y="1558560"/>
                  <a:pt x="5600576" y="1592309"/>
                  <a:pt x="5558945" y="1592309"/>
                </a:cubicBezTo>
                <a:lnTo>
                  <a:pt x="75380" y="1592309"/>
                </a:lnTo>
                <a:cubicBezTo>
                  <a:pt x="33749" y="1592309"/>
                  <a:pt x="0" y="1558560"/>
                  <a:pt x="0" y="1516929"/>
                </a:cubicBezTo>
                <a:lnTo>
                  <a:pt x="0" y="75380"/>
                </a:lnTo>
                <a:cubicBezTo>
                  <a:pt x="0" y="33777"/>
                  <a:pt x="33777" y="0"/>
                  <a:pt x="75380" y="0"/>
                </a:cubicBezTo>
                <a:close/>
              </a:path>
            </a:pathLst>
          </a:custGeom>
          <a:solidFill>
            <a:srgbClr val="4DB6AC">
              <a:alpha val="10196"/>
            </a:srgbClr>
          </a:solidFill>
          <a:ln w="12700">
            <a:solidFill>
              <a:srgbClr val="4DB6AC">
                <a:alpha val="30196"/>
              </a:srgbClr>
            </a:solidFill>
            <a:prstDash val="solid"/>
          </a:ln>
        </p:spPr>
      </p:sp>
      <p:sp>
        <p:nvSpPr>
          <p:cNvPr id="47" name="Text 45"/>
          <p:cNvSpPr/>
          <p:nvPr/>
        </p:nvSpPr>
        <p:spPr>
          <a:xfrm>
            <a:off x="6294891" y="5379932"/>
            <a:ext cx="5474151" cy="226127"/>
          </a:xfrm>
          <a:prstGeom prst="rect">
            <a:avLst/>
          </a:prstGeom>
          <a:noFill/>
          <a:ln/>
        </p:spPr>
        <p:txBody>
          <a:bodyPr wrap="square" lIns="0" tIns="0" rIns="0" bIns="0" rtlCol="0" anchor="ctr"/>
          <a:lstStyle/>
          <a:p>
            <a:pPr>
              <a:lnSpc>
                <a:spcPct val="130000"/>
              </a:lnSpc>
            </a:pPr>
            <a:r>
              <a:rPr lang="en-US" sz="1187" b="1" dirty="0">
                <a:solidFill>
                  <a:srgbClr val="ECEFF1"/>
                </a:solidFill>
                <a:latin typeface="Liter" pitchFamily="34" charset="0"/>
                <a:ea typeface="Liter" pitchFamily="34" charset="-122"/>
                <a:cs typeface="Liter" pitchFamily="34" charset="-120"/>
              </a:rPr>
              <a:t>Loss Selection Guide</a:t>
            </a:r>
            <a:endParaRPr lang="en-US" sz="1600" dirty="0"/>
          </a:p>
        </p:txBody>
      </p:sp>
      <p:sp>
        <p:nvSpPr>
          <p:cNvPr id="48" name="Shape 46"/>
          <p:cNvSpPr/>
          <p:nvPr/>
        </p:nvSpPr>
        <p:spPr>
          <a:xfrm>
            <a:off x="6294891" y="5681434"/>
            <a:ext cx="2666411" cy="489941"/>
          </a:xfrm>
          <a:custGeom>
            <a:avLst/>
            <a:gdLst/>
            <a:ahLst/>
            <a:cxnLst/>
            <a:rect l="l" t="t" r="r" b="b"/>
            <a:pathLst>
              <a:path w="2666411" h="489941">
                <a:moveTo>
                  <a:pt x="37686" y="0"/>
                </a:moveTo>
                <a:lnTo>
                  <a:pt x="2628725" y="0"/>
                </a:lnTo>
                <a:cubicBezTo>
                  <a:pt x="2649538" y="0"/>
                  <a:pt x="2666411" y="16873"/>
                  <a:pt x="2666411" y="37686"/>
                </a:cubicBezTo>
                <a:lnTo>
                  <a:pt x="2666411" y="452255"/>
                </a:lnTo>
                <a:cubicBezTo>
                  <a:pt x="2666411" y="473069"/>
                  <a:pt x="2649538" y="489941"/>
                  <a:pt x="2628725" y="489941"/>
                </a:cubicBezTo>
                <a:lnTo>
                  <a:pt x="37686" y="489941"/>
                </a:lnTo>
                <a:cubicBezTo>
                  <a:pt x="16873" y="489941"/>
                  <a:pt x="0" y="473069"/>
                  <a:pt x="0" y="452255"/>
                </a:cubicBezTo>
                <a:lnTo>
                  <a:pt x="0" y="37686"/>
                </a:lnTo>
                <a:cubicBezTo>
                  <a:pt x="0" y="16873"/>
                  <a:pt x="16873" y="0"/>
                  <a:pt x="37686" y="0"/>
                </a:cubicBezTo>
                <a:close/>
              </a:path>
            </a:pathLst>
          </a:custGeom>
          <a:solidFill>
            <a:srgbClr val="1A1D21"/>
          </a:solidFill>
          <a:ln/>
        </p:spPr>
      </p:sp>
      <p:sp>
        <p:nvSpPr>
          <p:cNvPr id="49" name="Text 47"/>
          <p:cNvSpPr/>
          <p:nvPr/>
        </p:nvSpPr>
        <p:spPr>
          <a:xfrm>
            <a:off x="6370267" y="5756810"/>
            <a:ext cx="2581614" cy="188439"/>
          </a:xfrm>
          <a:prstGeom prst="rect">
            <a:avLst/>
          </a:prstGeom>
          <a:noFill/>
          <a:ln/>
        </p:spPr>
        <p:txBody>
          <a:bodyPr wrap="square" lIns="0" tIns="0" rIns="0" bIns="0" rtlCol="0" anchor="ctr"/>
          <a:lstStyle/>
          <a:p>
            <a:pPr>
              <a:lnSpc>
                <a:spcPct val="120000"/>
              </a:lnSpc>
            </a:pPr>
            <a:r>
              <a:rPr lang="en-US" sz="1039" b="1" dirty="0">
                <a:solidFill>
                  <a:srgbClr val="4DB6AC"/>
                </a:solidFill>
                <a:latin typeface="Quattrocento Sans" pitchFamily="34" charset="0"/>
                <a:ea typeface="Quattrocento Sans" pitchFamily="34" charset="-122"/>
                <a:cs typeface="Quattrocento Sans" pitchFamily="34" charset="-120"/>
              </a:rPr>
              <a:t>Regression</a:t>
            </a:r>
            <a:endParaRPr lang="en-US" sz="1600" dirty="0"/>
          </a:p>
        </p:txBody>
      </p:sp>
      <p:sp>
        <p:nvSpPr>
          <p:cNvPr id="50" name="Text 48"/>
          <p:cNvSpPr/>
          <p:nvPr/>
        </p:nvSpPr>
        <p:spPr>
          <a:xfrm>
            <a:off x="6370267" y="5945249"/>
            <a:ext cx="2572192" cy="150751"/>
          </a:xfrm>
          <a:prstGeom prst="rect">
            <a:avLst/>
          </a:prstGeom>
          <a:noFill/>
          <a:ln/>
        </p:spPr>
        <p:txBody>
          <a:bodyPr wrap="square" lIns="0" tIns="0" rIns="0" bIns="0" rtlCol="0" anchor="ctr"/>
          <a:lstStyle/>
          <a:p>
            <a:pPr>
              <a:lnSpc>
                <a:spcPct val="110000"/>
              </a:lnSpc>
            </a:pPr>
            <a:r>
              <a:rPr lang="en-US" sz="890" dirty="0">
                <a:solidFill>
                  <a:srgbClr val="ECEFF1"/>
                </a:solidFill>
                <a:latin typeface="Quattrocento Sans" pitchFamily="34" charset="0"/>
                <a:ea typeface="Quattrocento Sans" pitchFamily="34" charset="-122"/>
                <a:cs typeface="Quattrocento Sans" pitchFamily="34" charset="-120"/>
              </a:rPr>
              <a:t>MSE, MAE, Huber</a:t>
            </a:r>
            <a:endParaRPr lang="en-US" sz="1600" dirty="0"/>
          </a:p>
        </p:txBody>
      </p:sp>
      <p:sp>
        <p:nvSpPr>
          <p:cNvPr id="51" name="Shape 49"/>
          <p:cNvSpPr/>
          <p:nvPr/>
        </p:nvSpPr>
        <p:spPr>
          <a:xfrm>
            <a:off x="9032409" y="5681434"/>
            <a:ext cx="2666411" cy="489941"/>
          </a:xfrm>
          <a:custGeom>
            <a:avLst/>
            <a:gdLst/>
            <a:ahLst/>
            <a:cxnLst/>
            <a:rect l="l" t="t" r="r" b="b"/>
            <a:pathLst>
              <a:path w="2666411" h="489941">
                <a:moveTo>
                  <a:pt x="37686" y="0"/>
                </a:moveTo>
                <a:lnTo>
                  <a:pt x="2628725" y="0"/>
                </a:lnTo>
                <a:cubicBezTo>
                  <a:pt x="2649538" y="0"/>
                  <a:pt x="2666411" y="16873"/>
                  <a:pt x="2666411" y="37686"/>
                </a:cubicBezTo>
                <a:lnTo>
                  <a:pt x="2666411" y="452255"/>
                </a:lnTo>
                <a:cubicBezTo>
                  <a:pt x="2666411" y="473069"/>
                  <a:pt x="2649538" y="489941"/>
                  <a:pt x="2628725" y="489941"/>
                </a:cubicBezTo>
                <a:lnTo>
                  <a:pt x="37686" y="489941"/>
                </a:lnTo>
                <a:cubicBezTo>
                  <a:pt x="16873" y="489941"/>
                  <a:pt x="0" y="473069"/>
                  <a:pt x="0" y="452255"/>
                </a:cubicBezTo>
                <a:lnTo>
                  <a:pt x="0" y="37686"/>
                </a:lnTo>
                <a:cubicBezTo>
                  <a:pt x="0" y="16873"/>
                  <a:pt x="16873" y="0"/>
                  <a:pt x="37686" y="0"/>
                </a:cubicBezTo>
                <a:close/>
              </a:path>
            </a:pathLst>
          </a:custGeom>
          <a:solidFill>
            <a:srgbClr val="1A1D21"/>
          </a:solidFill>
          <a:ln/>
        </p:spPr>
      </p:sp>
      <p:sp>
        <p:nvSpPr>
          <p:cNvPr id="52" name="Text 50"/>
          <p:cNvSpPr/>
          <p:nvPr/>
        </p:nvSpPr>
        <p:spPr>
          <a:xfrm>
            <a:off x="9107784" y="5756810"/>
            <a:ext cx="2581614" cy="188439"/>
          </a:xfrm>
          <a:prstGeom prst="rect">
            <a:avLst/>
          </a:prstGeom>
          <a:noFill/>
          <a:ln/>
        </p:spPr>
        <p:txBody>
          <a:bodyPr wrap="square" lIns="0" tIns="0" rIns="0" bIns="0" rtlCol="0" anchor="ctr"/>
          <a:lstStyle/>
          <a:p>
            <a:pPr>
              <a:lnSpc>
                <a:spcPct val="120000"/>
              </a:lnSpc>
            </a:pPr>
            <a:r>
              <a:rPr lang="en-US" sz="1039" b="1" dirty="0">
                <a:solidFill>
                  <a:srgbClr val="FFD54F"/>
                </a:solidFill>
                <a:latin typeface="Quattrocento Sans" pitchFamily="34" charset="0"/>
                <a:ea typeface="Quattrocento Sans" pitchFamily="34" charset="-122"/>
                <a:cs typeface="Quattrocento Sans" pitchFamily="34" charset="-120"/>
              </a:rPr>
              <a:t>Binary Class</a:t>
            </a:r>
            <a:endParaRPr lang="en-US" sz="1600" dirty="0"/>
          </a:p>
        </p:txBody>
      </p:sp>
      <p:sp>
        <p:nvSpPr>
          <p:cNvPr id="53" name="Text 51"/>
          <p:cNvSpPr/>
          <p:nvPr/>
        </p:nvSpPr>
        <p:spPr>
          <a:xfrm>
            <a:off x="9107784" y="5945249"/>
            <a:ext cx="2572192" cy="150751"/>
          </a:xfrm>
          <a:prstGeom prst="rect">
            <a:avLst/>
          </a:prstGeom>
          <a:noFill/>
          <a:ln/>
        </p:spPr>
        <p:txBody>
          <a:bodyPr wrap="square" lIns="0" tIns="0" rIns="0" bIns="0" rtlCol="0" anchor="ctr"/>
          <a:lstStyle/>
          <a:p>
            <a:pPr>
              <a:lnSpc>
                <a:spcPct val="110000"/>
              </a:lnSpc>
            </a:pPr>
            <a:r>
              <a:rPr lang="en-US" sz="890" dirty="0">
                <a:solidFill>
                  <a:srgbClr val="ECEFF1"/>
                </a:solidFill>
                <a:latin typeface="Quattrocento Sans" pitchFamily="34" charset="0"/>
                <a:ea typeface="Quattrocento Sans" pitchFamily="34" charset="-122"/>
                <a:cs typeface="Quattrocento Sans" pitchFamily="34" charset="-120"/>
              </a:rPr>
              <a:t>BCE</a:t>
            </a:r>
            <a:endParaRPr lang="en-US" sz="1600" dirty="0"/>
          </a:p>
        </p:txBody>
      </p:sp>
      <p:sp>
        <p:nvSpPr>
          <p:cNvPr id="54" name="Shape 52"/>
          <p:cNvSpPr/>
          <p:nvPr/>
        </p:nvSpPr>
        <p:spPr>
          <a:xfrm>
            <a:off x="6294891" y="6246751"/>
            <a:ext cx="2666411" cy="489941"/>
          </a:xfrm>
          <a:custGeom>
            <a:avLst/>
            <a:gdLst/>
            <a:ahLst/>
            <a:cxnLst/>
            <a:rect l="l" t="t" r="r" b="b"/>
            <a:pathLst>
              <a:path w="2666411" h="489941">
                <a:moveTo>
                  <a:pt x="37686" y="0"/>
                </a:moveTo>
                <a:lnTo>
                  <a:pt x="2628725" y="0"/>
                </a:lnTo>
                <a:cubicBezTo>
                  <a:pt x="2649538" y="0"/>
                  <a:pt x="2666411" y="16873"/>
                  <a:pt x="2666411" y="37686"/>
                </a:cubicBezTo>
                <a:lnTo>
                  <a:pt x="2666411" y="452255"/>
                </a:lnTo>
                <a:cubicBezTo>
                  <a:pt x="2666411" y="473069"/>
                  <a:pt x="2649538" y="489941"/>
                  <a:pt x="2628725" y="489941"/>
                </a:cubicBezTo>
                <a:lnTo>
                  <a:pt x="37686" y="489941"/>
                </a:lnTo>
                <a:cubicBezTo>
                  <a:pt x="16873" y="489941"/>
                  <a:pt x="0" y="473069"/>
                  <a:pt x="0" y="452255"/>
                </a:cubicBezTo>
                <a:lnTo>
                  <a:pt x="0" y="37686"/>
                </a:lnTo>
                <a:cubicBezTo>
                  <a:pt x="0" y="16873"/>
                  <a:pt x="16873" y="0"/>
                  <a:pt x="37686" y="0"/>
                </a:cubicBezTo>
                <a:close/>
              </a:path>
            </a:pathLst>
          </a:custGeom>
          <a:solidFill>
            <a:srgbClr val="1A1D21"/>
          </a:solidFill>
          <a:ln/>
        </p:spPr>
      </p:sp>
      <p:sp>
        <p:nvSpPr>
          <p:cNvPr id="55" name="Text 53"/>
          <p:cNvSpPr/>
          <p:nvPr/>
        </p:nvSpPr>
        <p:spPr>
          <a:xfrm>
            <a:off x="6370267" y="6322127"/>
            <a:ext cx="2581614" cy="188439"/>
          </a:xfrm>
          <a:prstGeom prst="rect">
            <a:avLst/>
          </a:prstGeom>
          <a:noFill/>
          <a:ln/>
        </p:spPr>
        <p:txBody>
          <a:bodyPr wrap="square" lIns="0" tIns="0" rIns="0" bIns="0" rtlCol="0" anchor="ctr"/>
          <a:lstStyle/>
          <a:p>
            <a:pPr>
              <a:lnSpc>
                <a:spcPct val="120000"/>
              </a:lnSpc>
            </a:pPr>
            <a:r>
              <a:rPr lang="en-US" sz="1039" b="1" dirty="0">
                <a:solidFill>
                  <a:srgbClr val="4DB6AC"/>
                </a:solidFill>
                <a:latin typeface="Quattrocento Sans" pitchFamily="34" charset="0"/>
                <a:ea typeface="Quattrocento Sans" pitchFamily="34" charset="-122"/>
                <a:cs typeface="Quattrocento Sans" pitchFamily="34" charset="-120"/>
              </a:rPr>
              <a:t>Multi-Class</a:t>
            </a:r>
            <a:endParaRPr lang="en-US" sz="1600" dirty="0"/>
          </a:p>
        </p:txBody>
      </p:sp>
      <p:sp>
        <p:nvSpPr>
          <p:cNvPr id="56" name="Text 54"/>
          <p:cNvSpPr/>
          <p:nvPr/>
        </p:nvSpPr>
        <p:spPr>
          <a:xfrm>
            <a:off x="6370267" y="6510566"/>
            <a:ext cx="2572192" cy="150751"/>
          </a:xfrm>
          <a:prstGeom prst="rect">
            <a:avLst/>
          </a:prstGeom>
          <a:noFill/>
          <a:ln/>
        </p:spPr>
        <p:txBody>
          <a:bodyPr wrap="square" lIns="0" tIns="0" rIns="0" bIns="0" rtlCol="0" anchor="ctr"/>
          <a:lstStyle/>
          <a:p>
            <a:pPr>
              <a:lnSpc>
                <a:spcPct val="110000"/>
              </a:lnSpc>
            </a:pPr>
            <a:r>
              <a:rPr lang="en-US" sz="890" dirty="0">
                <a:solidFill>
                  <a:srgbClr val="ECEFF1"/>
                </a:solidFill>
                <a:latin typeface="Quattrocento Sans" pitchFamily="34" charset="0"/>
                <a:ea typeface="Quattrocento Sans" pitchFamily="34" charset="-122"/>
                <a:cs typeface="Quattrocento Sans" pitchFamily="34" charset="-120"/>
              </a:rPr>
              <a:t>CCE</a:t>
            </a:r>
            <a:endParaRPr lang="en-US" sz="1600" dirty="0"/>
          </a:p>
        </p:txBody>
      </p:sp>
      <p:sp>
        <p:nvSpPr>
          <p:cNvPr id="57" name="Shape 55"/>
          <p:cNvSpPr/>
          <p:nvPr/>
        </p:nvSpPr>
        <p:spPr>
          <a:xfrm>
            <a:off x="9032409" y="6246751"/>
            <a:ext cx="2666411" cy="489941"/>
          </a:xfrm>
          <a:custGeom>
            <a:avLst/>
            <a:gdLst/>
            <a:ahLst/>
            <a:cxnLst/>
            <a:rect l="l" t="t" r="r" b="b"/>
            <a:pathLst>
              <a:path w="2666411" h="489941">
                <a:moveTo>
                  <a:pt x="37686" y="0"/>
                </a:moveTo>
                <a:lnTo>
                  <a:pt x="2628725" y="0"/>
                </a:lnTo>
                <a:cubicBezTo>
                  <a:pt x="2649538" y="0"/>
                  <a:pt x="2666411" y="16873"/>
                  <a:pt x="2666411" y="37686"/>
                </a:cubicBezTo>
                <a:lnTo>
                  <a:pt x="2666411" y="452255"/>
                </a:lnTo>
                <a:cubicBezTo>
                  <a:pt x="2666411" y="473069"/>
                  <a:pt x="2649538" y="489941"/>
                  <a:pt x="2628725" y="489941"/>
                </a:cubicBezTo>
                <a:lnTo>
                  <a:pt x="37686" y="489941"/>
                </a:lnTo>
                <a:cubicBezTo>
                  <a:pt x="16873" y="489941"/>
                  <a:pt x="0" y="473069"/>
                  <a:pt x="0" y="452255"/>
                </a:cubicBezTo>
                <a:lnTo>
                  <a:pt x="0" y="37686"/>
                </a:lnTo>
                <a:cubicBezTo>
                  <a:pt x="0" y="16873"/>
                  <a:pt x="16873" y="0"/>
                  <a:pt x="37686" y="0"/>
                </a:cubicBezTo>
                <a:close/>
              </a:path>
            </a:pathLst>
          </a:custGeom>
          <a:solidFill>
            <a:srgbClr val="1A1D21"/>
          </a:solidFill>
          <a:ln/>
        </p:spPr>
      </p:sp>
      <p:sp>
        <p:nvSpPr>
          <p:cNvPr id="58" name="Text 56"/>
          <p:cNvSpPr/>
          <p:nvPr/>
        </p:nvSpPr>
        <p:spPr>
          <a:xfrm>
            <a:off x="9107784" y="6322127"/>
            <a:ext cx="2581614" cy="188439"/>
          </a:xfrm>
          <a:prstGeom prst="rect">
            <a:avLst/>
          </a:prstGeom>
          <a:noFill/>
          <a:ln/>
        </p:spPr>
        <p:txBody>
          <a:bodyPr wrap="square" lIns="0" tIns="0" rIns="0" bIns="0" rtlCol="0" anchor="ctr"/>
          <a:lstStyle/>
          <a:p>
            <a:pPr>
              <a:lnSpc>
                <a:spcPct val="120000"/>
              </a:lnSpc>
            </a:pPr>
            <a:r>
              <a:rPr lang="en-US" sz="1039" b="1" dirty="0">
                <a:solidFill>
                  <a:srgbClr val="FFD54F"/>
                </a:solidFill>
                <a:latin typeface="Quattrocento Sans" pitchFamily="34" charset="0"/>
                <a:ea typeface="Quattrocento Sans" pitchFamily="34" charset="-122"/>
                <a:cs typeface="Quattrocento Sans" pitchFamily="34" charset="-120"/>
              </a:rPr>
              <a:t>Segmentation</a:t>
            </a:r>
            <a:endParaRPr lang="en-US" sz="1600" dirty="0"/>
          </a:p>
        </p:txBody>
      </p:sp>
      <p:sp>
        <p:nvSpPr>
          <p:cNvPr id="59" name="Text 57"/>
          <p:cNvSpPr/>
          <p:nvPr/>
        </p:nvSpPr>
        <p:spPr>
          <a:xfrm>
            <a:off x="9107784" y="6510566"/>
            <a:ext cx="2572192" cy="150751"/>
          </a:xfrm>
          <a:prstGeom prst="rect">
            <a:avLst/>
          </a:prstGeom>
          <a:noFill/>
          <a:ln/>
        </p:spPr>
        <p:txBody>
          <a:bodyPr wrap="square" lIns="0" tIns="0" rIns="0" bIns="0" rtlCol="0" anchor="ctr"/>
          <a:lstStyle/>
          <a:p>
            <a:pPr>
              <a:lnSpc>
                <a:spcPct val="110000"/>
              </a:lnSpc>
            </a:pPr>
            <a:r>
              <a:rPr lang="en-US" sz="890" dirty="0">
                <a:solidFill>
                  <a:srgbClr val="ECEFF1"/>
                </a:solidFill>
                <a:latin typeface="Quattrocento Sans" pitchFamily="34" charset="0"/>
                <a:ea typeface="Quattrocento Sans" pitchFamily="34" charset="-122"/>
                <a:cs typeface="Quattrocento Sans" pitchFamily="34" charset="-120"/>
              </a:rPr>
              <a:t>Dice, IoU</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800" b="1" dirty="0">
                <a:solidFill>
                  <a:srgbClr val="ECEFF1"/>
                </a:solidFill>
                <a:latin typeface="Liter" pitchFamily="34" charset="0"/>
                <a:ea typeface="Liter" pitchFamily="34" charset="-122"/>
                <a:cs typeface="Liter" pitchFamily="34" charset="-120"/>
              </a:rPr>
              <a:t>Optimization Benefits</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err="1">
                <a:solidFill>
                  <a:srgbClr val="4DB6AC"/>
                </a:solidFill>
                <a:latin typeface="Hedvig Letters Sans" pitchFamily="34" charset="0"/>
                <a:ea typeface="Hedvig Letters Sans" pitchFamily="34" charset="-122"/>
                <a:cs typeface="Hedvig Letters Sans" pitchFamily="34" charset="-120"/>
              </a:rPr>
              <a:t>Benefitet</a:t>
            </a:r>
            <a:r>
              <a:rPr lang="en-US" sz="1800" b="1" dirty="0">
                <a:solidFill>
                  <a:srgbClr val="4DB6AC"/>
                </a:solidFill>
                <a:latin typeface="Hedvig Letters Sans" pitchFamily="34" charset="0"/>
                <a:ea typeface="Hedvig Letters Sans" pitchFamily="34" charset="-122"/>
                <a:cs typeface="Hedvig Letters Sans" pitchFamily="34" charset="-120"/>
              </a:rPr>
              <a:t> e </a:t>
            </a:r>
            <a:r>
              <a:rPr lang="en-US" sz="1800" b="1" dirty="0" err="1">
                <a:solidFill>
                  <a:srgbClr val="4DB6AC"/>
                </a:solidFill>
                <a:latin typeface="Hedvig Letters Sans" pitchFamily="34" charset="0"/>
                <a:ea typeface="Hedvig Letters Sans" pitchFamily="34" charset="-122"/>
                <a:cs typeface="Hedvig Letters Sans" pitchFamily="34" charset="-120"/>
              </a:rPr>
              <a:t>Optimizimit</a:t>
            </a:r>
            <a:endParaRPr lang="en-US" sz="1600" dirty="0"/>
          </a:p>
        </p:txBody>
      </p:sp>
      <p:sp>
        <p:nvSpPr>
          <p:cNvPr id="4" name="Shape 2"/>
          <p:cNvSpPr/>
          <p:nvPr/>
        </p:nvSpPr>
        <p:spPr>
          <a:xfrm>
            <a:off x="400050" y="1181100"/>
            <a:ext cx="5619750" cy="1524000"/>
          </a:xfrm>
          <a:custGeom>
            <a:avLst/>
            <a:gdLst/>
            <a:ahLst/>
            <a:cxnLst/>
            <a:rect l="l" t="t" r="r" b="b"/>
            <a:pathLst>
              <a:path w="5619750" h="1524000">
                <a:moveTo>
                  <a:pt x="0" y="0"/>
                </a:moveTo>
                <a:lnTo>
                  <a:pt x="5543550" y="0"/>
                </a:lnTo>
                <a:cubicBezTo>
                  <a:pt x="5585606" y="0"/>
                  <a:pt x="5619750" y="34144"/>
                  <a:pt x="5619750" y="76200"/>
                </a:cubicBezTo>
                <a:lnTo>
                  <a:pt x="5619750" y="1447800"/>
                </a:lnTo>
                <a:cubicBezTo>
                  <a:pt x="5619750" y="1489856"/>
                  <a:pt x="5585606" y="1524000"/>
                  <a:pt x="5543550" y="1524000"/>
                </a:cubicBezTo>
                <a:lnTo>
                  <a:pt x="0" y="1524000"/>
                </a:lnTo>
                <a:lnTo>
                  <a:pt x="0" y="0"/>
                </a:lnTo>
                <a:close/>
              </a:path>
            </a:pathLst>
          </a:custGeom>
          <a:solidFill>
            <a:srgbClr val="4DB6AC">
              <a:alpha val="10196"/>
            </a:srgbClr>
          </a:solidFill>
          <a:ln/>
        </p:spPr>
      </p:sp>
      <p:sp>
        <p:nvSpPr>
          <p:cNvPr id="5" name="Shape 3"/>
          <p:cNvSpPr/>
          <p:nvPr/>
        </p:nvSpPr>
        <p:spPr>
          <a:xfrm>
            <a:off x="400050" y="1181100"/>
            <a:ext cx="38100" cy="1524000"/>
          </a:xfrm>
          <a:custGeom>
            <a:avLst/>
            <a:gdLst/>
            <a:ahLst/>
            <a:cxnLst/>
            <a:rect l="l" t="t" r="r" b="b"/>
            <a:pathLst>
              <a:path w="38100" h="1524000">
                <a:moveTo>
                  <a:pt x="0" y="0"/>
                </a:moveTo>
                <a:lnTo>
                  <a:pt x="38100" y="0"/>
                </a:lnTo>
                <a:lnTo>
                  <a:pt x="38100" y="1524000"/>
                </a:lnTo>
                <a:lnTo>
                  <a:pt x="0" y="1524000"/>
                </a:lnTo>
                <a:lnTo>
                  <a:pt x="0" y="0"/>
                </a:lnTo>
                <a:close/>
              </a:path>
            </a:pathLst>
          </a:custGeom>
          <a:solidFill>
            <a:srgbClr val="4DB6AC"/>
          </a:solidFill>
          <a:ln/>
        </p:spPr>
      </p:sp>
      <p:sp>
        <p:nvSpPr>
          <p:cNvPr id="6" name="Text 4"/>
          <p:cNvSpPr/>
          <p:nvPr/>
        </p:nvSpPr>
        <p:spPr>
          <a:xfrm>
            <a:off x="533400" y="1295400"/>
            <a:ext cx="5448300" cy="62865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Regularization techniques prevent overfitting by adding constraints or modifications to the training process. They improve model generalization to unseen data, which is crucial for real-world deployment.</a:t>
            </a:r>
            <a:endParaRPr lang="en-US" sz="1600" dirty="0"/>
          </a:p>
        </p:txBody>
      </p:sp>
      <p:sp>
        <p:nvSpPr>
          <p:cNvPr id="7" name="Text 5"/>
          <p:cNvSpPr/>
          <p:nvPr/>
        </p:nvSpPr>
        <p:spPr>
          <a:xfrm>
            <a:off x="533400" y="1962150"/>
            <a:ext cx="5448300" cy="62865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Teknikat e rregullimit parandalojnë overfitting-un duke shtuar kufizime ose modifikime në procesin e trajnimit. Ato përmirësojnë përgjithësimin e modelit në të dhëna të panjohura.</a:t>
            </a:r>
            <a:endParaRPr lang="en-US" sz="1600" dirty="0"/>
          </a:p>
        </p:txBody>
      </p:sp>
      <p:sp>
        <p:nvSpPr>
          <p:cNvPr id="8" name="Shape 6"/>
          <p:cNvSpPr/>
          <p:nvPr/>
        </p:nvSpPr>
        <p:spPr>
          <a:xfrm>
            <a:off x="381000" y="2781300"/>
            <a:ext cx="2781300" cy="1828800"/>
          </a:xfrm>
          <a:custGeom>
            <a:avLst/>
            <a:gdLst/>
            <a:ahLst/>
            <a:cxnLst/>
            <a:rect l="l" t="t" r="r" b="b"/>
            <a:pathLst>
              <a:path w="2781300" h="1828800">
                <a:moveTo>
                  <a:pt x="76206" y="0"/>
                </a:moveTo>
                <a:lnTo>
                  <a:pt x="2705094" y="0"/>
                </a:lnTo>
                <a:cubicBezTo>
                  <a:pt x="2747181" y="0"/>
                  <a:pt x="2781300" y="34119"/>
                  <a:pt x="2781300" y="76206"/>
                </a:cubicBezTo>
                <a:lnTo>
                  <a:pt x="2781300" y="1752594"/>
                </a:lnTo>
                <a:cubicBezTo>
                  <a:pt x="2781300" y="1794681"/>
                  <a:pt x="2747181" y="1828800"/>
                  <a:pt x="2705094" y="1828800"/>
                </a:cubicBezTo>
                <a:lnTo>
                  <a:pt x="76206" y="1828800"/>
                </a:lnTo>
                <a:cubicBezTo>
                  <a:pt x="34119" y="1828800"/>
                  <a:pt x="0" y="1794681"/>
                  <a:pt x="0" y="1752594"/>
                </a:cubicBezTo>
                <a:lnTo>
                  <a:pt x="0" y="76206"/>
                </a:lnTo>
                <a:cubicBezTo>
                  <a:pt x="0" y="34147"/>
                  <a:pt x="34147" y="0"/>
                  <a:pt x="76206" y="0"/>
                </a:cubicBezTo>
                <a:close/>
              </a:path>
            </a:pathLst>
          </a:custGeom>
          <a:solidFill>
            <a:srgbClr val="4DB6AC">
              <a:alpha val="10196"/>
            </a:srgbClr>
          </a:solidFill>
          <a:ln/>
        </p:spPr>
      </p:sp>
      <p:sp>
        <p:nvSpPr>
          <p:cNvPr id="9" name="Text 7"/>
          <p:cNvSpPr/>
          <p:nvPr/>
        </p:nvSpPr>
        <p:spPr>
          <a:xfrm>
            <a:off x="495300" y="28956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Dropout</a:t>
            </a:r>
            <a:endParaRPr lang="en-US" sz="1600" dirty="0"/>
          </a:p>
        </p:txBody>
      </p:sp>
      <p:sp>
        <p:nvSpPr>
          <p:cNvPr id="10" name="Text 8"/>
          <p:cNvSpPr/>
          <p:nvPr/>
        </p:nvSpPr>
        <p:spPr>
          <a:xfrm>
            <a:off x="495300" y="32004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Most Effective</a:t>
            </a:r>
            <a:endParaRPr lang="en-US" sz="1600" dirty="0"/>
          </a:p>
        </p:txBody>
      </p:sp>
      <p:sp>
        <p:nvSpPr>
          <p:cNvPr id="11" name="Text 9"/>
          <p:cNvSpPr/>
          <p:nvPr/>
        </p:nvSpPr>
        <p:spPr>
          <a:xfrm>
            <a:off x="495300" y="3467100"/>
            <a:ext cx="26193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Randomly sets neurons to zero during training.</a:t>
            </a:r>
            <a:endParaRPr lang="en-US" sz="1600" dirty="0"/>
          </a:p>
        </p:txBody>
      </p:sp>
      <p:sp>
        <p:nvSpPr>
          <p:cNvPr id="12" name="Shape 10"/>
          <p:cNvSpPr/>
          <p:nvPr/>
        </p:nvSpPr>
        <p:spPr>
          <a:xfrm>
            <a:off x="495300" y="3924300"/>
            <a:ext cx="2552700" cy="571500"/>
          </a:xfrm>
          <a:custGeom>
            <a:avLst/>
            <a:gdLst/>
            <a:ahLst/>
            <a:cxnLst/>
            <a:rect l="l" t="t" r="r" b="b"/>
            <a:pathLst>
              <a:path w="2552700" h="571500">
                <a:moveTo>
                  <a:pt x="38102" y="0"/>
                </a:moveTo>
                <a:lnTo>
                  <a:pt x="2514598" y="0"/>
                </a:lnTo>
                <a:cubicBezTo>
                  <a:pt x="2535641" y="0"/>
                  <a:pt x="2552700" y="17059"/>
                  <a:pt x="2552700" y="38102"/>
                </a:cubicBezTo>
                <a:lnTo>
                  <a:pt x="2552700" y="533398"/>
                </a:lnTo>
                <a:cubicBezTo>
                  <a:pt x="2552700" y="554441"/>
                  <a:pt x="2535641" y="571500"/>
                  <a:pt x="2514598" y="571500"/>
                </a:cubicBezTo>
                <a:lnTo>
                  <a:pt x="38102" y="571500"/>
                </a:lnTo>
                <a:cubicBezTo>
                  <a:pt x="17059" y="571500"/>
                  <a:pt x="0" y="554441"/>
                  <a:pt x="0" y="533398"/>
                </a:cubicBezTo>
                <a:lnTo>
                  <a:pt x="0" y="38102"/>
                </a:lnTo>
                <a:cubicBezTo>
                  <a:pt x="0" y="17073"/>
                  <a:pt x="17073" y="0"/>
                  <a:pt x="38102" y="0"/>
                </a:cubicBezTo>
                <a:close/>
              </a:path>
            </a:pathLst>
          </a:custGeom>
          <a:solidFill>
            <a:srgbClr val="1A1D21"/>
          </a:solidFill>
          <a:ln/>
        </p:spPr>
      </p:sp>
      <p:sp>
        <p:nvSpPr>
          <p:cNvPr id="13" name="Text 11"/>
          <p:cNvSpPr/>
          <p:nvPr/>
        </p:nvSpPr>
        <p:spPr>
          <a:xfrm>
            <a:off x="528638" y="4000500"/>
            <a:ext cx="2486025" cy="266700"/>
          </a:xfrm>
          <a:prstGeom prst="rect">
            <a:avLst/>
          </a:prstGeom>
          <a:noFill/>
          <a:ln/>
        </p:spPr>
        <p:txBody>
          <a:bodyPr wrap="square" lIns="0" tIns="0" rIns="0" bIns="0" rtlCol="0" anchor="ctr"/>
          <a:lstStyle/>
          <a:p>
            <a:pPr algn="ctr">
              <a:lnSpc>
                <a:spcPct val="130000"/>
              </a:lnSpc>
            </a:pPr>
            <a:r>
              <a:rPr lang="en-US" sz="1350" b="1" dirty="0">
                <a:solidFill>
                  <a:srgbClr val="FFD54F"/>
                </a:solidFill>
                <a:latin typeface="Quattrocento Sans" pitchFamily="34" charset="0"/>
                <a:ea typeface="Quattrocento Sans" pitchFamily="34" charset="-122"/>
                <a:cs typeface="Quattrocento Sans" pitchFamily="34" charset="-120"/>
              </a:rPr>
              <a:t>p = 0.2-0.5</a:t>
            </a:r>
            <a:endParaRPr lang="en-US" sz="1600" dirty="0"/>
          </a:p>
        </p:txBody>
      </p:sp>
      <p:sp>
        <p:nvSpPr>
          <p:cNvPr id="14" name="Text 12"/>
          <p:cNvSpPr/>
          <p:nvPr/>
        </p:nvSpPr>
        <p:spPr>
          <a:xfrm>
            <a:off x="542925" y="4267200"/>
            <a:ext cx="24574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Dropout rate</a:t>
            </a:r>
            <a:endParaRPr lang="en-US" sz="1600" dirty="0"/>
          </a:p>
        </p:txBody>
      </p:sp>
      <p:sp>
        <p:nvSpPr>
          <p:cNvPr id="15" name="Shape 13"/>
          <p:cNvSpPr/>
          <p:nvPr/>
        </p:nvSpPr>
        <p:spPr>
          <a:xfrm>
            <a:off x="3238500" y="2781300"/>
            <a:ext cx="2781300" cy="1828800"/>
          </a:xfrm>
          <a:custGeom>
            <a:avLst/>
            <a:gdLst/>
            <a:ahLst/>
            <a:cxnLst/>
            <a:rect l="l" t="t" r="r" b="b"/>
            <a:pathLst>
              <a:path w="2781300" h="1828800">
                <a:moveTo>
                  <a:pt x="76206" y="0"/>
                </a:moveTo>
                <a:lnTo>
                  <a:pt x="2705094" y="0"/>
                </a:lnTo>
                <a:cubicBezTo>
                  <a:pt x="2747181" y="0"/>
                  <a:pt x="2781300" y="34119"/>
                  <a:pt x="2781300" y="76206"/>
                </a:cubicBezTo>
                <a:lnTo>
                  <a:pt x="2781300" y="1752594"/>
                </a:lnTo>
                <a:cubicBezTo>
                  <a:pt x="2781300" y="1794681"/>
                  <a:pt x="2747181" y="1828800"/>
                  <a:pt x="2705094" y="1828800"/>
                </a:cubicBezTo>
                <a:lnTo>
                  <a:pt x="76206" y="1828800"/>
                </a:lnTo>
                <a:cubicBezTo>
                  <a:pt x="34119" y="1828800"/>
                  <a:pt x="0" y="1794681"/>
                  <a:pt x="0" y="1752594"/>
                </a:cubicBezTo>
                <a:lnTo>
                  <a:pt x="0" y="76206"/>
                </a:lnTo>
                <a:cubicBezTo>
                  <a:pt x="0" y="34147"/>
                  <a:pt x="34147" y="0"/>
                  <a:pt x="76206" y="0"/>
                </a:cubicBezTo>
                <a:close/>
              </a:path>
            </a:pathLst>
          </a:custGeom>
          <a:solidFill>
            <a:srgbClr val="FFD54F">
              <a:alpha val="10196"/>
            </a:srgbClr>
          </a:solidFill>
          <a:ln/>
        </p:spPr>
      </p:sp>
      <p:sp>
        <p:nvSpPr>
          <p:cNvPr id="16" name="Text 14"/>
          <p:cNvSpPr/>
          <p:nvPr/>
        </p:nvSpPr>
        <p:spPr>
          <a:xfrm>
            <a:off x="3352800" y="28956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L1/L2 Regularization</a:t>
            </a:r>
            <a:endParaRPr lang="en-US" sz="1600" dirty="0"/>
          </a:p>
        </p:txBody>
      </p:sp>
      <p:sp>
        <p:nvSpPr>
          <p:cNvPr id="17" name="Text 15"/>
          <p:cNvSpPr/>
          <p:nvPr/>
        </p:nvSpPr>
        <p:spPr>
          <a:xfrm>
            <a:off x="3352800" y="32004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Weight Penalty</a:t>
            </a:r>
            <a:endParaRPr lang="en-US" sz="1600" dirty="0"/>
          </a:p>
        </p:txBody>
      </p:sp>
      <p:sp>
        <p:nvSpPr>
          <p:cNvPr id="18" name="Text 16"/>
          <p:cNvSpPr/>
          <p:nvPr/>
        </p:nvSpPr>
        <p:spPr>
          <a:xfrm>
            <a:off x="3352800" y="3467100"/>
            <a:ext cx="26193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Adds penalty to loss based on weight magnitude.</a:t>
            </a:r>
            <a:endParaRPr lang="en-US" sz="1600" dirty="0"/>
          </a:p>
        </p:txBody>
      </p:sp>
      <p:sp>
        <p:nvSpPr>
          <p:cNvPr id="19" name="Shape 17"/>
          <p:cNvSpPr/>
          <p:nvPr/>
        </p:nvSpPr>
        <p:spPr>
          <a:xfrm>
            <a:off x="3352800" y="3924300"/>
            <a:ext cx="2552700" cy="304800"/>
          </a:xfrm>
          <a:custGeom>
            <a:avLst/>
            <a:gdLst/>
            <a:ahLst/>
            <a:cxnLst/>
            <a:rect l="l" t="t" r="r" b="b"/>
            <a:pathLst>
              <a:path w="2552700" h="304800">
                <a:moveTo>
                  <a:pt x="38100" y="0"/>
                </a:moveTo>
                <a:lnTo>
                  <a:pt x="2514600" y="0"/>
                </a:lnTo>
                <a:cubicBezTo>
                  <a:pt x="2535628" y="0"/>
                  <a:pt x="2552700" y="17072"/>
                  <a:pt x="2552700" y="38100"/>
                </a:cubicBezTo>
                <a:lnTo>
                  <a:pt x="2552700" y="266700"/>
                </a:lnTo>
                <a:cubicBezTo>
                  <a:pt x="2552700" y="287728"/>
                  <a:pt x="2535628" y="304800"/>
                  <a:pt x="2514600" y="304800"/>
                </a:cubicBezTo>
                <a:lnTo>
                  <a:pt x="38100" y="304800"/>
                </a:lnTo>
                <a:cubicBezTo>
                  <a:pt x="17072" y="304800"/>
                  <a:pt x="0" y="287728"/>
                  <a:pt x="0" y="266700"/>
                </a:cubicBezTo>
                <a:lnTo>
                  <a:pt x="0" y="38100"/>
                </a:lnTo>
                <a:cubicBezTo>
                  <a:pt x="0" y="17072"/>
                  <a:pt x="17072" y="0"/>
                  <a:pt x="38100" y="0"/>
                </a:cubicBezTo>
                <a:close/>
              </a:path>
            </a:pathLst>
          </a:custGeom>
          <a:solidFill>
            <a:srgbClr val="1A1D21"/>
          </a:solidFill>
          <a:ln/>
        </p:spPr>
      </p:sp>
      <p:sp>
        <p:nvSpPr>
          <p:cNvPr id="20" name="Text 18"/>
          <p:cNvSpPr/>
          <p:nvPr/>
        </p:nvSpPr>
        <p:spPr>
          <a:xfrm>
            <a:off x="3429000" y="4000500"/>
            <a:ext cx="2457450" cy="152400"/>
          </a:xfrm>
          <a:prstGeom prst="rect">
            <a:avLst/>
          </a:prstGeom>
          <a:noFill/>
          <a:ln/>
        </p:spPr>
        <p:txBody>
          <a:bodyPr wrap="square" lIns="0" tIns="0" rIns="0" bIns="0" rtlCol="0" anchor="ctr"/>
          <a:lstStyle/>
          <a:p>
            <a:pPr>
              <a:lnSpc>
                <a:spcPct val="110000"/>
              </a:lnSpc>
            </a:pPr>
            <a:r>
              <a:rPr lang="en-US" sz="900" dirty="0">
                <a:solidFill>
                  <a:srgbClr val="FFD54F"/>
                </a:solidFill>
                <a:latin typeface="MiSans" pitchFamily="34" charset="0"/>
                <a:ea typeface="MiSans" pitchFamily="34" charset="-122"/>
                <a:cs typeface="MiSans" pitchFamily="34" charset="-120"/>
              </a:rPr>
              <a:t>L = L₀ + λΣw²</a:t>
            </a:r>
            <a:endParaRPr lang="en-US" sz="1600" dirty="0"/>
          </a:p>
        </p:txBody>
      </p:sp>
      <p:sp>
        <p:nvSpPr>
          <p:cNvPr id="21" name="Shape 19"/>
          <p:cNvSpPr/>
          <p:nvPr/>
        </p:nvSpPr>
        <p:spPr>
          <a:xfrm>
            <a:off x="381000" y="4686300"/>
            <a:ext cx="5638800" cy="990600"/>
          </a:xfrm>
          <a:custGeom>
            <a:avLst/>
            <a:gdLst/>
            <a:ahLst/>
            <a:cxnLst/>
            <a:rect l="l" t="t" r="r" b="b"/>
            <a:pathLst>
              <a:path w="5638800" h="990600">
                <a:moveTo>
                  <a:pt x="76197" y="0"/>
                </a:moveTo>
                <a:lnTo>
                  <a:pt x="5562603" y="0"/>
                </a:lnTo>
                <a:cubicBezTo>
                  <a:pt x="5604685" y="0"/>
                  <a:pt x="5638800" y="34115"/>
                  <a:pt x="5638800" y="76197"/>
                </a:cubicBezTo>
                <a:lnTo>
                  <a:pt x="5638800" y="914403"/>
                </a:lnTo>
                <a:cubicBezTo>
                  <a:pt x="5638800" y="956485"/>
                  <a:pt x="5604685" y="990600"/>
                  <a:pt x="5562603" y="990600"/>
                </a:cubicBezTo>
                <a:lnTo>
                  <a:pt x="76197" y="990600"/>
                </a:lnTo>
                <a:cubicBezTo>
                  <a:pt x="34115" y="990600"/>
                  <a:pt x="0" y="956485"/>
                  <a:pt x="0" y="914403"/>
                </a:cubicBezTo>
                <a:lnTo>
                  <a:pt x="0" y="76197"/>
                </a:lnTo>
                <a:cubicBezTo>
                  <a:pt x="0" y="34143"/>
                  <a:pt x="34143" y="0"/>
                  <a:pt x="76197" y="0"/>
                </a:cubicBezTo>
                <a:close/>
              </a:path>
            </a:pathLst>
          </a:custGeom>
          <a:solidFill>
            <a:srgbClr val="78909C">
              <a:alpha val="10196"/>
            </a:srgbClr>
          </a:solidFill>
          <a:ln/>
        </p:spPr>
      </p:sp>
      <p:sp>
        <p:nvSpPr>
          <p:cNvPr id="22" name="Text 20"/>
          <p:cNvSpPr/>
          <p:nvPr/>
        </p:nvSpPr>
        <p:spPr>
          <a:xfrm>
            <a:off x="495300" y="480060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Early Stopping</a:t>
            </a:r>
            <a:endParaRPr lang="en-US" sz="1600" dirty="0"/>
          </a:p>
        </p:txBody>
      </p:sp>
      <p:sp>
        <p:nvSpPr>
          <p:cNvPr id="23" name="Text 21"/>
          <p:cNvSpPr/>
          <p:nvPr/>
        </p:nvSpPr>
        <p:spPr>
          <a:xfrm>
            <a:off x="495300" y="5105400"/>
            <a:ext cx="5476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Monitor validation loss and stop training when it stops improving.</a:t>
            </a:r>
            <a:endParaRPr lang="en-US" sz="1600" dirty="0"/>
          </a:p>
        </p:txBody>
      </p:sp>
      <p:sp>
        <p:nvSpPr>
          <p:cNvPr id="24" name="Shape 22"/>
          <p:cNvSpPr/>
          <p:nvPr/>
        </p:nvSpPr>
        <p:spPr>
          <a:xfrm>
            <a:off x="514350" y="5400675"/>
            <a:ext cx="133350" cy="133350"/>
          </a:xfrm>
          <a:custGeom>
            <a:avLst/>
            <a:gdLst/>
            <a:ahLst/>
            <a:cxnLst/>
            <a:rect l="l" t="t" r="r" b="b"/>
            <a:pathLst>
              <a:path w="133350" h="133350">
                <a:moveTo>
                  <a:pt x="16669" y="16669"/>
                </a:moveTo>
                <a:cubicBezTo>
                  <a:pt x="16669" y="12059"/>
                  <a:pt x="12944" y="8334"/>
                  <a:pt x="8334" y="8334"/>
                </a:cubicBezTo>
                <a:cubicBezTo>
                  <a:pt x="3724" y="8334"/>
                  <a:pt x="0" y="12059"/>
                  <a:pt x="0" y="16669"/>
                </a:cubicBezTo>
                <a:lnTo>
                  <a:pt x="0" y="104180"/>
                </a:lnTo>
                <a:cubicBezTo>
                  <a:pt x="0" y="115692"/>
                  <a:pt x="9324" y="125016"/>
                  <a:pt x="20836" y="125016"/>
                </a:cubicBezTo>
                <a:lnTo>
                  <a:pt x="125016" y="125016"/>
                </a:lnTo>
                <a:cubicBezTo>
                  <a:pt x="129626" y="125016"/>
                  <a:pt x="133350" y="121291"/>
                  <a:pt x="133350" y="116681"/>
                </a:cubicBezTo>
                <a:cubicBezTo>
                  <a:pt x="133350" y="112071"/>
                  <a:pt x="129626" y="108347"/>
                  <a:pt x="125016" y="108347"/>
                </a:cubicBezTo>
                <a:lnTo>
                  <a:pt x="20836" y="108347"/>
                </a:lnTo>
                <a:cubicBezTo>
                  <a:pt x="18544" y="108347"/>
                  <a:pt x="16669" y="106472"/>
                  <a:pt x="16669" y="104180"/>
                </a:cubicBezTo>
                <a:lnTo>
                  <a:pt x="16669" y="16669"/>
                </a:lnTo>
                <a:close/>
                <a:moveTo>
                  <a:pt x="122567" y="39224"/>
                </a:moveTo>
                <a:cubicBezTo>
                  <a:pt x="125823" y="35968"/>
                  <a:pt x="125823" y="30681"/>
                  <a:pt x="122567" y="27425"/>
                </a:cubicBezTo>
                <a:cubicBezTo>
                  <a:pt x="119312" y="24170"/>
                  <a:pt x="114025" y="24170"/>
                  <a:pt x="110769" y="27425"/>
                </a:cubicBezTo>
                <a:lnTo>
                  <a:pt x="83344" y="54877"/>
                </a:lnTo>
                <a:lnTo>
                  <a:pt x="68394" y="39953"/>
                </a:lnTo>
                <a:cubicBezTo>
                  <a:pt x="65138" y="36697"/>
                  <a:pt x="59851" y="36697"/>
                  <a:pt x="56596" y="39953"/>
                </a:cubicBezTo>
                <a:lnTo>
                  <a:pt x="31592" y="64956"/>
                </a:lnTo>
                <a:cubicBezTo>
                  <a:pt x="28337" y="68212"/>
                  <a:pt x="28337" y="73499"/>
                  <a:pt x="31592" y="76754"/>
                </a:cubicBezTo>
                <a:cubicBezTo>
                  <a:pt x="34848" y="80010"/>
                  <a:pt x="40135" y="80010"/>
                  <a:pt x="43391" y="76754"/>
                </a:cubicBezTo>
                <a:lnTo>
                  <a:pt x="62508" y="57637"/>
                </a:lnTo>
                <a:lnTo>
                  <a:pt x="77458" y="72587"/>
                </a:lnTo>
                <a:cubicBezTo>
                  <a:pt x="80713" y="75843"/>
                  <a:pt x="86000" y="75843"/>
                  <a:pt x="89256" y="72587"/>
                </a:cubicBezTo>
                <a:lnTo>
                  <a:pt x="122593" y="39250"/>
                </a:lnTo>
                <a:close/>
              </a:path>
            </a:pathLst>
          </a:custGeom>
          <a:solidFill>
            <a:srgbClr val="4DB6AC"/>
          </a:solidFill>
          <a:ln/>
        </p:spPr>
      </p:sp>
      <p:sp>
        <p:nvSpPr>
          <p:cNvPr id="25" name="Text 23"/>
          <p:cNvSpPr/>
          <p:nvPr/>
        </p:nvSpPr>
        <p:spPr>
          <a:xfrm>
            <a:off x="738188" y="5372100"/>
            <a:ext cx="21050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Prevents overfitting on training data</a:t>
            </a:r>
            <a:endParaRPr lang="en-US" sz="1600" dirty="0"/>
          </a:p>
        </p:txBody>
      </p:sp>
      <p:sp>
        <p:nvSpPr>
          <p:cNvPr id="26" name="Shape 24"/>
          <p:cNvSpPr/>
          <p:nvPr/>
        </p:nvSpPr>
        <p:spPr>
          <a:xfrm>
            <a:off x="6176963" y="1185863"/>
            <a:ext cx="5629275" cy="2447925"/>
          </a:xfrm>
          <a:custGeom>
            <a:avLst/>
            <a:gdLst/>
            <a:ahLst/>
            <a:cxnLst/>
            <a:rect l="l" t="t" r="r" b="b"/>
            <a:pathLst>
              <a:path w="5629275" h="2447925">
                <a:moveTo>
                  <a:pt x="76204" y="0"/>
                </a:moveTo>
                <a:lnTo>
                  <a:pt x="5553071" y="0"/>
                </a:lnTo>
                <a:cubicBezTo>
                  <a:pt x="5595157" y="0"/>
                  <a:pt x="5629275" y="34118"/>
                  <a:pt x="5629275" y="76204"/>
                </a:cubicBezTo>
                <a:lnTo>
                  <a:pt x="5629275" y="2371721"/>
                </a:lnTo>
                <a:cubicBezTo>
                  <a:pt x="5629275" y="2413807"/>
                  <a:pt x="5595157" y="2447925"/>
                  <a:pt x="5553071" y="2447925"/>
                </a:cubicBezTo>
                <a:lnTo>
                  <a:pt x="76204" y="2447925"/>
                </a:lnTo>
                <a:cubicBezTo>
                  <a:pt x="34118" y="2447925"/>
                  <a:pt x="0" y="2413807"/>
                  <a:pt x="0" y="2371721"/>
                </a:cubicBezTo>
                <a:lnTo>
                  <a:pt x="0" y="76204"/>
                </a:lnTo>
                <a:cubicBezTo>
                  <a:pt x="0" y="34146"/>
                  <a:pt x="34146" y="0"/>
                  <a:pt x="76204" y="0"/>
                </a:cubicBezTo>
                <a:close/>
              </a:path>
            </a:pathLst>
          </a:custGeom>
          <a:solidFill>
            <a:srgbClr val="4DB6AC">
              <a:alpha val="5098"/>
            </a:srgbClr>
          </a:solidFill>
          <a:ln w="12700">
            <a:solidFill>
              <a:srgbClr val="4DB6AC">
                <a:alpha val="30196"/>
              </a:srgbClr>
            </a:solidFill>
            <a:prstDash val="solid"/>
          </a:ln>
        </p:spPr>
      </p:sp>
      <p:sp>
        <p:nvSpPr>
          <p:cNvPr id="27" name="Text 25"/>
          <p:cNvSpPr/>
          <p:nvPr/>
        </p:nvSpPr>
        <p:spPr>
          <a:xfrm>
            <a:off x="6296025" y="130492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Batch Normalization</a:t>
            </a:r>
            <a:endParaRPr lang="en-US" sz="1600" dirty="0"/>
          </a:p>
        </p:txBody>
      </p:sp>
      <p:sp>
        <p:nvSpPr>
          <p:cNvPr id="28" name="Text 26"/>
          <p:cNvSpPr/>
          <p:nvPr/>
        </p:nvSpPr>
        <p:spPr>
          <a:xfrm>
            <a:off x="6296025" y="1647825"/>
            <a:ext cx="545782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Normalizes layer inputs to have zero mean and unit variance. Acts as regularization and accelerates training.</a:t>
            </a:r>
            <a:endParaRPr lang="en-US" sz="1600" dirty="0"/>
          </a:p>
        </p:txBody>
      </p:sp>
      <p:sp>
        <p:nvSpPr>
          <p:cNvPr id="29" name="Shape 27"/>
          <p:cNvSpPr/>
          <p:nvPr/>
        </p:nvSpPr>
        <p:spPr>
          <a:xfrm>
            <a:off x="6296025" y="2105025"/>
            <a:ext cx="5391150" cy="685800"/>
          </a:xfrm>
          <a:custGeom>
            <a:avLst/>
            <a:gdLst/>
            <a:ahLst/>
            <a:cxnLst/>
            <a:rect l="l" t="t" r="r" b="b"/>
            <a:pathLst>
              <a:path w="5391150" h="685800">
                <a:moveTo>
                  <a:pt x="76199" y="0"/>
                </a:moveTo>
                <a:lnTo>
                  <a:pt x="5314951" y="0"/>
                </a:lnTo>
                <a:cubicBezTo>
                  <a:pt x="5357034" y="0"/>
                  <a:pt x="5391150" y="34116"/>
                  <a:pt x="5391150" y="76199"/>
                </a:cubicBezTo>
                <a:lnTo>
                  <a:pt x="5391150" y="609601"/>
                </a:lnTo>
                <a:cubicBezTo>
                  <a:pt x="5391150" y="651684"/>
                  <a:pt x="5357034" y="685800"/>
                  <a:pt x="5314951" y="685800"/>
                </a:cubicBezTo>
                <a:lnTo>
                  <a:pt x="76199" y="685800"/>
                </a:lnTo>
                <a:cubicBezTo>
                  <a:pt x="34116" y="685800"/>
                  <a:pt x="0" y="651684"/>
                  <a:pt x="0" y="609601"/>
                </a:cubicBezTo>
                <a:lnTo>
                  <a:pt x="0" y="76199"/>
                </a:lnTo>
                <a:cubicBezTo>
                  <a:pt x="0" y="34144"/>
                  <a:pt x="34144" y="0"/>
                  <a:pt x="76199" y="0"/>
                </a:cubicBezTo>
                <a:close/>
              </a:path>
            </a:pathLst>
          </a:custGeom>
          <a:solidFill>
            <a:srgbClr val="1A1D21"/>
          </a:solidFill>
          <a:ln/>
        </p:spPr>
      </p:sp>
      <p:sp>
        <p:nvSpPr>
          <p:cNvPr id="30" name="Text 28"/>
          <p:cNvSpPr/>
          <p:nvPr/>
        </p:nvSpPr>
        <p:spPr>
          <a:xfrm>
            <a:off x="6376988" y="2219325"/>
            <a:ext cx="5229225" cy="190500"/>
          </a:xfrm>
          <a:prstGeom prst="rect">
            <a:avLst/>
          </a:prstGeom>
          <a:noFill/>
          <a:ln/>
        </p:spPr>
        <p:txBody>
          <a:bodyPr wrap="square" lIns="0" tIns="0" rIns="0" bIns="0" rtlCol="0" anchor="ctr"/>
          <a:lstStyle/>
          <a:p>
            <a:pPr algn="ctr">
              <a:lnSpc>
                <a:spcPct val="120000"/>
              </a:lnSpc>
            </a:pPr>
            <a:r>
              <a:rPr lang="en-US" sz="1050" dirty="0">
                <a:solidFill>
                  <a:srgbClr val="FFD54F"/>
                </a:solidFill>
                <a:latin typeface="MiSans" pitchFamily="34" charset="0"/>
                <a:ea typeface="MiSans" pitchFamily="34" charset="-122"/>
                <a:cs typeface="MiSans" pitchFamily="34" charset="-120"/>
              </a:rPr>
              <a:t>x̂ = (x - μ) / √(σ² + ε)</a:t>
            </a:r>
            <a:endParaRPr lang="en-US" sz="1600" dirty="0"/>
          </a:p>
        </p:txBody>
      </p:sp>
      <p:sp>
        <p:nvSpPr>
          <p:cNvPr id="31" name="Text 29"/>
          <p:cNvSpPr/>
          <p:nvPr/>
        </p:nvSpPr>
        <p:spPr>
          <a:xfrm>
            <a:off x="6376988" y="2486025"/>
            <a:ext cx="5229225" cy="190500"/>
          </a:xfrm>
          <a:prstGeom prst="rect">
            <a:avLst/>
          </a:prstGeom>
          <a:noFill/>
          <a:ln/>
        </p:spPr>
        <p:txBody>
          <a:bodyPr wrap="square" lIns="0" tIns="0" rIns="0" bIns="0" rtlCol="0" anchor="ctr"/>
          <a:lstStyle/>
          <a:p>
            <a:pPr algn="ctr">
              <a:lnSpc>
                <a:spcPct val="120000"/>
              </a:lnSpc>
            </a:pPr>
            <a:r>
              <a:rPr lang="en-US" sz="1050" dirty="0">
                <a:solidFill>
                  <a:srgbClr val="4DB6AC"/>
                </a:solidFill>
                <a:latin typeface="MiSans" pitchFamily="34" charset="0"/>
                <a:ea typeface="MiSans" pitchFamily="34" charset="-122"/>
                <a:cs typeface="MiSans" pitchFamily="34" charset="-120"/>
              </a:rPr>
              <a:t>y = γx̂ + β</a:t>
            </a:r>
            <a:endParaRPr lang="en-US" sz="1600" dirty="0"/>
          </a:p>
        </p:txBody>
      </p:sp>
      <p:sp>
        <p:nvSpPr>
          <p:cNvPr id="32" name="Shape 30"/>
          <p:cNvSpPr/>
          <p:nvPr/>
        </p:nvSpPr>
        <p:spPr>
          <a:xfrm>
            <a:off x="6315075" y="289560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DB6AC"/>
          </a:solidFill>
          <a:ln/>
        </p:spPr>
      </p:sp>
      <p:sp>
        <p:nvSpPr>
          <p:cNvPr id="33" name="Text 31"/>
          <p:cNvSpPr/>
          <p:nvPr/>
        </p:nvSpPr>
        <p:spPr>
          <a:xfrm>
            <a:off x="6538913" y="2867025"/>
            <a:ext cx="18669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Reduces internal covariate shift</a:t>
            </a:r>
            <a:endParaRPr lang="en-US" sz="1600" dirty="0"/>
          </a:p>
        </p:txBody>
      </p:sp>
      <p:sp>
        <p:nvSpPr>
          <p:cNvPr id="34" name="Shape 32"/>
          <p:cNvSpPr/>
          <p:nvPr/>
        </p:nvSpPr>
        <p:spPr>
          <a:xfrm>
            <a:off x="6315075" y="312420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4DB6AC"/>
          </a:solidFill>
          <a:ln/>
        </p:spPr>
      </p:sp>
      <p:sp>
        <p:nvSpPr>
          <p:cNvPr id="35" name="Text 33"/>
          <p:cNvSpPr/>
          <p:nvPr/>
        </p:nvSpPr>
        <p:spPr>
          <a:xfrm>
            <a:off x="6538913" y="3095625"/>
            <a:ext cx="16573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Allows higher learning rates</a:t>
            </a:r>
            <a:endParaRPr lang="en-US" sz="1600" dirty="0"/>
          </a:p>
        </p:txBody>
      </p:sp>
      <p:sp>
        <p:nvSpPr>
          <p:cNvPr id="36" name="Shape 34"/>
          <p:cNvSpPr/>
          <p:nvPr/>
        </p:nvSpPr>
        <p:spPr>
          <a:xfrm>
            <a:off x="6315075" y="3352800"/>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88657" y="55398"/>
                </a:moveTo>
                <a:lnTo>
                  <a:pt x="67821" y="88735"/>
                </a:lnTo>
                <a:cubicBezTo>
                  <a:pt x="66727" y="90480"/>
                  <a:pt x="64852" y="91574"/>
                  <a:pt x="62794" y="91678"/>
                </a:cubicBezTo>
                <a:cubicBezTo>
                  <a:pt x="60737" y="91782"/>
                  <a:pt x="58757" y="90845"/>
                  <a:pt x="57533" y="89178"/>
                </a:cubicBezTo>
                <a:lnTo>
                  <a:pt x="45032" y="72509"/>
                </a:lnTo>
                <a:cubicBezTo>
                  <a:pt x="42948" y="69748"/>
                  <a:pt x="43521" y="65842"/>
                  <a:pt x="46282" y="63758"/>
                </a:cubicBezTo>
                <a:cubicBezTo>
                  <a:pt x="49043" y="61674"/>
                  <a:pt x="52949" y="62247"/>
                  <a:pt x="55033" y="65008"/>
                </a:cubicBezTo>
                <a:lnTo>
                  <a:pt x="62065" y="74384"/>
                </a:lnTo>
                <a:lnTo>
                  <a:pt x="78057" y="48782"/>
                </a:lnTo>
                <a:cubicBezTo>
                  <a:pt x="79880" y="45865"/>
                  <a:pt x="83734" y="44954"/>
                  <a:pt x="86678" y="46803"/>
                </a:cubicBezTo>
                <a:cubicBezTo>
                  <a:pt x="89621" y="48652"/>
                  <a:pt x="90506" y="52481"/>
                  <a:pt x="88657" y="55424"/>
                </a:cubicBezTo>
                <a:close/>
              </a:path>
            </a:pathLst>
          </a:custGeom>
          <a:solidFill>
            <a:srgbClr val="FFD54F"/>
          </a:solidFill>
          <a:ln/>
        </p:spPr>
      </p:sp>
      <p:sp>
        <p:nvSpPr>
          <p:cNvPr id="37" name="Text 35"/>
          <p:cNvSpPr/>
          <p:nvPr/>
        </p:nvSpPr>
        <p:spPr>
          <a:xfrm>
            <a:off x="6538913" y="3324225"/>
            <a:ext cx="1666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Reduces gradient sensitivity</a:t>
            </a:r>
            <a:endParaRPr lang="en-US" sz="1600" dirty="0"/>
          </a:p>
        </p:txBody>
      </p:sp>
      <p:sp>
        <p:nvSpPr>
          <p:cNvPr id="38" name="Shape 36"/>
          <p:cNvSpPr/>
          <p:nvPr/>
        </p:nvSpPr>
        <p:spPr>
          <a:xfrm>
            <a:off x="6176963" y="3719512"/>
            <a:ext cx="5629275" cy="1266825"/>
          </a:xfrm>
          <a:custGeom>
            <a:avLst/>
            <a:gdLst/>
            <a:ahLst/>
            <a:cxnLst/>
            <a:rect l="l" t="t" r="r" b="b"/>
            <a:pathLst>
              <a:path w="5629275" h="1266825">
                <a:moveTo>
                  <a:pt x="76200" y="0"/>
                </a:moveTo>
                <a:lnTo>
                  <a:pt x="5553075" y="0"/>
                </a:lnTo>
                <a:cubicBezTo>
                  <a:pt x="5595159" y="0"/>
                  <a:pt x="5629275" y="34116"/>
                  <a:pt x="5629275" y="76200"/>
                </a:cubicBezTo>
                <a:lnTo>
                  <a:pt x="5629275" y="1190625"/>
                </a:lnTo>
                <a:cubicBezTo>
                  <a:pt x="5629275" y="1232709"/>
                  <a:pt x="5595159" y="1266825"/>
                  <a:pt x="5553075" y="1266825"/>
                </a:cubicBezTo>
                <a:lnTo>
                  <a:pt x="76200" y="1266825"/>
                </a:lnTo>
                <a:cubicBezTo>
                  <a:pt x="34116" y="1266825"/>
                  <a:pt x="0" y="1232709"/>
                  <a:pt x="0" y="1190625"/>
                </a:cubicBezTo>
                <a:lnTo>
                  <a:pt x="0" y="76200"/>
                </a:lnTo>
                <a:cubicBezTo>
                  <a:pt x="0" y="34144"/>
                  <a:pt x="34144" y="0"/>
                  <a:pt x="76200" y="0"/>
                </a:cubicBezTo>
                <a:close/>
              </a:path>
            </a:pathLst>
          </a:custGeom>
          <a:solidFill>
            <a:srgbClr val="FFD54F">
              <a:alpha val="10196"/>
            </a:srgbClr>
          </a:solidFill>
          <a:ln w="12700">
            <a:solidFill>
              <a:srgbClr val="FFD54F">
                <a:alpha val="30196"/>
              </a:srgbClr>
            </a:solidFill>
            <a:prstDash val="solid"/>
          </a:ln>
        </p:spPr>
      </p:sp>
      <p:sp>
        <p:nvSpPr>
          <p:cNvPr id="39" name="Text 37"/>
          <p:cNvSpPr/>
          <p:nvPr/>
        </p:nvSpPr>
        <p:spPr>
          <a:xfrm>
            <a:off x="6296025" y="383857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Data Augmentation</a:t>
            </a:r>
            <a:endParaRPr lang="en-US" sz="1600" dirty="0"/>
          </a:p>
        </p:txBody>
      </p:sp>
      <p:sp>
        <p:nvSpPr>
          <p:cNvPr id="40" name="Text 38"/>
          <p:cNvSpPr/>
          <p:nvPr/>
        </p:nvSpPr>
        <p:spPr>
          <a:xfrm>
            <a:off x="6296025" y="4143375"/>
            <a:ext cx="54578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Artificially expands training data through transformations:</a:t>
            </a:r>
            <a:endParaRPr lang="en-US" sz="1600" dirty="0"/>
          </a:p>
        </p:txBody>
      </p:sp>
      <p:sp>
        <p:nvSpPr>
          <p:cNvPr id="41" name="Shape 39"/>
          <p:cNvSpPr/>
          <p:nvPr/>
        </p:nvSpPr>
        <p:spPr>
          <a:xfrm>
            <a:off x="6315075" y="4438650"/>
            <a:ext cx="133350" cy="133350"/>
          </a:xfrm>
          <a:custGeom>
            <a:avLst/>
            <a:gdLst/>
            <a:ahLst/>
            <a:cxnLst/>
            <a:rect l="l" t="t" r="r" b="b"/>
            <a:pathLst>
              <a:path w="133350" h="133350">
                <a:moveTo>
                  <a:pt x="125042" y="50006"/>
                </a:moveTo>
                <a:lnTo>
                  <a:pt x="127099" y="50006"/>
                </a:lnTo>
                <a:cubicBezTo>
                  <a:pt x="130563" y="50006"/>
                  <a:pt x="133350" y="47219"/>
                  <a:pt x="133350" y="43755"/>
                </a:cubicBezTo>
                <a:lnTo>
                  <a:pt x="133350" y="6251"/>
                </a:lnTo>
                <a:cubicBezTo>
                  <a:pt x="133350" y="3724"/>
                  <a:pt x="131839" y="1432"/>
                  <a:pt x="129495" y="469"/>
                </a:cubicBezTo>
                <a:cubicBezTo>
                  <a:pt x="127151" y="-495"/>
                  <a:pt x="124469" y="52"/>
                  <a:pt x="122672" y="1823"/>
                </a:cubicBezTo>
                <a:lnTo>
                  <a:pt x="109206" y="15314"/>
                </a:lnTo>
                <a:cubicBezTo>
                  <a:pt x="97668" y="5756"/>
                  <a:pt x="82823" y="0"/>
                  <a:pt x="66675" y="0"/>
                </a:cubicBezTo>
                <a:cubicBezTo>
                  <a:pt x="33077" y="0"/>
                  <a:pt x="5287" y="24847"/>
                  <a:pt x="677" y="57169"/>
                </a:cubicBezTo>
                <a:cubicBezTo>
                  <a:pt x="26" y="61726"/>
                  <a:pt x="3177" y="65946"/>
                  <a:pt x="7735" y="66597"/>
                </a:cubicBezTo>
                <a:cubicBezTo>
                  <a:pt x="12293" y="67248"/>
                  <a:pt x="16512" y="64071"/>
                  <a:pt x="17164" y="59539"/>
                </a:cubicBezTo>
                <a:cubicBezTo>
                  <a:pt x="20628" y="35291"/>
                  <a:pt x="41490" y="16669"/>
                  <a:pt x="66675" y="16669"/>
                </a:cubicBezTo>
                <a:cubicBezTo>
                  <a:pt x="78239" y="16669"/>
                  <a:pt x="88865" y="20575"/>
                  <a:pt x="97330" y="27165"/>
                </a:cubicBezTo>
                <a:lnTo>
                  <a:pt x="85167" y="39328"/>
                </a:lnTo>
                <a:cubicBezTo>
                  <a:pt x="83370" y="41125"/>
                  <a:pt x="82849" y="43808"/>
                  <a:pt x="83813" y="46152"/>
                </a:cubicBezTo>
                <a:cubicBezTo>
                  <a:pt x="84776" y="48496"/>
                  <a:pt x="87068" y="50006"/>
                  <a:pt x="89595" y="50006"/>
                </a:cubicBezTo>
                <a:lnTo>
                  <a:pt x="125042" y="50006"/>
                </a:lnTo>
                <a:close/>
                <a:moveTo>
                  <a:pt x="132699" y="76181"/>
                </a:moveTo>
                <a:cubicBezTo>
                  <a:pt x="133350" y="71624"/>
                  <a:pt x="130173" y="67404"/>
                  <a:pt x="125641" y="66753"/>
                </a:cubicBezTo>
                <a:cubicBezTo>
                  <a:pt x="121109" y="66102"/>
                  <a:pt x="116864" y="69279"/>
                  <a:pt x="116212" y="73811"/>
                </a:cubicBezTo>
                <a:cubicBezTo>
                  <a:pt x="112748" y="98033"/>
                  <a:pt x="91886" y="116655"/>
                  <a:pt x="66701" y="116655"/>
                </a:cubicBezTo>
                <a:cubicBezTo>
                  <a:pt x="55137" y="116655"/>
                  <a:pt x="44511" y="112748"/>
                  <a:pt x="36046" y="106159"/>
                </a:cubicBezTo>
                <a:lnTo>
                  <a:pt x="48183" y="94022"/>
                </a:lnTo>
                <a:cubicBezTo>
                  <a:pt x="49980" y="92225"/>
                  <a:pt x="50501" y="89542"/>
                  <a:pt x="49537" y="87198"/>
                </a:cubicBezTo>
                <a:cubicBezTo>
                  <a:pt x="48574" y="84854"/>
                  <a:pt x="46282" y="83344"/>
                  <a:pt x="43755" y="83344"/>
                </a:cubicBezTo>
                <a:lnTo>
                  <a:pt x="6251" y="83344"/>
                </a:lnTo>
                <a:cubicBezTo>
                  <a:pt x="2787" y="83344"/>
                  <a:pt x="0" y="86131"/>
                  <a:pt x="0" y="89595"/>
                </a:cubicBezTo>
                <a:lnTo>
                  <a:pt x="0" y="127099"/>
                </a:lnTo>
                <a:cubicBezTo>
                  <a:pt x="0" y="129626"/>
                  <a:pt x="1511" y="131918"/>
                  <a:pt x="3855" y="132881"/>
                </a:cubicBezTo>
                <a:cubicBezTo>
                  <a:pt x="6199" y="133845"/>
                  <a:pt x="8881" y="133298"/>
                  <a:pt x="10678" y="131527"/>
                </a:cubicBezTo>
                <a:lnTo>
                  <a:pt x="24170" y="118036"/>
                </a:lnTo>
                <a:cubicBezTo>
                  <a:pt x="35682" y="127594"/>
                  <a:pt x="50527" y="133350"/>
                  <a:pt x="66675" y="133350"/>
                </a:cubicBezTo>
                <a:cubicBezTo>
                  <a:pt x="100273" y="133350"/>
                  <a:pt x="128063" y="108503"/>
                  <a:pt x="132673" y="76181"/>
                </a:cubicBezTo>
                <a:close/>
              </a:path>
            </a:pathLst>
          </a:custGeom>
          <a:solidFill>
            <a:srgbClr val="4DB6AC"/>
          </a:solidFill>
          <a:ln/>
        </p:spPr>
      </p:sp>
      <p:sp>
        <p:nvSpPr>
          <p:cNvPr id="42" name="Text 40"/>
          <p:cNvSpPr/>
          <p:nvPr/>
        </p:nvSpPr>
        <p:spPr>
          <a:xfrm>
            <a:off x="6538913" y="4410075"/>
            <a:ext cx="5524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Rotation</a:t>
            </a:r>
            <a:endParaRPr lang="en-US" sz="1600" dirty="0"/>
          </a:p>
        </p:txBody>
      </p:sp>
      <p:sp>
        <p:nvSpPr>
          <p:cNvPr id="43" name="Shape 41"/>
          <p:cNvSpPr/>
          <p:nvPr/>
        </p:nvSpPr>
        <p:spPr>
          <a:xfrm>
            <a:off x="9048750" y="4438650"/>
            <a:ext cx="133350" cy="133350"/>
          </a:xfrm>
          <a:custGeom>
            <a:avLst/>
            <a:gdLst/>
            <a:ahLst/>
            <a:cxnLst/>
            <a:rect l="l" t="t" r="r" b="b"/>
            <a:pathLst>
              <a:path w="133350" h="133350">
                <a:moveTo>
                  <a:pt x="72561" y="2448"/>
                </a:moveTo>
                <a:cubicBezTo>
                  <a:pt x="69306" y="-807"/>
                  <a:pt x="64018" y="-807"/>
                  <a:pt x="60763" y="2448"/>
                </a:cubicBezTo>
                <a:lnTo>
                  <a:pt x="44094" y="19117"/>
                </a:lnTo>
                <a:cubicBezTo>
                  <a:pt x="41698" y="21513"/>
                  <a:pt x="40995" y="25081"/>
                  <a:pt x="42297" y="28207"/>
                </a:cubicBezTo>
                <a:cubicBezTo>
                  <a:pt x="43599" y="31332"/>
                  <a:pt x="46646" y="33337"/>
                  <a:pt x="50006" y="33337"/>
                </a:cubicBezTo>
                <a:lnTo>
                  <a:pt x="58341" y="33337"/>
                </a:lnTo>
                <a:lnTo>
                  <a:pt x="58341" y="58341"/>
                </a:lnTo>
                <a:lnTo>
                  <a:pt x="33337" y="58341"/>
                </a:lnTo>
                <a:lnTo>
                  <a:pt x="33337" y="50006"/>
                </a:lnTo>
                <a:cubicBezTo>
                  <a:pt x="33337" y="46646"/>
                  <a:pt x="31306" y="43599"/>
                  <a:pt x="28181" y="42297"/>
                </a:cubicBezTo>
                <a:cubicBezTo>
                  <a:pt x="25055" y="40995"/>
                  <a:pt x="21487" y="41724"/>
                  <a:pt x="19091" y="44094"/>
                </a:cubicBezTo>
                <a:lnTo>
                  <a:pt x="2422" y="60763"/>
                </a:lnTo>
                <a:cubicBezTo>
                  <a:pt x="-833" y="64018"/>
                  <a:pt x="-833" y="69306"/>
                  <a:pt x="2422" y="72561"/>
                </a:cubicBezTo>
                <a:lnTo>
                  <a:pt x="19091" y="89230"/>
                </a:lnTo>
                <a:cubicBezTo>
                  <a:pt x="21487" y="91626"/>
                  <a:pt x="25055" y="92329"/>
                  <a:pt x="28181" y="91027"/>
                </a:cubicBezTo>
                <a:cubicBezTo>
                  <a:pt x="31306" y="89725"/>
                  <a:pt x="33337" y="86704"/>
                  <a:pt x="33337" y="83344"/>
                </a:cubicBezTo>
                <a:lnTo>
                  <a:pt x="33337" y="75009"/>
                </a:lnTo>
                <a:lnTo>
                  <a:pt x="58341" y="75009"/>
                </a:lnTo>
                <a:lnTo>
                  <a:pt x="58341" y="100013"/>
                </a:lnTo>
                <a:lnTo>
                  <a:pt x="50006" y="100013"/>
                </a:lnTo>
                <a:cubicBezTo>
                  <a:pt x="46646" y="100013"/>
                  <a:pt x="43599" y="102044"/>
                  <a:pt x="42297" y="105169"/>
                </a:cubicBezTo>
                <a:cubicBezTo>
                  <a:pt x="40995" y="108295"/>
                  <a:pt x="41724" y="111863"/>
                  <a:pt x="44094" y="114259"/>
                </a:cubicBezTo>
                <a:lnTo>
                  <a:pt x="60763" y="130928"/>
                </a:lnTo>
                <a:cubicBezTo>
                  <a:pt x="64018" y="134183"/>
                  <a:pt x="69306" y="134183"/>
                  <a:pt x="72561" y="130928"/>
                </a:cubicBezTo>
                <a:lnTo>
                  <a:pt x="89230" y="114259"/>
                </a:lnTo>
                <a:cubicBezTo>
                  <a:pt x="91626" y="111863"/>
                  <a:pt x="92329" y="108295"/>
                  <a:pt x="91027" y="105169"/>
                </a:cubicBezTo>
                <a:cubicBezTo>
                  <a:pt x="89725" y="102044"/>
                  <a:pt x="86704" y="100013"/>
                  <a:pt x="83344" y="100013"/>
                </a:cubicBezTo>
                <a:lnTo>
                  <a:pt x="75009" y="100013"/>
                </a:lnTo>
                <a:lnTo>
                  <a:pt x="75009" y="75009"/>
                </a:lnTo>
                <a:lnTo>
                  <a:pt x="100013" y="75009"/>
                </a:lnTo>
                <a:lnTo>
                  <a:pt x="100013" y="83344"/>
                </a:lnTo>
                <a:cubicBezTo>
                  <a:pt x="100013" y="86704"/>
                  <a:pt x="102044" y="89751"/>
                  <a:pt x="105169" y="91053"/>
                </a:cubicBezTo>
                <a:cubicBezTo>
                  <a:pt x="108295" y="92355"/>
                  <a:pt x="111863" y="91626"/>
                  <a:pt x="114259" y="89256"/>
                </a:cubicBezTo>
                <a:lnTo>
                  <a:pt x="130928" y="72587"/>
                </a:lnTo>
                <a:cubicBezTo>
                  <a:pt x="134183" y="69332"/>
                  <a:pt x="134183" y="64044"/>
                  <a:pt x="130928" y="60789"/>
                </a:cubicBezTo>
                <a:lnTo>
                  <a:pt x="114259" y="44120"/>
                </a:lnTo>
                <a:cubicBezTo>
                  <a:pt x="111863" y="41724"/>
                  <a:pt x="108295" y="41021"/>
                  <a:pt x="105169" y="42323"/>
                </a:cubicBezTo>
                <a:cubicBezTo>
                  <a:pt x="102044" y="43625"/>
                  <a:pt x="100013" y="46646"/>
                  <a:pt x="100013" y="50006"/>
                </a:cubicBezTo>
                <a:lnTo>
                  <a:pt x="100013" y="58341"/>
                </a:lnTo>
                <a:lnTo>
                  <a:pt x="75009" y="58341"/>
                </a:lnTo>
                <a:lnTo>
                  <a:pt x="75009" y="33337"/>
                </a:lnTo>
                <a:lnTo>
                  <a:pt x="83344" y="33337"/>
                </a:lnTo>
                <a:cubicBezTo>
                  <a:pt x="86704" y="33337"/>
                  <a:pt x="89751" y="31306"/>
                  <a:pt x="91053" y="28181"/>
                </a:cubicBezTo>
                <a:cubicBezTo>
                  <a:pt x="92355" y="25055"/>
                  <a:pt x="91626" y="21487"/>
                  <a:pt x="89256" y="19091"/>
                </a:cubicBezTo>
                <a:lnTo>
                  <a:pt x="72587" y="2422"/>
                </a:lnTo>
                <a:close/>
              </a:path>
            </a:pathLst>
          </a:custGeom>
          <a:solidFill>
            <a:srgbClr val="4DB6AC"/>
          </a:solidFill>
          <a:ln/>
        </p:spPr>
      </p:sp>
      <p:sp>
        <p:nvSpPr>
          <p:cNvPr id="44" name="Text 42"/>
          <p:cNvSpPr/>
          <p:nvPr/>
        </p:nvSpPr>
        <p:spPr>
          <a:xfrm>
            <a:off x="9272588" y="4410075"/>
            <a:ext cx="7048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Translation</a:t>
            </a:r>
            <a:endParaRPr lang="en-US" sz="1600" dirty="0"/>
          </a:p>
        </p:txBody>
      </p:sp>
      <p:sp>
        <p:nvSpPr>
          <p:cNvPr id="45" name="Shape 43"/>
          <p:cNvSpPr/>
          <p:nvPr/>
        </p:nvSpPr>
        <p:spPr>
          <a:xfrm>
            <a:off x="6323409" y="4705350"/>
            <a:ext cx="116681" cy="133350"/>
          </a:xfrm>
          <a:custGeom>
            <a:avLst/>
            <a:gdLst/>
            <a:ahLst/>
            <a:cxnLst/>
            <a:rect l="l" t="t" r="r" b="b"/>
            <a:pathLst>
              <a:path w="116681" h="133350">
                <a:moveTo>
                  <a:pt x="8334" y="8334"/>
                </a:moveTo>
                <a:cubicBezTo>
                  <a:pt x="3724" y="8334"/>
                  <a:pt x="0" y="12059"/>
                  <a:pt x="0" y="16669"/>
                </a:cubicBezTo>
                <a:lnTo>
                  <a:pt x="0" y="41672"/>
                </a:lnTo>
                <a:cubicBezTo>
                  <a:pt x="0" y="46282"/>
                  <a:pt x="3724" y="50006"/>
                  <a:pt x="8334" y="50006"/>
                </a:cubicBezTo>
                <a:cubicBezTo>
                  <a:pt x="12944" y="50006"/>
                  <a:pt x="16669" y="46282"/>
                  <a:pt x="16669" y="41672"/>
                </a:cubicBezTo>
                <a:lnTo>
                  <a:pt x="16669" y="25003"/>
                </a:lnTo>
                <a:lnTo>
                  <a:pt x="33337" y="25003"/>
                </a:lnTo>
                <a:cubicBezTo>
                  <a:pt x="37947" y="25003"/>
                  <a:pt x="41672" y="21279"/>
                  <a:pt x="41672" y="16669"/>
                </a:cubicBezTo>
                <a:cubicBezTo>
                  <a:pt x="41672" y="12059"/>
                  <a:pt x="37947" y="8334"/>
                  <a:pt x="33337" y="8334"/>
                </a:cubicBezTo>
                <a:lnTo>
                  <a:pt x="8334" y="8334"/>
                </a:lnTo>
                <a:close/>
                <a:moveTo>
                  <a:pt x="16669" y="91678"/>
                </a:moveTo>
                <a:cubicBezTo>
                  <a:pt x="16669" y="87068"/>
                  <a:pt x="12944" y="83344"/>
                  <a:pt x="8334" y="83344"/>
                </a:cubicBezTo>
                <a:cubicBezTo>
                  <a:pt x="3724" y="83344"/>
                  <a:pt x="0" y="87068"/>
                  <a:pt x="0" y="91678"/>
                </a:cubicBezTo>
                <a:lnTo>
                  <a:pt x="0" y="116681"/>
                </a:lnTo>
                <a:cubicBezTo>
                  <a:pt x="0" y="121291"/>
                  <a:pt x="3724" y="125016"/>
                  <a:pt x="8334" y="125016"/>
                </a:cubicBezTo>
                <a:lnTo>
                  <a:pt x="33337" y="125016"/>
                </a:lnTo>
                <a:cubicBezTo>
                  <a:pt x="37947" y="125016"/>
                  <a:pt x="41672" y="121291"/>
                  <a:pt x="41672" y="116681"/>
                </a:cubicBezTo>
                <a:cubicBezTo>
                  <a:pt x="41672" y="112071"/>
                  <a:pt x="37947" y="108347"/>
                  <a:pt x="33337" y="108347"/>
                </a:cubicBezTo>
                <a:lnTo>
                  <a:pt x="16669" y="108347"/>
                </a:lnTo>
                <a:lnTo>
                  <a:pt x="16669" y="91678"/>
                </a:lnTo>
                <a:close/>
                <a:moveTo>
                  <a:pt x="83344" y="8334"/>
                </a:moveTo>
                <a:cubicBezTo>
                  <a:pt x="78734" y="8334"/>
                  <a:pt x="75009" y="12059"/>
                  <a:pt x="75009" y="16669"/>
                </a:cubicBezTo>
                <a:cubicBezTo>
                  <a:pt x="75009" y="21279"/>
                  <a:pt x="78734" y="25003"/>
                  <a:pt x="83344" y="25003"/>
                </a:cubicBezTo>
                <a:lnTo>
                  <a:pt x="100013" y="25003"/>
                </a:lnTo>
                <a:lnTo>
                  <a:pt x="100013" y="41672"/>
                </a:lnTo>
                <a:cubicBezTo>
                  <a:pt x="100013" y="46282"/>
                  <a:pt x="103737" y="50006"/>
                  <a:pt x="108347" y="50006"/>
                </a:cubicBezTo>
                <a:cubicBezTo>
                  <a:pt x="112957" y="50006"/>
                  <a:pt x="116681" y="46282"/>
                  <a:pt x="116681" y="41672"/>
                </a:cubicBezTo>
                <a:lnTo>
                  <a:pt x="116681" y="16669"/>
                </a:lnTo>
                <a:cubicBezTo>
                  <a:pt x="116681" y="12059"/>
                  <a:pt x="112957" y="8334"/>
                  <a:pt x="108347" y="8334"/>
                </a:cubicBezTo>
                <a:lnTo>
                  <a:pt x="83344" y="8334"/>
                </a:lnTo>
                <a:close/>
                <a:moveTo>
                  <a:pt x="116681" y="91678"/>
                </a:moveTo>
                <a:cubicBezTo>
                  <a:pt x="116681" y="87068"/>
                  <a:pt x="112957" y="83344"/>
                  <a:pt x="108347" y="83344"/>
                </a:cubicBezTo>
                <a:cubicBezTo>
                  <a:pt x="103737" y="83344"/>
                  <a:pt x="100013" y="87068"/>
                  <a:pt x="100013" y="91678"/>
                </a:cubicBezTo>
                <a:lnTo>
                  <a:pt x="100013" y="108347"/>
                </a:lnTo>
                <a:lnTo>
                  <a:pt x="83344" y="108347"/>
                </a:lnTo>
                <a:cubicBezTo>
                  <a:pt x="78734" y="108347"/>
                  <a:pt x="75009" y="112071"/>
                  <a:pt x="75009" y="116681"/>
                </a:cubicBezTo>
                <a:cubicBezTo>
                  <a:pt x="75009" y="121291"/>
                  <a:pt x="78734" y="125016"/>
                  <a:pt x="83344" y="125016"/>
                </a:cubicBezTo>
                <a:lnTo>
                  <a:pt x="108347" y="125016"/>
                </a:lnTo>
                <a:cubicBezTo>
                  <a:pt x="112957" y="125016"/>
                  <a:pt x="116681" y="121291"/>
                  <a:pt x="116681" y="116681"/>
                </a:cubicBezTo>
                <a:lnTo>
                  <a:pt x="116681" y="91678"/>
                </a:lnTo>
                <a:close/>
              </a:path>
            </a:pathLst>
          </a:custGeom>
          <a:solidFill>
            <a:srgbClr val="FFD54F"/>
          </a:solidFill>
          <a:ln/>
        </p:spPr>
      </p:sp>
      <p:sp>
        <p:nvSpPr>
          <p:cNvPr id="46" name="Text 44"/>
          <p:cNvSpPr/>
          <p:nvPr/>
        </p:nvSpPr>
        <p:spPr>
          <a:xfrm>
            <a:off x="6538913" y="4676775"/>
            <a:ext cx="4762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Scaling</a:t>
            </a:r>
            <a:endParaRPr lang="en-US" sz="1600" dirty="0"/>
          </a:p>
        </p:txBody>
      </p:sp>
      <p:sp>
        <p:nvSpPr>
          <p:cNvPr id="47" name="Shape 45"/>
          <p:cNvSpPr/>
          <p:nvPr/>
        </p:nvSpPr>
        <p:spPr>
          <a:xfrm>
            <a:off x="9048750" y="4705350"/>
            <a:ext cx="133350" cy="133350"/>
          </a:xfrm>
          <a:custGeom>
            <a:avLst/>
            <a:gdLst/>
            <a:ahLst/>
            <a:cxnLst/>
            <a:rect l="l" t="t" r="r" b="b"/>
            <a:pathLst>
              <a:path w="133350" h="133350">
                <a:moveTo>
                  <a:pt x="116681" y="66675"/>
                </a:moveTo>
                <a:cubicBezTo>
                  <a:pt x="116681" y="39067"/>
                  <a:pt x="94283" y="16669"/>
                  <a:pt x="66675" y="16669"/>
                </a:cubicBezTo>
                <a:lnTo>
                  <a:pt x="66675" y="116681"/>
                </a:lnTo>
                <a:cubicBezTo>
                  <a:pt x="94283" y="116681"/>
                  <a:pt x="116681" y="94283"/>
                  <a:pt x="116681" y="66675"/>
                </a:cubicBezTo>
                <a:close/>
                <a:moveTo>
                  <a:pt x="0" y="66675"/>
                </a:moveTo>
                <a:cubicBezTo>
                  <a:pt x="0" y="29876"/>
                  <a:pt x="29876" y="0"/>
                  <a:pt x="66675" y="0"/>
                </a:cubicBezTo>
                <a:cubicBezTo>
                  <a:pt x="103474" y="0"/>
                  <a:pt x="133350" y="29876"/>
                  <a:pt x="133350" y="66675"/>
                </a:cubicBezTo>
                <a:cubicBezTo>
                  <a:pt x="133350" y="103474"/>
                  <a:pt x="103474" y="133350"/>
                  <a:pt x="66675" y="133350"/>
                </a:cubicBezTo>
                <a:cubicBezTo>
                  <a:pt x="29876" y="133350"/>
                  <a:pt x="0" y="103474"/>
                  <a:pt x="0" y="66675"/>
                </a:cubicBezTo>
                <a:close/>
              </a:path>
            </a:pathLst>
          </a:custGeom>
          <a:solidFill>
            <a:srgbClr val="FFD54F"/>
          </a:solidFill>
          <a:ln/>
        </p:spPr>
      </p:sp>
      <p:sp>
        <p:nvSpPr>
          <p:cNvPr id="48" name="Text 46"/>
          <p:cNvSpPr/>
          <p:nvPr/>
        </p:nvSpPr>
        <p:spPr>
          <a:xfrm>
            <a:off x="9272588" y="4676775"/>
            <a:ext cx="6572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Brightness</a:t>
            </a:r>
            <a:endParaRPr lang="en-US" sz="1600" dirty="0"/>
          </a:p>
        </p:txBody>
      </p:sp>
      <p:sp>
        <p:nvSpPr>
          <p:cNvPr id="49" name="Shape 47"/>
          <p:cNvSpPr/>
          <p:nvPr/>
        </p:nvSpPr>
        <p:spPr>
          <a:xfrm>
            <a:off x="6176963" y="5072063"/>
            <a:ext cx="2771775" cy="695325"/>
          </a:xfrm>
          <a:custGeom>
            <a:avLst/>
            <a:gdLst/>
            <a:ahLst/>
            <a:cxnLst/>
            <a:rect l="l" t="t" r="r" b="b"/>
            <a:pathLst>
              <a:path w="2771775" h="695325">
                <a:moveTo>
                  <a:pt x="76201" y="0"/>
                </a:moveTo>
                <a:lnTo>
                  <a:pt x="2695574" y="0"/>
                </a:lnTo>
                <a:cubicBezTo>
                  <a:pt x="2737659" y="0"/>
                  <a:pt x="2771775" y="34116"/>
                  <a:pt x="2771775" y="76201"/>
                </a:cubicBezTo>
                <a:lnTo>
                  <a:pt x="2771775" y="619124"/>
                </a:lnTo>
                <a:cubicBezTo>
                  <a:pt x="2771775" y="661209"/>
                  <a:pt x="2737659" y="695325"/>
                  <a:pt x="2695574" y="695325"/>
                </a:cubicBezTo>
                <a:lnTo>
                  <a:pt x="76201" y="695325"/>
                </a:lnTo>
                <a:cubicBezTo>
                  <a:pt x="34116" y="695325"/>
                  <a:pt x="0" y="661209"/>
                  <a:pt x="0" y="619124"/>
                </a:cubicBezTo>
                <a:lnTo>
                  <a:pt x="0" y="76201"/>
                </a:lnTo>
                <a:cubicBezTo>
                  <a:pt x="0" y="34116"/>
                  <a:pt x="34116" y="0"/>
                  <a:pt x="76201" y="0"/>
                </a:cubicBezTo>
                <a:close/>
              </a:path>
            </a:pathLst>
          </a:custGeom>
          <a:solidFill>
            <a:srgbClr val="4DB6AC">
              <a:alpha val="10196"/>
            </a:srgbClr>
          </a:solidFill>
          <a:ln w="12700">
            <a:solidFill>
              <a:srgbClr val="4DB6AC">
                <a:alpha val="30196"/>
              </a:srgbClr>
            </a:solidFill>
            <a:prstDash val="solid"/>
          </a:ln>
        </p:spPr>
      </p:sp>
      <p:sp>
        <p:nvSpPr>
          <p:cNvPr id="50" name="Shape 48"/>
          <p:cNvSpPr/>
          <p:nvPr/>
        </p:nvSpPr>
        <p:spPr>
          <a:xfrm>
            <a:off x="7467600" y="5191125"/>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4DB6AC"/>
          </a:solidFill>
          <a:ln/>
        </p:spPr>
      </p:sp>
      <p:sp>
        <p:nvSpPr>
          <p:cNvPr id="51" name="Text 49"/>
          <p:cNvSpPr/>
          <p:nvPr/>
        </p:nvSpPr>
        <p:spPr>
          <a:xfrm>
            <a:off x="6262688" y="545782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Prevents Overfitting</a:t>
            </a:r>
            <a:endParaRPr lang="en-US" sz="1600" dirty="0"/>
          </a:p>
        </p:txBody>
      </p:sp>
      <p:sp>
        <p:nvSpPr>
          <p:cNvPr id="52" name="Shape 50"/>
          <p:cNvSpPr/>
          <p:nvPr/>
        </p:nvSpPr>
        <p:spPr>
          <a:xfrm>
            <a:off x="9034463" y="5072063"/>
            <a:ext cx="2771775" cy="695325"/>
          </a:xfrm>
          <a:custGeom>
            <a:avLst/>
            <a:gdLst/>
            <a:ahLst/>
            <a:cxnLst/>
            <a:rect l="l" t="t" r="r" b="b"/>
            <a:pathLst>
              <a:path w="2771775" h="695325">
                <a:moveTo>
                  <a:pt x="76201" y="0"/>
                </a:moveTo>
                <a:lnTo>
                  <a:pt x="2695574" y="0"/>
                </a:lnTo>
                <a:cubicBezTo>
                  <a:pt x="2737659" y="0"/>
                  <a:pt x="2771775" y="34116"/>
                  <a:pt x="2771775" y="76201"/>
                </a:cubicBezTo>
                <a:lnTo>
                  <a:pt x="2771775" y="619124"/>
                </a:lnTo>
                <a:cubicBezTo>
                  <a:pt x="2771775" y="661209"/>
                  <a:pt x="2737659" y="695325"/>
                  <a:pt x="2695574" y="695325"/>
                </a:cubicBezTo>
                <a:lnTo>
                  <a:pt x="76201" y="695325"/>
                </a:lnTo>
                <a:cubicBezTo>
                  <a:pt x="34116" y="695325"/>
                  <a:pt x="0" y="661209"/>
                  <a:pt x="0" y="619124"/>
                </a:cubicBezTo>
                <a:lnTo>
                  <a:pt x="0" y="76201"/>
                </a:lnTo>
                <a:cubicBezTo>
                  <a:pt x="0" y="34116"/>
                  <a:pt x="34116" y="0"/>
                  <a:pt x="76201" y="0"/>
                </a:cubicBezTo>
                <a:close/>
              </a:path>
            </a:pathLst>
          </a:custGeom>
          <a:solidFill>
            <a:srgbClr val="FFD54F">
              <a:alpha val="10196"/>
            </a:srgbClr>
          </a:solidFill>
          <a:ln w="12700">
            <a:solidFill>
              <a:srgbClr val="FFD54F">
                <a:alpha val="30196"/>
              </a:srgbClr>
            </a:solidFill>
            <a:prstDash val="solid"/>
          </a:ln>
        </p:spPr>
      </p:sp>
      <p:sp>
        <p:nvSpPr>
          <p:cNvPr id="53" name="Shape 51"/>
          <p:cNvSpPr/>
          <p:nvPr/>
        </p:nvSpPr>
        <p:spPr>
          <a:xfrm>
            <a:off x="10325100" y="5191125"/>
            <a:ext cx="190500" cy="190500"/>
          </a:xfrm>
          <a:custGeom>
            <a:avLst/>
            <a:gdLst/>
            <a:ahLst/>
            <a:cxnLst/>
            <a:rect l="l" t="t" r="r" b="b"/>
            <a:pathLst>
              <a:path w="190500" h="190500">
                <a:moveTo>
                  <a:pt x="11906" y="11906"/>
                </a:moveTo>
                <a:cubicBezTo>
                  <a:pt x="18492" y="11906"/>
                  <a:pt x="23812" y="17227"/>
                  <a:pt x="23812" y="23812"/>
                </a:cubicBezTo>
                <a:lnTo>
                  <a:pt x="23812" y="148828"/>
                </a:lnTo>
                <a:cubicBezTo>
                  <a:pt x="23812" y="152102"/>
                  <a:pt x="26491" y="154781"/>
                  <a:pt x="29766" y="154781"/>
                </a:cubicBezTo>
                <a:lnTo>
                  <a:pt x="178594" y="154781"/>
                </a:lnTo>
                <a:cubicBezTo>
                  <a:pt x="185179" y="154781"/>
                  <a:pt x="190500" y="160102"/>
                  <a:pt x="190500" y="166688"/>
                </a:cubicBezTo>
                <a:cubicBezTo>
                  <a:pt x="190500" y="173273"/>
                  <a:pt x="185179" y="178594"/>
                  <a:pt x="178594" y="178594"/>
                </a:cubicBezTo>
                <a:lnTo>
                  <a:pt x="29766" y="178594"/>
                </a:lnTo>
                <a:cubicBezTo>
                  <a:pt x="13320" y="178594"/>
                  <a:pt x="0" y="165274"/>
                  <a:pt x="0" y="148828"/>
                </a:cubicBezTo>
                <a:lnTo>
                  <a:pt x="0" y="23812"/>
                </a:lnTo>
                <a:cubicBezTo>
                  <a:pt x="0" y="17227"/>
                  <a:pt x="5321" y="11906"/>
                  <a:pt x="11906" y="11906"/>
                </a:cubicBezTo>
                <a:close/>
                <a:moveTo>
                  <a:pt x="47625" y="35719"/>
                </a:moveTo>
                <a:cubicBezTo>
                  <a:pt x="47625" y="29133"/>
                  <a:pt x="52946" y="23812"/>
                  <a:pt x="59531" y="23812"/>
                </a:cubicBezTo>
                <a:lnTo>
                  <a:pt x="130969" y="23812"/>
                </a:lnTo>
                <a:cubicBezTo>
                  <a:pt x="137554" y="23812"/>
                  <a:pt x="142875" y="29133"/>
                  <a:pt x="142875" y="35719"/>
                </a:cubicBezTo>
                <a:cubicBezTo>
                  <a:pt x="142875" y="42304"/>
                  <a:pt x="137554" y="47625"/>
                  <a:pt x="130969" y="47625"/>
                </a:cubicBezTo>
                <a:lnTo>
                  <a:pt x="59531" y="47625"/>
                </a:lnTo>
                <a:cubicBezTo>
                  <a:pt x="52946" y="47625"/>
                  <a:pt x="47625" y="42304"/>
                  <a:pt x="47625" y="35719"/>
                </a:cubicBezTo>
                <a:close/>
                <a:moveTo>
                  <a:pt x="59531" y="65484"/>
                </a:moveTo>
                <a:lnTo>
                  <a:pt x="107156" y="65484"/>
                </a:lnTo>
                <a:cubicBezTo>
                  <a:pt x="113742" y="65484"/>
                  <a:pt x="119063" y="70805"/>
                  <a:pt x="119063" y="77391"/>
                </a:cubicBezTo>
                <a:cubicBezTo>
                  <a:pt x="119063" y="83976"/>
                  <a:pt x="113742" y="89297"/>
                  <a:pt x="107156" y="89297"/>
                </a:cubicBezTo>
                <a:lnTo>
                  <a:pt x="59531" y="89297"/>
                </a:lnTo>
                <a:cubicBezTo>
                  <a:pt x="52946" y="89297"/>
                  <a:pt x="47625" y="83976"/>
                  <a:pt x="47625" y="77391"/>
                </a:cubicBezTo>
                <a:cubicBezTo>
                  <a:pt x="47625" y="70805"/>
                  <a:pt x="52946" y="65484"/>
                  <a:pt x="59531" y="65484"/>
                </a:cubicBezTo>
                <a:close/>
                <a:moveTo>
                  <a:pt x="59531" y="107156"/>
                </a:moveTo>
                <a:lnTo>
                  <a:pt x="154781" y="107156"/>
                </a:lnTo>
                <a:cubicBezTo>
                  <a:pt x="161367" y="107156"/>
                  <a:pt x="166688" y="112477"/>
                  <a:pt x="166688" y="119063"/>
                </a:cubicBezTo>
                <a:cubicBezTo>
                  <a:pt x="166688" y="125648"/>
                  <a:pt x="161367" y="130969"/>
                  <a:pt x="154781" y="130969"/>
                </a:cubicBezTo>
                <a:lnTo>
                  <a:pt x="59531" y="130969"/>
                </a:lnTo>
                <a:cubicBezTo>
                  <a:pt x="52946" y="130969"/>
                  <a:pt x="47625" y="125648"/>
                  <a:pt x="47625" y="119063"/>
                </a:cubicBezTo>
                <a:cubicBezTo>
                  <a:pt x="47625" y="112477"/>
                  <a:pt x="52946" y="107156"/>
                  <a:pt x="59531" y="107156"/>
                </a:cubicBezTo>
                <a:close/>
              </a:path>
            </a:pathLst>
          </a:custGeom>
          <a:solidFill>
            <a:srgbClr val="FFD54F"/>
          </a:solidFill>
          <a:ln/>
        </p:spPr>
      </p:sp>
      <p:sp>
        <p:nvSpPr>
          <p:cNvPr id="54" name="Text 52"/>
          <p:cNvSpPr/>
          <p:nvPr/>
        </p:nvSpPr>
        <p:spPr>
          <a:xfrm>
            <a:off x="9120188" y="545782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Better Generalization</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thumbs.dreamstime.com/00e7bd82811a60f1ae48260e6b785d51f4b6ac78.jpg"/>
          <p:cNvPicPr>
            <a:picLocks noChangeAspect="1"/>
          </p:cNvPicPr>
          <p:nvPr/>
        </p:nvPicPr>
        <p:blipFill>
          <a:blip r:embed="rId3">
            <a:alphaModFix amt="30000"/>
          </a:blip>
          <a:srcRect t="9821" b="982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sp>
      <p:sp>
        <p:nvSpPr>
          <p:cNvPr id="4" name="Shape 1"/>
          <p:cNvSpPr/>
          <p:nvPr/>
        </p:nvSpPr>
        <p:spPr>
          <a:xfrm>
            <a:off x="385763" y="1157288"/>
            <a:ext cx="3038475" cy="428625"/>
          </a:xfrm>
          <a:custGeom>
            <a:avLst/>
            <a:gdLst/>
            <a:ahLst/>
            <a:cxnLst/>
            <a:rect l="l" t="t" r="r" b="b"/>
            <a:pathLst>
              <a:path w="3038475" h="428625">
                <a:moveTo>
                  <a:pt x="214313" y="0"/>
                </a:moveTo>
                <a:lnTo>
                  <a:pt x="2824163" y="0"/>
                </a:lnTo>
                <a:cubicBezTo>
                  <a:pt x="2942445" y="0"/>
                  <a:pt x="3038475" y="96030"/>
                  <a:pt x="3038475" y="214313"/>
                </a:cubicBezTo>
                <a:lnTo>
                  <a:pt x="3038475" y="214313"/>
                </a:lnTo>
                <a:cubicBezTo>
                  <a:pt x="3038475" y="332595"/>
                  <a:pt x="2942445" y="428625"/>
                  <a:pt x="2824163" y="428625"/>
                </a:cubicBezTo>
                <a:lnTo>
                  <a:pt x="214313" y="428625"/>
                </a:lnTo>
                <a:cubicBezTo>
                  <a:pt x="96030" y="428625"/>
                  <a:pt x="0" y="332595"/>
                  <a:pt x="0" y="214313"/>
                </a:cubicBezTo>
                <a:lnTo>
                  <a:pt x="0" y="214313"/>
                </a:lnTo>
                <a:cubicBezTo>
                  <a:pt x="0" y="96030"/>
                  <a:pt x="96030" y="0"/>
                  <a:pt x="214312" y="0"/>
                </a:cubicBezTo>
                <a:close/>
              </a:path>
            </a:pathLst>
          </a:custGeom>
          <a:solidFill>
            <a:srgbClr val="FFD54F">
              <a:alpha val="20000"/>
            </a:srgbClr>
          </a:solidFill>
          <a:ln w="12700">
            <a:solidFill>
              <a:srgbClr val="FFD54F">
                <a:alpha val="50196"/>
              </a:srgbClr>
            </a:solidFill>
            <a:prstDash val="solid"/>
          </a:ln>
        </p:spPr>
      </p:sp>
      <p:sp>
        <p:nvSpPr>
          <p:cNvPr id="5" name="Text 2"/>
          <p:cNvSpPr/>
          <p:nvPr/>
        </p:nvSpPr>
        <p:spPr>
          <a:xfrm>
            <a:off x="619125" y="1266825"/>
            <a:ext cx="2670721" cy="209550"/>
          </a:xfrm>
          <a:prstGeom prst="rect">
            <a:avLst/>
          </a:prstGeom>
          <a:noFill/>
          <a:ln/>
        </p:spPr>
        <p:txBody>
          <a:bodyPr wrap="square" lIns="0" tIns="0" rIns="0" bIns="0" rtlCol="0" anchor="ctr"/>
          <a:lstStyle/>
          <a:p>
            <a:pPr>
              <a:lnSpc>
                <a:spcPct val="120000"/>
              </a:lnSpc>
            </a:pPr>
            <a:r>
              <a:rPr lang="en-US" sz="1500" b="1" kern="0" spc="75" dirty="0">
                <a:solidFill>
                  <a:srgbClr val="FFD54F"/>
                </a:solidFill>
                <a:latin typeface="Quattrocento Sans" pitchFamily="34" charset="0"/>
                <a:ea typeface="Quattrocento Sans" pitchFamily="34" charset="-122"/>
                <a:cs typeface="Quattrocento Sans" pitchFamily="34" charset="-120"/>
              </a:rPr>
              <a:t>CHAPTER 05 | KAPITULLI 05</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Advanced</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Topics</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Tema të Avancuara</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FFD54F"/>
              </a:gs>
              <a:gs pos="100000">
                <a:srgbClr val="4DB6AC"/>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Cutting-edge developments in deep learning</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Zhvillimet më të fundit në mësimin e thellë</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59116" y="359116"/>
            <a:ext cx="11635370" cy="359116"/>
          </a:xfrm>
          <a:prstGeom prst="rect">
            <a:avLst/>
          </a:prstGeom>
          <a:noFill/>
          <a:ln/>
        </p:spPr>
        <p:txBody>
          <a:bodyPr wrap="square" lIns="0" tIns="0" rIns="0" bIns="0" rtlCol="0" anchor="ctr"/>
          <a:lstStyle/>
          <a:p>
            <a:pPr>
              <a:lnSpc>
                <a:spcPct val="90000"/>
              </a:lnSpc>
            </a:pPr>
            <a:r>
              <a:rPr lang="en-US" sz="2545" b="1" dirty="0">
                <a:solidFill>
                  <a:srgbClr val="ECEFF1"/>
                </a:solidFill>
                <a:latin typeface="Liter" pitchFamily="34" charset="0"/>
                <a:ea typeface="Liter" pitchFamily="34" charset="-122"/>
                <a:cs typeface="Liter" pitchFamily="34" charset="-120"/>
              </a:rPr>
              <a:t>Transfer Learning</a:t>
            </a:r>
            <a:endParaRPr lang="en-US" sz="1600" dirty="0"/>
          </a:p>
        </p:txBody>
      </p:sp>
      <p:sp>
        <p:nvSpPr>
          <p:cNvPr id="3" name="Text 1"/>
          <p:cNvSpPr/>
          <p:nvPr/>
        </p:nvSpPr>
        <p:spPr>
          <a:xfrm>
            <a:off x="359116" y="754144"/>
            <a:ext cx="11581502" cy="287293"/>
          </a:xfrm>
          <a:prstGeom prst="rect">
            <a:avLst/>
          </a:prstGeom>
          <a:noFill/>
          <a:ln/>
        </p:spPr>
        <p:txBody>
          <a:bodyPr wrap="square" lIns="0" tIns="0" rIns="0" bIns="0" rtlCol="0" anchor="ctr"/>
          <a:lstStyle/>
          <a:p>
            <a:pPr>
              <a:lnSpc>
                <a:spcPct val="110000"/>
              </a:lnSpc>
            </a:pPr>
            <a:r>
              <a:rPr lang="en-US" sz="1697" b="1" dirty="0">
                <a:solidFill>
                  <a:srgbClr val="4DB6AC"/>
                </a:solidFill>
                <a:latin typeface="Hedvig Letters Sans" pitchFamily="34" charset="0"/>
                <a:ea typeface="Hedvig Letters Sans" pitchFamily="34" charset="-122"/>
                <a:cs typeface="Hedvig Letters Sans" pitchFamily="34" charset="-120"/>
              </a:rPr>
              <a:t>Mësimi nga Transferimi</a:t>
            </a:r>
            <a:endParaRPr lang="en-US" sz="1600" dirty="0"/>
          </a:p>
        </p:txBody>
      </p:sp>
      <p:sp>
        <p:nvSpPr>
          <p:cNvPr id="4" name="Shape 2"/>
          <p:cNvSpPr/>
          <p:nvPr/>
        </p:nvSpPr>
        <p:spPr>
          <a:xfrm>
            <a:off x="377072" y="1113261"/>
            <a:ext cx="5647105" cy="1436465"/>
          </a:xfrm>
          <a:custGeom>
            <a:avLst/>
            <a:gdLst/>
            <a:ahLst/>
            <a:cxnLst/>
            <a:rect l="l" t="t" r="r" b="b"/>
            <a:pathLst>
              <a:path w="5647105" h="1436465">
                <a:moveTo>
                  <a:pt x="0" y="0"/>
                </a:moveTo>
                <a:lnTo>
                  <a:pt x="5575281" y="0"/>
                </a:lnTo>
                <a:cubicBezTo>
                  <a:pt x="5614948" y="0"/>
                  <a:pt x="5647105" y="32156"/>
                  <a:pt x="5647105" y="71823"/>
                </a:cubicBezTo>
                <a:lnTo>
                  <a:pt x="5647105" y="1364642"/>
                </a:lnTo>
                <a:cubicBezTo>
                  <a:pt x="5647105" y="1404309"/>
                  <a:pt x="5614948" y="1436465"/>
                  <a:pt x="5575281" y="1436465"/>
                </a:cubicBezTo>
                <a:lnTo>
                  <a:pt x="0" y="1436465"/>
                </a:lnTo>
                <a:lnTo>
                  <a:pt x="0" y="0"/>
                </a:lnTo>
                <a:close/>
              </a:path>
            </a:pathLst>
          </a:custGeom>
          <a:solidFill>
            <a:srgbClr val="4DB6AC">
              <a:alpha val="10196"/>
            </a:srgbClr>
          </a:solidFill>
          <a:ln/>
        </p:spPr>
      </p:sp>
      <p:sp>
        <p:nvSpPr>
          <p:cNvPr id="5" name="Shape 3"/>
          <p:cNvSpPr/>
          <p:nvPr/>
        </p:nvSpPr>
        <p:spPr>
          <a:xfrm>
            <a:off x="377072" y="1113261"/>
            <a:ext cx="35912" cy="1436465"/>
          </a:xfrm>
          <a:custGeom>
            <a:avLst/>
            <a:gdLst/>
            <a:ahLst/>
            <a:cxnLst/>
            <a:rect l="l" t="t" r="r" b="b"/>
            <a:pathLst>
              <a:path w="35912" h="1436465">
                <a:moveTo>
                  <a:pt x="0" y="0"/>
                </a:moveTo>
                <a:lnTo>
                  <a:pt x="35912" y="0"/>
                </a:lnTo>
                <a:lnTo>
                  <a:pt x="35912" y="1436465"/>
                </a:lnTo>
                <a:lnTo>
                  <a:pt x="0" y="1436465"/>
                </a:lnTo>
                <a:lnTo>
                  <a:pt x="0" y="0"/>
                </a:lnTo>
                <a:close/>
              </a:path>
            </a:pathLst>
          </a:custGeom>
          <a:solidFill>
            <a:srgbClr val="4DB6AC"/>
          </a:solidFill>
          <a:ln/>
        </p:spPr>
      </p:sp>
      <p:sp>
        <p:nvSpPr>
          <p:cNvPr id="6" name="Text 4"/>
          <p:cNvSpPr/>
          <p:nvPr/>
        </p:nvSpPr>
        <p:spPr>
          <a:xfrm>
            <a:off x="502763" y="1220996"/>
            <a:ext cx="5485502" cy="592542"/>
          </a:xfrm>
          <a:prstGeom prst="rect">
            <a:avLst/>
          </a:prstGeom>
          <a:noFill/>
          <a:ln/>
        </p:spPr>
        <p:txBody>
          <a:bodyPr wrap="square" lIns="0" tIns="0" rIns="0" bIns="0" rtlCol="0" anchor="ctr"/>
          <a:lstStyle/>
          <a:p>
            <a:pPr>
              <a:lnSpc>
                <a:spcPct val="110000"/>
              </a:lnSpc>
            </a:pPr>
            <a:r>
              <a:rPr lang="en-US" sz="1131" b="1" dirty="0">
                <a:solidFill>
                  <a:srgbClr val="4DB6AC"/>
                </a:solidFill>
                <a:latin typeface="Quattrocento Sans" pitchFamily="34" charset="0"/>
                <a:ea typeface="Quattrocento Sans" pitchFamily="34" charset="-122"/>
                <a:cs typeface="Quattrocento Sans" pitchFamily="34" charset="-120"/>
              </a:rPr>
              <a:t>English:</a:t>
            </a:r>
            <a:r>
              <a:rPr lang="en-US" sz="1131" dirty="0">
                <a:solidFill>
                  <a:srgbClr val="ECEFF1"/>
                </a:solidFill>
                <a:latin typeface="Quattrocento Sans" pitchFamily="34" charset="0"/>
                <a:ea typeface="Quattrocento Sans" pitchFamily="34" charset="-122"/>
                <a:cs typeface="Quattrocento Sans" pitchFamily="34" charset="-120"/>
              </a:rPr>
              <a:t> Transfer learning leverages knowledge from pre-trained models on large datasets and applies it to related tasks with limited data. This dramatically reduces training time and improves performance, especially when labeled data is scarce.</a:t>
            </a:r>
            <a:endParaRPr lang="en-US" sz="1600" dirty="0"/>
          </a:p>
        </p:txBody>
      </p:sp>
      <p:sp>
        <p:nvSpPr>
          <p:cNvPr id="7" name="Text 5"/>
          <p:cNvSpPr/>
          <p:nvPr/>
        </p:nvSpPr>
        <p:spPr>
          <a:xfrm>
            <a:off x="502763" y="1849449"/>
            <a:ext cx="5485502" cy="592542"/>
          </a:xfrm>
          <a:prstGeom prst="rect">
            <a:avLst/>
          </a:prstGeom>
          <a:noFill/>
          <a:ln/>
        </p:spPr>
        <p:txBody>
          <a:bodyPr wrap="square" lIns="0" tIns="0" rIns="0" bIns="0" rtlCol="0" anchor="ctr"/>
          <a:lstStyle/>
          <a:p>
            <a:pPr>
              <a:lnSpc>
                <a:spcPct val="110000"/>
              </a:lnSpc>
            </a:pPr>
            <a:r>
              <a:rPr lang="en-US" sz="1131" b="1" dirty="0">
                <a:solidFill>
                  <a:srgbClr val="FFD54F"/>
                </a:solidFill>
                <a:latin typeface="Quattrocento Sans" pitchFamily="34" charset="0"/>
                <a:ea typeface="Quattrocento Sans" pitchFamily="34" charset="-122"/>
                <a:cs typeface="Quattrocento Sans" pitchFamily="34" charset="-120"/>
              </a:rPr>
              <a:t>Shqip:</a:t>
            </a:r>
            <a:r>
              <a:rPr lang="en-US" sz="1131" dirty="0">
                <a:solidFill>
                  <a:srgbClr val="78909C"/>
                </a:solidFill>
                <a:latin typeface="Quattrocento Sans" pitchFamily="34" charset="0"/>
                <a:ea typeface="Quattrocento Sans" pitchFamily="34" charset="-122"/>
                <a:cs typeface="Quattrocento Sans" pitchFamily="34" charset="-120"/>
              </a:rPr>
              <a:t> Mësimi nga transferimi shfrytëzon njohuritë nga modelet e stërvitura paraprakisht në grupe të mëdha të të dhënave dhe i aplikon ato në detyra të ngjashme me të dhëna të kufizuara. Kjo zvogëlon ndjeshëm kohën e trajnimit.</a:t>
            </a:r>
            <a:endParaRPr lang="en-US" sz="1600" dirty="0"/>
          </a:p>
        </p:txBody>
      </p:sp>
      <p:sp>
        <p:nvSpPr>
          <p:cNvPr id="8" name="Shape 6"/>
          <p:cNvSpPr/>
          <p:nvPr/>
        </p:nvSpPr>
        <p:spPr>
          <a:xfrm>
            <a:off x="363605" y="2626038"/>
            <a:ext cx="5656082" cy="2630527"/>
          </a:xfrm>
          <a:custGeom>
            <a:avLst/>
            <a:gdLst/>
            <a:ahLst/>
            <a:cxnLst/>
            <a:rect l="l" t="t" r="r" b="b"/>
            <a:pathLst>
              <a:path w="5656082" h="2630527">
                <a:moveTo>
                  <a:pt x="71813" y="0"/>
                </a:moveTo>
                <a:lnTo>
                  <a:pt x="5584269" y="0"/>
                </a:lnTo>
                <a:cubicBezTo>
                  <a:pt x="5623931" y="0"/>
                  <a:pt x="5656082" y="32152"/>
                  <a:pt x="5656082" y="71813"/>
                </a:cubicBezTo>
                <a:lnTo>
                  <a:pt x="5656082" y="2558714"/>
                </a:lnTo>
                <a:cubicBezTo>
                  <a:pt x="5656082" y="2598375"/>
                  <a:pt x="5623931" y="2630527"/>
                  <a:pt x="5584269" y="2630527"/>
                </a:cubicBezTo>
                <a:lnTo>
                  <a:pt x="71813" y="2630527"/>
                </a:lnTo>
                <a:cubicBezTo>
                  <a:pt x="32152" y="2630527"/>
                  <a:pt x="0" y="2598375"/>
                  <a:pt x="0" y="2558714"/>
                </a:cubicBezTo>
                <a:lnTo>
                  <a:pt x="0" y="71813"/>
                </a:lnTo>
                <a:cubicBezTo>
                  <a:pt x="0" y="32179"/>
                  <a:pt x="32179" y="0"/>
                  <a:pt x="71813"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475829" y="2738262"/>
            <a:ext cx="5512436" cy="251381"/>
          </a:xfrm>
          <a:prstGeom prst="rect">
            <a:avLst/>
          </a:prstGeom>
          <a:noFill/>
          <a:ln/>
        </p:spPr>
        <p:txBody>
          <a:bodyPr wrap="square" lIns="0" tIns="0" rIns="0" bIns="0" rtlCol="0" anchor="ctr"/>
          <a:lstStyle/>
          <a:p>
            <a:pPr>
              <a:lnSpc>
                <a:spcPct val="130000"/>
              </a:lnSpc>
            </a:pPr>
            <a:r>
              <a:rPr lang="en-US" sz="1272" b="1" dirty="0">
                <a:solidFill>
                  <a:srgbClr val="ECEFF1"/>
                </a:solidFill>
                <a:latin typeface="Liter" pitchFamily="34" charset="0"/>
                <a:ea typeface="Liter" pitchFamily="34" charset="-122"/>
                <a:cs typeface="Liter" pitchFamily="34" charset="-120"/>
              </a:rPr>
              <a:t>Transfer Learning Process</a:t>
            </a:r>
            <a:endParaRPr lang="en-US" sz="1600" dirty="0"/>
          </a:p>
        </p:txBody>
      </p:sp>
      <p:sp>
        <p:nvSpPr>
          <p:cNvPr id="10" name="Shape 8"/>
          <p:cNvSpPr/>
          <p:nvPr/>
        </p:nvSpPr>
        <p:spPr>
          <a:xfrm>
            <a:off x="475829" y="3061467"/>
            <a:ext cx="5431635" cy="646409"/>
          </a:xfrm>
          <a:custGeom>
            <a:avLst/>
            <a:gdLst/>
            <a:ahLst/>
            <a:cxnLst/>
            <a:rect l="l" t="t" r="r" b="b"/>
            <a:pathLst>
              <a:path w="5431635" h="646409">
                <a:moveTo>
                  <a:pt x="71823" y="0"/>
                </a:moveTo>
                <a:lnTo>
                  <a:pt x="5359812" y="0"/>
                </a:lnTo>
                <a:cubicBezTo>
                  <a:pt x="5399479" y="0"/>
                  <a:pt x="5431635" y="32156"/>
                  <a:pt x="5431635" y="71823"/>
                </a:cubicBezTo>
                <a:lnTo>
                  <a:pt x="5431635" y="574587"/>
                </a:lnTo>
                <a:cubicBezTo>
                  <a:pt x="5431635" y="614253"/>
                  <a:pt x="5399479" y="646409"/>
                  <a:pt x="5359812" y="646409"/>
                </a:cubicBezTo>
                <a:lnTo>
                  <a:pt x="71823" y="646409"/>
                </a:lnTo>
                <a:cubicBezTo>
                  <a:pt x="32156" y="646409"/>
                  <a:pt x="0" y="614253"/>
                  <a:pt x="0" y="574587"/>
                </a:cubicBezTo>
                <a:lnTo>
                  <a:pt x="0" y="71823"/>
                </a:lnTo>
                <a:cubicBezTo>
                  <a:pt x="0" y="32156"/>
                  <a:pt x="32156" y="0"/>
                  <a:pt x="71823" y="0"/>
                </a:cubicBezTo>
                <a:close/>
              </a:path>
            </a:pathLst>
          </a:custGeom>
          <a:solidFill>
            <a:srgbClr val="1A1D21"/>
          </a:solidFill>
          <a:ln/>
        </p:spPr>
      </p:sp>
      <p:sp>
        <p:nvSpPr>
          <p:cNvPr id="11" name="Shape 9"/>
          <p:cNvSpPr/>
          <p:nvPr/>
        </p:nvSpPr>
        <p:spPr>
          <a:xfrm>
            <a:off x="583564" y="3169202"/>
            <a:ext cx="215470" cy="215470"/>
          </a:xfrm>
          <a:custGeom>
            <a:avLst/>
            <a:gdLst/>
            <a:ahLst/>
            <a:cxnLst/>
            <a:rect l="l" t="t" r="r" b="b"/>
            <a:pathLst>
              <a:path w="215470" h="215470">
                <a:moveTo>
                  <a:pt x="107735" y="0"/>
                </a:moveTo>
                <a:lnTo>
                  <a:pt x="107735" y="0"/>
                </a:lnTo>
                <a:cubicBezTo>
                  <a:pt x="167195" y="0"/>
                  <a:pt x="215470" y="48274"/>
                  <a:pt x="215470" y="107735"/>
                </a:cubicBezTo>
                <a:lnTo>
                  <a:pt x="215470" y="107735"/>
                </a:lnTo>
                <a:cubicBezTo>
                  <a:pt x="215470" y="167195"/>
                  <a:pt x="167195" y="215470"/>
                  <a:pt x="107735" y="215470"/>
                </a:cubicBezTo>
                <a:lnTo>
                  <a:pt x="107735" y="215470"/>
                </a:lnTo>
                <a:cubicBezTo>
                  <a:pt x="48274" y="215470"/>
                  <a:pt x="0" y="167195"/>
                  <a:pt x="0" y="107735"/>
                </a:cubicBezTo>
                <a:lnTo>
                  <a:pt x="0" y="107735"/>
                </a:lnTo>
                <a:cubicBezTo>
                  <a:pt x="0" y="48274"/>
                  <a:pt x="48274" y="0"/>
                  <a:pt x="107735" y="0"/>
                </a:cubicBezTo>
                <a:close/>
              </a:path>
            </a:pathLst>
          </a:custGeom>
          <a:solidFill>
            <a:srgbClr val="4DB6AC"/>
          </a:solidFill>
          <a:ln/>
        </p:spPr>
      </p:sp>
      <p:sp>
        <p:nvSpPr>
          <p:cNvPr id="12" name="Text 10"/>
          <p:cNvSpPr/>
          <p:nvPr/>
        </p:nvSpPr>
        <p:spPr>
          <a:xfrm>
            <a:off x="552141" y="3169202"/>
            <a:ext cx="278315" cy="215470"/>
          </a:xfrm>
          <a:prstGeom prst="rect">
            <a:avLst/>
          </a:prstGeom>
          <a:noFill/>
          <a:ln/>
        </p:spPr>
        <p:txBody>
          <a:bodyPr wrap="square" lIns="0" tIns="0" rIns="0" bIns="0" rtlCol="0" anchor="ctr"/>
          <a:lstStyle/>
          <a:p>
            <a:pPr algn="ctr">
              <a:lnSpc>
                <a:spcPct val="120000"/>
              </a:lnSpc>
            </a:pPr>
            <a:r>
              <a:rPr lang="en-US" sz="990" b="1" dirty="0">
                <a:solidFill>
                  <a:srgbClr val="1A1D21"/>
                </a:solidFill>
                <a:latin typeface="Quattrocento Sans" pitchFamily="34" charset="0"/>
                <a:ea typeface="Quattrocento Sans" pitchFamily="34" charset="-122"/>
                <a:cs typeface="Quattrocento Sans" pitchFamily="34" charset="-120"/>
              </a:rPr>
              <a:t>1</a:t>
            </a:r>
            <a:endParaRPr lang="en-US" sz="1600" dirty="0"/>
          </a:p>
        </p:txBody>
      </p:sp>
      <p:sp>
        <p:nvSpPr>
          <p:cNvPr id="13" name="Text 11"/>
          <p:cNvSpPr/>
          <p:nvPr/>
        </p:nvSpPr>
        <p:spPr>
          <a:xfrm>
            <a:off x="870857" y="3169202"/>
            <a:ext cx="1220996"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Pre-trained Model</a:t>
            </a:r>
            <a:endParaRPr lang="en-US" sz="1600" dirty="0"/>
          </a:p>
        </p:txBody>
      </p:sp>
      <p:sp>
        <p:nvSpPr>
          <p:cNvPr id="14" name="Text 12"/>
          <p:cNvSpPr/>
          <p:nvPr/>
        </p:nvSpPr>
        <p:spPr>
          <a:xfrm>
            <a:off x="870857" y="3420583"/>
            <a:ext cx="4991717"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Train on large dataset (ImageNet, etc.)</a:t>
            </a:r>
            <a:endParaRPr lang="en-US" sz="1600" dirty="0"/>
          </a:p>
        </p:txBody>
      </p:sp>
      <p:sp>
        <p:nvSpPr>
          <p:cNvPr id="15" name="Shape 13"/>
          <p:cNvSpPr/>
          <p:nvPr/>
        </p:nvSpPr>
        <p:spPr>
          <a:xfrm>
            <a:off x="475829" y="3779700"/>
            <a:ext cx="5431635" cy="646409"/>
          </a:xfrm>
          <a:custGeom>
            <a:avLst/>
            <a:gdLst/>
            <a:ahLst/>
            <a:cxnLst/>
            <a:rect l="l" t="t" r="r" b="b"/>
            <a:pathLst>
              <a:path w="5431635" h="646409">
                <a:moveTo>
                  <a:pt x="71823" y="0"/>
                </a:moveTo>
                <a:lnTo>
                  <a:pt x="5359812" y="0"/>
                </a:lnTo>
                <a:cubicBezTo>
                  <a:pt x="5399479" y="0"/>
                  <a:pt x="5431635" y="32156"/>
                  <a:pt x="5431635" y="71823"/>
                </a:cubicBezTo>
                <a:lnTo>
                  <a:pt x="5431635" y="574587"/>
                </a:lnTo>
                <a:cubicBezTo>
                  <a:pt x="5431635" y="614253"/>
                  <a:pt x="5399479" y="646409"/>
                  <a:pt x="5359812" y="646409"/>
                </a:cubicBezTo>
                <a:lnTo>
                  <a:pt x="71823" y="646409"/>
                </a:lnTo>
                <a:cubicBezTo>
                  <a:pt x="32156" y="646409"/>
                  <a:pt x="0" y="614253"/>
                  <a:pt x="0" y="574587"/>
                </a:cubicBezTo>
                <a:lnTo>
                  <a:pt x="0" y="71823"/>
                </a:lnTo>
                <a:cubicBezTo>
                  <a:pt x="0" y="32156"/>
                  <a:pt x="32156" y="0"/>
                  <a:pt x="71823" y="0"/>
                </a:cubicBezTo>
                <a:close/>
              </a:path>
            </a:pathLst>
          </a:custGeom>
          <a:solidFill>
            <a:srgbClr val="1A1D21"/>
          </a:solidFill>
          <a:ln/>
        </p:spPr>
      </p:sp>
      <p:sp>
        <p:nvSpPr>
          <p:cNvPr id="16" name="Shape 14"/>
          <p:cNvSpPr/>
          <p:nvPr/>
        </p:nvSpPr>
        <p:spPr>
          <a:xfrm>
            <a:off x="583564" y="3887434"/>
            <a:ext cx="215470" cy="215470"/>
          </a:xfrm>
          <a:custGeom>
            <a:avLst/>
            <a:gdLst/>
            <a:ahLst/>
            <a:cxnLst/>
            <a:rect l="l" t="t" r="r" b="b"/>
            <a:pathLst>
              <a:path w="215470" h="215470">
                <a:moveTo>
                  <a:pt x="107735" y="0"/>
                </a:moveTo>
                <a:lnTo>
                  <a:pt x="107735" y="0"/>
                </a:lnTo>
                <a:cubicBezTo>
                  <a:pt x="167195" y="0"/>
                  <a:pt x="215470" y="48274"/>
                  <a:pt x="215470" y="107735"/>
                </a:cubicBezTo>
                <a:lnTo>
                  <a:pt x="215470" y="107735"/>
                </a:lnTo>
                <a:cubicBezTo>
                  <a:pt x="215470" y="167195"/>
                  <a:pt x="167195" y="215470"/>
                  <a:pt x="107735" y="215470"/>
                </a:cubicBezTo>
                <a:lnTo>
                  <a:pt x="107735" y="215470"/>
                </a:lnTo>
                <a:cubicBezTo>
                  <a:pt x="48274" y="215470"/>
                  <a:pt x="0" y="167195"/>
                  <a:pt x="0" y="107735"/>
                </a:cubicBezTo>
                <a:lnTo>
                  <a:pt x="0" y="107735"/>
                </a:lnTo>
                <a:cubicBezTo>
                  <a:pt x="0" y="48274"/>
                  <a:pt x="48274" y="0"/>
                  <a:pt x="107735" y="0"/>
                </a:cubicBezTo>
                <a:close/>
              </a:path>
            </a:pathLst>
          </a:custGeom>
          <a:solidFill>
            <a:srgbClr val="FFD54F"/>
          </a:solidFill>
          <a:ln/>
        </p:spPr>
      </p:sp>
      <p:sp>
        <p:nvSpPr>
          <p:cNvPr id="17" name="Text 15"/>
          <p:cNvSpPr/>
          <p:nvPr/>
        </p:nvSpPr>
        <p:spPr>
          <a:xfrm>
            <a:off x="552141" y="3887434"/>
            <a:ext cx="278315" cy="215470"/>
          </a:xfrm>
          <a:prstGeom prst="rect">
            <a:avLst/>
          </a:prstGeom>
          <a:noFill/>
          <a:ln/>
        </p:spPr>
        <p:txBody>
          <a:bodyPr wrap="square" lIns="0" tIns="0" rIns="0" bIns="0" rtlCol="0" anchor="ctr"/>
          <a:lstStyle/>
          <a:p>
            <a:pPr algn="ctr">
              <a:lnSpc>
                <a:spcPct val="120000"/>
              </a:lnSpc>
            </a:pPr>
            <a:r>
              <a:rPr lang="en-US" sz="990" b="1" dirty="0">
                <a:solidFill>
                  <a:srgbClr val="1A1D21"/>
                </a:solidFill>
                <a:latin typeface="Quattrocento Sans" pitchFamily="34" charset="0"/>
                <a:ea typeface="Quattrocento Sans" pitchFamily="34" charset="-122"/>
                <a:cs typeface="Quattrocento Sans" pitchFamily="34" charset="-120"/>
              </a:rPr>
              <a:t>2</a:t>
            </a:r>
            <a:endParaRPr lang="en-US" sz="1600" dirty="0"/>
          </a:p>
        </p:txBody>
      </p:sp>
      <p:sp>
        <p:nvSpPr>
          <p:cNvPr id="18" name="Text 16"/>
          <p:cNvSpPr/>
          <p:nvPr/>
        </p:nvSpPr>
        <p:spPr>
          <a:xfrm>
            <a:off x="870857" y="3887434"/>
            <a:ext cx="1292819"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Freeze Base Layers</a:t>
            </a:r>
            <a:endParaRPr lang="en-US" sz="1600" dirty="0"/>
          </a:p>
        </p:txBody>
      </p:sp>
      <p:sp>
        <p:nvSpPr>
          <p:cNvPr id="19" name="Text 17"/>
          <p:cNvSpPr/>
          <p:nvPr/>
        </p:nvSpPr>
        <p:spPr>
          <a:xfrm>
            <a:off x="870857" y="4138816"/>
            <a:ext cx="4991717"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Keep learned features (edges, textures)</a:t>
            </a:r>
            <a:endParaRPr lang="en-US" sz="1600" dirty="0"/>
          </a:p>
        </p:txBody>
      </p:sp>
      <p:sp>
        <p:nvSpPr>
          <p:cNvPr id="20" name="Shape 18"/>
          <p:cNvSpPr/>
          <p:nvPr/>
        </p:nvSpPr>
        <p:spPr>
          <a:xfrm>
            <a:off x="475829" y="4497932"/>
            <a:ext cx="5431635" cy="646409"/>
          </a:xfrm>
          <a:custGeom>
            <a:avLst/>
            <a:gdLst/>
            <a:ahLst/>
            <a:cxnLst/>
            <a:rect l="l" t="t" r="r" b="b"/>
            <a:pathLst>
              <a:path w="5431635" h="646409">
                <a:moveTo>
                  <a:pt x="71823" y="0"/>
                </a:moveTo>
                <a:lnTo>
                  <a:pt x="5359812" y="0"/>
                </a:lnTo>
                <a:cubicBezTo>
                  <a:pt x="5399479" y="0"/>
                  <a:pt x="5431635" y="32156"/>
                  <a:pt x="5431635" y="71823"/>
                </a:cubicBezTo>
                <a:lnTo>
                  <a:pt x="5431635" y="574587"/>
                </a:lnTo>
                <a:cubicBezTo>
                  <a:pt x="5431635" y="614253"/>
                  <a:pt x="5399479" y="646409"/>
                  <a:pt x="5359812" y="646409"/>
                </a:cubicBezTo>
                <a:lnTo>
                  <a:pt x="71823" y="646409"/>
                </a:lnTo>
                <a:cubicBezTo>
                  <a:pt x="32156" y="646409"/>
                  <a:pt x="0" y="614253"/>
                  <a:pt x="0" y="574587"/>
                </a:cubicBezTo>
                <a:lnTo>
                  <a:pt x="0" y="71823"/>
                </a:lnTo>
                <a:cubicBezTo>
                  <a:pt x="0" y="32156"/>
                  <a:pt x="32156" y="0"/>
                  <a:pt x="71823" y="0"/>
                </a:cubicBezTo>
                <a:close/>
              </a:path>
            </a:pathLst>
          </a:custGeom>
          <a:solidFill>
            <a:srgbClr val="1A1D21"/>
          </a:solidFill>
          <a:ln/>
        </p:spPr>
      </p:sp>
      <p:sp>
        <p:nvSpPr>
          <p:cNvPr id="21" name="Shape 19"/>
          <p:cNvSpPr/>
          <p:nvPr/>
        </p:nvSpPr>
        <p:spPr>
          <a:xfrm>
            <a:off x="583564" y="4605667"/>
            <a:ext cx="215470" cy="215470"/>
          </a:xfrm>
          <a:custGeom>
            <a:avLst/>
            <a:gdLst/>
            <a:ahLst/>
            <a:cxnLst/>
            <a:rect l="l" t="t" r="r" b="b"/>
            <a:pathLst>
              <a:path w="215470" h="215470">
                <a:moveTo>
                  <a:pt x="107735" y="0"/>
                </a:moveTo>
                <a:lnTo>
                  <a:pt x="107735" y="0"/>
                </a:lnTo>
                <a:cubicBezTo>
                  <a:pt x="167195" y="0"/>
                  <a:pt x="215470" y="48274"/>
                  <a:pt x="215470" y="107735"/>
                </a:cubicBezTo>
                <a:lnTo>
                  <a:pt x="215470" y="107735"/>
                </a:lnTo>
                <a:cubicBezTo>
                  <a:pt x="215470" y="167195"/>
                  <a:pt x="167195" y="215470"/>
                  <a:pt x="107735" y="215470"/>
                </a:cubicBezTo>
                <a:lnTo>
                  <a:pt x="107735" y="215470"/>
                </a:lnTo>
                <a:cubicBezTo>
                  <a:pt x="48274" y="215470"/>
                  <a:pt x="0" y="167195"/>
                  <a:pt x="0" y="107735"/>
                </a:cubicBezTo>
                <a:lnTo>
                  <a:pt x="0" y="107735"/>
                </a:lnTo>
                <a:cubicBezTo>
                  <a:pt x="0" y="48274"/>
                  <a:pt x="48274" y="0"/>
                  <a:pt x="107735" y="0"/>
                </a:cubicBezTo>
                <a:close/>
              </a:path>
            </a:pathLst>
          </a:custGeom>
          <a:solidFill>
            <a:srgbClr val="4DB6AC"/>
          </a:solidFill>
          <a:ln/>
        </p:spPr>
      </p:sp>
      <p:sp>
        <p:nvSpPr>
          <p:cNvPr id="22" name="Text 20"/>
          <p:cNvSpPr/>
          <p:nvPr/>
        </p:nvSpPr>
        <p:spPr>
          <a:xfrm>
            <a:off x="552141" y="4605667"/>
            <a:ext cx="278315" cy="215470"/>
          </a:xfrm>
          <a:prstGeom prst="rect">
            <a:avLst/>
          </a:prstGeom>
          <a:noFill/>
          <a:ln/>
        </p:spPr>
        <p:txBody>
          <a:bodyPr wrap="square" lIns="0" tIns="0" rIns="0" bIns="0" rtlCol="0" anchor="ctr"/>
          <a:lstStyle/>
          <a:p>
            <a:pPr algn="ctr">
              <a:lnSpc>
                <a:spcPct val="120000"/>
              </a:lnSpc>
            </a:pPr>
            <a:r>
              <a:rPr lang="en-US" sz="990" b="1" dirty="0">
                <a:solidFill>
                  <a:srgbClr val="1A1D21"/>
                </a:solidFill>
                <a:latin typeface="Quattrocento Sans" pitchFamily="34" charset="0"/>
                <a:ea typeface="Quattrocento Sans" pitchFamily="34" charset="-122"/>
                <a:cs typeface="Quattrocento Sans" pitchFamily="34" charset="-120"/>
              </a:rPr>
              <a:t>3</a:t>
            </a:r>
            <a:endParaRPr lang="en-US" sz="1600" dirty="0"/>
          </a:p>
        </p:txBody>
      </p:sp>
      <p:sp>
        <p:nvSpPr>
          <p:cNvPr id="23" name="Text 21"/>
          <p:cNvSpPr/>
          <p:nvPr/>
        </p:nvSpPr>
        <p:spPr>
          <a:xfrm>
            <a:off x="870857" y="4605667"/>
            <a:ext cx="682321"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Fine-tune</a:t>
            </a:r>
            <a:endParaRPr lang="en-US" sz="1600" dirty="0"/>
          </a:p>
        </p:txBody>
      </p:sp>
      <p:sp>
        <p:nvSpPr>
          <p:cNvPr id="24" name="Text 22"/>
          <p:cNvSpPr/>
          <p:nvPr/>
        </p:nvSpPr>
        <p:spPr>
          <a:xfrm>
            <a:off x="870857" y="4857049"/>
            <a:ext cx="4991717"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Train top layers on new task</a:t>
            </a:r>
            <a:endParaRPr lang="en-US" sz="1600" dirty="0"/>
          </a:p>
        </p:txBody>
      </p:sp>
      <p:sp>
        <p:nvSpPr>
          <p:cNvPr id="25" name="Shape 23"/>
          <p:cNvSpPr/>
          <p:nvPr/>
        </p:nvSpPr>
        <p:spPr>
          <a:xfrm>
            <a:off x="359116" y="5332878"/>
            <a:ext cx="5665060" cy="1328730"/>
          </a:xfrm>
          <a:custGeom>
            <a:avLst/>
            <a:gdLst/>
            <a:ahLst/>
            <a:cxnLst/>
            <a:rect l="l" t="t" r="r" b="b"/>
            <a:pathLst>
              <a:path w="5665060" h="1328730">
                <a:moveTo>
                  <a:pt x="71818" y="0"/>
                </a:moveTo>
                <a:lnTo>
                  <a:pt x="5593243" y="0"/>
                </a:lnTo>
                <a:cubicBezTo>
                  <a:pt x="5632906" y="0"/>
                  <a:pt x="5665060" y="32154"/>
                  <a:pt x="5665060" y="71818"/>
                </a:cubicBezTo>
                <a:lnTo>
                  <a:pt x="5665060" y="1256913"/>
                </a:lnTo>
                <a:cubicBezTo>
                  <a:pt x="5665060" y="1296577"/>
                  <a:pt x="5632906" y="1328730"/>
                  <a:pt x="5593243" y="1328730"/>
                </a:cubicBezTo>
                <a:lnTo>
                  <a:pt x="71818" y="1328730"/>
                </a:lnTo>
                <a:cubicBezTo>
                  <a:pt x="32154" y="1328730"/>
                  <a:pt x="0" y="1296577"/>
                  <a:pt x="0" y="1256913"/>
                </a:cubicBezTo>
                <a:lnTo>
                  <a:pt x="0" y="71818"/>
                </a:lnTo>
                <a:cubicBezTo>
                  <a:pt x="0" y="32154"/>
                  <a:pt x="32154" y="0"/>
                  <a:pt x="71818" y="0"/>
                </a:cubicBezTo>
                <a:close/>
              </a:path>
            </a:pathLst>
          </a:custGeom>
          <a:solidFill>
            <a:srgbClr val="78909C">
              <a:alpha val="10196"/>
            </a:srgbClr>
          </a:solidFill>
          <a:ln/>
        </p:spPr>
      </p:sp>
      <p:sp>
        <p:nvSpPr>
          <p:cNvPr id="26" name="Text 24"/>
          <p:cNvSpPr/>
          <p:nvPr/>
        </p:nvSpPr>
        <p:spPr>
          <a:xfrm>
            <a:off x="466851" y="5440613"/>
            <a:ext cx="5521414"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Benefits</a:t>
            </a:r>
            <a:endParaRPr lang="en-US" sz="1600" dirty="0"/>
          </a:p>
        </p:txBody>
      </p:sp>
      <p:sp>
        <p:nvSpPr>
          <p:cNvPr id="27" name="Shape 25"/>
          <p:cNvSpPr/>
          <p:nvPr/>
        </p:nvSpPr>
        <p:spPr>
          <a:xfrm>
            <a:off x="484807" y="5754839"/>
            <a:ext cx="125691" cy="125691"/>
          </a:xfrm>
          <a:custGeom>
            <a:avLst/>
            <a:gdLst/>
            <a:ahLst/>
            <a:cxnLst/>
            <a:rect l="l" t="t" r="r" b="b"/>
            <a:pathLst>
              <a:path w="125691" h="125691">
                <a:moveTo>
                  <a:pt x="62845" y="0"/>
                </a:moveTo>
                <a:cubicBezTo>
                  <a:pt x="97531" y="0"/>
                  <a:pt x="125691" y="28160"/>
                  <a:pt x="125691" y="62845"/>
                </a:cubicBezTo>
                <a:cubicBezTo>
                  <a:pt x="125691" y="97531"/>
                  <a:pt x="97531" y="125691"/>
                  <a:pt x="62845" y="125691"/>
                </a:cubicBezTo>
                <a:cubicBezTo>
                  <a:pt x="28160" y="125691"/>
                  <a:pt x="0" y="97531"/>
                  <a:pt x="0" y="62845"/>
                </a:cubicBezTo>
                <a:cubicBezTo>
                  <a:pt x="0" y="28160"/>
                  <a:pt x="28160" y="0"/>
                  <a:pt x="62845" y="0"/>
                </a:cubicBezTo>
                <a:close/>
                <a:moveTo>
                  <a:pt x="56954" y="29459"/>
                </a:moveTo>
                <a:lnTo>
                  <a:pt x="56954" y="62845"/>
                </a:lnTo>
                <a:cubicBezTo>
                  <a:pt x="56954" y="64809"/>
                  <a:pt x="57936" y="66650"/>
                  <a:pt x="59580" y="67755"/>
                </a:cubicBezTo>
                <a:lnTo>
                  <a:pt x="83147" y="83466"/>
                </a:lnTo>
                <a:cubicBezTo>
                  <a:pt x="85848" y="85283"/>
                  <a:pt x="89506" y="84547"/>
                  <a:pt x="91322" y="81822"/>
                </a:cubicBezTo>
                <a:cubicBezTo>
                  <a:pt x="93139" y="79097"/>
                  <a:pt x="92402" y="75464"/>
                  <a:pt x="89677" y="73647"/>
                </a:cubicBezTo>
                <a:lnTo>
                  <a:pt x="68737" y="59703"/>
                </a:lnTo>
                <a:lnTo>
                  <a:pt x="68737" y="29459"/>
                </a:lnTo>
                <a:cubicBezTo>
                  <a:pt x="68737" y="26194"/>
                  <a:pt x="66110" y="23567"/>
                  <a:pt x="62845" y="23567"/>
                </a:cubicBezTo>
                <a:cubicBezTo>
                  <a:pt x="59580" y="23567"/>
                  <a:pt x="56954" y="26194"/>
                  <a:pt x="56954" y="29459"/>
                </a:cubicBezTo>
                <a:close/>
              </a:path>
            </a:pathLst>
          </a:custGeom>
          <a:solidFill>
            <a:srgbClr val="4DB6AC"/>
          </a:solidFill>
          <a:ln/>
        </p:spPr>
      </p:sp>
      <p:sp>
        <p:nvSpPr>
          <p:cNvPr id="28" name="Text 26"/>
          <p:cNvSpPr/>
          <p:nvPr/>
        </p:nvSpPr>
        <p:spPr>
          <a:xfrm>
            <a:off x="695788" y="5727906"/>
            <a:ext cx="1678869"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Reduced training time (90%+)</a:t>
            </a:r>
            <a:endParaRPr lang="en-US" sz="1600" dirty="0"/>
          </a:p>
        </p:txBody>
      </p:sp>
      <p:sp>
        <p:nvSpPr>
          <p:cNvPr id="29" name="Shape 27"/>
          <p:cNvSpPr/>
          <p:nvPr/>
        </p:nvSpPr>
        <p:spPr>
          <a:xfrm>
            <a:off x="492663" y="5970309"/>
            <a:ext cx="109979" cy="125691"/>
          </a:xfrm>
          <a:custGeom>
            <a:avLst/>
            <a:gdLst/>
            <a:ahLst/>
            <a:cxnLst/>
            <a:rect l="l" t="t" r="r" b="b"/>
            <a:pathLst>
              <a:path w="109979" h="125691">
                <a:moveTo>
                  <a:pt x="109979" y="50522"/>
                </a:moveTo>
                <a:cubicBezTo>
                  <a:pt x="106346" y="52928"/>
                  <a:pt x="102173" y="54867"/>
                  <a:pt x="97828" y="56414"/>
                </a:cubicBezTo>
                <a:cubicBezTo>
                  <a:pt x="86290" y="60538"/>
                  <a:pt x="71143" y="62845"/>
                  <a:pt x="54990" y="62845"/>
                </a:cubicBezTo>
                <a:cubicBezTo>
                  <a:pt x="38836" y="62845"/>
                  <a:pt x="23665" y="60513"/>
                  <a:pt x="12152" y="56414"/>
                </a:cubicBezTo>
                <a:cubicBezTo>
                  <a:pt x="7831" y="54867"/>
                  <a:pt x="3633" y="52928"/>
                  <a:pt x="0" y="50522"/>
                </a:cubicBezTo>
                <a:lnTo>
                  <a:pt x="0" y="70701"/>
                </a:lnTo>
                <a:cubicBezTo>
                  <a:pt x="0" y="81552"/>
                  <a:pt x="24623" y="90340"/>
                  <a:pt x="54990" y="90340"/>
                </a:cubicBezTo>
                <a:cubicBezTo>
                  <a:pt x="85357" y="90340"/>
                  <a:pt x="109979" y="81552"/>
                  <a:pt x="109979" y="70701"/>
                </a:cubicBezTo>
                <a:lnTo>
                  <a:pt x="109979" y="50522"/>
                </a:lnTo>
                <a:close/>
                <a:moveTo>
                  <a:pt x="109979" y="31423"/>
                </a:moveTo>
                <a:lnTo>
                  <a:pt x="109979" y="19639"/>
                </a:lnTo>
                <a:cubicBezTo>
                  <a:pt x="109979" y="8789"/>
                  <a:pt x="85357" y="0"/>
                  <a:pt x="54990" y="0"/>
                </a:cubicBezTo>
                <a:cubicBezTo>
                  <a:pt x="24623" y="0"/>
                  <a:pt x="0" y="8789"/>
                  <a:pt x="0" y="19639"/>
                </a:cubicBezTo>
                <a:lnTo>
                  <a:pt x="0" y="31423"/>
                </a:lnTo>
                <a:cubicBezTo>
                  <a:pt x="0" y="42273"/>
                  <a:pt x="24623" y="51062"/>
                  <a:pt x="54990" y="51062"/>
                </a:cubicBezTo>
                <a:cubicBezTo>
                  <a:pt x="85357" y="51062"/>
                  <a:pt x="109979" y="42273"/>
                  <a:pt x="109979" y="31423"/>
                </a:cubicBezTo>
                <a:close/>
                <a:moveTo>
                  <a:pt x="97828" y="95692"/>
                </a:moveTo>
                <a:cubicBezTo>
                  <a:pt x="86314" y="99792"/>
                  <a:pt x="71167" y="102124"/>
                  <a:pt x="54990" y="102124"/>
                </a:cubicBezTo>
                <a:cubicBezTo>
                  <a:pt x="38812" y="102124"/>
                  <a:pt x="23665" y="99792"/>
                  <a:pt x="12152" y="95692"/>
                </a:cubicBezTo>
                <a:cubicBezTo>
                  <a:pt x="7831" y="94145"/>
                  <a:pt x="3633" y="92206"/>
                  <a:pt x="0" y="89800"/>
                </a:cubicBezTo>
                <a:lnTo>
                  <a:pt x="0" y="106052"/>
                </a:lnTo>
                <a:cubicBezTo>
                  <a:pt x="0" y="116902"/>
                  <a:pt x="24623" y="125691"/>
                  <a:pt x="54990" y="125691"/>
                </a:cubicBezTo>
                <a:cubicBezTo>
                  <a:pt x="85357" y="125691"/>
                  <a:pt x="109979" y="116902"/>
                  <a:pt x="109979" y="106052"/>
                </a:cubicBezTo>
                <a:lnTo>
                  <a:pt x="109979" y="89800"/>
                </a:lnTo>
                <a:cubicBezTo>
                  <a:pt x="106346" y="92206"/>
                  <a:pt x="102173" y="94145"/>
                  <a:pt x="97828" y="95692"/>
                </a:cubicBezTo>
                <a:close/>
              </a:path>
            </a:pathLst>
          </a:custGeom>
          <a:solidFill>
            <a:srgbClr val="4DB6AC"/>
          </a:solidFill>
          <a:ln/>
        </p:spPr>
      </p:sp>
      <p:sp>
        <p:nvSpPr>
          <p:cNvPr id="30" name="Text 28"/>
          <p:cNvSpPr/>
          <p:nvPr/>
        </p:nvSpPr>
        <p:spPr>
          <a:xfrm>
            <a:off x="695788" y="5943376"/>
            <a:ext cx="1059393"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Less data required</a:t>
            </a:r>
            <a:endParaRPr lang="en-US" sz="1600" dirty="0"/>
          </a:p>
        </p:txBody>
      </p:sp>
      <p:sp>
        <p:nvSpPr>
          <p:cNvPr id="31" name="Shape 29"/>
          <p:cNvSpPr/>
          <p:nvPr/>
        </p:nvSpPr>
        <p:spPr>
          <a:xfrm>
            <a:off x="484807" y="6185779"/>
            <a:ext cx="125691" cy="125691"/>
          </a:xfrm>
          <a:custGeom>
            <a:avLst/>
            <a:gdLst/>
            <a:ahLst/>
            <a:cxnLst/>
            <a:rect l="l" t="t" r="r" b="b"/>
            <a:pathLst>
              <a:path w="125691" h="125691">
                <a:moveTo>
                  <a:pt x="15711" y="15711"/>
                </a:moveTo>
                <a:cubicBezTo>
                  <a:pt x="15711" y="11366"/>
                  <a:pt x="12201" y="7856"/>
                  <a:pt x="7856" y="7856"/>
                </a:cubicBezTo>
                <a:cubicBezTo>
                  <a:pt x="3511" y="7856"/>
                  <a:pt x="0" y="11366"/>
                  <a:pt x="0" y="15711"/>
                </a:cubicBezTo>
                <a:lnTo>
                  <a:pt x="0" y="98196"/>
                </a:lnTo>
                <a:cubicBezTo>
                  <a:pt x="0" y="109047"/>
                  <a:pt x="8789" y="117835"/>
                  <a:pt x="19639" y="117835"/>
                </a:cubicBezTo>
                <a:lnTo>
                  <a:pt x="117835" y="117835"/>
                </a:lnTo>
                <a:cubicBezTo>
                  <a:pt x="122180" y="117835"/>
                  <a:pt x="125691" y="114325"/>
                  <a:pt x="125691" y="109979"/>
                </a:cubicBezTo>
                <a:cubicBezTo>
                  <a:pt x="125691" y="105634"/>
                  <a:pt x="122180" y="102124"/>
                  <a:pt x="117835" y="102124"/>
                </a:cubicBezTo>
                <a:lnTo>
                  <a:pt x="19639" y="102124"/>
                </a:lnTo>
                <a:cubicBezTo>
                  <a:pt x="17479" y="102124"/>
                  <a:pt x="15711" y="100356"/>
                  <a:pt x="15711" y="98196"/>
                </a:cubicBezTo>
                <a:lnTo>
                  <a:pt x="15711" y="15711"/>
                </a:lnTo>
                <a:close/>
                <a:moveTo>
                  <a:pt x="115527" y="36971"/>
                </a:moveTo>
                <a:cubicBezTo>
                  <a:pt x="118596" y="33902"/>
                  <a:pt x="118596" y="28919"/>
                  <a:pt x="115527" y="25850"/>
                </a:cubicBezTo>
                <a:cubicBezTo>
                  <a:pt x="112459" y="22781"/>
                  <a:pt x="107475" y="22781"/>
                  <a:pt x="104407" y="25850"/>
                </a:cubicBezTo>
                <a:lnTo>
                  <a:pt x="78557" y="51725"/>
                </a:lnTo>
                <a:lnTo>
                  <a:pt x="64466" y="37658"/>
                </a:lnTo>
                <a:cubicBezTo>
                  <a:pt x="61397" y="34589"/>
                  <a:pt x="56414" y="34589"/>
                  <a:pt x="53345" y="37658"/>
                </a:cubicBezTo>
                <a:lnTo>
                  <a:pt x="29778" y="61225"/>
                </a:lnTo>
                <a:cubicBezTo>
                  <a:pt x="26709" y="64294"/>
                  <a:pt x="26709" y="69277"/>
                  <a:pt x="29778" y="72346"/>
                </a:cubicBezTo>
                <a:cubicBezTo>
                  <a:pt x="32847" y="75414"/>
                  <a:pt x="37830" y="75414"/>
                  <a:pt x="40899" y="72346"/>
                </a:cubicBezTo>
                <a:lnTo>
                  <a:pt x="58918" y="54327"/>
                </a:lnTo>
                <a:lnTo>
                  <a:pt x="73009" y="68418"/>
                </a:lnTo>
                <a:cubicBezTo>
                  <a:pt x="76077" y="71487"/>
                  <a:pt x="81061" y="71487"/>
                  <a:pt x="84129" y="68418"/>
                </a:cubicBezTo>
                <a:lnTo>
                  <a:pt x="115552" y="36995"/>
                </a:lnTo>
                <a:close/>
              </a:path>
            </a:pathLst>
          </a:custGeom>
          <a:solidFill>
            <a:srgbClr val="FFD54F"/>
          </a:solidFill>
          <a:ln/>
        </p:spPr>
      </p:sp>
      <p:sp>
        <p:nvSpPr>
          <p:cNvPr id="32" name="Text 30"/>
          <p:cNvSpPr/>
          <p:nvPr/>
        </p:nvSpPr>
        <p:spPr>
          <a:xfrm>
            <a:off x="695788" y="6158845"/>
            <a:ext cx="1122239"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Better performance</a:t>
            </a:r>
            <a:endParaRPr lang="en-US" sz="1600" dirty="0"/>
          </a:p>
        </p:txBody>
      </p:sp>
      <p:sp>
        <p:nvSpPr>
          <p:cNvPr id="33" name="Shape 31"/>
          <p:cNvSpPr/>
          <p:nvPr/>
        </p:nvSpPr>
        <p:spPr>
          <a:xfrm>
            <a:off x="484807" y="6401249"/>
            <a:ext cx="125691" cy="125691"/>
          </a:xfrm>
          <a:custGeom>
            <a:avLst/>
            <a:gdLst/>
            <a:ahLst/>
            <a:cxnLst/>
            <a:rect l="l" t="t" r="r" b="b"/>
            <a:pathLst>
              <a:path w="125691" h="125691">
                <a:moveTo>
                  <a:pt x="62845" y="0"/>
                </a:moveTo>
                <a:cubicBezTo>
                  <a:pt x="63975" y="0"/>
                  <a:pt x="65104" y="245"/>
                  <a:pt x="66135" y="712"/>
                </a:cubicBezTo>
                <a:lnTo>
                  <a:pt x="112385" y="20327"/>
                </a:lnTo>
                <a:cubicBezTo>
                  <a:pt x="117786" y="22610"/>
                  <a:pt x="121812" y="27937"/>
                  <a:pt x="121787" y="34369"/>
                </a:cubicBezTo>
                <a:cubicBezTo>
                  <a:pt x="121665" y="58721"/>
                  <a:pt x="111649" y="103278"/>
                  <a:pt x="69351" y="123530"/>
                </a:cubicBezTo>
                <a:cubicBezTo>
                  <a:pt x="65251" y="125494"/>
                  <a:pt x="60489" y="125494"/>
                  <a:pt x="56389" y="123530"/>
                </a:cubicBezTo>
                <a:cubicBezTo>
                  <a:pt x="14067" y="103278"/>
                  <a:pt x="4075" y="58721"/>
                  <a:pt x="3952" y="34369"/>
                </a:cubicBezTo>
                <a:cubicBezTo>
                  <a:pt x="3928" y="27937"/>
                  <a:pt x="7954" y="22610"/>
                  <a:pt x="13355" y="20327"/>
                </a:cubicBezTo>
                <a:lnTo>
                  <a:pt x="59580" y="712"/>
                </a:lnTo>
                <a:cubicBezTo>
                  <a:pt x="60611" y="245"/>
                  <a:pt x="61716" y="0"/>
                  <a:pt x="62845" y="0"/>
                </a:cubicBezTo>
                <a:close/>
                <a:moveTo>
                  <a:pt x="62845" y="16399"/>
                </a:moveTo>
                <a:lnTo>
                  <a:pt x="62845" y="109218"/>
                </a:lnTo>
                <a:cubicBezTo>
                  <a:pt x="96723" y="92820"/>
                  <a:pt x="105831" y="56487"/>
                  <a:pt x="106052" y="34737"/>
                </a:cubicBezTo>
                <a:lnTo>
                  <a:pt x="62845" y="16423"/>
                </a:lnTo>
                <a:lnTo>
                  <a:pt x="62845" y="16423"/>
                </a:lnTo>
                <a:close/>
              </a:path>
            </a:pathLst>
          </a:custGeom>
          <a:solidFill>
            <a:srgbClr val="FFD54F"/>
          </a:solidFill>
          <a:ln/>
        </p:spPr>
      </p:sp>
      <p:sp>
        <p:nvSpPr>
          <p:cNvPr id="34" name="Text 32"/>
          <p:cNvSpPr/>
          <p:nvPr/>
        </p:nvSpPr>
        <p:spPr>
          <a:xfrm>
            <a:off x="695788" y="6374315"/>
            <a:ext cx="1122239"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Reduced overfitting</a:t>
            </a:r>
            <a:endParaRPr lang="en-US" sz="1600" dirty="0"/>
          </a:p>
        </p:txBody>
      </p:sp>
      <p:sp>
        <p:nvSpPr>
          <p:cNvPr id="35" name="Shape 33"/>
          <p:cNvSpPr/>
          <p:nvPr/>
        </p:nvSpPr>
        <p:spPr>
          <a:xfrm>
            <a:off x="6168805" y="1113261"/>
            <a:ext cx="5665060" cy="3070445"/>
          </a:xfrm>
          <a:custGeom>
            <a:avLst/>
            <a:gdLst/>
            <a:ahLst/>
            <a:cxnLst/>
            <a:rect l="l" t="t" r="r" b="b"/>
            <a:pathLst>
              <a:path w="5665060" h="3070445">
                <a:moveTo>
                  <a:pt x="71818" y="0"/>
                </a:moveTo>
                <a:lnTo>
                  <a:pt x="5593243" y="0"/>
                </a:lnTo>
                <a:cubicBezTo>
                  <a:pt x="5632907" y="0"/>
                  <a:pt x="5665060" y="32154"/>
                  <a:pt x="5665060" y="71818"/>
                </a:cubicBezTo>
                <a:lnTo>
                  <a:pt x="5665060" y="2998627"/>
                </a:lnTo>
                <a:cubicBezTo>
                  <a:pt x="5665060" y="3038291"/>
                  <a:pt x="5632907" y="3070445"/>
                  <a:pt x="5593243" y="3070445"/>
                </a:cubicBezTo>
                <a:lnTo>
                  <a:pt x="71818" y="3070445"/>
                </a:lnTo>
                <a:cubicBezTo>
                  <a:pt x="32154" y="3070445"/>
                  <a:pt x="0" y="3038291"/>
                  <a:pt x="0" y="2998627"/>
                </a:cubicBezTo>
                <a:lnTo>
                  <a:pt x="0" y="71818"/>
                </a:lnTo>
                <a:cubicBezTo>
                  <a:pt x="0" y="32180"/>
                  <a:pt x="32180" y="0"/>
                  <a:pt x="71818" y="0"/>
                </a:cubicBezTo>
                <a:close/>
              </a:path>
            </a:pathLst>
          </a:custGeom>
          <a:solidFill>
            <a:srgbClr val="4DB6AC">
              <a:alpha val="10196"/>
            </a:srgbClr>
          </a:solidFill>
          <a:ln/>
        </p:spPr>
      </p:sp>
      <p:sp>
        <p:nvSpPr>
          <p:cNvPr id="36" name="Text 34"/>
          <p:cNvSpPr/>
          <p:nvPr/>
        </p:nvSpPr>
        <p:spPr>
          <a:xfrm>
            <a:off x="6236140" y="1220996"/>
            <a:ext cx="5530392" cy="251381"/>
          </a:xfrm>
          <a:prstGeom prst="rect">
            <a:avLst/>
          </a:prstGeom>
          <a:noFill/>
          <a:ln/>
        </p:spPr>
        <p:txBody>
          <a:bodyPr wrap="square" lIns="0" tIns="0" rIns="0" bIns="0" rtlCol="0" anchor="ctr"/>
          <a:lstStyle/>
          <a:p>
            <a:pPr algn="ctr">
              <a:lnSpc>
                <a:spcPct val="130000"/>
              </a:lnSpc>
            </a:pPr>
            <a:r>
              <a:rPr lang="en-US" sz="1272" b="1" dirty="0">
                <a:solidFill>
                  <a:srgbClr val="ECEFF1"/>
                </a:solidFill>
                <a:latin typeface="Liter" pitchFamily="34" charset="0"/>
                <a:ea typeface="Liter" pitchFamily="34" charset="-122"/>
                <a:cs typeface="Liter" pitchFamily="34" charset="-120"/>
              </a:rPr>
              <a:t>Frozen vs Trainable Layers</a:t>
            </a:r>
            <a:endParaRPr lang="en-US" sz="1600" dirty="0"/>
          </a:p>
        </p:txBody>
      </p:sp>
      <p:sp>
        <p:nvSpPr>
          <p:cNvPr id="37" name="Shape 35"/>
          <p:cNvSpPr/>
          <p:nvPr/>
        </p:nvSpPr>
        <p:spPr>
          <a:xfrm>
            <a:off x="7286976" y="1957184"/>
            <a:ext cx="3429561" cy="1454421"/>
          </a:xfrm>
          <a:custGeom>
            <a:avLst/>
            <a:gdLst/>
            <a:ahLst/>
            <a:cxnLst/>
            <a:rect l="l" t="t" r="r" b="b"/>
            <a:pathLst>
              <a:path w="3429561" h="1454421">
                <a:moveTo>
                  <a:pt x="71819" y="0"/>
                </a:moveTo>
                <a:lnTo>
                  <a:pt x="3357742" y="0"/>
                </a:lnTo>
                <a:cubicBezTo>
                  <a:pt x="3397407" y="0"/>
                  <a:pt x="3429561" y="32155"/>
                  <a:pt x="3429561" y="71819"/>
                </a:cubicBezTo>
                <a:lnTo>
                  <a:pt x="3429561" y="1382602"/>
                </a:lnTo>
                <a:cubicBezTo>
                  <a:pt x="3429561" y="1422267"/>
                  <a:pt x="3397407" y="1454421"/>
                  <a:pt x="3357742" y="1454421"/>
                </a:cubicBezTo>
                <a:lnTo>
                  <a:pt x="71819" y="1454421"/>
                </a:lnTo>
                <a:cubicBezTo>
                  <a:pt x="32155" y="1454421"/>
                  <a:pt x="0" y="1422267"/>
                  <a:pt x="0" y="1382602"/>
                </a:cubicBezTo>
                <a:lnTo>
                  <a:pt x="0" y="71819"/>
                </a:lnTo>
                <a:cubicBezTo>
                  <a:pt x="0" y="32181"/>
                  <a:pt x="32181" y="0"/>
                  <a:pt x="71819" y="0"/>
                </a:cubicBezTo>
                <a:close/>
              </a:path>
            </a:pathLst>
          </a:custGeom>
          <a:solidFill>
            <a:srgbClr val="4DB6AC">
              <a:alpha val="20000"/>
            </a:srgbClr>
          </a:solidFill>
          <a:ln w="25400">
            <a:solidFill>
              <a:srgbClr val="4DB6AC"/>
            </a:solidFill>
            <a:prstDash val="solid"/>
          </a:ln>
        </p:spPr>
      </p:sp>
      <p:sp>
        <p:nvSpPr>
          <p:cNvPr id="38" name="Text 36"/>
          <p:cNvSpPr/>
          <p:nvPr/>
        </p:nvSpPr>
        <p:spPr>
          <a:xfrm>
            <a:off x="7372266" y="2073897"/>
            <a:ext cx="3258981" cy="179558"/>
          </a:xfrm>
          <a:prstGeom prst="rect">
            <a:avLst/>
          </a:prstGeom>
          <a:noFill/>
          <a:ln/>
        </p:spPr>
        <p:txBody>
          <a:bodyPr wrap="square" lIns="0" tIns="0" rIns="0" bIns="0" rtlCol="0" anchor="ctr"/>
          <a:lstStyle/>
          <a:p>
            <a:pPr algn="ctr">
              <a:lnSpc>
                <a:spcPct val="120000"/>
              </a:lnSpc>
            </a:pPr>
            <a:r>
              <a:rPr lang="en-US" sz="990" b="1" dirty="0">
                <a:solidFill>
                  <a:srgbClr val="ECEFF1"/>
                </a:solidFill>
                <a:latin typeface="Quattrocento Sans" pitchFamily="34" charset="0"/>
                <a:ea typeface="Quattrocento Sans" pitchFamily="34" charset="-122"/>
                <a:cs typeface="Quattrocento Sans" pitchFamily="34" charset="-120"/>
              </a:rPr>
              <a:t>Pre-trained Model</a:t>
            </a:r>
            <a:endParaRPr lang="en-US" sz="1600" dirty="0"/>
          </a:p>
        </p:txBody>
      </p:sp>
      <p:sp>
        <p:nvSpPr>
          <p:cNvPr id="39" name="Shape 37"/>
          <p:cNvSpPr/>
          <p:nvPr/>
        </p:nvSpPr>
        <p:spPr>
          <a:xfrm>
            <a:off x="7403689" y="2325278"/>
            <a:ext cx="3196135" cy="215470"/>
          </a:xfrm>
          <a:custGeom>
            <a:avLst/>
            <a:gdLst/>
            <a:ahLst/>
            <a:cxnLst/>
            <a:rect l="l" t="t" r="r" b="b"/>
            <a:pathLst>
              <a:path w="3196135" h="215470">
                <a:moveTo>
                  <a:pt x="35912" y="0"/>
                </a:moveTo>
                <a:lnTo>
                  <a:pt x="3160223" y="0"/>
                </a:lnTo>
                <a:cubicBezTo>
                  <a:pt x="3180057" y="0"/>
                  <a:pt x="3196135" y="16079"/>
                  <a:pt x="3196135" y="35912"/>
                </a:cubicBezTo>
                <a:lnTo>
                  <a:pt x="3196135" y="179557"/>
                </a:lnTo>
                <a:cubicBezTo>
                  <a:pt x="3196135" y="199391"/>
                  <a:pt x="3180057" y="215470"/>
                  <a:pt x="3160223" y="215470"/>
                </a:cubicBezTo>
                <a:lnTo>
                  <a:pt x="35912" y="215470"/>
                </a:lnTo>
                <a:cubicBezTo>
                  <a:pt x="16092" y="215470"/>
                  <a:pt x="0" y="199378"/>
                  <a:pt x="0" y="179557"/>
                </a:cubicBezTo>
                <a:lnTo>
                  <a:pt x="0" y="35912"/>
                </a:lnTo>
                <a:cubicBezTo>
                  <a:pt x="0" y="16092"/>
                  <a:pt x="16092" y="0"/>
                  <a:pt x="35912" y="0"/>
                </a:cubicBezTo>
                <a:close/>
              </a:path>
            </a:pathLst>
          </a:custGeom>
          <a:solidFill>
            <a:srgbClr val="4DB6AC">
              <a:alpha val="40000"/>
            </a:srgbClr>
          </a:solidFill>
          <a:ln/>
        </p:spPr>
      </p:sp>
      <p:sp>
        <p:nvSpPr>
          <p:cNvPr id="40" name="Text 38"/>
          <p:cNvSpPr/>
          <p:nvPr/>
        </p:nvSpPr>
        <p:spPr>
          <a:xfrm>
            <a:off x="7376755" y="2325278"/>
            <a:ext cx="3250003" cy="215470"/>
          </a:xfrm>
          <a:prstGeom prst="rect">
            <a:avLst/>
          </a:prstGeom>
          <a:noFill/>
          <a:ln/>
        </p:spPr>
        <p:txBody>
          <a:bodyPr wrap="square" lIns="0" tIns="0" rIns="0" bIns="0" rtlCol="0" anchor="ctr"/>
          <a:lstStyle/>
          <a:p>
            <a:pPr algn="ctr">
              <a:lnSpc>
                <a:spcPct val="110000"/>
              </a:lnSpc>
            </a:pPr>
            <a:r>
              <a:rPr lang="en-US" sz="848" dirty="0">
                <a:solidFill>
                  <a:srgbClr val="ECEFF1"/>
                </a:solidFill>
                <a:latin typeface="Quattrocento Sans" pitchFamily="34" charset="0"/>
                <a:ea typeface="Quattrocento Sans" pitchFamily="34" charset="-122"/>
                <a:cs typeface="Quattrocento Sans" pitchFamily="34" charset="-120"/>
              </a:rPr>
              <a:t>Layer 1-3: FROZEN (Early features)</a:t>
            </a:r>
            <a:endParaRPr lang="en-US" sz="1600" dirty="0"/>
          </a:p>
        </p:txBody>
      </p:sp>
      <p:sp>
        <p:nvSpPr>
          <p:cNvPr id="41" name="Shape 39"/>
          <p:cNvSpPr/>
          <p:nvPr/>
        </p:nvSpPr>
        <p:spPr>
          <a:xfrm>
            <a:off x="7403689" y="2576660"/>
            <a:ext cx="3196135" cy="215470"/>
          </a:xfrm>
          <a:custGeom>
            <a:avLst/>
            <a:gdLst/>
            <a:ahLst/>
            <a:cxnLst/>
            <a:rect l="l" t="t" r="r" b="b"/>
            <a:pathLst>
              <a:path w="3196135" h="215470">
                <a:moveTo>
                  <a:pt x="35912" y="0"/>
                </a:moveTo>
                <a:lnTo>
                  <a:pt x="3160223" y="0"/>
                </a:lnTo>
                <a:cubicBezTo>
                  <a:pt x="3180057" y="0"/>
                  <a:pt x="3196135" y="16079"/>
                  <a:pt x="3196135" y="35912"/>
                </a:cubicBezTo>
                <a:lnTo>
                  <a:pt x="3196135" y="179557"/>
                </a:lnTo>
                <a:cubicBezTo>
                  <a:pt x="3196135" y="199391"/>
                  <a:pt x="3180057" y="215470"/>
                  <a:pt x="3160223" y="215470"/>
                </a:cubicBezTo>
                <a:lnTo>
                  <a:pt x="35912" y="215470"/>
                </a:lnTo>
                <a:cubicBezTo>
                  <a:pt x="16092" y="215470"/>
                  <a:pt x="0" y="199378"/>
                  <a:pt x="0" y="179557"/>
                </a:cubicBezTo>
                <a:lnTo>
                  <a:pt x="0" y="35912"/>
                </a:lnTo>
                <a:cubicBezTo>
                  <a:pt x="0" y="16092"/>
                  <a:pt x="16092" y="0"/>
                  <a:pt x="35912" y="0"/>
                </a:cubicBezTo>
                <a:close/>
              </a:path>
            </a:pathLst>
          </a:custGeom>
          <a:solidFill>
            <a:srgbClr val="4DB6AC">
              <a:alpha val="40000"/>
            </a:srgbClr>
          </a:solidFill>
          <a:ln/>
        </p:spPr>
      </p:sp>
      <p:sp>
        <p:nvSpPr>
          <p:cNvPr id="42" name="Text 40"/>
          <p:cNvSpPr/>
          <p:nvPr/>
        </p:nvSpPr>
        <p:spPr>
          <a:xfrm>
            <a:off x="7376755" y="2576660"/>
            <a:ext cx="3250003" cy="215470"/>
          </a:xfrm>
          <a:prstGeom prst="rect">
            <a:avLst/>
          </a:prstGeom>
          <a:noFill/>
          <a:ln/>
        </p:spPr>
        <p:txBody>
          <a:bodyPr wrap="square" lIns="0" tIns="0" rIns="0" bIns="0" rtlCol="0" anchor="ctr"/>
          <a:lstStyle/>
          <a:p>
            <a:pPr algn="ctr">
              <a:lnSpc>
                <a:spcPct val="110000"/>
              </a:lnSpc>
            </a:pPr>
            <a:r>
              <a:rPr lang="en-US" sz="848" dirty="0">
                <a:solidFill>
                  <a:srgbClr val="ECEFF1"/>
                </a:solidFill>
                <a:latin typeface="Quattrocento Sans" pitchFamily="34" charset="0"/>
                <a:ea typeface="Quattrocento Sans" pitchFamily="34" charset="-122"/>
                <a:cs typeface="Quattrocento Sans" pitchFamily="34" charset="-120"/>
              </a:rPr>
              <a:t>Layer 4-6: FROZEN (Mid features)</a:t>
            </a:r>
            <a:endParaRPr lang="en-US" sz="1600" dirty="0"/>
          </a:p>
        </p:txBody>
      </p:sp>
      <p:sp>
        <p:nvSpPr>
          <p:cNvPr id="43" name="Shape 41"/>
          <p:cNvSpPr/>
          <p:nvPr/>
        </p:nvSpPr>
        <p:spPr>
          <a:xfrm>
            <a:off x="7403689" y="2828041"/>
            <a:ext cx="3196135" cy="215470"/>
          </a:xfrm>
          <a:custGeom>
            <a:avLst/>
            <a:gdLst/>
            <a:ahLst/>
            <a:cxnLst/>
            <a:rect l="l" t="t" r="r" b="b"/>
            <a:pathLst>
              <a:path w="3196135" h="215470">
                <a:moveTo>
                  <a:pt x="35912" y="0"/>
                </a:moveTo>
                <a:lnTo>
                  <a:pt x="3160223" y="0"/>
                </a:lnTo>
                <a:cubicBezTo>
                  <a:pt x="3180057" y="0"/>
                  <a:pt x="3196135" y="16079"/>
                  <a:pt x="3196135" y="35912"/>
                </a:cubicBezTo>
                <a:lnTo>
                  <a:pt x="3196135" y="179557"/>
                </a:lnTo>
                <a:cubicBezTo>
                  <a:pt x="3196135" y="199391"/>
                  <a:pt x="3180057" y="215470"/>
                  <a:pt x="3160223" y="215470"/>
                </a:cubicBezTo>
                <a:lnTo>
                  <a:pt x="35912" y="215470"/>
                </a:lnTo>
                <a:cubicBezTo>
                  <a:pt x="16092" y="215470"/>
                  <a:pt x="0" y="199378"/>
                  <a:pt x="0" y="179557"/>
                </a:cubicBezTo>
                <a:lnTo>
                  <a:pt x="0" y="35912"/>
                </a:lnTo>
                <a:cubicBezTo>
                  <a:pt x="0" y="16092"/>
                  <a:pt x="16092" y="0"/>
                  <a:pt x="35912" y="0"/>
                </a:cubicBezTo>
                <a:close/>
              </a:path>
            </a:pathLst>
          </a:custGeom>
          <a:solidFill>
            <a:srgbClr val="FFD54F">
              <a:alpha val="40000"/>
            </a:srgbClr>
          </a:solidFill>
          <a:ln/>
        </p:spPr>
      </p:sp>
      <p:sp>
        <p:nvSpPr>
          <p:cNvPr id="44" name="Text 42"/>
          <p:cNvSpPr/>
          <p:nvPr/>
        </p:nvSpPr>
        <p:spPr>
          <a:xfrm>
            <a:off x="7376755" y="2828041"/>
            <a:ext cx="3250003" cy="215470"/>
          </a:xfrm>
          <a:prstGeom prst="rect">
            <a:avLst/>
          </a:prstGeom>
          <a:noFill/>
          <a:ln/>
        </p:spPr>
        <p:txBody>
          <a:bodyPr wrap="square" lIns="0" tIns="0" rIns="0" bIns="0" rtlCol="0" anchor="ctr"/>
          <a:lstStyle/>
          <a:p>
            <a:pPr algn="ctr">
              <a:lnSpc>
                <a:spcPct val="110000"/>
              </a:lnSpc>
            </a:pPr>
            <a:r>
              <a:rPr lang="en-US" sz="848" b="1" dirty="0">
                <a:solidFill>
                  <a:srgbClr val="1A1D21"/>
                </a:solidFill>
                <a:latin typeface="Quattrocento Sans" pitchFamily="34" charset="0"/>
                <a:ea typeface="Quattrocento Sans" pitchFamily="34" charset="-122"/>
                <a:cs typeface="Quattrocento Sans" pitchFamily="34" charset="-120"/>
              </a:rPr>
              <a:t>Layer 7-9: TRAINABLE (Task-specific)</a:t>
            </a:r>
            <a:endParaRPr lang="en-US" sz="1600" dirty="0"/>
          </a:p>
        </p:txBody>
      </p:sp>
      <p:sp>
        <p:nvSpPr>
          <p:cNvPr id="45" name="Shape 43"/>
          <p:cNvSpPr/>
          <p:nvPr/>
        </p:nvSpPr>
        <p:spPr>
          <a:xfrm>
            <a:off x="7403689" y="3079423"/>
            <a:ext cx="3196135" cy="215470"/>
          </a:xfrm>
          <a:custGeom>
            <a:avLst/>
            <a:gdLst/>
            <a:ahLst/>
            <a:cxnLst/>
            <a:rect l="l" t="t" r="r" b="b"/>
            <a:pathLst>
              <a:path w="3196135" h="215470">
                <a:moveTo>
                  <a:pt x="35912" y="0"/>
                </a:moveTo>
                <a:lnTo>
                  <a:pt x="3160223" y="0"/>
                </a:lnTo>
                <a:cubicBezTo>
                  <a:pt x="3180057" y="0"/>
                  <a:pt x="3196135" y="16079"/>
                  <a:pt x="3196135" y="35912"/>
                </a:cubicBezTo>
                <a:lnTo>
                  <a:pt x="3196135" y="179557"/>
                </a:lnTo>
                <a:cubicBezTo>
                  <a:pt x="3196135" y="199391"/>
                  <a:pt x="3180057" y="215470"/>
                  <a:pt x="3160223" y="215470"/>
                </a:cubicBezTo>
                <a:lnTo>
                  <a:pt x="35912" y="215470"/>
                </a:lnTo>
                <a:cubicBezTo>
                  <a:pt x="16092" y="215470"/>
                  <a:pt x="0" y="199378"/>
                  <a:pt x="0" y="179557"/>
                </a:cubicBezTo>
                <a:lnTo>
                  <a:pt x="0" y="35912"/>
                </a:lnTo>
                <a:cubicBezTo>
                  <a:pt x="0" y="16092"/>
                  <a:pt x="16092" y="0"/>
                  <a:pt x="35912" y="0"/>
                </a:cubicBezTo>
                <a:close/>
              </a:path>
            </a:pathLst>
          </a:custGeom>
          <a:solidFill>
            <a:srgbClr val="FFD54F">
              <a:alpha val="40000"/>
            </a:srgbClr>
          </a:solidFill>
          <a:ln/>
        </p:spPr>
      </p:sp>
      <p:sp>
        <p:nvSpPr>
          <p:cNvPr id="46" name="Text 44"/>
          <p:cNvSpPr/>
          <p:nvPr/>
        </p:nvSpPr>
        <p:spPr>
          <a:xfrm>
            <a:off x="7376755" y="3079423"/>
            <a:ext cx="3250003" cy="215470"/>
          </a:xfrm>
          <a:prstGeom prst="rect">
            <a:avLst/>
          </a:prstGeom>
          <a:noFill/>
          <a:ln/>
        </p:spPr>
        <p:txBody>
          <a:bodyPr wrap="square" lIns="0" tIns="0" rIns="0" bIns="0" rtlCol="0" anchor="ctr"/>
          <a:lstStyle/>
          <a:p>
            <a:pPr algn="ctr">
              <a:lnSpc>
                <a:spcPct val="110000"/>
              </a:lnSpc>
            </a:pPr>
            <a:r>
              <a:rPr lang="en-US" sz="848" b="1" dirty="0">
                <a:solidFill>
                  <a:srgbClr val="1A1D21"/>
                </a:solidFill>
                <a:latin typeface="Quattrocento Sans" pitchFamily="34" charset="0"/>
                <a:ea typeface="Quattrocento Sans" pitchFamily="34" charset="-122"/>
                <a:cs typeface="Quattrocento Sans" pitchFamily="34" charset="-120"/>
              </a:rPr>
              <a:t>Output: TRAINABLE (New classes)</a:t>
            </a:r>
            <a:endParaRPr lang="en-US" sz="1600" dirty="0"/>
          </a:p>
        </p:txBody>
      </p:sp>
      <p:sp>
        <p:nvSpPr>
          <p:cNvPr id="47" name="Shape 45"/>
          <p:cNvSpPr/>
          <p:nvPr/>
        </p:nvSpPr>
        <p:spPr>
          <a:xfrm>
            <a:off x="7277998" y="3492406"/>
            <a:ext cx="1669891" cy="574586"/>
          </a:xfrm>
          <a:custGeom>
            <a:avLst/>
            <a:gdLst/>
            <a:ahLst/>
            <a:cxnLst/>
            <a:rect l="l" t="t" r="r" b="b"/>
            <a:pathLst>
              <a:path w="1669891" h="574586">
                <a:moveTo>
                  <a:pt x="71823" y="0"/>
                </a:moveTo>
                <a:lnTo>
                  <a:pt x="1598068" y="0"/>
                </a:lnTo>
                <a:cubicBezTo>
                  <a:pt x="1637735" y="0"/>
                  <a:pt x="1669891" y="32156"/>
                  <a:pt x="1669891" y="71823"/>
                </a:cubicBezTo>
                <a:lnTo>
                  <a:pt x="1669891" y="502763"/>
                </a:lnTo>
                <a:cubicBezTo>
                  <a:pt x="1669891" y="542430"/>
                  <a:pt x="1637735" y="574586"/>
                  <a:pt x="1598068" y="574586"/>
                </a:cubicBezTo>
                <a:lnTo>
                  <a:pt x="71823" y="574586"/>
                </a:lnTo>
                <a:cubicBezTo>
                  <a:pt x="32156" y="574586"/>
                  <a:pt x="0" y="542430"/>
                  <a:pt x="0" y="502763"/>
                </a:cubicBezTo>
                <a:lnTo>
                  <a:pt x="0" y="71823"/>
                </a:lnTo>
                <a:cubicBezTo>
                  <a:pt x="0" y="32156"/>
                  <a:pt x="32156" y="0"/>
                  <a:pt x="71823" y="0"/>
                </a:cubicBezTo>
                <a:close/>
              </a:path>
            </a:pathLst>
          </a:custGeom>
          <a:solidFill>
            <a:srgbClr val="4DB6AC">
              <a:alpha val="10196"/>
            </a:srgbClr>
          </a:solidFill>
          <a:ln/>
        </p:spPr>
      </p:sp>
      <p:sp>
        <p:nvSpPr>
          <p:cNvPr id="48" name="Text 46"/>
          <p:cNvSpPr/>
          <p:nvPr/>
        </p:nvSpPr>
        <p:spPr>
          <a:xfrm>
            <a:off x="7295954" y="3564230"/>
            <a:ext cx="1633979" cy="287293"/>
          </a:xfrm>
          <a:prstGeom prst="rect">
            <a:avLst/>
          </a:prstGeom>
          <a:noFill/>
          <a:ln/>
        </p:spPr>
        <p:txBody>
          <a:bodyPr wrap="square" lIns="0" tIns="0" rIns="0" bIns="0" rtlCol="0" anchor="ctr"/>
          <a:lstStyle/>
          <a:p>
            <a:pPr algn="ctr">
              <a:lnSpc>
                <a:spcPct val="110000"/>
              </a:lnSpc>
            </a:pPr>
            <a:r>
              <a:rPr lang="en-US" sz="1697" b="1" dirty="0">
                <a:solidFill>
                  <a:srgbClr val="4DB6AC"/>
                </a:solidFill>
                <a:latin typeface="Liter" pitchFamily="34" charset="0"/>
                <a:ea typeface="Liter" pitchFamily="34" charset="-122"/>
                <a:cs typeface="Liter" pitchFamily="34" charset="-120"/>
              </a:rPr>
              <a:t>70-90%</a:t>
            </a:r>
            <a:endParaRPr lang="en-US" sz="1600" dirty="0"/>
          </a:p>
        </p:txBody>
      </p:sp>
      <p:sp>
        <p:nvSpPr>
          <p:cNvPr id="49" name="Text 47"/>
          <p:cNvSpPr/>
          <p:nvPr/>
        </p:nvSpPr>
        <p:spPr>
          <a:xfrm>
            <a:off x="7322887" y="3851523"/>
            <a:ext cx="1580112" cy="143647"/>
          </a:xfrm>
          <a:prstGeom prst="rect">
            <a:avLst/>
          </a:prstGeom>
          <a:noFill/>
          <a:ln/>
        </p:spPr>
        <p:txBody>
          <a:bodyPr wrap="square" lIns="0" tIns="0" rIns="0" bIns="0" rtlCol="0" anchor="ctr"/>
          <a:lstStyle/>
          <a:p>
            <a:pPr algn="ctr">
              <a:lnSpc>
                <a:spcPct val="110000"/>
              </a:lnSpc>
            </a:pPr>
            <a:r>
              <a:rPr lang="en-US" sz="848" dirty="0">
                <a:solidFill>
                  <a:srgbClr val="ECEFF1"/>
                </a:solidFill>
                <a:latin typeface="Quattrocento Sans" pitchFamily="34" charset="0"/>
                <a:ea typeface="Quattrocento Sans" pitchFamily="34" charset="-122"/>
                <a:cs typeface="Quattrocento Sans" pitchFamily="34" charset="-120"/>
              </a:rPr>
              <a:t>Layers Frozen</a:t>
            </a:r>
            <a:endParaRPr lang="en-US" sz="1600" dirty="0"/>
          </a:p>
        </p:txBody>
      </p:sp>
      <p:sp>
        <p:nvSpPr>
          <p:cNvPr id="50" name="Shape 48"/>
          <p:cNvSpPr/>
          <p:nvPr/>
        </p:nvSpPr>
        <p:spPr>
          <a:xfrm>
            <a:off x="9055624" y="3492406"/>
            <a:ext cx="1669891" cy="574586"/>
          </a:xfrm>
          <a:custGeom>
            <a:avLst/>
            <a:gdLst/>
            <a:ahLst/>
            <a:cxnLst/>
            <a:rect l="l" t="t" r="r" b="b"/>
            <a:pathLst>
              <a:path w="1669891" h="574586">
                <a:moveTo>
                  <a:pt x="71823" y="0"/>
                </a:moveTo>
                <a:lnTo>
                  <a:pt x="1598068" y="0"/>
                </a:lnTo>
                <a:cubicBezTo>
                  <a:pt x="1637735" y="0"/>
                  <a:pt x="1669891" y="32156"/>
                  <a:pt x="1669891" y="71823"/>
                </a:cubicBezTo>
                <a:lnTo>
                  <a:pt x="1669891" y="502763"/>
                </a:lnTo>
                <a:cubicBezTo>
                  <a:pt x="1669891" y="542430"/>
                  <a:pt x="1637735" y="574586"/>
                  <a:pt x="1598068" y="574586"/>
                </a:cubicBezTo>
                <a:lnTo>
                  <a:pt x="71823" y="574586"/>
                </a:lnTo>
                <a:cubicBezTo>
                  <a:pt x="32156" y="574586"/>
                  <a:pt x="0" y="542430"/>
                  <a:pt x="0" y="502763"/>
                </a:cubicBezTo>
                <a:lnTo>
                  <a:pt x="0" y="71823"/>
                </a:lnTo>
                <a:cubicBezTo>
                  <a:pt x="0" y="32156"/>
                  <a:pt x="32156" y="0"/>
                  <a:pt x="71823" y="0"/>
                </a:cubicBezTo>
                <a:close/>
              </a:path>
            </a:pathLst>
          </a:custGeom>
          <a:solidFill>
            <a:srgbClr val="FFD54F">
              <a:alpha val="10196"/>
            </a:srgbClr>
          </a:solidFill>
          <a:ln/>
        </p:spPr>
      </p:sp>
      <p:sp>
        <p:nvSpPr>
          <p:cNvPr id="51" name="Text 49"/>
          <p:cNvSpPr/>
          <p:nvPr/>
        </p:nvSpPr>
        <p:spPr>
          <a:xfrm>
            <a:off x="9073580" y="3564230"/>
            <a:ext cx="1633979" cy="287293"/>
          </a:xfrm>
          <a:prstGeom prst="rect">
            <a:avLst/>
          </a:prstGeom>
          <a:noFill/>
          <a:ln/>
        </p:spPr>
        <p:txBody>
          <a:bodyPr wrap="square" lIns="0" tIns="0" rIns="0" bIns="0" rtlCol="0" anchor="ctr"/>
          <a:lstStyle/>
          <a:p>
            <a:pPr algn="ctr">
              <a:lnSpc>
                <a:spcPct val="110000"/>
              </a:lnSpc>
            </a:pPr>
            <a:r>
              <a:rPr lang="en-US" sz="1697" b="1" dirty="0">
                <a:solidFill>
                  <a:srgbClr val="FFD54F"/>
                </a:solidFill>
                <a:latin typeface="Liter" pitchFamily="34" charset="0"/>
                <a:ea typeface="Liter" pitchFamily="34" charset="-122"/>
                <a:cs typeface="Liter" pitchFamily="34" charset="-120"/>
              </a:rPr>
              <a:t>10-30%</a:t>
            </a:r>
            <a:endParaRPr lang="en-US" sz="1600" dirty="0"/>
          </a:p>
        </p:txBody>
      </p:sp>
      <p:sp>
        <p:nvSpPr>
          <p:cNvPr id="52" name="Text 50"/>
          <p:cNvSpPr/>
          <p:nvPr/>
        </p:nvSpPr>
        <p:spPr>
          <a:xfrm>
            <a:off x="9100513" y="3851523"/>
            <a:ext cx="1580112" cy="143647"/>
          </a:xfrm>
          <a:prstGeom prst="rect">
            <a:avLst/>
          </a:prstGeom>
          <a:noFill/>
          <a:ln/>
        </p:spPr>
        <p:txBody>
          <a:bodyPr wrap="square" lIns="0" tIns="0" rIns="0" bIns="0" rtlCol="0" anchor="ctr"/>
          <a:lstStyle/>
          <a:p>
            <a:pPr algn="ctr">
              <a:lnSpc>
                <a:spcPct val="110000"/>
              </a:lnSpc>
            </a:pPr>
            <a:r>
              <a:rPr lang="en-US" sz="848" dirty="0">
                <a:solidFill>
                  <a:srgbClr val="ECEFF1"/>
                </a:solidFill>
                <a:latin typeface="Quattrocento Sans" pitchFamily="34" charset="0"/>
                <a:ea typeface="Quattrocento Sans" pitchFamily="34" charset="-122"/>
                <a:cs typeface="Quattrocento Sans" pitchFamily="34" charset="-120"/>
              </a:rPr>
              <a:t>Layers Fine-tuned</a:t>
            </a:r>
            <a:endParaRPr lang="en-US" sz="1600" dirty="0"/>
          </a:p>
        </p:txBody>
      </p:sp>
      <p:sp>
        <p:nvSpPr>
          <p:cNvPr id="53" name="Shape 51"/>
          <p:cNvSpPr/>
          <p:nvPr/>
        </p:nvSpPr>
        <p:spPr>
          <a:xfrm>
            <a:off x="6173294" y="4260018"/>
            <a:ext cx="5656082" cy="1194062"/>
          </a:xfrm>
          <a:custGeom>
            <a:avLst/>
            <a:gdLst/>
            <a:ahLst/>
            <a:cxnLst/>
            <a:rect l="l" t="t" r="r" b="b"/>
            <a:pathLst>
              <a:path w="5656082" h="1194062">
                <a:moveTo>
                  <a:pt x="71823" y="0"/>
                </a:moveTo>
                <a:lnTo>
                  <a:pt x="5584260" y="0"/>
                </a:lnTo>
                <a:cubicBezTo>
                  <a:pt x="5623926" y="0"/>
                  <a:pt x="5656082" y="32156"/>
                  <a:pt x="5656082" y="71823"/>
                </a:cubicBezTo>
                <a:lnTo>
                  <a:pt x="5656082" y="1122239"/>
                </a:lnTo>
                <a:cubicBezTo>
                  <a:pt x="5656082" y="1161906"/>
                  <a:pt x="5623926" y="1194062"/>
                  <a:pt x="5584260" y="1194062"/>
                </a:cubicBezTo>
                <a:lnTo>
                  <a:pt x="71823" y="1194062"/>
                </a:lnTo>
                <a:cubicBezTo>
                  <a:pt x="32156" y="1194062"/>
                  <a:pt x="0" y="1161906"/>
                  <a:pt x="0" y="1122239"/>
                </a:cubicBezTo>
                <a:lnTo>
                  <a:pt x="0" y="71823"/>
                </a:lnTo>
                <a:cubicBezTo>
                  <a:pt x="0" y="32183"/>
                  <a:pt x="32183" y="0"/>
                  <a:pt x="71823" y="0"/>
                </a:cubicBezTo>
                <a:close/>
              </a:path>
            </a:pathLst>
          </a:custGeom>
          <a:solidFill>
            <a:srgbClr val="FFD54F">
              <a:alpha val="10196"/>
            </a:srgbClr>
          </a:solidFill>
          <a:ln w="12700">
            <a:solidFill>
              <a:srgbClr val="FFD54F">
                <a:alpha val="30196"/>
              </a:srgbClr>
            </a:solidFill>
            <a:prstDash val="solid"/>
          </a:ln>
        </p:spPr>
      </p:sp>
      <p:sp>
        <p:nvSpPr>
          <p:cNvPr id="54" name="Text 52"/>
          <p:cNvSpPr/>
          <p:nvPr/>
        </p:nvSpPr>
        <p:spPr>
          <a:xfrm>
            <a:off x="6285518" y="4372242"/>
            <a:ext cx="5503458"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Popular Pre-trained Models</a:t>
            </a:r>
            <a:endParaRPr lang="en-US" sz="1600" dirty="0"/>
          </a:p>
        </p:txBody>
      </p:sp>
      <p:sp>
        <p:nvSpPr>
          <p:cNvPr id="55" name="Shape 53"/>
          <p:cNvSpPr/>
          <p:nvPr/>
        </p:nvSpPr>
        <p:spPr>
          <a:xfrm>
            <a:off x="6285518" y="4713402"/>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4DB6AC"/>
          </a:solidFill>
          <a:ln/>
        </p:spPr>
      </p:sp>
      <p:sp>
        <p:nvSpPr>
          <p:cNvPr id="56" name="Text 54"/>
          <p:cNvSpPr/>
          <p:nvPr/>
        </p:nvSpPr>
        <p:spPr>
          <a:xfrm>
            <a:off x="6429165" y="4659535"/>
            <a:ext cx="583564"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VGG16/19</a:t>
            </a:r>
            <a:endParaRPr lang="en-US" sz="1600" dirty="0"/>
          </a:p>
        </p:txBody>
      </p:sp>
      <p:sp>
        <p:nvSpPr>
          <p:cNvPr id="57" name="Shape 55"/>
          <p:cNvSpPr/>
          <p:nvPr/>
        </p:nvSpPr>
        <p:spPr>
          <a:xfrm>
            <a:off x="9037668" y="4713402"/>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4DB6AC"/>
          </a:solidFill>
          <a:ln/>
        </p:spPr>
      </p:sp>
      <p:sp>
        <p:nvSpPr>
          <p:cNvPr id="58" name="Text 56"/>
          <p:cNvSpPr/>
          <p:nvPr/>
        </p:nvSpPr>
        <p:spPr>
          <a:xfrm>
            <a:off x="9181314" y="4659535"/>
            <a:ext cx="448895"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ResNet</a:t>
            </a:r>
            <a:endParaRPr lang="en-US" sz="1600" dirty="0"/>
          </a:p>
        </p:txBody>
      </p:sp>
      <p:sp>
        <p:nvSpPr>
          <p:cNvPr id="59" name="Shape 57"/>
          <p:cNvSpPr/>
          <p:nvPr/>
        </p:nvSpPr>
        <p:spPr>
          <a:xfrm>
            <a:off x="6285518" y="4964784"/>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FFD54F"/>
          </a:solidFill>
          <a:ln/>
        </p:spPr>
      </p:sp>
      <p:sp>
        <p:nvSpPr>
          <p:cNvPr id="60" name="Text 58"/>
          <p:cNvSpPr/>
          <p:nvPr/>
        </p:nvSpPr>
        <p:spPr>
          <a:xfrm>
            <a:off x="6429165" y="4910916"/>
            <a:ext cx="574586"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Inception</a:t>
            </a:r>
            <a:endParaRPr lang="en-US" sz="1600" dirty="0"/>
          </a:p>
        </p:txBody>
      </p:sp>
      <p:sp>
        <p:nvSpPr>
          <p:cNvPr id="61" name="Shape 59"/>
          <p:cNvSpPr/>
          <p:nvPr/>
        </p:nvSpPr>
        <p:spPr>
          <a:xfrm>
            <a:off x="9037668" y="4964784"/>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FFD54F"/>
          </a:solidFill>
          <a:ln/>
        </p:spPr>
      </p:sp>
      <p:sp>
        <p:nvSpPr>
          <p:cNvPr id="62" name="Text 60"/>
          <p:cNvSpPr/>
          <p:nvPr/>
        </p:nvSpPr>
        <p:spPr>
          <a:xfrm>
            <a:off x="9181314" y="4910916"/>
            <a:ext cx="628454"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MobileNet</a:t>
            </a:r>
            <a:endParaRPr lang="en-US" sz="1600" dirty="0"/>
          </a:p>
        </p:txBody>
      </p:sp>
      <p:sp>
        <p:nvSpPr>
          <p:cNvPr id="63" name="Shape 61"/>
          <p:cNvSpPr/>
          <p:nvPr/>
        </p:nvSpPr>
        <p:spPr>
          <a:xfrm>
            <a:off x="6285518" y="5216165"/>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4DB6AC"/>
          </a:solidFill>
          <a:ln/>
        </p:spPr>
      </p:sp>
      <p:sp>
        <p:nvSpPr>
          <p:cNvPr id="64" name="Text 62"/>
          <p:cNvSpPr/>
          <p:nvPr/>
        </p:nvSpPr>
        <p:spPr>
          <a:xfrm>
            <a:off x="6429165" y="5162297"/>
            <a:ext cx="341161"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BERT</a:t>
            </a:r>
            <a:endParaRPr lang="en-US" sz="1600" dirty="0"/>
          </a:p>
        </p:txBody>
      </p:sp>
      <p:sp>
        <p:nvSpPr>
          <p:cNvPr id="65" name="Shape 63"/>
          <p:cNvSpPr/>
          <p:nvPr/>
        </p:nvSpPr>
        <p:spPr>
          <a:xfrm>
            <a:off x="9037668" y="5216165"/>
            <a:ext cx="71823" cy="71823"/>
          </a:xfrm>
          <a:custGeom>
            <a:avLst/>
            <a:gdLst/>
            <a:ahLst/>
            <a:cxnLst/>
            <a:rect l="l" t="t" r="r" b="b"/>
            <a:pathLst>
              <a:path w="71823" h="71823">
                <a:moveTo>
                  <a:pt x="35912" y="0"/>
                </a:moveTo>
                <a:lnTo>
                  <a:pt x="35912" y="0"/>
                </a:lnTo>
                <a:cubicBezTo>
                  <a:pt x="55745" y="0"/>
                  <a:pt x="71823" y="16078"/>
                  <a:pt x="71823" y="35912"/>
                </a:cubicBezTo>
                <a:lnTo>
                  <a:pt x="71823" y="35912"/>
                </a:lnTo>
                <a:cubicBezTo>
                  <a:pt x="71823" y="55745"/>
                  <a:pt x="55745" y="71823"/>
                  <a:pt x="35912" y="71823"/>
                </a:cubicBezTo>
                <a:lnTo>
                  <a:pt x="35912" y="71823"/>
                </a:lnTo>
                <a:cubicBezTo>
                  <a:pt x="16078" y="71823"/>
                  <a:pt x="0" y="55745"/>
                  <a:pt x="0" y="35912"/>
                </a:cubicBezTo>
                <a:lnTo>
                  <a:pt x="0" y="35912"/>
                </a:lnTo>
                <a:cubicBezTo>
                  <a:pt x="0" y="16078"/>
                  <a:pt x="16078" y="0"/>
                  <a:pt x="35912" y="0"/>
                </a:cubicBezTo>
                <a:close/>
              </a:path>
            </a:pathLst>
          </a:custGeom>
          <a:solidFill>
            <a:srgbClr val="4DB6AC"/>
          </a:solidFill>
          <a:ln/>
        </p:spPr>
      </p:sp>
      <p:sp>
        <p:nvSpPr>
          <p:cNvPr id="66" name="Text 64"/>
          <p:cNvSpPr/>
          <p:nvPr/>
        </p:nvSpPr>
        <p:spPr>
          <a:xfrm>
            <a:off x="9181314" y="5162297"/>
            <a:ext cx="278315" cy="179558"/>
          </a:xfrm>
          <a:prstGeom prst="rect">
            <a:avLst/>
          </a:prstGeom>
          <a:noFill/>
          <a:ln/>
        </p:spPr>
        <p:txBody>
          <a:bodyPr wrap="square" lIns="0" tIns="0" rIns="0" bIns="0" rtlCol="0" anchor="ctr"/>
          <a:lstStyle/>
          <a:p>
            <a:pPr>
              <a:lnSpc>
                <a:spcPct val="120000"/>
              </a:lnSpc>
            </a:pPr>
            <a:r>
              <a:rPr lang="en-US" sz="990" dirty="0">
                <a:solidFill>
                  <a:srgbClr val="ECEFF1"/>
                </a:solidFill>
                <a:latin typeface="Quattrocento Sans" pitchFamily="34" charset="0"/>
                <a:ea typeface="Quattrocento Sans" pitchFamily="34" charset="-122"/>
                <a:cs typeface="Quattrocento Sans" pitchFamily="34" charset="-120"/>
              </a:rPr>
              <a:t>GPT</a:t>
            </a:r>
            <a:endParaRPr lang="en-US" sz="1600" dirty="0"/>
          </a:p>
        </p:txBody>
      </p:sp>
      <p:sp>
        <p:nvSpPr>
          <p:cNvPr id="67" name="Shape 65"/>
          <p:cNvSpPr/>
          <p:nvPr/>
        </p:nvSpPr>
        <p:spPr>
          <a:xfrm>
            <a:off x="6173294" y="5534881"/>
            <a:ext cx="5656082" cy="1122239"/>
          </a:xfrm>
          <a:custGeom>
            <a:avLst/>
            <a:gdLst/>
            <a:ahLst/>
            <a:cxnLst/>
            <a:rect l="l" t="t" r="r" b="b"/>
            <a:pathLst>
              <a:path w="5656082" h="1122239">
                <a:moveTo>
                  <a:pt x="71823" y="0"/>
                </a:moveTo>
                <a:lnTo>
                  <a:pt x="5584259" y="0"/>
                </a:lnTo>
                <a:cubicBezTo>
                  <a:pt x="5623926" y="0"/>
                  <a:pt x="5656082" y="32156"/>
                  <a:pt x="5656082" y="71823"/>
                </a:cubicBezTo>
                <a:lnTo>
                  <a:pt x="5656082" y="1050415"/>
                </a:lnTo>
                <a:cubicBezTo>
                  <a:pt x="5656082" y="1090082"/>
                  <a:pt x="5623926" y="1122239"/>
                  <a:pt x="5584259" y="1122239"/>
                </a:cubicBezTo>
                <a:lnTo>
                  <a:pt x="71823" y="1122239"/>
                </a:lnTo>
                <a:cubicBezTo>
                  <a:pt x="32156" y="1122239"/>
                  <a:pt x="0" y="1090082"/>
                  <a:pt x="0" y="1050415"/>
                </a:cubicBezTo>
                <a:lnTo>
                  <a:pt x="0" y="71823"/>
                </a:lnTo>
                <a:cubicBezTo>
                  <a:pt x="0" y="32156"/>
                  <a:pt x="32156" y="0"/>
                  <a:pt x="71823" y="0"/>
                </a:cubicBezTo>
                <a:close/>
              </a:path>
            </a:pathLst>
          </a:custGeom>
          <a:solidFill>
            <a:srgbClr val="4DB6AC">
              <a:alpha val="10196"/>
            </a:srgbClr>
          </a:solidFill>
          <a:ln w="12700">
            <a:solidFill>
              <a:srgbClr val="4DB6AC">
                <a:alpha val="30196"/>
              </a:srgbClr>
            </a:solidFill>
            <a:prstDash val="solid"/>
          </a:ln>
        </p:spPr>
      </p:sp>
      <p:sp>
        <p:nvSpPr>
          <p:cNvPr id="68" name="Text 66"/>
          <p:cNvSpPr/>
          <p:nvPr/>
        </p:nvSpPr>
        <p:spPr>
          <a:xfrm>
            <a:off x="6285518" y="5647105"/>
            <a:ext cx="5503458" cy="215470"/>
          </a:xfrm>
          <a:prstGeom prst="rect">
            <a:avLst/>
          </a:prstGeom>
          <a:noFill/>
          <a:ln/>
        </p:spPr>
        <p:txBody>
          <a:bodyPr wrap="square" lIns="0" tIns="0" rIns="0" bIns="0" rtlCol="0" anchor="ctr"/>
          <a:lstStyle/>
          <a:p>
            <a:pPr>
              <a:lnSpc>
                <a:spcPct val="120000"/>
              </a:lnSpc>
            </a:pPr>
            <a:r>
              <a:rPr lang="en-US" sz="1131" b="1" dirty="0">
                <a:solidFill>
                  <a:srgbClr val="ECEFF1"/>
                </a:solidFill>
                <a:latin typeface="Liter" pitchFamily="34" charset="0"/>
                <a:ea typeface="Liter" pitchFamily="34" charset="-122"/>
                <a:cs typeface="Liter" pitchFamily="34" charset="-120"/>
              </a:rPr>
              <a:t>When to Use</a:t>
            </a:r>
            <a:endParaRPr lang="en-US" sz="1600" dirty="0"/>
          </a:p>
        </p:txBody>
      </p:sp>
      <p:sp>
        <p:nvSpPr>
          <p:cNvPr id="69" name="Text 67"/>
          <p:cNvSpPr/>
          <p:nvPr/>
        </p:nvSpPr>
        <p:spPr>
          <a:xfrm>
            <a:off x="6285518" y="5934398"/>
            <a:ext cx="5494480" cy="179558"/>
          </a:xfrm>
          <a:prstGeom prst="rect">
            <a:avLst/>
          </a:prstGeom>
          <a:noFill/>
          <a:ln/>
        </p:spPr>
        <p:txBody>
          <a:bodyPr wrap="square" lIns="0" tIns="0" rIns="0" bIns="0" rtlCol="0" anchor="ctr"/>
          <a:lstStyle/>
          <a:p>
            <a:pPr>
              <a:lnSpc>
                <a:spcPct val="120000"/>
              </a:lnSpc>
            </a:pPr>
            <a:r>
              <a:rPr lang="en-US" sz="990" b="1" dirty="0">
                <a:solidFill>
                  <a:srgbClr val="4DB6AC"/>
                </a:solidFill>
                <a:latin typeface="Quattrocento Sans" pitchFamily="34" charset="0"/>
                <a:ea typeface="Quattrocento Sans" pitchFamily="34" charset="-122"/>
                <a:cs typeface="Quattrocento Sans" pitchFamily="34" charset="-120"/>
              </a:rPr>
              <a:t>• Small Dataset:</a:t>
            </a:r>
            <a:r>
              <a:rPr lang="en-US" sz="990" dirty="0">
                <a:solidFill>
                  <a:srgbClr val="ECEFF1"/>
                </a:solidFill>
                <a:latin typeface="Quattrocento Sans" pitchFamily="34" charset="0"/>
                <a:ea typeface="Quattrocento Sans" pitchFamily="34" charset="-122"/>
                <a:cs typeface="Quattrocento Sans" pitchFamily="34" charset="-120"/>
              </a:rPr>
              <a:t> &lt; 10,000 samples</a:t>
            </a:r>
            <a:endParaRPr lang="en-US" sz="1600" dirty="0"/>
          </a:p>
        </p:txBody>
      </p:sp>
      <p:sp>
        <p:nvSpPr>
          <p:cNvPr id="70" name="Text 68"/>
          <p:cNvSpPr/>
          <p:nvPr/>
        </p:nvSpPr>
        <p:spPr>
          <a:xfrm>
            <a:off x="6285518" y="6149867"/>
            <a:ext cx="5494480" cy="179558"/>
          </a:xfrm>
          <a:prstGeom prst="rect">
            <a:avLst/>
          </a:prstGeom>
          <a:noFill/>
          <a:ln/>
        </p:spPr>
        <p:txBody>
          <a:bodyPr wrap="square" lIns="0" tIns="0" rIns="0" bIns="0" rtlCol="0" anchor="ctr"/>
          <a:lstStyle/>
          <a:p>
            <a:pPr>
              <a:lnSpc>
                <a:spcPct val="120000"/>
              </a:lnSpc>
            </a:pPr>
            <a:r>
              <a:rPr lang="en-US" sz="990" b="1" dirty="0">
                <a:solidFill>
                  <a:srgbClr val="FFD54F"/>
                </a:solidFill>
                <a:latin typeface="Quattrocento Sans" pitchFamily="34" charset="0"/>
                <a:ea typeface="Quattrocento Sans" pitchFamily="34" charset="-122"/>
                <a:cs typeface="Quattrocento Sans" pitchFamily="34" charset="-120"/>
              </a:rPr>
              <a:t>• Similar Task:</a:t>
            </a:r>
            <a:r>
              <a:rPr lang="en-US" sz="990" dirty="0">
                <a:solidFill>
                  <a:srgbClr val="ECEFF1"/>
                </a:solidFill>
                <a:latin typeface="Quattrocento Sans" pitchFamily="34" charset="0"/>
                <a:ea typeface="Quattrocento Sans" pitchFamily="34" charset="-122"/>
                <a:cs typeface="Quattrocento Sans" pitchFamily="34" charset="-120"/>
              </a:rPr>
              <a:t> Related domain</a:t>
            </a:r>
            <a:endParaRPr lang="en-US" sz="1600" dirty="0"/>
          </a:p>
        </p:txBody>
      </p:sp>
      <p:sp>
        <p:nvSpPr>
          <p:cNvPr id="71" name="Text 69"/>
          <p:cNvSpPr/>
          <p:nvPr/>
        </p:nvSpPr>
        <p:spPr>
          <a:xfrm>
            <a:off x="6285518" y="6365337"/>
            <a:ext cx="5494480" cy="179558"/>
          </a:xfrm>
          <a:prstGeom prst="rect">
            <a:avLst/>
          </a:prstGeom>
          <a:noFill/>
          <a:ln/>
        </p:spPr>
        <p:txBody>
          <a:bodyPr wrap="square" lIns="0" tIns="0" rIns="0" bIns="0" rtlCol="0" anchor="ctr"/>
          <a:lstStyle/>
          <a:p>
            <a:pPr>
              <a:lnSpc>
                <a:spcPct val="120000"/>
              </a:lnSpc>
            </a:pPr>
            <a:r>
              <a:rPr lang="en-US" sz="990" b="1" dirty="0">
                <a:solidFill>
                  <a:srgbClr val="4DB6AC"/>
                </a:solidFill>
                <a:latin typeface="Quattrocento Sans" pitchFamily="34" charset="0"/>
                <a:ea typeface="Quattrocento Sans" pitchFamily="34" charset="-122"/>
                <a:cs typeface="Quattrocento Sans" pitchFamily="34" charset="-120"/>
              </a:rPr>
              <a:t>• Limited Compute:</a:t>
            </a:r>
            <a:r>
              <a:rPr lang="en-US" sz="990" dirty="0">
                <a:solidFill>
                  <a:srgbClr val="ECEFF1"/>
                </a:solidFill>
                <a:latin typeface="Quattrocento Sans" pitchFamily="34" charset="0"/>
                <a:ea typeface="Quattrocento Sans" pitchFamily="34" charset="-122"/>
                <a:cs typeface="Quattrocento Sans" pitchFamily="34" charset="-120"/>
              </a:rPr>
              <a:t> Fast training needed</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Generative Models</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Modelet Gjeneruese</a:t>
            </a:r>
            <a:endParaRPr lang="en-US" sz="1600" dirty="0"/>
          </a:p>
        </p:txBody>
      </p:sp>
      <p:sp>
        <p:nvSpPr>
          <p:cNvPr id="4" name="Shape 2"/>
          <p:cNvSpPr/>
          <p:nvPr/>
        </p:nvSpPr>
        <p:spPr>
          <a:xfrm>
            <a:off x="400050" y="1181100"/>
            <a:ext cx="5619750" cy="1524000"/>
          </a:xfrm>
          <a:custGeom>
            <a:avLst/>
            <a:gdLst/>
            <a:ahLst/>
            <a:cxnLst/>
            <a:rect l="l" t="t" r="r" b="b"/>
            <a:pathLst>
              <a:path w="5619750" h="1524000">
                <a:moveTo>
                  <a:pt x="0" y="0"/>
                </a:moveTo>
                <a:lnTo>
                  <a:pt x="5543550" y="0"/>
                </a:lnTo>
                <a:cubicBezTo>
                  <a:pt x="5585606" y="0"/>
                  <a:pt x="5619750" y="34144"/>
                  <a:pt x="5619750" y="76200"/>
                </a:cubicBezTo>
                <a:lnTo>
                  <a:pt x="5619750" y="1447800"/>
                </a:lnTo>
                <a:cubicBezTo>
                  <a:pt x="5619750" y="1489856"/>
                  <a:pt x="5585606" y="1524000"/>
                  <a:pt x="5543550" y="1524000"/>
                </a:cubicBezTo>
                <a:lnTo>
                  <a:pt x="0" y="1524000"/>
                </a:lnTo>
                <a:lnTo>
                  <a:pt x="0" y="0"/>
                </a:lnTo>
                <a:close/>
              </a:path>
            </a:pathLst>
          </a:custGeom>
          <a:solidFill>
            <a:srgbClr val="4DB6AC">
              <a:alpha val="10196"/>
            </a:srgbClr>
          </a:solidFill>
          <a:ln/>
        </p:spPr>
      </p:sp>
      <p:sp>
        <p:nvSpPr>
          <p:cNvPr id="5" name="Shape 3"/>
          <p:cNvSpPr/>
          <p:nvPr/>
        </p:nvSpPr>
        <p:spPr>
          <a:xfrm>
            <a:off x="400050" y="1181100"/>
            <a:ext cx="38100" cy="1524000"/>
          </a:xfrm>
          <a:custGeom>
            <a:avLst/>
            <a:gdLst/>
            <a:ahLst/>
            <a:cxnLst/>
            <a:rect l="l" t="t" r="r" b="b"/>
            <a:pathLst>
              <a:path w="38100" h="1524000">
                <a:moveTo>
                  <a:pt x="0" y="0"/>
                </a:moveTo>
                <a:lnTo>
                  <a:pt x="38100" y="0"/>
                </a:lnTo>
                <a:lnTo>
                  <a:pt x="38100" y="1524000"/>
                </a:lnTo>
                <a:lnTo>
                  <a:pt x="0" y="1524000"/>
                </a:lnTo>
                <a:lnTo>
                  <a:pt x="0" y="0"/>
                </a:lnTo>
                <a:close/>
              </a:path>
            </a:pathLst>
          </a:custGeom>
          <a:solidFill>
            <a:srgbClr val="4DB6AC"/>
          </a:solidFill>
          <a:ln/>
        </p:spPr>
      </p:sp>
      <p:sp>
        <p:nvSpPr>
          <p:cNvPr id="6" name="Text 4"/>
          <p:cNvSpPr/>
          <p:nvPr/>
        </p:nvSpPr>
        <p:spPr>
          <a:xfrm>
            <a:off x="533400" y="1295400"/>
            <a:ext cx="5448300" cy="62865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Generative models learn the underlying distribution of training data and can generate new, realistic samples. They power applications like image synthesis, data augmentation, and creative AI tools.</a:t>
            </a:r>
            <a:endParaRPr lang="en-US" sz="1600" dirty="0"/>
          </a:p>
        </p:txBody>
      </p:sp>
      <p:sp>
        <p:nvSpPr>
          <p:cNvPr id="7" name="Text 5"/>
          <p:cNvSpPr/>
          <p:nvPr/>
        </p:nvSpPr>
        <p:spPr>
          <a:xfrm>
            <a:off x="533400" y="1962150"/>
            <a:ext cx="5448300" cy="62865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Modelet gjeneruese mësojnë shpërndarjen themelore të të dhënave të trajnimit dhe mund të gjenerojnë mostra të reja, realiste. Ato fuqizojnë aplikime si sinteza e imazheve, zgjerimi i të dhënave.</a:t>
            </a:r>
            <a:endParaRPr lang="en-US" sz="1600" dirty="0"/>
          </a:p>
        </p:txBody>
      </p:sp>
      <p:sp>
        <p:nvSpPr>
          <p:cNvPr id="8" name="Shape 6"/>
          <p:cNvSpPr/>
          <p:nvPr/>
        </p:nvSpPr>
        <p:spPr>
          <a:xfrm>
            <a:off x="381000" y="2781300"/>
            <a:ext cx="2781300" cy="1790700"/>
          </a:xfrm>
          <a:custGeom>
            <a:avLst/>
            <a:gdLst/>
            <a:ahLst/>
            <a:cxnLst/>
            <a:rect l="l" t="t" r="r" b="b"/>
            <a:pathLst>
              <a:path w="2781300" h="1790700">
                <a:moveTo>
                  <a:pt x="76194" y="0"/>
                </a:moveTo>
                <a:lnTo>
                  <a:pt x="2705106" y="0"/>
                </a:lnTo>
                <a:cubicBezTo>
                  <a:pt x="2747158" y="0"/>
                  <a:pt x="2781300" y="34142"/>
                  <a:pt x="2781300" y="76194"/>
                </a:cubicBezTo>
                <a:lnTo>
                  <a:pt x="2781300" y="1714506"/>
                </a:lnTo>
                <a:cubicBezTo>
                  <a:pt x="2781300" y="1756587"/>
                  <a:pt x="2747187" y="1790700"/>
                  <a:pt x="2705106" y="1790700"/>
                </a:cubicBezTo>
                <a:lnTo>
                  <a:pt x="76194" y="1790700"/>
                </a:lnTo>
                <a:cubicBezTo>
                  <a:pt x="34142" y="1790700"/>
                  <a:pt x="0" y="1756558"/>
                  <a:pt x="0" y="1714506"/>
                </a:cubicBezTo>
                <a:lnTo>
                  <a:pt x="0" y="76194"/>
                </a:lnTo>
                <a:cubicBezTo>
                  <a:pt x="0" y="34142"/>
                  <a:pt x="34142" y="0"/>
                  <a:pt x="76194" y="0"/>
                </a:cubicBezTo>
                <a:close/>
              </a:path>
            </a:pathLst>
          </a:custGeom>
          <a:solidFill>
            <a:srgbClr val="4DB6AC">
              <a:alpha val="10196"/>
            </a:srgbClr>
          </a:solidFill>
          <a:ln/>
        </p:spPr>
      </p:sp>
      <p:sp>
        <p:nvSpPr>
          <p:cNvPr id="9" name="Text 7"/>
          <p:cNvSpPr/>
          <p:nvPr/>
        </p:nvSpPr>
        <p:spPr>
          <a:xfrm>
            <a:off x="495300" y="28956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VAEs</a:t>
            </a:r>
            <a:endParaRPr lang="en-US" sz="1600" dirty="0"/>
          </a:p>
        </p:txBody>
      </p:sp>
      <p:sp>
        <p:nvSpPr>
          <p:cNvPr id="10" name="Text 8"/>
          <p:cNvSpPr/>
          <p:nvPr/>
        </p:nvSpPr>
        <p:spPr>
          <a:xfrm>
            <a:off x="495300" y="32004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Variational Autoencoders</a:t>
            </a:r>
            <a:endParaRPr lang="en-US" sz="1600" dirty="0"/>
          </a:p>
        </p:txBody>
      </p:sp>
      <p:sp>
        <p:nvSpPr>
          <p:cNvPr id="11" name="Text 9"/>
          <p:cNvSpPr/>
          <p:nvPr/>
        </p:nvSpPr>
        <p:spPr>
          <a:xfrm>
            <a:off x="495300" y="3467100"/>
            <a:ext cx="26193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Learn probabilistic latent space for smooth interpolation.</a:t>
            </a:r>
            <a:endParaRPr lang="en-US" sz="1600" dirty="0"/>
          </a:p>
        </p:txBody>
      </p:sp>
      <p:sp>
        <p:nvSpPr>
          <p:cNvPr id="12" name="Text 10"/>
          <p:cNvSpPr/>
          <p:nvPr/>
        </p:nvSpPr>
        <p:spPr>
          <a:xfrm>
            <a:off x="495300" y="39243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Encoder → Latent space</a:t>
            </a:r>
            <a:endParaRPr lang="en-US" sz="1600" dirty="0"/>
          </a:p>
        </p:txBody>
      </p:sp>
      <p:sp>
        <p:nvSpPr>
          <p:cNvPr id="13" name="Text 11"/>
          <p:cNvSpPr/>
          <p:nvPr/>
        </p:nvSpPr>
        <p:spPr>
          <a:xfrm>
            <a:off x="495300" y="41148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Decoder → Reconstruction</a:t>
            </a:r>
            <a:endParaRPr lang="en-US" sz="1600" dirty="0"/>
          </a:p>
        </p:txBody>
      </p:sp>
      <p:sp>
        <p:nvSpPr>
          <p:cNvPr id="14" name="Text 12"/>
          <p:cNvSpPr/>
          <p:nvPr/>
        </p:nvSpPr>
        <p:spPr>
          <a:xfrm>
            <a:off x="495300" y="43053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KL divergence loss</a:t>
            </a:r>
            <a:endParaRPr lang="en-US" sz="1600" dirty="0"/>
          </a:p>
        </p:txBody>
      </p:sp>
      <p:sp>
        <p:nvSpPr>
          <p:cNvPr id="15" name="Shape 13"/>
          <p:cNvSpPr/>
          <p:nvPr/>
        </p:nvSpPr>
        <p:spPr>
          <a:xfrm>
            <a:off x="3238500" y="2781300"/>
            <a:ext cx="2781300" cy="1790700"/>
          </a:xfrm>
          <a:custGeom>
            <a:avLst/>
            <a:gdLst/>
            <a:ahLst/>
            <a:cxnLst/>
            <a:rect l="l" t="t" r="r" b="b"/>
            <a:pathLst>
              <a:path w="2781300" h="1790700">
                <a:moveTo>
                  <a:pt x="76194" y="0"/>
                </a:moveTo>
                <a:lnTo>
                  <a:pt x="2705106" y="0"/>
                </a:lnTo>
                <a:cubicBezTo>
                  <a:pt x="2747158" y="0"/>
                  <a:pt x="2781300" y="34142"/>
                  <a:pt x="2781300" y="76194"/>
                </a:cubicBezTo>
                <a:lnTo>
                  <a:pt x="2781300" y="1714506"/>
                </a:lnTo>
                <a:cubicBezTo>
                  <a:pt x="2781300" y="1756587"/>
                  <a:pt x="2747187" y="1790700"/>
                  <a:pt x="2705106" y="1790700"/>
                </a:cubicBezTo>
                <a:lnTo>
                  <a:pt x="76194" y="1790700"/>
                </a:lnTo>
                <a:cubicBezTo>
                  <a:pt x="34142" y="1790700"/>
                  <a:pt x="0" y="1756558"/>
                  <a:pt x="0" y="1714506"/>
                </a:cubicBezTo>
                <a:lnTo>
                  <a:pt x="0" y="76194"/>
                </a:lnTo>
                <a:cubicBezTo>
                  <a:pt x="0" y="34142"/>
                  <a:pt x="34142" y="0"/>
                  <a:pt x="76194" y="0"/>
                </a:cubicBezTo>
                <a:close/>
              </a:path>
            </a:pathLst>
          </a:custGeom>
          <a:solidFill>
            <a:srgbClr val="FFD54F">
              <a:alpha val="10196"/>
            </a:srgbClr>
          </a:solidFill>
          <a:ln/>
        </p:spPr>
      </p:sp>
      <p:sp>
        <p:nvSpPr>
          <p:cNvPr id="16" name="Text 14"/>
          <p:cNvSpPr/>
          <p:nvPr/>
        </p:nvSpPr>
        <p:spPr>
          <a:xfrm>
            <a:off x="3352800" y="2895600"/>
            <a:ext cx="26289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GANs</a:t>
            </a:r>
            <a:endParaRPr lang="en-US" sz="1600" dirty="0"/>
          </a:p>
        </p:txBody>
      </p:sp>
      <p:sp>
        <p:nvSpPr>
          <p:cNvPr id="17" name="Text 15"/>
          <p:cNvSpPr/>
          <p:nvPr/>
        </p:nvSpPr>
        <p:spPr>
          <a:xfrm>
            <a:off x="3352800" y="3200400"/>
            <a:ext cx="2619375" cy="190500"/>
          </a:xfrm>
          <a:prstGeom prst="rect">
            <a:avLst/>
          </a:prstGeom>
          <a:noFill/>
          <a:ln/>
        </p:spPr>
        <p:txBody>
          <a:bodyPr wrap="square" lIns="0" tIns="0" rIns="0" bIns="0" rtlCol="0" anchor="ctr"/>
          <a:lstStyle/>
          <a:p>
            <a:pP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Generative Adversarial Networks</a:t>
            </a:r>
            <a:endParaRPr lang="en-US" sz="1600" dirty="0"/>
          </a:p>
        </p:txBody>
      </p:sp>
      <p:sp>
        <p:nvSpPr>
          <p:cNvPr id="18" name="Text 16"/>
          <p:cNvSpPr/>
          <p:nvPr/>
        </p:nvSpPr>
        <p:spPr>
          <a:xfrm>
            <a:off x="3352800" y="3467100"/>
            <a:ext cx="26193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Two networks compete: generator vs discriminator.</a:t>
            </a:r>
            <a:endParaRPr lang="en-US" sz="1600" dirty="0"/>
          </a:p>
        </p:txBody>
      </p:sp>
      <p:sp>
        <p:nvSpPr>
          <p:cNvPr id="19" name="Text 17"/>
          <p:cNvSpPr/>
          <p:nvPr/>
        </p:nvSpPr>
        <p:spPr>
          <a:xfrm>
            <a:off x="3352800" y="39243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Generator: Creates fakes</a:t>
            </a:r>
            <a:endParaRPr lang="en-US" sz="1600" dirty="0"/>
          </a:p>
        </p:txBody>
      </p:sp>
      <p:sp>
        <p:nvSpPr>
          <p:cNvPr id="20" name="Text 18"/>
          <p:cNvSpPr/>
          <p:nvPr/>
        </p:nvSpPr>
        <p:spPr>
          <a:xfrm>
            <a:off x="3352800" y="41148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Discriminator: Detects fakes</a:t>
            </a:r>
            <a:endParaRPr lang="en-US" sz="1600" dirty="0"/>
          </a:p>
        </p:txBody>
      </p:sp>
      <p:sp>
        <p:nvSpPr>
          <p:cNvPr id="21" name="Text 19"/>
          <p:cNvSpPr/>
          <p:nvPr/>
        </p:nvSpPr>
        <p:spPr>
          <a:xfrm>
            <a:off x="3352800" y="4305300"/>
            <a:ext cx="2609850" cy="152400"/>
          </a:xfrm>
          <a:prstGeom prst="rect">
            <a:avLst/>
          </a:prstGeom>
          <a:noFill/>
          <a:ln/>
        </p:spPr>
        <p:txBody>
          <a:bodyPr wrap="square" lIns="0" tIns="0" rIns="0" bIns="0" rtlCol="0" anchor="ctr"/>
          <a:lstStyle/>
          <a:p>
            <a:pP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 Adversarial training</a:t>
            </a:r>
            <a:endParaRPr lang="en-US" sz="1600" dirty="0"/>
          </a:p>
        </p:txBody>
      </p:sp>
      <p:sp>
        <p:nvSpPr>
          <p:cNvPr id="22" name="Shape 20"/>
          <p:cNvSpPr/>
          <p:nvPr/>
        </p:nvSpPr>
        <p:spPr>
          <a:xfrm>
            <a:off x="381000" y="4648200"/>
            <a:ext cx="5638800" cy="1333500"/>
          </a:xfrm>
          <a:custGeom>
            <a:avLst/>
            <a:gdLst/>
            <a:ahLst/>
            <a:cxnLst/>
            <a:rect l="l" t="t" r="r" b="b"/>
            <a:pathLst>
              <a:path w="5638800" h="1333500">
                <a:moveTo>
                  <a:pt x="76196" y="0"/>
                </a:moveTo>
                <a:lnTo>
                  <a:pt x="5562604" y="0"/>
                </a:lnTo>
                <a:cubicBezTo>
                  <a:pt x="5604686" y="0"/>
                  <a:pt x="5638800" y="34114"/>
                  <a:pt x="5638800" y="76196"/>
                </a:cubicBezTo>
                <a:lnTo>
                  <a:pt x="5638800" y="1257304"/>
                </a:lnTo>
                <a:cubicBezTo>
                  <a:pt x="5638800" y="1299386"/>
                  <a:pt x="5604686" y="1333500"/>
                  <a:pt x="5562604" y="1333500"/>
                </a:cubicBezTo>
                <a:lnTo>
                  <a:pt x="76196" y="1333500"/>
                </a:lnTo>
                <a:cubicBezTo>
                  <a:pt x="34114" y="1333500"/>
                  <a:pt x="0" y="1299386"/>
                  <a:pt x="0" y="1257304"/>
                </a:cubicBezTo>
                <a:lnTo>
                  <a:pt x="0" y="76196"/>
                </a:lnTo>
                <a:cubicBezTo>
                  <a:pt x="0" y="34142"/>
                  <a:pt x="34142" y="0"/>
                  <a:pt x="76196" y="0"/>
                </a:cubicBezTo>
                <a:close/>
              </a:path>
            </a:pathLst>
          </a:custGeom>
          <a:solidFill>
            <a:srgbClr val="78909C">
              <a:alpha val="10196"/>
            </a:srgbClr>
          </a:solidFill>
          <a:ln/>
        </p:spPr>
      </p:sp>
      <p:sp>
        <p:nvSpPr>
          <p:cNvPr id="23" name="Text 21"/>
          <p:cNvSpPr/>
          <p:nvPr/>
        </p:nvSpPr>
        <p:spPr>
          <a:xfrm>
            <a:off x="495300" y="476250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Diffusion Models</a:t>
            </a:r>
            <a:endParaRPr lang="en-US" sz="1600" dirty="0"/>
          </a:p>
        </p:txBody>
      </p:sp>
      <p:sp>
        <p:nvSpPr>
          <p:cNvPr id="24" name="Text 22"/>
          <p:cNvSpPr/>
          <p:nvPr/>
        </p:nvSpPr>
        <p:spPr>
          <a:xfrm>
            <a:off x="495300" y="5067300"/>
            <a:ext cx="5476875" cy="3810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Iteratively denoise random noise to generate images. Powers DALL-E, Stable Diffusion, Midjourney.</a:t>
            </a:r>
            <a:endParaRPr lang="en-US" sz="1600" dirty="0"/>
          </a:p>
        </p:txBody>
      </p:sp>
      <p:sp>
        <p:nvSpPr>
          <p:cNvPr id="25" name="Text 23"/>
          <p:cNvSpPr/>
          <p:nvPr/>
        </p:nvSpPr>
        <p:spPr>
          <a:xfrm>
            <a:off x="495300" y="5524500"/>
            <a:ext cx="5467350" cy="152400"/>
          </a:xfrm>
          <a:prstGeom prst="rect">
            <a:avLst/>
          </a:prstGeom>
          <a:noFill/>
          <a:ln/>
        </p:spPr>
        <p:txBody>
          <a:bodyPr wrap="square" lIns="0" tIns="0" rIns="0" bIns="0" rtlCol="0" anchor="ctr"/>
          <a:lstStyle/>
          <a:p>
            <a:pPr>
              <a:lnSpc>
                <a:spcPct val="110000"/>
              </a:lnSpc>
            </a:pPr>
            <a:r>
              <a:rPr lang="en-US" sz="900" b="1" dirty="0">
                <a:solidFill>
                  <a:srgbClr val="4DB6AC"/>
                </a:solidFill>
                <a:latin typeface="Quattrocento Sans" pitchFamily="34" charset="0"/>
                <a:ea typeface="Quattrocento Sans" pitchFamily="34" charset="-122"/>
                <a:cs typeface="Quattrocento Sans" pitchFamily="34" charset="-120"/>
              </a:rPr>
              <a:t>Forward:</a:t>
            </a:r>
            <a:r>
              <a:rPr lang="en-US" sz="900" dirty="0">
                <a:solidFill>
                  <a:srgbClr val="ECEFF1"/>
                </a:solidFill>
                <a:latin typeface="Quattrocento Sans" pitchFamily="34" charset="0"/>
                <a:ea typeface="Quattrocento Sans" pitchFamily="34" charset="-122"/>
                <a:cs typeface="Quattrocento Sans" pitchFamily="34" charset="-120"/>
              </a:rPr>
              <a:t> Add noise gradually</a:t>
            </a:r>
            <a:endParaRPr lang="en-US" sz="1600" dirty="0"/>
          </a:p>
        </p:txBody>
      </p:sp>
      <p:sp>
        <p:nvSpPr>
          <p:cNvPr id="26" name="Text 24"/>
          <p:cNvSpPr/>
          <p:nvPr/>
        </p:nvSpPr>
        <p:spPr>
          <a:xfrm>
            <a:off x="495300" y="5715000"/>
            <a:ext cx="5467350" cy="152400"/>
          </a:xfrm>
          <a:prstGeom prst="rect">
            <a:avLst/>
          </a:prstGeom>
          <a:noFill/>
          <a:ln/>
        </p:spPr>
        <p:txBody>
          <a:bodyPr wrap="square" lIns="0" tIns="0" rIns="0" bIns="0" rtlCol="0" anchor="ctr"/>
          <a:lstStyle/>
          <a:p>
            <a:pPr>
              <a:lnSpc>
                <a:spcPct val="110000"/>
              </a:lnSpc>
            </a:pPr>
            <a:r>
              <a:rPr lang="en-US" sz="900" b="1" dirty="0">
                <a:solidFill>
                  <a:srgbClr val="FFD54F"/>
                </a:solidFill>
                <a:latin typeface="Quattrocento Sans" pitchFamily="34" charset="0"/>
                <a:ea typeface="Quattrocento Sans" pitchFamily="34" charset="-122"/>
                <a:cs typeface="Quattrocento Sans" pitchFamily="34" charset="-120"/>
              </a:rPr>
              <a:t>Reverse:</a:t>
            </a:r>
            <a:r>
              <a:rPr lang="en-US" sz="900" dirty="0">
                <a:solidFill>
                  <a:srgbClr val="ECEFF1"/>
                </a:solidFill>
                <a:latin typeface="Quattrocento Sans" pitchFamily="34" charset="0"/>
                <a:ea typeface="Quattrocento Sans" pitchFamily="34" charset="-122"/>
                <a:cs typeface="Quattrocento Sans" pitchFamily="34" charset="-120"/>
              </a:rPr>
              <a:t> Learn to denoise</a:t>
            </a:r>
            <a:endParaRPr lang="en-US" sz="1600" dirty="0"/>
          </a:p>
        </p:txBody>
      </p:sp>
      <p:sp>
        <p:nvSpPr>
          <p:cNvPr id="27" name="Shape 25"/>
          <p:cNvSpPr/>
          <p:nvPr/>
        </p:nvSpPr>
        <p:spPr>
          <a:xfrm>
            <a:off x="6172200" y="1181100"/>
            <a:ext cx="5638800" cy="3086100"/>
          </a:xfrm>
          <a:custGeom>
            <a:avLst/>
            <a:gdLst/>
            <a:ahLst/>
            <a:cxnLst/>
            <a:rect l="l" t="t" r="r" b="b"/>
            <a:pathLst>
              <a:path w="5638800" h="3086100">
                <a:moveTo>
                  <a:pt x="76196" y="0"/>
                </a:moveTo>
                <a:lnTo>
                  <a:pt x="5562604" y="0"/>
                </a:lnTo>
                <a:cubicBezTo>
                  <a:pt x="5604686" y="0"/>
                  <a:pt x="5638800" y="34114"/>
                  <a:pt x="5638800" y="76196"/>
                </a:cubicBezTo>
                <a:lnTo>
                  <a:pt x="5638800" y="3009904"/>
                </a:lnTo>
                <a:cubicBezTo>
                  <a:pt x="5638800" y="3051986"/>
                  <a:pt x="5604686" y="3086100"/>
                  <a:pt x="5562604" y="3086100"/>
                </a:cubicBezTo>
                <a:lnTo>
                  <a:pt x="76196" y="3086100"/>
                </a:lnTo>
                <a:cubicBezTo>
                  <a:pt x="34114" y="3086100"/>
                  <a:pt x="0" y="3051986"/>
                  <a:pt x="0" y="3009904"/>
                </a:cubicBezTo>
                <a:lnTo>
                  <a:pt x="0" y="76196"/>
                </a:lnTo>
                <a:cubicBezTo>
                  <a:pt x="0" y="34142"/>
                  <a:pt x="34142" y="0"/>
                  <a:pt x="76196" y="0"/>
                </a:cubicBezTo>
                <a:close/>
              </a:path>
            </a:pathLst>
          </a:custGeom>
          <a:solidFill>
            <a:srgbClr val="4DB6AC">
              <a:alpha val="10196"/>
            </a:srgbClr>
          </a:solidFill>
          <a:ln/>
        </p:spPr>
      </p:sp>
      <p:sp>
        <p:nvSpPr>
          <p:cNvPr id="28" name="Text 26"/>
          <p:cNvSpPr/>
          <p:nvPr/>
        </p:nvSpPr>
        <p:spPr>
          <a:xfrm>
            <a:off x="6243638" y="1295400"/>
            <a:ext cx="5495925" cy="266700"/>
          </a:xfrm>
          <a:prstGeom prst="rect">
            <a:avLst/>
          </a:prstGeom>
          <a:noFill/>
          <a:ln/>
        </p:spPr>
        <p:txBody>
          <a:bodyPr wrap="square" lIns="0" tIns="0" rIns="0" bIns="0" rtlCol="0" anchor="ctr"/>
          <a:lstStyle/>
          <a:p>
            <a:pPr algn="ctr">
              <a:lnSpc>
                <a:spcPct val="130000"/>
              </a:lnSpc>
            </a:pPr>
            <a:r>
              <a:rPr lang="en-US" sz="1350" b="1" dirty="0">
                <a:solidFill>
                  <a:srgbClr val="ECEFF1"/>
                </a:solidFill>
                <a:latin typeface="Liter" pitchFamily="34" charset="0"/>
                <a:ea typeface="Liter" pitchFamily="34" charset="-122"/>
                <a:cs typeface="Liter" pitchFamily="34" charset="-120"/>
              </a:rPr>
              <a:t>GAN Architecture</a:t>
            </a:r>
            <a:endParaRPr lang="en-US" sz="1600" dirty="0"/>
          </a:p>
        </p:txBody>
      </p:sp>
      <p:sp>
        <p:nvSpPr>
          <p:cNvPr id="29" name="Shape 27"/>
          <p:cNvSpPr/>
          <p:nvPr/>
        </p:nvSpPr>
        <p:spPr>
          <a:xfrm>
            <a:off x="7172325" y="2352675"/>
            <a:ext cx="1733550" cy="1238250"/>
          </a:xfrm>
          <a:custGeom>
            <a:avLst/>
            <a:gdLst/>
            <a:ahLst/>
            <a:cxnLst/>
            <a:rect l="l" t="t" r="r" b="b"/>
            <a:pathLst>
              <a:path w="1733550" h="1238250">
                <a:moveTo>
                  <a:pt x="76202" y="0"/>
                </a:moveTo>
                <a:lnTo>
                  <a:pt x="1657348" y="0"/>
                </a:lnTo>
                <a:cubicBezTo>
                  <a:pt x="1699433" y="0"/>
                  <a:pt x="1733550" y="34117"/>
                  <a:pt x="1733550" y="76202"/>
                </a:cubicBezTo>
                <a:lnTo>
                  <a:pt x="1733550" y="1162048"/>
                </a:lnTo>
                <a:cubicBezTo>
                  <a:pt x="1733550" y="1204133"/>
                  <a:pt x="1699433" y="1238250"/>
                  <a:pt x="1657348" y="1238250"/>
                </a:cubicBezTo>
                <a:lnTo>
                  <a:pt x="76202" y="1238250"/>
                </a:lnTo>
                <a:cubicBezTo>
                  <a:pt x="34117" y="1238250"/>
                  <a:pt x="0" y="1204133"/>
                  <a:pt x="0" y="1162048"/>
                </a:cubicBezTo>
                <a:lnTo>
                  <a:pt x="0" y="76202"/>
                </a:lnTo>
                <a:cubicBezTo>
                  <a:pt x="0" y="34117"/>
                  <a:pt x="34117" y="0"/>
                  <a:pt x="76202" y="0"/>
                </a:cubicBezTo>
                <a:close/>
              </a:path>
            </a:pathLst>
          </a:custGeom>
          <a:solidFill>
            <a:srgbClr val="4DB6AC">
              <a:alpha val="20000"/>
            </a:srgbClr>
          </a:solidFill>
          <a:ln w="25400">
            <a:solidFill>
              <a:srgbClr val="4DB6AC"/>
            </a:solidFill>
            <a:prstDash val="solid"/>
          </a:ln>
        </p:spPr>
      </p:sp>
      <p:sp>
        <p:nvSpPr>
          <p:cNvPr id="30" name="Text 28"/>
          <p:cNvSpPr/>
          <p:nvPr/>
        </p:nvSpPr>
        <p:spPr>
          <a:xfrm>
            <a:off x="7258050" y="2476500"/>
            <a:ext cx="1562100" cy="228600"/>
          </a:xfrm>
          <a:prstGeom prst="rect">
            <a:avLst/>
          </a:prstGeom>
          <a:noFill/>
          <a:ln/>
        </p:spPr>
        <p:txBody>
          <a:bodyPr wrap="square" lIns="0" tIns="0" rIns="0" bIns="0" rtlCol="0" anchor="ctr"/>
          <a:lstStyle/>
          <a:p>
            <a:pPr algn="ctr">
              <a:lnSpc>
                <a:spcPct val="130000"/>
              </a:lnSpc>
            </a:pPr>
            <a:r>
              <a:rPr lang="en-US" sz="1200" b="1" dirty="0">
                <a:solidFill>
                  <a:srgbClr val="ECEFF1"/>
                </a:solidFill>
                <a:latin typeface="Liter" pitchFamily="34" charset="0"/>
                <a:ea typeface="Liter" pitchFamily="34" charset="-122"/>
                <a:cs typeface="Liter" pitchFamily="34" charset="-120"/>
              </a:rPr>
              <a:t>Generator</a:t>
            </a:r>
            <a:endParaRPr lang="en-US" sz="1600" dirty="0"/>
          </a:p>
        </p:txBody>
      </p:sp>
      <p:sp>
        <p:nvSpPr>
          <p:cNvPr id="31" name="Text 29"/>
          <p:cNvSpPr/>
          <p:nvPr/>
        </p:nvSpPr>
        <p:spPr>
          <a:xfrm>
            <a:off x="7267575" y="2743200"/>
            <a:ext cx="15430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Creates fake samples</a:t>
            </a:r>
            <a:endParaRPr lang="en-US" sz="1600" dirty="0"/>
          </a:p>
        </p:txBody>
      </p:sp>
      <p:sp>
        <p:nvSpPr>
          <p:cNvPr id="32" name="Text 30"/>
          <p:cNvSpPr/>
          <p:nvPr/>
        </p:nvSpPr>
        <p:spPr>
          <a:xfrm>
            <a:off x="7239000" y="2971800"/>
            <a:ext cx="1600200" cy="304800"/>
          </a:xfrm>
          <a:prstGeom prst="rect">
            <a:avLst/>
          </a:prstGeom>
          <a:noFill/>
          <a:ln/>
        </p:spPr>
        <p:txBody>
          <a:bodyPr wrap="square" lIns="0" tIns="0" rIns="0" bIns="0" rtlCol="0" anchor="ctr"/>
          <a:lstStyle/>
          <a:p>
            <a:pPr algn="ctr">
              <a:lnSpc>
                <a:spcPct val="110000"/>
              </a:lnSpc>
            </a:pPr>
            <a:r>
              <a:rPr lang="en-US" sz="1800" dirty="0">
                <a:solidFill>
                  <a:srgbClr val="ECEFF1"/>
                </a:solidFill>
                <a:latin typeface="Quattrocento Sans" pitchFamily="34" charset="0"/>
                <a:ea typeface="Quattrocento Sans" pitchFamily="34" charset="-122"/>
                <a:cs typeface="Quattrocento Sans" pitchFamily="34" charset="-120"/>
              </a:rPr>
              <a:t>🎨</a:t>
            </a:r>
            <a:endParaRPr lang="en-US" sz="1600" dirty="0"/>
          </a:p>
        </p:txBody>
      </p:sp>
      <p:sp>
        <p:nvSpPr>
          <p:cNvPr id="33" name="Text 31"/>
          <p:cNvSpPr/>
          <p:nvPr/>
        </p:nvSpPr>
        <p:spPr>
          <a:xfrm>
            <a:off x="7267575" y="3314700"/>
            <a:ext cx="1543050" cy="152400"/>
          </a:xfrm>
          <a:prstGeom prst="rect">
            <a:avLst/>
          </a:prstGeom>
          <a:noFill/>
          <a:ln/>
        </p:spPr>
        <p:txBody>
          <a:bodyPr wrap="square" lIns="0" tIns="0" rIns="0" bIns="0" rtlCol="0" anchor="ctr"/>
          <a:lstStyle/>
          <a:p>
            <a:pPr algn="ct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z → Fake Image</a:t>
            </a:r>
            <a:endParaRPr lang="en-US" sz="1600" dirty="0"/>
          </a:p>
        </p:txBody>
      </p:sp>
      <p:sp>
        <p:nvSpPr>
          <p:cNvPr id="34" name="Shape 32"/>
          <p:cNvSpPr/>
          <p:nvPr/>
        </p:nvSpPr>
        <p:spPr>
          <a:xfrm>
            <a:off x="9077325" y="2352675"/>
            <a:ext cx="1733550" cy="1238250"/>
          </a:xfrm>
          <a:custGeom>
            <a:avLst/>
            <a:gdLst/>
            <a:ahLst/>
            <a:cxnLst/>
            <a:rect l="l" t="t" r="r" b="b"/>
            <a:pathLst>
              <a:path w="1733550" h="1238250">
                <a:moveTo>
                  <a:pt x="76202" y="0"/>
                </a:moveTo>
                <a:lnTo>
                  <a:pt x="1657348" y="0"/>
                </a:lnTo>
                <a:cubicBezTo>
                  <a:pt x="1699433" y="0"/>
                  <a:pt x="1733550" y="34117"/>
                  <a:pt x="1733550" y="76202"/>
                </a:cubicBezTo>
                <a:lnTo>
                  <a:pt x="1733550" y="1162048"/>
                </a:lnTo>
                <a:cubicBezTo>
                  <a:pt x="1733550" y="1204133"/>
                  <a:pt x="1699433" y="1238250"/>
                  <a:pt x="1657348" y="1238250"/>
                </a:cubicBezTo>
                <a:lnTo>
                  <a:pt x="76202" y="1238250"/>
                </a:lnTo>
                <a:cubicBezTo>
                  <a:pt x="34117" y="1238250"/>
                  <a:pt x="0" y="1204133"/>
                  <a:pt x="0" y="1162048"/>
                </a:cubicBezTo>
                <a:lnTo>
                  <a:pt x="0" y="76202"/>
                </a:lnTo>
                <a:cubicBezTo>
                  <a:pt x="0" y="34117"/>
                  <a:pt x="34117" y="0"/>
                  <a:pt x="76202" y="0"/>
                </a:cubicBezTo>
                <a:close/>
              </a:path>
            </a:pathLst>
          </a:custGeom>
          <a:solidFill>
            <a:srgbClr val="FFD54F">
              <a:alpha val="20000"/>
            </a:srgbClr>
          </a:solidFill>
          <a:ln w="25400">
            <a:solidFill>
              <a:srgbClr val="FFD54F"/>
            </a:solidFill>
            <a:prstDash val="solid"/>
          </a:ln>
        </p:spPr>
      </p:sp>
      <p:sp>
        <p:nvSpPr>
          <p:cNvPr id="35" name="Text 33"/>
          <p:cNvSpPr/>
          <p:nvPr/>
        </p:nvSpPr>
        <p:spPr>
          <a:xfrm>
            <a:off x="9163050" y="2476500"/>
            <a:ext cx="1562100" cy="228600"/>
          </a:xfrm>
          <a:prstGeom prst="rect">
            <a:avLst/>
          </a:prstGeom>
          <a:noFill/>
          <a:ln/>
        </p:spPr>
        <p:txBody>
          <a:bodyPr wrap="square" lIns="0" tIns="0" rIns="0" bIns="0" rtlCol="0" anchor="ctr"/>
          <a:lstStyle/>
          <a:p>
            <a:pPr algn="ctr">
              <a:lnSpc>
                <a:spcPct val="130000"/>
              </a:lnSpc>
            </a:pPr>
            <a:r>
              <a:rPr lang="en-US" sz="1200" b="1" dirty="0">
                <a:solidFill>
                  <a:srgbClr val="ECEFF1"/>
                </a:solidFill>
                <a:latin typeface="Liter" pitchFamily="34" charset="0"/>
                <a:ea typeface="Liter" pitchFamily="34" charset="-122"/>
                <a:cs typeface="Liter" pitchFamily="34" charset="-120"/>
              </a:rPr>
              <a:t>Discriminator</a:t>
            </a:r>
            <a:endParaRPr lang="en-US" sz="1600" dirty="0"/>
          </a:p>
        </p:txBody>
      </p:sp>
      <p:sp>
        <p:nvSpPr>
          <p:cNvPr id="36" name="Text 34"/>
          <p:cNvSpPr/>
          <p:nvPr/>
        </p:nvSpPr>
        <p:spPr>
          <a:xfrm>
            <a:off x="9172575" y="2743200"/>
            <a:ext cx="154305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Classifies real/fake</a:t>
            </a:r>
            <a:endParaRPr lang="en-US" sz="1600" dirty="0"/>
          </a:p>
        </p:txBody>
      </p:sp>
      <p:sp>
        <p:nvSpPr>
          <p:cNvPr id="37" name="Text 35"/>
          <p:cNvSpPr/>
          <p:nvPr/>
        </p:nvSpPr>
        <p:spPr>
          <a:xfrm>
            <a:off x="9144000" y="2971800"/>
            <a:ext cx="1600200" cy="304800"/>
          </a:xfrm>
          <a:prstGeom prst="rect">
            <a:avLst/>
          </a:prstGeom>
          <a:noFill/>
          <a:ln/>
        </p:spPr>
        <p:txBody>
          <a:bodyPr wrap="square" lIns="0" tIns="0" rIns="0" bIns="0" rtlCol="0" anchor="ctr"/>
          <a:lstStyle/>
          <a:p>
            <a:pPr algn="ctr">
              <a:lnSpc>
                <a:spcPct val="110000"/>
              </a:lnSpc>
            </a:pPr>
            <a:r>
              <a:rPr lang="en-US" sz="1800" dirty="0">
                <a:solidFill>
                  <a:srgbClr val="ECEFF1"/>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9172575" y="3314700"/>
            <a:ext cx="1543050" cy="152400"/>
          </a:xfrm>
          <a:prstGeom prst="rect">
            <a:avLst/>
          </a:prstGeom>
          <a:noFill/>
          <a:ln/>
        </p:spPr>
        <p:txBody>
          <a:bodyPr wrap="square" lIns="0" tIns="0" rIns="0" bIns="0" rtlCol="0" anchor="ctr"/>
          <a:lstStyle/>
          <a:p>
            <a:pPr algn="ctr">
              <a:lnSpc>
                <a:spcPct val="110000"/>
              </a:lnSpc>
            </a:pPr>
            <a:r>
              <a:rPr lang="en-US" sz="900" dirty="0">
                <a:solidFill>
                  <a:srgbClr val="ECEFF1"/>
                </a:solidFill>
                <a:latin typeface="Quattrocento Sans" pitchFamily="34" charset="0"/>
                <a:ea typeface="Quattrocento Sans" pitchFamily="34" charset="-122"/>
                <a:cs typeface="Quattrocento Sans" pitchFamily="34" charset="-120"/>
              </a:rPr>
              <a:t>Image → Real/Fake</a:t>
            </a:r>
            <a:endParaRPr lang="en-US" sz="1600" dirty="0"/>
          </a:p>
        </p:txBody>
      </p:sp>
      <p:sp>
        <p:nvSpPr>
          <p:cNvPr id="39" name="Text 37"/>
          <p:cNvSpPr/>
          <p:nvPr/>
        </p:nvSpPr>
        <p:spPr>
          <a:xfrm>
            <a:off x="7457480" y="3676650"/>
            <a:ext cx="3067050" cy="190500"/>
          </a:xfrm>
          <a:prstGeom prst="rect">
            <a:avLst/>
          </a:prstGeom>
          <a:noFill/>
          <a:ln/>
        </p:spPr>
        <p:txBody>
          <a:bodyPr wrap="square" lIns="0" tIns="0" rIns="0" bIns="0" rtlCol="0" anchor="ctr"/>
          <a:lstStyle/>
          <a:p>
            <a:pPr algn="ctr">
              <a:lnSpc>
                <a:spcPct val="120000"/>
              </a:lnSpc>
            </a:pPr>
            <a:r>
              <a:rPr lang="en-US" sz="1050" dirty="0">
                <a:solidFill>
                  <a:srgbClr val="78909C"/>
                </a:solidFill>
                <a:latin typeface="Quattrocento Sans" pitchFamily="34" charset="0"/>
                <a:ea typeface="Quattrocento Sans" pitchFamily="34" charset="-122"/>
                <a:cs typeface="Quattrocento Sans" pitchFamily="34" charset="-120"/>
              </a:rPr>
              <a:t>Minimax Game: Generator tries to fool Discriminator</a:t>
            </a:r>
            <a:endParaRPr lang="en-US" sz="1600" dirty="0"/>
          </a:p>
        </p:txBody>
      </p:sp>
      <p:sp>
        <p:nvSpPr>
          <p:cNvPr id="40" name="Shape 38"/>
          <p:cNvSpPr/>
          <p:nvPr/>
        </p:nvSpPr>
        <p:spPr>
          <a:xfrm>
            <a:off x="6176963" y="4348163"/>
            <a:ext cx="5629275" cy="1266825"/>
          </a:xfrm>
          <a:custGeom>
            <a:avLst/>
            <a:gdLst/>
            <a:ahLst/>
            <a:cxnLst/>
            <a:rect l="l" t="t" r="r" b="b"/>
            <a:pathLst>
              <a:path w="5629275" h="1266825">
                <a:moveTo>
                  <a:pt x="76200" y="0"/>
                </a:moveTo>
                <a:lnTo>
                  <a:pt x="5553075" y="0"/>
                </a:lnTo>
                <a:cubicBezTo>
                  <a:pt x="5595159" y="0"/>
                  <a:pt x="5629275" y="34116"/>
                  <a:pt x="5629275" y="76200"/>
                </a:cubicBezTo>
                <a:lnTo>
                  <a:pt x="5629275" y="1190625"/>
                </a:lnTo>
                <a:cubicBezTo>
                  <a:pt x="5629275" y="1232709"/>
                  <a:pt x="5595159" y="1266825"/>
                  <a:pt x="5553075" y="1266825"/>
                </a:cubicBezTo>
                <a:lnTo>
                  <a:pt x="76200" y="1266825"/>
                </a:lnTo>
                <a:cubicBezTo>
                  <a:pt x="34116" y="1266825"/>
                  <a:pt x="0" y="1232709"/>
                  <a:pt x="0" y="1190625"/>
                </a:cubicBezTo>
                <a:lnTo>
                  <a:pt x="0" y="76200"/>
                </a:lnTo>
                <a:cubicBezTo>
                  <a:pt x="0" y="34144"/>
                  <a:pt x="34144" y="0"/>
                  <a:pt x="76200" y="0"/>
                </a:cubicBezTo>
                <a:close/>
              </a:path>
            </a:pathLst>
          </a:custGeom>
          <a:solidFill>
            <a:srgbClr val="FFD54F">
              <a:alpha val="10196"/>
            </a:srgbClr>
          </a:solidFill>
          <a:ln w="12700">
            <a:solidFill>
              <a:srgbClr val="FFD54F">
                <a:alpha val="30196"/>
              </a:srgbClr>
            </a:solidFill>
            <a:prstDash val="solid"/>
          </a:ln>
        </p:spPr>
      </p:sp>
      <p:sp>
        <p:nvSpPr>
          <p:cNvPr id="41" name="Text 39"/>
          <p:cNvSpPr/>
          <p:nvPr/>
        </p:nvSpPr>
        <p:spPr>
          <a:xfrm>
            <a:off x="6296025" y="4467225"/>
            <a:ext cx="546735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Applications</a:t>
            </a:r>
            <a:endParaRPr lang="en-US" sz="1600" dirty="0"/>
          </a:p>
        </p:txBody>
      </p:sp>
      <p:sp>
        <p:nvSpPr>
          <p:cNvPr id="42" name="Shape 40"/>
          <p:cNvSpPr/>
          <p:nvPr/>
        </p:nvSpPr>
        <p:spPr>
          <a:xfrm>
            <a:off x="6323409" y="4800600"/>
            <a:ext cx="116681" cy="133350"/>
          </a:xfrm>
          <a:custGeom>
            <a:avLst/>
            <a:gdLst/>
            <a:ahLst/>
            <a:cxnLst/>
            <a:rect l="l" t="t" r="r" b="b"/>
            <a:pathLst>
              <a:path w="116681" h="133350">
                <a:moveTo>
                  <a:pt x="16669" y="8334"/>
                </a:moveTo>
                <a:cubicBezTo>
                  <a:pt x="7475" y="8334"/>
                  <a:pt x="0" y="15809"/>
                  <a:pt x="0" y="25003"/>
                </a:cubicBezTo>
                <a:lnTo>
                  <a:pt x="0" y="108347"/>
                </a:lnTo>
                <a:cubicBezTo>
                  <a:pt x="0" y="117541"/>
                  <a:pt x="7475" y="125016"/>
                  <a:pt x="16669" y="125016"/>
                </a:cubicBezTo>
                <a:lnTo>
                  <a:pt x="100013" y="125016"/>
                </a:lnTo>
                <a:cubicBezTo>
                  <a:pt x="109206" y="125016"/>
                  <a:pt x="116681" y="117541"/>
                  <a:pt x="116681" y="108347"/>
                </a:cubicBezTo>
                <a:lnTo>
                  <a:pt x="116681" y="25003"/>
                </a:lnTo>
                <a:cubicBezTo>
                  <a:pt x="116681" y="15809"/>
                  <a:pt x="109206" y="8334"/>
                  <a:pt x="100013" y="8334"/>
                </a:cubicBezTo>
                <a:lnTo>
                  <a:pt x="16669" y="8334"/>
                </a:lnTo>
                <a:close/>
                <a:moveTo>
                  <a:pt x="33337" y="29170"/>
                </a:moveTo>
                <a:cubicBezTo>
                  <a:pt x="40237" y="29170"/>
                  <a:pt x="45839" y="34772"/>
                  <a:pt x="45839" y="41672"/>
                </a:cubicBezTo>
                <a:cubicBezTo>
                  <a:pt x="45839" y="48572"/>
                  <a:pt x="40237" y="54173"/>
                  <a:pt x="33337" y="54173"/>
                </a:cubicBezTo>
                <a:cubicBezTo>
                  <a:pt x="26438" y="54173"/>
                  <a:pt x="20836" y="48572"/>
                  <a:pt x="20836" y="41672"/>
                </a:cubicBezTo>
                <a:cubicBezTo>
                  <a:pt x="20836" y="34772"/>
                  <a:pt x="26438" y="29170"/>
                  <a:pt x="33337" y="29170"/>
                </a:cubicBezTo>
                <a:close/>
                <a:moveTo>
                  <a:pt x="70842" y="58341"/>
                </a:moveTo>
                <a:cubicBezTo>
                  <a:pt x="73030" y="58341"/>
                  <a:pt x="75035" y="59487"/>
                  <a:pt x="76181" y="61336"/>
                </a:cubicBezTo>
                <a:lnTo>
                  <a:pt x="99101" y="98840"/>
                </a:lnTo>
                <a:cubicBezTo>
                  <a:pt x="100273" y="100768"/>
                  <a:pt x="100325" y="103190"/>
                  <a:pt x="99231" y="105169"/>
                </a:cubicBezTo>
                <a:cubicBezTo>
                  <a:pt x="98137" y="107149"/>
                  <a:pt x="96028" y="108347"/>
                  <a:pt x="93762" y="108347"/>
                </a:cubicBezTo>
                <a:lnTo>
                  <a:pt x="22920" y="108347"/>
                </a:lnTo>
                <a:cubicBezTo>
                  <a:pt x="20602" y="108347"/>
                  <a:pt x="18440" y="107045"/>
                  <a:pt x="17372" y="104987"/>
                </a:cubicBezTo>
                <a:cubicBezTo>
                  <a:pt x="16304" y="102930"/>
                  <a:pt x="16460" y="100429"/>
                  <a:pt x="17789" y="98528"/>
                </a:cubicBezTo>
                <a:lnTo>
                  <a:pt x="32374" y="77692"/>
                </a:lnTo>
                <a:cubicBezTo>
                  <a:pt x="33546" y="76025"/>
                  <a:pt x="35447" y="75035"/>
                  <a:pt x="37505" y="75035"/>
                </a:cubicBezTo>
                <a:cubicBezTo>
                  <a:pt x="39562" y="75035"/>
                  <a:pt x="41464" y="76025"/>
                  <a:pt x="42636" y="77692"/>
                </a:cubicBezTo>
                <a:lnTo>
                  <a:pt x="49511" y="87537"/>
                </a:lnTo>
                <a:lnTo>
                  <a:pt x="65503" y="61362"/>
                </a:lnTo>
                <a:cubicBezTo>
                  <a:pt x="66649" y="59513"/>
                  <a:pt x="68654" y="58367"/>
                  <a:pt x="70842" y="58367"/>
                </a:cubicBezTo>
                <a:close/>
              </a:path>
            </a:pathLst>
          </a:custGeom>
          <a:solidFill>
            <a:srgbClr val="4DB6AC"/>
          </a:solidFill>
          <a:ln/>
        </p:spPr>
      </p:sp>
      <p:sp>
        <p:nvSpPr>
          <p:cNvPr id="43" name="Text 41"/>
          <p:cNvSpPr/>
          <p:nvPr/>
        </p:nvSpPr>
        <p:spPr>
          <a:xfrm>
            <a:off x="6538913" y="4772025"/>
            <a:ext cx="10001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Image Synthesis</a:t>
            </a:r>
            <a:endParaRPr lang="en-US" sz="1600" dirty="0"/>
          </a:p>
        </p:txBody>
      </p:sp>
      <p:sp>
        <p:nvSpPr>
          <p:cNvPr id="44" name="Shape 42"/>
          <p:cNvSpPr/>
          <p:nvPr/>
        </p:nvSpPr>
        <p:spPr>
          <a:xfrm>
            <a:off x="9057084" y="4800600"/>
            <a:ext cx="116681" cy="133350"/>
          </a:xfrm>
          <a:custGeom>
            <a:avLst/>
            <a:gdLst/>
            <a:ahLst/>
            <a:cxnLst/>
            <a:rect l="l" t="t" r="r" b="b"/>
            <a:pathLst>
              <a:path w="116681" h="133350">
                <a:moveTo>
                  <a:pt x="43755" y="8334"/>
                </a:moveTo>
                <a:lnTo>
                  <a:pt x="6251" y="8334"/>
                </a:lnTo>
                <a:cubicBezTo>
                  <a:pt x="2787" y="8334"/>
                  <a:pt x="0" y="11121"/>
                  <a:pt x="0" y="14585"/>
                </a:cubicBezTo>
                <a:lnTo>
                  <a:pt x="0" y="52090"/>
                </a:lnTo>
                <a:cubicBezTo>
                  <a:pt x="0" y="54616"/>
                  <a:pt x="1511" y="56908"/>
                  <a:pt x="3855" y="57872"/>
                </a:cubicBezTo>
                <a:cubicBezTo>
                  <a:pt x="6199" y="58835"/>
                  <a:pt x="8881" y="58289"/>
                  <a:pt x="10678" y="56517"/>
                </a:cubicBezTo>
                <a:lnTo>
                  <a:pt x="21096" y="46100"/>
                </a:lnTo>
                <a:lnTo>
                  <a:pt x="41672" y="66675"/>
                </a:lnTo>
                <a:lnTo>
                  <a:pt x="21096" y="87250"/>
                </a:lnTo>
                <a:lnTo>
                  <a:pt x="10678" y="76833"/>
                </a:lnTo>
                <a:cubicBezTo>
                  <a:pt x="8881" y="75035"/>
                  <a:pt x="6199" y="74515"/>
                  <a:pt x="3855" y="75478"/>
                </a:cubicBezTo>
                <a:cubicBezTo>
                  <a:pt x="1511" y="76442"/>
                  <a:pt x="0" y="78734"/>
                  <a:pt x="0" y="81260"/>
                </a:cubicBezTo>
                <a:lnTo>
                  <a:pt x="0" y="118765"/>
                </a:lnTo>
                <a:cubicBezTo>
                  <a:pt x="0" y="122229"/>
                  <a:pt x="2787" y="125016"/>
                  <a:pt x="6251" y="125016"/>
                </a:cubicBezTo>
                <a:lnTo>
                  <a:pt x="43755" y="125016"/>
                </a:lnTo>
                <a:cubicBezTo>
                  <a:pt x="46282" y="125016"/>
                  <a:pt x="48574" y="123505"/>
                  <a:pt x="49537" y="121161"/>
                </a:cubicBezTo>
                <a:cubicBezTo>
                  <a:pt x="50501" y="118817"/>
                  <a:pt x="49980" y="116134"/>
                  <a:pt x="48183" y="114337"/>
                </a:cubicBezTo>
                <a:lnTo>
                  <a:pt x="37765" y="103919"/>
                </a:lnTo>
                <a:lnTo>
                  <a:pt x="58341" y="83344"/>
                </a:lnTo>
                <a:lnTo>
                  <a:pt x="78916" y="103919"/>
                </a:lnTo>
                <a:lnTo>
                  <a:pt x="68498" y="114337"/>
                </a:lnTo>
                <a:cubicBezTo>
                  <a:pt x="66701" y="116134"/>
                  <a:pt x="66180" y="118817"/>
                  <a:pt x="67144" y="121161"/>
                </a:cubicBezTo>
                <a:cubicBezTo>
                  <a:pt x="68107" y="123505"/>
                  <a:pt x="70399" y="125016"/>
                  <a:pt x="72926" y="125016"/>
                </a:cubicBezTo>
                <a:lnTo>
                  <a:pt x="110430" y="125016"/>
                </a:lnTo>
                <a:cubicBezTo>
                  <a:pt x="113894" y="125016"/>
                  <a:pt x="116681" y="122229"/>
                  <a:pt x="116681" y="118765"/>
                </a:cubicBezTo>
                <a:lnTo>
                  <a:pt x="116681" y="81260"/>
                </a:lnTo>
                <a:cubicBezTo>
                  <a:pt x="116681" y="78734"/>
                  <a:pt x="115171" y="76442"/>
                  <a:pt x="112827" y="75478"/>
                </a:cubicBezTo>
                <a:cubicBezTo>
                  <a:pt x="110483" y="74515"/>
                  <a:pt x="107800" y="75035"/>
                  <a:pt x="106003" y="76833"/>
                </a:cubicBezTo>
                <a:lnTo>
                  <a:pt x="95585" y="87250"/>
                </a:lnTo>
                <a:lnTo>
                  <a:pt x="75009" y="66675"/>
                </a:lnTo>
                <a:lnTo>
                  <a:pt x="95585" y="46100"/>
                </a:lnTo>
                <a:lnTo>
                  <a:pt x="106003" y="56517"/>
                </a:lnTo>
                <a:cubicBezTo>
                  <a:pt x="107800" y="58315"/>
                  <a:pt x="110483" y="58835"/>
                  <a:pt x="112827" y="57872"/>
                </a:cubicBezTo>
                <a:cubicBezTo>
                  <a:pt x="115171" y="56908"/>
                  <a:pt x="116681" y="54616"/>
                  <a:pt x="116681" y="52090"/>
                </a:cubicBezTo>
                <a:lnTo>
                  <a:pt x="116681" y="14585"/>
                </a:lnTo>
                <a:cubicBezTo>
                  <a:pt x="116681" y="11121"/>
                  <a:pt x="113894" y="8334"/>
                  <a:pt x="110430" y="8334"/>
                </a:cubicBezTo>
                <a:lnTo>
                  <a:pt x="72926" y="8334"/>
                </a:lnTo>
                <a:cubicBezTo>
                  <a:pt x="70399" y="8334"/>
                  <a:pt x="68107" y="9845"/>
                  <a:pt x="67144" y="12189"/>
                </a:cubicBezTo>
                <a:cubicBezTo>
                  <a:pt x="66180" y="14533"/>
                  <a:pt x="66727" y="17216"/>
                  <a:pt x="68498" y="19013"/>
                </a:cubicBezTo>
                <a:lnTo>
                  <a:pt x="78916" y="29431"/>
                </a:lnTo>
                <a:lnTo>
                  <a:pt x="58341" y="50006"/>
                </a:lnTo>
                <a:lnTo>
                  <a:pt x="37765" y="29431"/>
                </a:lnTo>
                <a:lnTo>
                  <a:pt x="48183" y="19013"/>
                </a:lnTo>
                <a:cubicBezTo>
                  <a:pt x="49980" y="17216"/>
                  <a:pt x="50501" y="14533"/>
                  <a:pt x="49537" y="12189"/>
                </a:cubicBezTo>
                <a:cubicBezTo>
                  <a:pt x="48574" y="9845"/>
                  <a:pt x="46282" y="8334"/>
                  <a:pt x="43755" y="8334"/>
                </a:cubicBezTo>
                <a:close/>
              </a:path>
            </a:pathLst>
          </a:custGeom>
          <a:solidFill>
            <a:srgbClr val="4DB6AC"/>
          </a:solidFill>
          <a:ln/>
        </p:spPr>
      </p:sp>
      <p:sp>
        <p:nvSpPr>
          <p:cNvPr id="45" name="Text 43"/>
          <p:cNvSpPr/>
          <p:nvPr/>
        </p:nvSpPr>
        <p:spPr>
          <a:xfrm>
            <a:off x="9272588" y="4772025"/>
            <a:ext cx="11811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Data Augmentation</a:t>
            </a:r>
            <a:endParaRPr lang="en-US" sz="1600" dirty="0"/>
          </a:p>
        </p:txBody>
      </p:sp>
      <p:sp>
        <p:nvSpPr>
          <p:cNvPr id="46" name="Shape 44"/>
          <p:cNvSpPr/>
          <p:nvPr/>
        </p:nvSpPr>
        <p:spPr>
          <a:xfrm>
            <a:off x="6315075" y="5067300"/>
            <a:ext cx="133350" cy="133350"/>
          </a:xfrm>
          <a:custGeom>
            <a:avLst/>
            <a:gdLst/>
            <a:ahLst/>
            <a:cxnLst/>
            <a:rect l="l" t="t" r="r" b="b"/>
            <a:pathLst>
              <a:path w="133350" h="133350">
                <a:moveTo>
                  <a:pt x="103789" y="3177"/>
                </a:moveTo>
                <a:lnTo>
                  <a:pt x="80817" y="26149"/>
                </a:lnTo>
                <a:lnTo>
                  <a:pt x="107201" y="52533"/>
                </a:lnTo>
                <a:lnTo>
                  <a:pt x="130173" y="29561"/>
                </a:lnTo>
                <a:cubicBezTo>
                  <a:pt x="132204" y="27503"/>
                  <a:pt x="133350" y="24743"/>
                  <a:pt x="133350" y="21878"/>
                </a:cubicBezTo>
                <a:cubicBezTo>
                  <a:pt x="133350" y="19013"/>
                  <a:pt x="132204" y="16252"/>
                  <a:pt x="130173" y="14194"/>
                </a:cubicBezTo>
                <a:lnTo>
                  <a:pt x="119156" y="3177"/>
                </a:lnTo>
                <a:cubicBezTo>
                  <a:pt x="117098" y="1146"/>
                  <a:pt x="114337" y="0"/>
                  <a:pt x="111472" y="0"/>
                </a:cubicBezTo>
                <a:cubicBezTo>
                  <a:pt x="108607" y="0"/>
                  <a:pt x="105847" y="1146"/>
                  <a:pt x="103789" y="3177"/>
                </a:cubicBezTo>
                <a:close/>
                <a:moveTo>
                  <a:pt x="71988" y="34978"/>
                </a:moveTo>
                <a:lnTo>
                  <a:pt x="3177" y="103789"/>
                </a:lnTo>
                <a:cubicBezTo>
                  <a:pt x="1146" y="105847"/>
                  <a:pt x="0" y="108607"/>
                  <a:pt x="0" y="111472"/>
                </a:cubicBezTo>
                <a:cubicBezTo>
                  <a:pt x="0" y="114337"/>
                  <a:pt x="1146" y="117098"/>
                  <a:pt x="3177" y="119156"/>
                </a:cubicBezTo>
                <a:lnTo>
                  <a:pt x="14194" y="130173"/>
                </a:lnTo>
                <a:cubicBezTo>
                  <a:pt x="16252" y="132204"/>
                  <a:pt x="19013" y="133350"/>
                  <a:pt x="21878" y="133350"/>
                </a:cubicBezTo>
                <a:cubicBezTo>
                  <a:pt x="24743" y="133350"/>
                  <a:pt x="27503" y="132204"/>
                  <a:pt x="29561" y="130173"/>
                </a:cubicBezTo>
                <a:lnTo>
                  <a:pt x="98372" y="61362"/>
                </a:lnTo>
                <a:lnTo>
                  <a:pt x="71988" y="34978"/>
                </a:lnTo>
                <a:close/>
              </a:path>
            </a:pathLst>
          </a:custGeom>
          <a:solidFill>
            <a:srgbClr val="FFD54F"/>
          </a:solidFill>
          <a:ln/>
        </p:spPr>
      </p:sp>
      <p:sp>
        <p:nvSpPr>
          <p:cNvPr id="47" name="Text 45"/>
          <p:cNvSpPr/>
          <p:nvPr/>
        </p:nvSpPr>
        <p:spPr>
          <a:xfrm>
            <a:off x="6538913" y="5038725"/>
            <a:ext cx="8572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Style Transfer</a:t>
            </a:r>
            <a:endParaRPr lang="en-US" sz="1600" dirty="0"/>
          </a:p>
        </p:txBody>
      </p:sp>
      <p:sp>
        <p:nvSpPr>
          <p:cNvPr id="48" name="Shape 46"/>
          <p:cNvSpPr/>
          <p:nvPr/>
        </p:nvSpPr>
        <p:spPr>
          <a:xfrm>
            <a:off x="9048750" y="5067300"/>
            <a:ext cx="133350" cy="133350"/>
          </a:xfrm>
          <a:custGeom>
            <a:avLst/>
            <a:gdLst/>
            <a:ahLst/>
            <a:cxnLst/>
            <a:rect l="l" t="t" r="r" b="b"/>
            <a:pathLst>
              <a:path w="133350" h="133350">
                <a:moveTo>
                  <a:pt x="133350" y="66675"/>
                </a:moveTo>
                <a:cubicBezTo>
                  <a:pt x="133350" y="66909"/>
                  <a:pt x="133350" y="67144"/>
                  <a:pt x="133350" y="67378"/>
                </a:cubicBezTo>
                <a:cubicBezTo>
                  <a:pt x="133246" y="76885"/>
                  <a:pt x="124599" y="83344"/>
                  <a:pt x="115093" y="83344"/>
                </a:cubicBezTo>
                <a:lnTo>
                  <a:pt x="89595" y="83344"/>
                </a:lnTo>
                <a:cubicBezTo>
                  <a:pt x="82693" y="83344"/>
                  <a:pt x="77093" y="88943"/>
                  <a:pt x="77093" y="95845"/>
                </a:cubicBezTo>
                <a:cubicBezTo>
                  <a:pt x="77093" y="96731"/>
                  <a:pt x="77197" y="97590"/>
                  <a:pt x="77353" y="98424"/>
                </a:cubicBezTo>
                <a:cubicBezTo>
                  <a:pt x="77900" y="101080"/>
                  <a:pt x="79046" y="103633"/>
                  <a:pt x="80166" y="106211"/>
                </a:cubicBezTo>
                <a:cubicBezTo>
                  <a:pt x="81755" y="109805"/>
                  <a:pt x="83318" y="113374"/>
                  <a:pt x="83318" y="117150"/>
                </a:cubicBezTo>
                <a:cubicBezTo>
                  <a:pt x="83318" y="125432"/>
                  <a:pt x="77692" y="132959"/>
                  <a:pt x="69410" y="133298"/>
                </a:cubicBezTo>
                <a:cubicBezTo>
                  <a:pt x="68498" y="133324"/>
                  <a:pt x="67587" y="133350"/>
                  <a:pt x="66649" y="133350"/>
                </a:cubicBezTo>
                <a:cubicBezTo>
                  <a:pt x="29821" y="133350"/>
                  <a:pt x="-26" y="103503"/>
                  <a:pt x="-26" y="66675"/>
                </a:cubicBezTo>
                <a:cubicBezTo>
                  <a:pt x="-26" y="29847"/>
                  <a:pt x="29847" y="0"/>
                  <a:pt x="66675" y="0"/>
                </a:cubicBezTo>
                <a:cubicBezTo>
                  <a:pt x="103503" y="0"/>
                  <a:pt x="133350" y="29847"/>
                  <a:pt x="133350" y="66675"/>
                </a:cubicBezTo>
                <a:close/>
                <a:moveTo>
                  <a:pt x="33337" y="75009"/>
                </a:moveTo>
                <a:cubicBezTo>
                  <a:pt x="33337" y="70410"/>
                  <a:pt x="29603" y="66675"/>
                  <a:pt x="25003" y="66675"/>
                </a:cubicBezTo>
                <a:cubicBezTo>
                  <a:pt x="20403" y="66675"/>
                  <a:pt x="16669" y="70410"/>
                  <a:pt x="16669" y="75009"/>
                </a:cubicBezTo>
                <a:cubicBezTo>
                  <a:pt x="16669" y="79609"/>
                  <a:pt x="20403" y="83344"/>
                  <a:pt x="25003" y="83344"/>
                </a:cubicBezTo>
                <a:cubicBezTo>
                  <a:pt x="29603" y="83344"/>
                  <a:pt x="33337" y="79609"/>
                  <a:pt x="33337" y="75009"/>
                </a:cubicBezTo>
                <a:close/>
                <a:moveTo>
                  <a:pt x="33337" y="50006"/>
                </a:moveTo>
                <a:cubicBezTo>
                  <a:pt x="37937" y="50006"/>
                  <a:pt x="41672" y="46272"/>
                  <a:pt x="41672" y="41672"/>
                </a:cubicBezTo>
                <a:cubicBezTo>
                  <a:pt x="41672" y="37072"/>
                  <a:pt x="37937" y="33337"/>
                  <a:pt x="33337" y="33337"/>
                </a:cubicBezTo>
                <a:cubicBezTo>
                  <a:pt x="28738" y="33337"/>
                  <a:pt x="25003" y="37072"/>
                  <a:pt x="25003" y="41672"/>
                </a:cubicBezTo>
                <a:cubicBezTo>
                  <a:pt x="25003" y="46272"/>
                  <a:pt x="28738" y="50006"/>
                  <a:pt x="33337" y="50006"/>
                </a:cubicBezTo>
                <a:close/>
                <a:moveTo>
                  <a:pt x="75009" y="25003"/>
                </a:moveTo>
                <a:cubicBezTo>
                  <a:pt x="75009" y="20403"/>
                  <a:pt x="71275" y="16669"/>
                  <a:pt x="66675" y="16669"/>
                </a:cubicBezTo>
                <a:cubicBezTo>
                  <a:pt x="62075" y="16669"/>
                  <a:pt x="58341" y="20403"/>
                  <a:pt x="58341" y="25003"/>
                </a:cubicBezTo>
                <a:cubicBezTo>
                  <a:pt x="58341" y="29603"/>
                  <a:pt x="62075" y="33337"/>
                  <a:pt x="66675" y="33337"/>
                </a:cubicBezTo>
                <a:cubicBezTo>
                  <a:pt x="71275" y="33337"/>
                  <a:pt x="75009" y="29603"/>
                  <a:pt x="75009" y="25003"/>
                </a:cubicBezTo>
                <a:close/>
                <a:moveTo>
                  <a:pt x="100013" y="50006"/>
                </a:moveTo>
                <a:cubicBezTo>
                  <a:pt x="104612" y="50006"/>
                  <a:pt x="108347" y="46272"/>
                  <a:pt x="108347" y="41672"/>
                </a:cubicBezTo>
                <a:cubicBezTo>
                  <a:pt x="108347" y="37072"/>
                  <a:pt x="104612" y="33337"/>
                  <a:pt x="100013" y="33337"/>
                </a:cubicBezTo>
                <a:cubicBezTo>
                  <a:pt x="95413" y="33337"/>
                  <a:pt x="91678" y="37072"/>
                  <a:pt x="91678" y="41672"/>
                </a:cubicBezTo>
                <a:cubicBezTo>
                  <a:pt x="91678" y="46272"/>
                  <a:pt x="95413" y="50006"/>
                  <a:pt x="100013" y="50006"/>
                </a:cubicBezTo>
                <a:close/>
              </a:path>
            </a:pathLst>
          </a:custGeom>
          <a:solidFill>
            <a:srgbClr val="FFD54F"/>
          </a:solidFill>
          <a:ln/>
        </p:spPr>
      </p:sp>
      <p:sp>
        <p:nvSpPr>
          <p:cNvPr id="49" name="Text 47"/>
          <p:cNvSpPr/>
          <p:nvPr/>
        </p:nvSpPr>
        <p:spPr>
          <a:xfrm>
            <a:off x="9272588" y="5038725"/>
            <a:ext cx="904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Art Generation</a:t>
            </a:r>
            <a:endParaRPr lang="en-US" sz="1600" dirty="0"/>
          </a:p>
        </p:txBody>
      </p:sp>
      <p:sp>
        <p:nvSpPr>
          <p:cNvPr id="50" name="Shape 48"/>
          <p:cNvSpPr/>
          <p:nvPr/>
        </p:nvSpPr>
        <p:spPr>
          <a:xfrm>
            <a:off x="6315075" y="5334000"/>
            <a:ext cx="133350" cy="133350"/>
          </a:xfrm>
          <a:custGeom>
            <a:avLst/>
            <a:gdLst/>
            <a:ahLst/>
            <a:cxnLst/>
            <a:rect l="l" t="t" r="r" b="b"/>
            <a:pathLst>
              <a:path w="133350" h="133350">
                <a:moveTo>
                  <a:pt x="121890" y="1823"/>
                </a:moveTo>
                <a:cubicBezTo>
                  <a:pt x="123870" y="3412"/>
                  <a:pt x="125016" y="5808"/>
                  <a:pt x="125016" y="8334"/>
                </a:cubicBezTo>
                <a:lnTo>
                  <a:pt x="125016" y="87511"/>
                </a:lnTo>
                <a:cubicBezTo>
                  <a:pt x="125016" y="99023"/>
                  <a:pt x="113816" y="108347"/>
                  <a:pt x="100013" y="108347"/>
                </a:cubicBezTo>
                <a:cubicBezTo>
                  <a:pt x="86209" y="108347"/>
                  <a:pt x="75009" y="99023"/>
                  <a:pt x="75009" y="87511"/>
                </a:cubicBezTo>
                <a:cubicBezTo>
                  <a:pt x="75009" y="75999"/>
                  <a:pt x="86209" y="66675"/>
                  <a:pt x="100013" y="66675"/>
                </a:cubicBezTo>
                <a:cubicBezTo>
                  <a:pt x="102930" y="66675"/>
                  <a:pt x="105742" y="67092"/>
                  <a:pt x="108347" y="67873"/>
                </a:cubicBezTo>
                <a:lnTo>
                  <a:pt x="108347" y="37479"/>
                </a:lnTo>
                <a:lnTo>
                  <a:pt x="50006" y="50449"/>
                </a:lnTo>
                <a:lnTo>
                  <a:pt x="50006" y="104180"/>
                </a:lnTo>
                <a:cubicBezTo>
                  <a:pt x="50006" y="115692"/>
                  <a:pt x="38807" y="125016"/>
                  <a:pt x="25003" y="125016"/>
                </a:cubicBezTo>
                <a:cubicBezTo>
                  <a:pt x="11199" y="125016"/>
                  <a:pt x="0" y="115692"/>
                  <a:pt x="0" y="104180"/>
                </a:cubicBezTo>
                <a:cubicBezTo>
                  <a:pt x="0" y="92668"/>
                  <a:pt x="11199" y="83344"/>
                  <a:pt x="25003" y="83344"/>
                </a:cubicBezTo>
                <a:cubicBezTo>
                  <a:pt x="27920" y="83344"/>
                  <a:pt x="30733" y="83760"/>
                  <a:pt x="33337" y="84542"/>
                </a:cubicBezTo>
                <a:lnTo>
                  <a:pt x="33337" y="25003"/>
                </a:lnTo>
                <a:cubicBezTo>
                  <a:pt x="33337" y="21096"/>
                  <a:pt x="36046" y="17711"/>
                  <a:pt x="39875" y="16877"/>
                </a:cubicBezTo>
                <a:lnTo>
                  <a:pt x="114884" y="208"/>
                </a:lnTo>
                <a:cubicBezTo>
                  <a:pt x="117358" y="-339"/>
                  <a:pt x="119937" y="260"/>
                  <a:pt x="121916" y="1849"/>
                </a:cubicBezTo>
                <a:close/>
              </a:path>
            </a:pathLst>
          </a:custGeom>
          <a:solidFill>
            <a:srgbClr val="4DB6AC"/>
          </a:solidFill>
          <a:ln/>
        </p:spPr>
      </p:sp>
      <p:sp>
        <p:nvSpPr>
          <p:cNvPr id="51" name="Text 49"/>
          <p:cNvSpPr/>
          <p:nvPr/>
        </p:nvSpPr>
        <p:spPr>
          <a:xfrm>
            <a:off x="6538913" y="5305425"/>
            <a:ext cx="9239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Music Creation</a:t>
            </a:r>
            <a:endParaRPr lang="en-US" sz="1600" dirty="0"/>
          </a:p>
        </p:txBody>
      </p:sp>
      <p:sp>
        <p:nvSpPr>
          <p:cNvPr id="52" name="Shape 50"/>
          <p:cNvSpPr/>
          <p:nvPr/>
        </p:nvSpPr>
        <p:spPr>
          <a:xfrm>
            <a:off x="9040416" y="5334000"/>
            <a:ext cx="150019" cy="133350"/>
          </a:xfrm>
          <a:custGeom>
            <a:avLst/>
            <a:gdLst/>
            <a:ahLst/>
            <a:cxnLst/>
            <a:rect l="l" t="t" r="r" b="b"/>
            <a:pathLst>
              <a:path w="150019" h="133350">
                <a:moveTo>
                  <a:pt x="25003" y="16669"/>
                </a:moveTo>
                <a:cubicBezTo>
                  <a:pt x="15809" y="16669"/>
                  <a:pt x="8334" y="24144"/>
                  <a:pt x="8334" y="33337"/>
                </a:cubicBezTo>
                <a:lnTo>
                  <a:pt x="8334" y="100013"/>
                </a:lnTo>
                <a:cubicBezTo>
                  <a:pt x="8334" y="109206"/>
                  <a:pt x="15809" y="116681"/>
                  <a:pt x="25003" y="116681"/>
                </a:cubicBezTo>
                <a:lnTo>
                  <a:pt x="91678" y="116681"/>
                </a:lnTo>
                <a:cubicBezTo>
                  <a:pt x="100872" y="116681"/>
                  <a:pt x="108347" y="109206"/>
                  <a:pt x="108347" y="100013"/>
                </a:cubicBezTo>
                <a:lnTo>
                  <a:pt x="108347" y="33337"/>
                </a:lnTo>
                <a:cubicBezTo>
                  <a:pt x="108347" y="24144"/>
                  <a:pt x="100872" y="16669"/>
                  <a:pt x="91678" y="16669"/>
                </a:cubicBezTo>
                <a:lnTo>
                  <a:pt x="25003" y="16669"/>
                </a:lnTo>
                <a:close/>
                <a:moveTo>
                  <a:pt x="120848" y="87511"/>
                </a:moveTo>
                <a:lnTo>
                  <a:pt x="139991" y="102825"/>
                </a:lnTo>
                <a:cubicBezTo>
                  <a:pt x="141085" y="103711"/>
                  <a:pt x="142440" y="104180"/>
                  <a:pt x="143846" y="104180"/>
                </a:cubicBezTo>
                <a:cubicBezTo>
                  <a:pt x="147258" y="104180"/>
                  <a:pt x="150019" y="101419"/>
                  <a:pt x="150019" y="98007"/>
                </a:cubicBezTo>
                <a:lnTo>
                  <a:pt x="150019" y="35343"/>
                </a:lnTo>
                <a:cubicBezTo>
                  <a:pt x="150019" y="31931"/>
                  <a:pt x="147258" y="29170"/>
                  <a:pt x="143846" y="29170"/>
                </a:cubicBezTo>
                <a:cubicBezTo>
                  <a:pt x="142440" y="29170"/>
                  <a:pt x="141085" y="29639"/>
                  <a:pt x="139991" y="30525"/>
                </a:cubicBezTo>
                <a:lnTo>
                  <a:pt x="120848" y="45839"/>
                </a:lnTo>
                <a:lnTo>
                  <a:pt x="120848" y="87511"/>
                </a:lnTo>
                <a:close/>
              </a:path>
            </a:pathLst>
          </a:custGeom>
          <a:solidFill>
            <a:srgbClr val="4DB6AC"/>
          </a:solidFill>
          <a:ln/>
        </p:spPr>
      </p:sp>
      <p:sp>
        <p:nvSpPr>
          <p:cNvPr id="53" name="Text 51"/>
          <p:cNvSpPr/>
          <p:nvPr/>
        </p:nvSpPr>
        <p:spPr>
          <a:xfrm>
            <a:off x="9272588" y="5305425"/>
            <a:ext cx="9810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Video Synthesis</a:t>
            </a:r>
            <a:endParaRPr lang="en-US" sz="1600" dirty="0"/>
          </a:p>
        </p:txBody>
      </p:sp>
      <p:sp>
        <p:nvSpPr>
          <p:cNvPr id="54" name="Shape 52"/>
          <p:cNvSpPr/>
          <p:nvPr/>
        </p:nvSpPr>
        <p:spPr>
          <a:xfrm>
            <a:off x="6176963" y="5700713"/>
            <a:ext cx="2771775" cy="771525"/>
          </a:xfrm>
          <a:custGeom>
            <a:avLst/>
            <a:gdLst/>
            <a:ahLst/>
            <a:cxnLst/>
            <a:rect l="l" t="t" r="r" b="b"/>
            <a:pathLst>
              <a:path w="2771775" h="771525">
                <a:moveTo>
                  <a:pt x="76204" y="0"/>
                </a:moveTo>
                <a:lnTo>
                  <a:pt x="2695571" y="0"/>
                </a:lnTo>
                <a:cubicBezTo>
                  <a:pt x="2737658" y="0"/>
                  <a:pt x="2771775" y="34117"/>
                  <a:pt x="2771775" y="76204"/>
                </a:cubicBezTo>
                <a:lnTo>
                  <a:pt x="2771775" y="695321"/>
                </a:lnTo>
                <a:cubicBezTo>
                  <a:pt x="2771775" y="737408"/>
                  <a:pt x="2737658" y="771525"/>
                  <a:pt x="2695571" y="771525"/>
                </a:cubicBezTo>
                <a:lnTo>
                  <a:pt x="76204" y="771525"/>
                </a:lnTo>
                <a:cubicBezTo>
                  <a:pt x="34117" y="771525"/>
                  <a:pt x="0" y="737408"/>
                  <a:pt x="0" y="695321"/>
                </a:cubicBezTo>
                <a:lnTo>
                  <a:pt x="0" y="76204"/>
                </a:lnTo>
                <a:cubicBezTo>
                  <a:pt x="0" y="34146"/>
                  <a:pt x="34146" y="0"/>
                  <a:pt x="76204" y="0"/>
                </a:cubicBezTo>
                <a:close/>
              </a:path>
            </a:pathLst>
          </a:custGeom>
          <a:solidFill>
            <a:srgbClr val="4DB6AC">
              <a:alpha val="10196"/>
            </a:srgbClr>
          </a:solidFill>
          <a:ln w="12700">
            <a:solidFill>
              <a:srgbClr val="4DB6AC">
                <a:alpha val="30196"/>
              </a:srgbClr>
            </a:solidFill>
            <a:prstDash val="solid"/>
          </a:ln>
        </p:spPr>
      </p:sp>
      <p:sp>
        <p:nvSpPr>
          <p:cNvPr id="55" name="Text 53"/>
          <p:cNvSpPr/>
          <p:nvPr/>
        </p:nvSpPr>
        <p:spPr>
          <a:xfrm>
            <a:off x="6238875" y="5819775"/>
            <a:ext cx="2647950" cy="304800"/>
          </a:xfrm>
          <a:prstGeom prst="rect">
            <a:avLst/>
          </a:prstGeom>
          <a:noFill/>
          <a:ln/>
        </p:spPr>
        <p:txBody>
          <a:bodyPr wrap="square" lIns="0" tIns="0" rIns="0" bIns="0" rtlCol="0" anchor="ctr"/>
          <a:lstStyle/>
          <a:p>
            <a:pPr algn="ctr">
              <a:lnSpc>
                <a:spcPct val="110000"/>
              </a:lnSpc>
            </a:pPr>
            <a:r>
              <a:rPr lang="en-US" sz="1800" b="1" dirty="0">
                <a:solidFill>
                  <a:srgbClr val="4DB6AC"/>
                </a:solidFill>
                <a:latin typeface="Liter" pitchFamily="34" charset="0"/>
                <a:ea typeface="Liter" pitchFamily="34" charset="-122"/>
                <a:cs typeface="Liter" pitchFamily="34" charset="-120"/>
              </a:rPr>
              <a:t>2014</a:t>
            </a:r>
            <a:endParaRPr lang="en-US" sz="1600" dirty="0"/>
          </a:p>
        </p:txBody>
      </p:sp>
      <p:sp>
        <p:nvSpPr>
          <p:cNvPr id="56" name="Text 54"/>
          <p:cNvSpPr/>
          <p:nvPr/>
        </p:nvSpPr>
        <p:spPr>
          <a:xfrm>
            <a:off x="6262688" y="616267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GANs Introduced</a:t>
            </a:r>
            <a:endParaRPr lang="en-US" sz="1600" dirty="0"/>
          </a:p>
        </p:txBody>
      </p:sp>
      <p:sp>
        <p:nvSpPr>
          <p:cNvPr id="57" name="Shape 55"/>
          <p:cNvSpPr/>
          <p:nvPr/>
        </p:nvSpPr>
        <p:spPr>
          <a:xfrm>
            <a:off x="9034463" y="5700713"/>
            <a:ext cx="2771775" cy="771525"/>
          </a:xfrm>
          <a:custGeom>
            <a:avLst/>
            <a:gdLst/>
            <a:ahLst/>
            <a:cxnLst/>
            <a:rect l="l" t="t" r="r" b="b"/>
            <a:pathLst>
              <a:path w="2771775" h="771525">
                <a:moveTo>
                  <a:pt x="76204" y="0"/>
                </a:moveTo>
                <a:lnTo>
                  <a:pt x="2695571" y="0"/>
                </a:lnTo>
                <a:cubicBezTo>
                  <a:pt x="2737658" y="0"/>
                  <a:pt x="2771775" y="34117"/>
                  <a:pt x="2771775" y="76204"/>
                </a:cubicBezTo>
                <a:lnTo>
                  <a:pt x="2771775" y="695321"/>
                </a:lnTo>
                <a:cubicBezTo>
                  <a:pt x="2771775" y="737408"/>
                  <a:pt x="2737658" y="771525"/>
                  <a:pt x="2695571" y="771525"/>
                </a:cubicBezTo>
                <a:lnTo>
                  <a:pt x="76204" y="771525"/>
                </a:lnTo>
                <a:cubicBezTo>
                  <a:pt x="34117" y="771525"/>
                  <a:pt x="0" y="737408"/>
                  <a:pt x="0" y="695321"/>
                </a:cubicBezTo>
                <a:lnTo>
                  <a:pt x="0" y="76204"/>
                </a:lnTo>
                <a:cubicBezTo>
                  <a:pt x="0" y="34146"/>
                  <a:pt x="34146" y="0"/>
                  <a:pt x="76204" y="0"/>
                </a:cubicBezTo>
                <a:close/>
              </a:path>
            </a:pathLst>
          </a:custGeom>
          <a:solidFill>
            <a:srgbClr val="FFD54F">
              <a:alpha val="10196"/>
            </a:srgbClr>
          </a:solidFill>
          <a:ln w="12700">
            <a:solidFill>
              <a:srgbClr val="FFD54F">
                <a:alpha val="30196"/>
              </a:srgbClr>
            </a:solidFill>
            <a:prstDash val="solid"/>
          </a:ln>
        </p:spPr>
      </p:sp>
      <p:sp>
        <p:nvSpPr>
          <p:cNvPr id="58" name="Text 56"/>
          <p:cNvSpPr/>
          <p:nvPr/>
        </p:nvSpPr>
        <p:spPr>
          <a:xfrm>
            <a:off x="9096375" y="5819775"/>
            <a:ext cx="2647950" cy="304800"/>
          </a:xfrm>
          <a:prstGeom prst="rect">
            <a:avLst/>
          </a:prstGeom>
          <a:noFill/>
          <a:ln/>
        </p:spPr>
        <p:txBody>
          <a:bodyPr wrap="square" lIns="0" tIns="0" rIns="0" bIns="0" rtlCol="0" anchor="ctr"/>
          <a:lstStyle/>
          <a:p>
            <a:pPr algn="ctr">
              <a:lnSpc>
                <a:spcPct val="110000"/>
              </a:lnSpc>
            </a:pPr>
            <a:r>
              <a:rPr lang="en-US" sz="1800" b="1" dirty="0">
                <a:solidFill>
                  <a:srgbClr val="FFD54F"/>
                </a:solidFill>
                <a:latin typeface="Liter" pitchFamily="34" charset="0"/>
                <a:ea typeface="Liter" pitchFamily="34" charset="-122"/>
                <a:cs typeface="Liter" pitchFamily="34" charset="-120"/>
              </a:rPr>
              <a:t>2022</a:t>
            </a:r>
            <a:endParaRPr lang="en-US" sz="1600" dirty="0"/>
          </a:p>
        </p:txBody>
      </p:sp>
      <p:sp>
        <p:nvSpPr>
          <p:cNvPr id="59" name="Text 57"/>
          <p:cNvSpPr/>
          <p:nvPr/>
        </p:nvSpPr>
        <p:spPr>
          <a:xfrm>
            <a:off x="9120188" y="6162675"/>
            <a:ext cx="2600325" cy="190500"/>
          </a:xfrm>
          <a:prstGeom prst="rect">
            <a:avLst/>
          </a:prstGeom>
          <a:noFill/>
          <a:ln/>
        </p:spPr>
        <p:txBody>
          <a:bodyPr wrap="square" lIns="0" tIns="0" rIns="0" bIns="0" rtlCol="0" anchor="ctr"/>
          <a:lstStyle/>
          <a:p>
            <a:pPr algn="ct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Diffusion Boom</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81000" y="381000"/>
            <a:ext cx="11601450" cy="381000"/>
          </a:xfrm>
          <a:prstGeom prst="rect">
            <a:avLst/>
          </a:prstGeom>
          <a:noFill/>
          <a:ln/>
        </p:spPr>
        <p:txBody>
          <a:bodyPr wrap="square" lIns="0" tIns="0" rIns="0" bIns="0" rtlCol="0" anchor="ctr"/>
          <a:lstStyle/>
          <a:p>
            <a:pPr>
              <a:lnSpc>
                <a:spcPct val="90000"/>
              </a:lnSpc>
            </a:pPr>
            <a:r>
              <a:rPr lang="en-US" sz="2700" b="1" dirty="0">
                <a:solidFill>
                  <a:srgbClr val="ECEFF1"/>
                </a:solidFill>
                <a:latin typeface="Liter" pitchFamily="34" charset="0"/>
                <a:ea typeface="Liter" pitchFamily="34" charset="-122"/>
                <a:cs typeface="Liter" pitchFamily="34" charset="-120"/>
              </a:rPr>
              <a:t>Deep Learning Frameworks</a:t>
            </a:r>
            <a:endParaRPr lang="en-US" sz="1600" dirty="0"/>
          </a:p>
        </p:txBody>
      </p:sp>
      <p:sp>
        <p:nvSpPr>
          <p:cNvPr id="3" name="Text 1"/>
          <p:cNvSpPr/>
          <p:nvPr/>
        </p:nvSpPr>
        <p:spPr>
          <a:xfrm>
            <a:off x="381000" y="800100"/>
            <a:ext cx="11544300" cy="304800"/>
          </a:xfrm>
          <a:prstGeom prst="rect">
            <a:avLst/>
          </a:prstGeom>
          <a:noFill/>
          <a:ln/>
        </p:spPr>
        <p:txBody>
          <a:bodyPr wrap="square" lIns="0" tIns="0" rIns="0" bIns="0" rtlCol="0" anchor="ctr"/>
          <a:lstStyle/>
          <a:p>
            <a:pPr>
              <a:lnSpc>
                <a:spcPct val="110000"/>
              </a:lnSpc>
            </a:pPr>
            <a:r>
              <a:rPr lang="en-US" sz="1800" b="1" dirty="0">
                <a:solidFill>
                  <a:srgbClr val="4DB6AC"/>
                </a:solidFill>
                <a:latin typeface="Hedvig Letters Sans" pitchFamily="34" charset="0"/>
                <a:ea typeface="Hedvig Letters Sans" pitchFamily="34" charset="-122"/>
                <a:cs typeface="Hedvig Letters Sans" pitchFamily="34" charset="-120"/>
              </a:rPr>
              <a:t>Kornizat e Mësimit të Thellë</a:t>
            </a:r>
            <a:endParaRPr lang="en-US" sz="1600" dirty="0"/>
          </a:p>
        </p:txBody>
      </p:sp>
      <p:sp>
        <p:nvSpPr>
          <p:cNvPr id="4" name="Shape 2"/>
          <p:cNvSpPr/>
          <p:nvPr/>
        </p:nvSpPr>
        <p:spPr>
          <a:xfrm>
            <a:off x="400050" y="1181100"/>
            <a:ext cx="5619750" cy="1524000"/>
          </a:xfrm>
          <a:custGeom>
            <a:avLst/>
            <a:gdLst/>
            <a:ahLst/>
            <a:cxnLst/>
            <a:rect l="l" t="t" r="r" b="b"/>
            <a:pathLst>
              <a:path w="5619750" h="1524000">
                <a:moveTo>
                  <a:pt x="0" y="0"/>
                </a:moveTo>
                <a:lnTo>
                  <a:pt x="5543550" y="0"/>
                </a:lnTo>
                <a:cubicBezTo>
                  <a:pt x="5585606" y="0"/>
                  <a:pt x="5619750" y="34144"/>
                  <a:pt x="5619750" y="76200"/>
                </a:cubicBezTo>
                <a:lnTo>
                  <a:pt x="5619750" y="1447800"/>
                </a:lnTo>
                <a:cubicBezTo>
                  <a:pt x="5619750" y="1489856"/>
                  <a:pt x="5585606" y="1524000"/>
                  <a:pt x="5543550" y="1524000"/>
                </a:cubicBezTo>
                <a:lnTo>
                  <a:pt x="0" y="1524000"/>
                </a:lnTo>
                <a:lnTo>
                  <a:pt x="0" y="0"/>
                </a:lnTo>
                <a:close/>
              </a:path>
            </a:pathLst>
          </a:custGeom>
          <a:solidFill>
            <a:srgbClr val="4DB6AC">
              <a:alpha val="10196"/>
            </a:srgbClr>
          </a:solidFill>
          <a:ln/>
        </p:spPr>
      </p:sp>
      <p:sp>
        <p:nvSpPr>
          <p:cNvPr id="5" name="Shape 3"/>
          <p:cNvSpPr/>
          <p:nvPr/>
        </p:nvSpPr>
        <p:spPr>
          <a:xfrm>
            <a:off x="400050" y="1181100"/>
            <a:ext cx="38100" cy="1524000"/>
          </a:xfrm>
          <a:custGeom>
            <a:avLst/>
            <a:gdLst/>
            <a:ahLst/>
            <a:cxnLst/>
            <a:rect l="l" t="t" r="r" b="b"/>
            <a:pathLst>
              <a:path w="38100" h="1524000">
                <a:moveTo>
                  <a:pt x="0" y="0"/>
                </a:moveTo>
                <a:lnTo>
                  <a:pt x="38100" y="0"/>
                </a:lnTo>
                <a:lnTo>
                  <a:pt x="38100" y="1524000"/>
                </a:lnTo>
                <a:lnTo>
                  <a:pt x="0" y="1524000"/>
                </a:lnTo>
                <a:lnTo>
                  <a:pt x="0" y="0"/>
                </a:lnTo>
                <a:close/>
              </a:path>
            </a:pathLst>
          </a:custGeom>
          <a:solidFill>
            <a:srgbClr val="4DB6AC"/>
          </a:solidFill>
          <a:ln/>
        </p:spPr>
      </p:sp>
      <p:sp>
        <p:nvSpPr>
          <p:cNvPr id="6" name="Text 4"/>
          <p:cNvSpPr/>
          <p:nvPr/>
        </p:nvSpPr>
        <p:spPr>
          <a:xfrm>
            <a:off x="533400" y="1295400"/>
            <a:ext cx="5448300" cy="628650"/>
          </a:xfrm>
          <a:prstGeom prst="rect">
            <a:avLst/>
          </a:prstGeom>
          <a:noFill/>
          <a:ln/>
        </p:spPr>
        <p:txBody>
          <a:bodyPr wrap="square" lIns="0" tIns="0" rIns="0" bIns="0" rtlCol="0" anchor="ctr"/>
          <a:lstStyle/>
          <a:p>
            <a:pPr>
              <a:lnSpc>
                <a:spcPct val="110000"/>
              </a:lnSpc>
            </a:pPr>
            <a:r>
              <a:rPr lang="en-US" sz="1200" b="1" dirty="0">
                <a:solidFill>
                  <a:srgbClr val="4DB6AC"/>
                </a:solidFill>
                <a:latin typeface="Quattrocento Sans" pitchFamily="34" charset="0"/>
                <a:ea typeface="Quattrocento Sans" pitchFamily="34" charset="-122"/>
                <a:cs typeface="Quattrocento Sans" pitchFamily="34" charset="-120"/>
              </a:rPr>
              <a:t>English:</a:t>
            </a:r>
            <a:r>
              <a:rPr lang="en-US" sz="1200" dirty="0">
                <a:solidFill>
                  <a:srgbClr val="ECEFF1"/>
                </a:solidFill>
                <a:latin typeface="Quattrocento Sans" pitchFamily="34" charset="0"/>
                <a:ea typeface="Quattrocento Sans" pitchFamily="34" charset="-122"/>
                <a:cs typeface="Quattrocento Sans" pitchFamily="34" charset="-120"/>
              </a:rPr>
              <a:t> Deep learning frameworks provide the tools and infrastructure for building, training, and deploying neural networks. TensorFlow and PyTorch dominate the landscape, each with distinct strengths for different use cases.</a:t>
            </a:r>
            <a:endParaRPr lang="en-US" sz="1600" dirty="0"/>
          </a:p>
        </p:txBody>
      </p:sp>
      <p:sp>
        <p:nvSpPr>
          <p:cNvPr id="7" name="Text 5"/>
          <p:cNvSpPr/>
          <p:nvPr/>
        </p:nvSpPr>
        <p:spPr>
          <a:xfrm>
            <a:off x="533400" y="1962150"/>
            <a:ext cx="5448300" cy="628650"/>
          </a:xfrm>
          <a:prstGeom prst="rect">
            <a:avLst/>
          </a:prstGeom>
          <a:noFill/>
          <a:ln/>
        </p:spPr>
        <p:txBody>
          <a:bodyPr wrap="square" lIns="0" tIns="0" rIns="0" bIns="0" rtlCol="0" anchor="ctr"/>
          <a:lstStyle/>
          <a:p>
            <a:pPr>
              <a:lnSpc>
                <a:spcPct val="110000"/>
              </a:lnSpc>
            </a:pPr>
            <a:r>
              <a:rPr lang="en-US" sz="1200" b="1" dirty="0">
                <a:solidFill>
                  <a:srgbClr val="FFD54F"/>
                </a:solidFill>
                <a:latin typeface="Quattrocento Sans" pitchFamily="34" charset="0"/>
                <a:ea typeface="Quattrocento Sans" pitchFamily="34" charset="-122"/>
                <a:cs typeface="Quattrocento Sans" pitchFamily="34" charset="-120"/>
              </a:rPr>
              <a:t>Shqip:</a:t>
            </a:r>
            <a:r>
              <a:rPr lang="en-US" sz="1200" dirty="0">
                <a:solidFill>
                  <a:srgbClr val="78909C"/>
                </a:solidFill>
                <a:latin typeface="Quattrocento Sans" pitchFamily="34" charset="0"/>
                <a:ea typeface="Quattrocento Sans" pitchFamily="34" charset="-122"/>
                <a:cs typeface="Quattrocento Sans" pitchFamily="34" charset="-120"/>
              </a:rPr>
              <a:t> Kornizat e mësimit të thellë ofrojnë mjetet dhe infrastrukturën për ndërtimin, trajnimin dhe vendosjen e rrjeteve nervore. TensorFlow dhe PyTorch dominojnë peizazhin, secila me forcë të veçantë.</a:t>
            </a:r>
            <a:endParaRPr lang="en-US" sz="1600" dirty="0"/>
          </a:p>
        </p:txBody>
      </p:sp>
      <p:sp>
        <p:nvSpPr>
          <p:cNvPr id="8" name="Shape 6"/>
          <p:cNvSpPr/>
          <p:nvPr/>
        </p:nvSpPr>
        <p:spPr>
          <a:xfrm>
            <a:off x="385763" y="2786063"/>
            <a:ext cx="5629275" cy="2486025"/>
          </a:xfrm>
          <a:custGeom>
            <a:avLst/>
            <a:gdLst/>
            <a:ahLst/>
            <a:cxnLst/>
            <a:rect l="l" t="t" r="r" b="b"/>
            <a:pathLst>
              <a:path w="5629275" h="2486025">
                <a:moveTo>
                  <a:pt x="76197" y="0"/>
                </a:moveTo>
                <a:lnTo>
                  <a:pt x="5553078" y="0"/>
                </a:lnTo>
                <a:cubicBezTo>
                  <a:pt x="5595161" y="0"/>
                  <a:pt x="5629275" y="34114"/>
                  <a:pt x="5629275" y="76197"/>
                </a:cubicBezTo>
                <a:lnTo>
                  <a:pt x="5629275" y="2409828"/>
                </a:lnTo>
                <a:cubicBezTo>
                  <a:pt x="5629275" y="2451911"/>
                  <a:pt x="5595161" y="2486025"/>
                  <a:pt x="5553078" y="2486025"/>
                </a:cubicBezTo>
                <a:lnTo>
                  <a:pt x="76197" y="2486025"/>
                </a:lnTo>
                <a:cubicBezTo>
                  <a:pt x="34114" y="2486025"/>
                  <a:pt x="0" y="2451911"/>
                  <a:pt x="0" y="2409828"/>
                </a:cubicBezTo>
                <a:lnTo>
                  <a:pt x="0" y="76197"/>
                </a:lnTo>
                <a:cubicBezTo>
                  <a:pt x="0" y="34114"/>
                  <a:pt x="34114" y="0"/>
                  <a:pt x="76197" y="0"/>
                </a:cubicBezTo>
                <a:close/>
              </a:path>
            </a:pathLst>
          </a:custGeom>
          <a:solidFill>
            <a:srgbClr val="4DB6AC">
              <a:alpha val="5098"/>
            </a:srgbClr>
          </a:solidFill>
          <a:ln w="12700">
            <a:solidFill>
              <a:srgbClr val="4DB6AC">
                <a:alpha val="30196"/>
              </a:srgbClr>
            </a:solidFill>
            <a:prstDash val="solid"/>
          </a:ln>
        </p:spPr>
      </p:sp>
      <p:sp>
        <p:nvSpPr>
          <p:cNvPr id="9" name="Text 7"/>
          <p:cNvSpPr/>
          <p:nvPr/>
        </p:nvSpPr>
        <p:spPr>
          <a:xfrm>
            <a:off x="504825" y="290512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TensorFlow (Google)</a:t>
            </a:r>
            <a:endParaRPr lang="en-US" sz="1600" dirty="0"/>
          </a:p>
        </p:txBody>
      </p:sp>
      <p:sp>
        <p:nvSpPr>
          <p:cNvPr id="10" name="Shape 8"/>
          <p:cNvSpPr/>
          <p:nvPr/>
        </p:nvSpPr>
        <p:spPr>
          <a:xfrm>
            <a:off x="504825" y="3248025"/>
            <a:ext cx="5391150" cy="1257300"/>
          </a:xfrm>
          <a:custGeom>
            <a:avLst/>
            <a:gdLst/>
            <a:ahLst/>
            <a:cxnLst/>
            <a:rect l="l" t="t" r="r" b="b"/>
            <a:pathLst>
              <a:path w="5391150" h="1257300">
                <a:moveTo>
                  <a:pt x="76205" y="0"/>
                </a:moveTo>
                <a:lnTo>
                  <a:pt x="5314945" y="0"/>
                </a:lnTo>
                <a:cubicBezTo>
                  <a:pt x="5357032" y="0"/>
                  <a:pt x="5391150" y="34118"/>
                  <a:pt x="5391150" y="76205"/>
                </a:cubicBezTo>
                <a:lnTo>
                  <a:pt x="5391150" y="1181095"/>
                </a:lnTo>
                <a:cubicBezTo>
                  <a:pt x="5391150" y="1223182"/>
                  <a:pt x="5357032" y="1257300"/>
                  <a:pt x="5314945" y="1257300"/>
                </a:cubicBezTo>
                <a:lnTo>
                  <a:pt x="76205" y="1257300"/>
                </a:lnTo>
                <a:cubicBezTo>
                  <a:pt x="34118" y="1257300"/>
                  <a:pt x="0" y="1223182"/>
                  <a:pt x="0" y="1181095"/>
                </a:cubicBezTo>
                <a:lnTo>
                  <a:pt x="0" y="76205"/>
                </a:lnTo>
                <a:cubicBezTo>
                  <a:pt x="0" y="34146"/>
                  <a:pt x="34146" y="0"/>
                  <a:pt x="76205" y="0"/>
                </a:cubicBezTo>
                <a:close/>
              </a:path>
            </a:pathLst>
          </a:custGeom>
          <a:solidFill>
            <a:srgbClr val="1A1D21"/>
          </a:solidFill>
          <a:ln/>
        </p:spPr>
      </p:sp>
      <p:sp>
        <p:nvSpPr>
          <p:cNvPr id="11" name="Text 9"/>
          <p:cNvSpPr/>
          <p:nvPr/>
        </p:nvSpPr>
        <p:spPr>
          <a:xfrm>
            <a:off x="581025" y="3324225"/>
            <a:ext cx="530542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Strengths</a:t>
            </a:r>
            <a:endParaRPr lang="en-US" sz="1600" dirty="0"/>
          </a:p>
        </p:txBody>
      </p:sp>
      <p:sp>
        <p:nvSpPr>
          <p:cNvPr id="12" name="Text 10"/>
          <p:cNvSpPr/>
          <p:nvPr/>
        </p:nvSpPr>
        <p:spPr>
          <a:xfrm>
            <a:off x="581025" y="35528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Production deployment (TF Serving)</a:t>
            </a:r>
            <a:endParaRPr lang="en-US" sz="1600" dirty="0"/>
          </a:p>
        </p:txBody>
      </p:sp>
      <p:sp>
        <p:nvSpPr>
          <p:cNvPr id="13" name="Text 11"/>
          <p:cNvSpPr/>
          <p:nvPr/>
        </p:nvSpPr>
        <p:spPr>
          <a:xfrm>
            <a:off x="581025" y="37814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Mobile/Edge (TF Lite)</a:t>
            </a:r>
            <a:endParaRPr lang="en-US" sz="1600" dirty="0"/>
          </a:p>
        </p:txBody>
      </p:sp>
      <p:sp>
        <p:nvSpPr>
          <p:cNvPr id="14" name="Text 12"/>
          <p:cNvSpPr/>
          <p:nvPr/>
        </p:nvSpPr>
        <p:spPr>
          <a:xfrm>
            <a:off x="581025" y="40100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Strong ecosystem &amp; tools</a:t>
            </a:r>
            <a:endParaRPr lang="en-US" sz="1600" dirty="0"/>
          </a:p>
        </p:txBody>
      </p:sp>
      <p:sp>
        <p:nvSpPr>
          <p:cNvPr id="15" name="Text 13"/>
          <p:cNvSpPr/>
          <p:nvPr/>
        </p:nvSpPr>
        <p:spPr>
          <a:xfrm>
            <a:off x="581025" y="42386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Enterprise support</a:t>
            </a:r>
            <a:endParaRPr lang="en-US" sz="1600" dirty="0"/>
          </a:p>
        </p:txBody>
      </p:sp>
      <p:sp>
        <p:nvSpPr>
          <p:cNvPr id="16" name="Shape 14"/>
          <p:cNvSpPr/>
          <p:nvPr/>
        </p:nvSpPr>
        <p:spPr>
          <a:xfrm>
            <a:off x="504825" y="4581525"/>
            <a:ext cx="5391150" cy="571500"/>
          </a:xfrm>
          <a:custGeom>
            <a:avLst/>
            <a:gdLst/>
            <a:ahLst/>
            <a:cxnLst/>
            <a:rect l="l" t="t" r="r" b="b"/>
            <a:pathLst>
              <a:path w="5391150" h="571500">
                <a:moveTo>
                  <a:pt x="76198" y="0"/>
                </a:moveTo>
                <a:lnTo>
                  <a:pt x="5314952" y="0"/>
                </a:lnTo>
                <a:cubicBezTo>
                  <a:pt x="5357035" y="0"/>
                  <a:pt x="5391150" y="34115"/>
                  <a:pt x="5391150" y="76198"/>
                </a:cubicBezTo>
                <a:lnTo>
                  <a:pt x="5391150" y="495302"/>
                </a:lnTo>
                <a:cubicBezTo>
                  <a:pt x="5391150" y="537385"/>
                  <a:pt x="5357035" y="571500"/>
                  <a:pt x="53149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solidFill>
          <a:ln/>
        </p:spPr>
      </p:sp>
      <p:sp>
        <p:nvSpPr>
          <p:cNvPr id="17" name="Text 15"/>
          <p:cNvSpPr/>
          <p:nvPr/>
        </p:nvSpPr>
        <p:spPr>
          <a:xfrm>
            <a:off x="581025" y="4657725"/>
            <a:ext cx="5305425" cy="190500"/>
          </a:xfrm>
          <a:prstGeom prst="rect">
            <a:avLst/>
          </a:prstGeom>
          <a:noFill/>
          <a:ln/>
        </p:spPr>
        <p:txBody>
          <a:bodyPr wrap="square" lIns="0" tIns="0" rIns="0" bIns="0" rtlCol="0" anchor="ctr"/>
          <a:lstStyle/>
          <a:p>
            <a:pPr>
              <a:lnSpc>
                <a:spcPct val="120000"/>
              </a:lnSpc>
            </a:pPr>
            <a:r>
              <a:rPr lang="en-US" sz="1050" b="1" dirty="0">
                <a:solidFill>
                  <a:srgbClr val="FFD54F"/>
                </a:solidFill>
                <a:latin typeface="Quattrocento Sans" pitchFamily="34" charset="0"/>
                <a:ea typeface="Quattrocento Sans" pitchFamily="34" charset="-122"/>
                <a:cs typeface="Quattrocento Sans" pitchFamily="34" charset="-120"/>
              </a:rPr>
              <a:t>Best For</a:t>
            </a:r>
            <a:endParaRPr lang="en-US" sz="1600" dirty="0"/>
          </a:p>
        </p:txBody>
      </p:sp>
      <p:sp>
        <p:nvSpPr>
          <p:cNvPr id="18" name="Text 16"/>
          <p:cNvSpPr/>
          <p:nvPr/>
        </p:nvSpPr>
        <p:spPr>
          <a:xfrm>
            <a:off x="581025" y="48863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Large-scale production, mobile apps, enterprise</a:t>
            </a:r>
            <a:endParaRPr lang="en-US" sz="1600" dirty="0"/>
          </a:p>
        </p:txBody>
      </p:sp>
      <p:sp>
        <p:nvSpPr>
          <p:cNvPr id="19" name="Shape 17"/>
          <p:cNvSpPr/>
          <p:nvPr/>
        </p:nvSpPr>
        <p:spPr>
          <a:xfrm>
            <a:off x="381000" y="5353050"/>
            <a:ext cx="5638800" cy="990600"/>
          </a:xfrm>
          <a:custGeom>
            <a:avLst/>
            <a:gdLst/>
            <a:ahLst/>
            <a:cxnLst/>
            <a:rect l="l" t="t" r="r" b="b"/>
            <a:pathLst>
              <a:path w="5638800" h="990600">
                <a:moveTo>
                  <a:pt x="76197" y="0"/>
                </a:moveTo>
                <a:lnTo>
                  <a:pt x="5562603" y="0"/>
                </a:lnTo>
                <a:cubicBezTo>
                  <a:pt x="5604685" y="0"/>
                  <a:pt x="5638800" y="34115"/>
                  <a:pt x="5638800" y="76197"/>
                </a:cubicBezTo>
                <a:lnTo>
                  <a:pt x="5638800" y="914403"/>
                </a:lnTo>
                <a:cubicBezTo>
                  <a:pt x="5638800" y="956485"/>
                  <a:pt x="5604685" y="990600"/>
                  <a:pt x="5562603" y="990600"/>
                </a:cubicBezTo>
                <a:lnTo>
                  <a:pt x="76197" y="990600"/>
                </a:lnTo>
                <a:cubicBezTo>
                  <a:pt x="34115" y="990600"/>
                  <a:pt x="0" y="956485"/>
                  <a:pt x="0" y="914403"/>
                </a:cubicBezTo>
                <a:lnTo>
                  <a:pt x="0" y="76197"/>
                </a:lnTo>
                <a:cubicBezTo>
                  <a:pt x="0" y="34143"/>
                  <a:pt x="34143" y="0"/>
                  <a:pt x="76197" y="0"/>
                </a:cubicBezTo>
                <a:close/>
              </a:path>
            </a:pathLst>
          </a:custGeom>
          <a:solidFill>
            <a:srgbClr val="78909C">
              <a:alpha val="10196"/>
            </a:srgbClr>
          </a:solidFill>
          <a:ln/>
        </p:spPr>
      </p:sp>
      <p:sp>
        <p:nvSpPr>
          <p:cNvPr id="20" name="Text 18"/>
          <p:cNvSpPr/>
          <p:nvPr/>
        </p:nvSpPr>
        <p:spPr>
          <a:xfrm>
            <a:off x="495300" y="54673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TensorFlow Ecosystem</a:t>
            </a:r>
            <a:endParaRPr lang="en-US" sz="1600" dirty="0"/>
          </a:p>
        </p:txBody>
      </p:sp>
      <p:sp>
        <p:nvSpPr>
          <p:cNvPr id="21" name="Shape 19"/>
          <p:cNvSpPr/>
          <p:nvPr/>
        </p:nvSpPr>
        <p:spPr>
          <a:xfrm>
            <a:off x="522684" y="5800725"/>
            <a:ext cx="116681" cy="133350"/>
          </a:xfrm>
          <a:custGeom>
            <a:avLst/>
            <a:gdLst/>
            <a:ahLst/>
            <a:cxnLst/>
            <a:rect l="l" t="t" r="r" b="b"/>
            <a:pathLst>
              <a:path w="116681" h="133350">
                <a:moveTo>
                  <a:pt x="16669" y="8334"/>
                </a:moveTo>
                <a:cubicBezTo>
                  <a:pt x="7475" y="8334"/>
                  <a:pt x="0" y="15809"/>
                  <a:pt x="0" y="25003"/>
                </a:cubicBezTo>
                <a:lnTo>
                  <a:pt x="0" y="41672"/>
                </a:lnTo>
                <a:cubicBezTo>
                  <a:pt x="0" y="50866"/>
                  <a:pt x="7475" y="58341"/>
                  <a:pt x="16669" y="58341"/>
                </a:cubicBezTo>
                <a:lnTo>
                  <a:pt x="100013" y="58341"/>
                </a:lnTo>
                <a:cubicBezTo>
                  <a:pt x="109206" y="58341"/>
                  <a:pt x="116681" y="50866"/>
                  <a:pt x="116681" y="41672"/>
                </a:cubicBezTo>
                <a:lnTo>
                  <a:pt x="116681" y="25003"/>
                </a:lnTo>
                <a:cubicBezTo>
                  <a:pt x="116681" y="15809"/>
                  <a:pt x="109206" y="8334"/>
                  <a:pt x="100013" y="8334"/>
                </a:cubicBezTo>
                <a:lnTo>
                  <a:pt x="16669" y="8334"/>
                </a:lnTo>
                <a:close/>
                <a:moveTo>
                  <a:pt x="72926" y="27087"/>
                </a:moveTo>
                <a:cubicBezTo>
                  <a:pt x="76376" y="27087"/>
                  <a:pt x="79177" y="29888"/>
                  <a:pt x="79177" y="33337"/>
                </a:cubicBezTo>
                <a:cubicBezTo>
                  <a:pt x="79177" y="36787"/>
                  <a:pt x="76376" y="39588"/>
                  <a:pt x="72926" y="39588"/>
                </a:cubicBezTo>
                <a:cubicBezTo>
                  <a:pt x="69476" y="39588"/>
                  <a:pt x="66675" y="36787"/>
                  <a:pt x="66675" y="33337"/>
                </a:cubicBezTo>
                <a:cubicBezTo>
                  <a:pt x="66675" y="29888"/>
                  <a:pt x="69476" y="27087"/>
                  <a:pt x="72926" y="27087"/>
                </a:cubicBezTo>
                <a:close/>
                <a:moveTo>
                  <a:pt x="87511" y="33337"/>
                </a:moveTo>
                <a:cubicBezTo>
                  <a:pt x="87511" y="29888"/>
                  <a:pt x="90312" y="27087"/>
                  <a:pt x="93762" y="27087"/>
                </a:cubicBezTo>
                <a:cubicBezTo>
                  <a:pt x="97212" y="27087"/>
                  <a:pt x="100013" y="29888"/>
                  <a:pt x="100013" y="33337"/>
                </a:cubicBezTo>
                <a:cubicBezTo>
                  <a:pt x="100013" y="36787"/>
                  <a:pt x="97212" y="39588"/>
                  <a:pt x="93762" y="39588"/>
                </a:cubicBezTo>
                <a:cubicBezTo>
                  <a:pt x="90312" y="39588"/>
                  <a:pt x="87511" y="36787"/>
                  <a:pt x="87511" y="33337"/>
                </a:cubicBezTo>
                <a:close/>
                <a:moveTo>
                  <a:pt x="16669" y="75009"/>
                </a:moveTo>
                <a:cubicBezTo>
                  <a:pt x="7475" y="75009"/>
                  <a:pt x="0" y="82484"/>
                  <a:pt x="0" y="91678"/>
                </a:cubicBezTo>
                <a:lnTo>
                  <a:pt x="0" y="108347"/>
                </a:lnTo>
                <a:cubicBezTo>
                  <a:pt x="0" y="117541"/>
                  <a:pt x="7475" y="125016"/>
                  <a:pt x="16669" y="125016"/>
                </a:cubicBezTo>
                <a:lnTo>
                  <a:pt x="100013" y="125016"/>
                </a:lnTo>
                <a:cubicBezTo>
                  <a:pt x="109206" y="125016"/>
                  <a:pt x="116681" y="117541"/>
                  <a:pt x="116681" y="108347"/>
                </a:cubicBezTo>
                <a:lnTo>
                  <a:pt x="116681" y="91678"/>
                </a:lnTo>
                <a:cubicBezTo>
                  <a:pt x="116681" y="82484"/>
                  <a:pt x="109206" y="75009"/>
                  <a:pt x="100013" y="75009"/>
                </a:cubicBezTo>
                <a:lnTo>
                  <a:pt x="16669" y="75009"/>
                </a:lnTo>
                <a:close/>
                <a:moveTo>
                  <a:pt x="72926" y="93762"/>
                </a:moveTo>
                <a:cubicBezTo>
                  <a:pt x="76376" y="93762"/>
                  <a:pt x="79177" y="96563"/>
                  <a:pt x="79177" y="100013"/>
                </a:cubicBezTo>
                <a:cubicBezTo>
                  <a:pt x="79177" y="103462"/>
                  <a:pt x="76376" y="106263"/>
                  <a:pt x="72926" y="106263"/>
                </a:cubicBezTo>
                <a:cubicBezTo>
                  <a:pt x="69476" y="106263"/>
                  <a:pt x="66675" y="103462"/>
                  <a:pt x="66675" y="100013"/>
                </a:cubicBezTo>
                <a:cubicBezTo>
                  <a:pt x="66675" y="96563"/>
                  <a:pt x="69476" y="93762"/>
                  <a:pt x="72926" y="93762"/>
                </a:cubicBezTo>
                <a:close/>
                <a:moveTo>
                  <a:pt x="87511" y="100013"/>
                </a:moveTo>
                <a:cubicBezTo>
                  <a:pt x="87511" y="96563"/>
                  <a:pt x="90312" y="93762"/>
                  <a:pt x="93762" y="93762"/>
                </a:cubicBezTo>
                <a:cubicBezTo>
                  <a:pt x="97212" y="93762"/>
                  <a:pt x="100013" y="96563"/>
                  <a:pt x="100013" y="100013"/>
                </a:cubicBezTo>
                <a:cubicBezTo>
                  <a:pt x="100013" y="103462"/>
                  <a:pt x="97212" y="106263"/>
                  <a:pt x="93762" y="106263"/>
                </a:cubicBezTo>
                <a:cubicBezTo>
                  <a:pt x="90312" y="106263"/>
                  <a:pt x="87511" y="103462"/>
                  <a:pt x="87511" y="100013"/>
                </a:cubicBezTo>
                <a:close/>
              </a:path>
            </a:pathLst>
          </a:custGeom>
          <a:solidFill>
            <a:srgbClr val="4DB6AC"/>
          </a:solidFill>
          <a:ln/>
        </p:spPr>
      </p:sp>
      <p:sp>
        <p:nvSpPr>
          <p:cNvPr id="22" name="Text 20"/>
          <p:cNvSpPr/>
          <p:nvPr/>
        </p:nvSpPr>
        <p:spPr>
          <a:xfrm>
            <a:off x="738188" y="5772150"/>
            <a:ext cx="12001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TensorFlow Serving</a:t>
            </a:r>
            <a:endParaRPr lang="en-US" sz="1600" dirty="0"/>
          </a:p>
        </p:txBody>
      </p:sp>
      <p:sp>
        <p:nvSpPr>
          <p:cNvPr id="23" name="Shape 21"/>
          <p:cNvSpPr/>
          <p:nvPr/>
        </p:nvSpPr>
        <p:spPr>
          <a:xfrm>
            <a:off x="3274219" y="5800725"/>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4DB6AC"/>
          </a:solidFill>
          <a:ln/>
        </p:spPr>
      </p:sp>
      <p:sp>
        <p:nvSpPr>
          <p:cNvPr id="24" name="Text 22"/>
          <p:cNvSpPr/>
          <p:nvPr/>
        </p:nvSpPr>
        <p:spPr>
          <a:xfrm>
            <a:off x="3481388" y="5772150"/>
            <a:ext cx="9810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TensorFlow Lite</a:t>
            </a:r>
            <a:endParaRPr lang="en-US" sz="1600" dirty="0"/>
          </a:p>
        </p:txBody>
      </p:sp>
      <p:sp>
        <p:nvSpPr>
          <p:cNvPr id="25" name="Shape 23"/>
          <p:cNvSpPr/>
          <p:nvPr/>
        </p:nvSpPr>
        <p:spPr>
          <a:xfrm>
            <a:off x="514350" y="6067425"/>
            <a:ext cx="133350" cy="133350"/>
          </a:xfrm>
          <a:custGeom>
            <a:avLst/>
            <a:gdLst/>
            <a:ahLst/>
            <a:cxnLst/>
            <a:rect l="l" t="t" r="r" b="b"/>
            <a:pathLst>
              <a:path w="133350" h="133350">
                <a:moveTo>
                  <a:pt x="91652" y="72926"/>
                </a:moveTo>
                <a:lnTo>
                  <a:pt x="41932" y="72926"/>
                </a:lnTo>
                <a:cubicBezTo>
                  <a:pt x="42688" y="89725"/>
                  <a:pt x="46412" y="105195"/>
                  <a:pt x="51699" y="116525"/>
                </a:cubicBezTo>
                <a:cubicBezTo>
                  <a:pt x="54668" y="122906"/>
                  <a:pt x="57872" y="127412"/>
                  <a:pt x="60841" y="130173"/>
                </a:cubicBezTo>
                <a:cubicBezTo>
                  <a:pt x="63758" y="132907"/>
                  <a:pt x="65763" y="133350"/>
                  <a:pt x="66805" y="133350"/>
                </a:cubicBezTo>
                <a:cubicBezTo>
                  <a:pt x="67847" y="133350"/>
                  <a:pt x="69852" y="132907"/>
                  <a:pt x="72770" y="130173"/>
                </a:cubicBezTo>
                <a:cubicBezTo>
                  <a:pt x="75739" y="127412"/>
                  <a:pt x="78942" y="122880"/>
                  <a:pt x="81911" y="116525"/>
                </a:cubicBezTo>
                <a:cubicBezTo>
                  <a:pt x="87198" y="105195"/>
                  <a:pt x="90923" y="89725"/>
                  <a:pt x="91678" y="72926"/>
                </a:cubicBezTo>
                <a:close/>
                <a:moveTo>
                  <a:pt x="41906" y="60424"/>
                </a:moveTo>
                <a:lnTo>
                  <a:pt x="91626" y="60424"/>
                </a:lnTo>
                <a:cubicBezTo>
                  <a:pt x="90897" y="43625"/>
                  <a:pt x="87172" y="28155"/>
                  <a:pt x="81885" y="16825"/>
                </a:cubicBezTo>
                <a:cubicBezTo>
                  <a:pt x="78916" y="10470"/>
                  <a:pt x="75713" y="5938"/>
                  <a:pt x="72743" y="3177"/>
                </a:cubicBezTo>
                <a:cubicBezTo>
                  <a:pt x="69826" y="443"/>
                  <a:pt x="67821" y="0"/>
                  <a:pt x="66779" y="0"/>
                </a:cubicBezTo>
                <a:cubicBezTo>
                  <a:pt x="65737" y="0"/>
                  <a:pt x="63732" y="443"/>
                  <a:pt x="60815" y="3177"/>
                </a:cubicBezTo>
                <a:cubicBezTo>
                  <a:pt x="57846" y="5938"/>
                  <a:pt x="54642" y="10470"/>
                  <a:pt x="51673" y="16825"/>
                </a:cubicBezTo>
                <a:cubicBezTo>
                  <a:pt x="46386" y="28155"/>
                  <a:pt x="42662" y="43625"/>
                  <a:pt x="41906" y="60424"/>
                </a:cubicBezTo>
                <a:close/>
                <a:moveTo>
                  <a:pt x="29405" y="60424"/>
                </a:moveTo>
                <a:cubicBezTo>
                  <a:pt x="30316" y="38130"/>
                  <a:pt x="36072" y="17424"/>
                  <a:pt x="44485" y="3829"/>
                </a:cubicBezTo>
                <a:cubicBezTo>
                  <a:pt x="20497" y="12319"/>
                  <a:pt x="2839" y="34171"/>
                  <a:pt x="391" y="60424"/>
                </a:cubicBezTo>
                <a:lnTo>
                  <a:pt x="29405" y="60424"/>
                </a:lnTo>
                <a:close/>
                <a:moveTo>
                  <a:pt x="391" y="72926"/>
                </a:moveTo>
                <a:cubicBezTo>
                  <a:pt x="2839" y="99179"/>
                  <a:pt x="20497" y="121031"/>
                  <a:pt x="44485" y="129521"/>
                </a:cubicBezTo>
                <a:cubicBezTo>
                  <a:pt x="36072" y="115926"/>
                  <a:pt x="30316" y="95220"/>
                  <a:pt x="29405" y="72926"/>
                </a:cubicBezTo>
                <a:lnTo>
                  <a:pt x="391" y="72926"/>
                </a:lnTo>
                <a:close/>
                <a:moveTo>
                  <a:pt x="104154" y="72926"/>
                </a:moveTo>
                <a:cubicBezTo>
                  <a:pt x="103242" y="95220"/>
                  <a:pt x="97486" y="115926"/>
                  <a:pt x="89074" y="129521"/>
                </a:cubicBezTo>
                <a:cubicBezTo>
                  <a:pt x="113061" y="121005"/>
                  <a:pt x="130719" y="99179"/>
                  <a:pt x="133168" y="72926"/>
                </a:cubicBezTo>
                <a:lnTo>
                  <a:pt x="104154" y="72926"/>
                </a:lnTo>
                <a:close/>
                <a:moveTo>
                  <a:pt x="133168" y="60424"/>
                </a:moveTo>
                <a:cubicBezTo>
                  <a:pt x="130719" y="34171"/>
                  <a:pt x="113061" y="12319"/>
                  <a:pt x="89074" y="3829"/>
                </a:cubicBezTo>
                <a:cubicBezTo>
                  <a:pt x="97486" y="17424"/>
                  <a:pt x="103242" y="38130"/>
                  <a:pt x="104154" y="60424"/>
                </a:cubicBezTo>
                <a:lnTo>
                  <a:pt x="133168" y="60424"/>
                </a:lnTo>
                <a:close/>
              </a:path>
            </a:pathLst>
          </a:custGeom>
          <a:solidFill>
            <a:srgbClr val="FFD54F"/>
          </a:solidFill>
          <a:ln/>
        </p:spPr>
      </p:sp>
      <p:sp>
        <p:nvSpPr>
          <p:cNvPr id="26" name="Text 24"/>
          <p:cNvSpPr/>
          <p:nvPr/>
        </p:nvSpPr>
        <p:spPr>
          <a:xfrm>
            <a:off x="738188" y="6038850"/>
            <a:ext cx="8572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TensorFlow.js</a:t>
            </a:r>
            <a:endParaRPr lang="en-US" sz="1600" dirty="0"/>
          </a:p>
        </p:txBody>
      </p:sp>
      <p:sp>
        <p:nvSpPr>
          <p:cNvPr id="27" name="Shape 25"/>
          <p:cNvSpPr/>
          <p:nvPr/>
        </p:nvSpPr>
        <p:spPr>
          <a:xfrm>
            <a:off x="3257550" y="6067425"/>
            <a:ext cx="133350" cy="133350"/>
          </a:xfrm>
          <a:custGeom>
            <a:avLst/>
            <a:gdLst/>
            <a:ahLst/>
            <a:cxnLst/>
            <a:rect l="l" t="t" r="r" b="b"/>
            <a:pathLst>
              <a:path w="133350" h="133350">
                <a:moveTo>
                  <a:pt x="60554" y="1354"/>
                </a:moveTo>
                <a:cubicBezTo>
                  <a:pt x="64435" y="-443"/>
                  <a:pt x="68915" y="-443"/>
                  <a:pt x="72796" y="1354"/>
                </a:cubicBezTo>
                <a:lnTo>
                  <a:pt x="129730" y="27660"/>
                </a:lnTo>
                <a:cubicBezTo>
                  <a:pt x="131944" y="28675"/>
                  <a:pt x="133350" y="30889"/>
                  <a:pt x="133350" y="33337"/>
                </a:cubicBezTo>
                <a:cubicBezTo>
                  <a:pt x="133350" y="35786"/>
                  <a:pt x="131944" y="38000"/>
                  <a:pt x="129730" y="39015"/>
                </a:cubicBezTo>
                <a:lnTo>
                  <a:pt x="72796" y="65321"/>
                </a:lnTo>
                <a:cubicBezTo>
                  <a:pt x="68915" y="67118"/>
                  <a:pt x="64435" y="67118"/>
                  <a:pt x="60554" y="65321"/>
                </a:cubicBezTo>
                <a:lnTo>
                  <a:pt x="3620" y="39015"/>
                </a:lnTo>
                <a:cubicBezTo>
                  <a:pt x="1406" y="37973"/>
                  <a:pt x="0" y="35760"/>
                  <a:pt x="0" y="33337"/>
                </a:cubicBezTo>
                <a:cubicBezTo>
                  <a:pt x="0" y="30915"/>
                  <a:pt x="1406" y="28675"/>
                  <a:pt x="3620" y="27660"/>
                </a:cubicBezTo>
                <a:lnTo>
                  <a:pt x="60554" y="1354"/>
                </a:lnTo>
                <a:close/>
                <a:moveTo>
                  <a:pt x="12528" y="56882"/>
                </a:moveTo>
                <a:lnTo>
                  <a:pt x="55319" y="76650"/>
                </a:lnTo>
                <a:cubicBezTo>
                  <a:pt x="62534" y="79984"/>
                  <a:pt x="70842" y="79984"/>
                  <a:pt x="78057" y="76650"/>
                </a:cubicBezTo>
                <a:lnTo>
                  <a:pt x="120848" y="56882"/>
                </a:lnTo>
                <a:lnTo>
                  <a:pt x="129730" y="60997"/>
                </a:lnTo>
                <a:cubicBezTo>
                  <a:pt x="131944" y="62013"/>
                  <a:pt x="133350" y="64227"/>
                  <a:pt x="133350" y="66675"/>
                </a:cubicBezTo>
                <a:cubicBezTo>
                  <a:pt x="133350" y="69123"/>
                  <a:pt x="131944" y="71337"/>
                  <a:pt x="129730" y="72353"/>
                </a:cubicBezTo>
                <a:lnTo>
                  <a:pt x="72796" y="98658"/>
                </a:lnTo>
                <a:cubicBezTo>
                  <a:pt x="68915" y="100455"/>
                  <a:pt x="64435" y="100455"/>
                  <a:pt x="60554" y="98658"/>
                </a:cubicBezTo>
                <a:lnTo>
                  <a:pt x="3620" y="72353"/>
                </a:lnTo>
                <a:cubicBezTo>
                  <a:pt x="1406" y="71311"/>
                  <a:pt x="0" y="69097"/>
                  <a:pt x="0" y="66675"/>
                </a:cubicBezTo>
                <a:cubicBezTo>
                  <a:pt x="0" y="64253"/>
                  <a:pt x="1406" y="62013"/>
                  <a:pt x="3620" y="60997"/>
                </a:cubicBezTo>
                <a:lnTo>
                  <a:pt x="12502" y="56882"/>
                </a:lnTo>
                <a:close/>
                <a:moveTo>
                  <a:pt x="3620" y="94335"/>
                </a:moveTo>
                <a:lnTo>
                  <a:pt x="12502" y="90220"/>
                </a:lnTo>
                <a:lnTo>
                  <a:pt x="55293" y="109988"/>
                </a:lnTo>
                <a:cubicBezTo>
                  <a:pt x="62508" y="113321"/>
                  <a:pt x="70816" y="113321"/>
                  <a:pt x="78031" y="109988"/>
                </a:cubicBezTo>
                <a:lnTo>
                  <a:pt x="120822" y="90220"/>
                </a:lnTo>
                <a:lnTo>
                  <a:pt x="129704" y="94335"/>
                </a:lnTo>
                <a:cubicBezTo>
                  <a:pt x="131918" y="95350"/>
                  <a:pt x="133324" y="97564"/>
                  <a:pt x="133324" y="100013"/>
                </a:cubicBezTo>
                <a:cubicBezTo>
                  <a:pt x="133324" y="102461"/>
                  <a:pt x="131918" y="104675"/>
                  <a:pt x="129704" y="105690"/>
                </a:cubicBezTo>
                <a:lnTo>
                  <a:pt x="72770" y="131996"/>
                </a:lnTo>
                <a:cubicBezTo>
                  <a:pt x="68889" y="133793"/>
                  <a:pt x="64409" y="133793"/>
                  <a:pt x="60528" y="131996"/>
                </a:cubicBezTo>
                <a:lnTo>
                  <a:pt x="3620" y="105690"/>
                </a:lnTo>
                <a:cubicBezTo>
                  <a:pt x="1406" y="104648"/>
                  <a:pt x="0" y="102435"/>
                  <a:pt x="0" y="100013"/>
                </a:cubicBezTo>
                <a:cubicBezTo>
                  <a:pt x="0" y="97590"/>
                  <a:pt x="1406" y="95350"/>
                  <a:pt x="3620" y="94335"/>
                </a:cubicBezTo>
                <a:close/>
              </a:path>
            </a:pathLst>
          </a:custGeom>
          <a:solidFill>
            <a:srgbClr val="FFD54F"/>
          </a:solidFill>
          <a:ln/>
        </p:spPr>
      </p:sp>
      <p:sp>
        <p:nvSpPr>
          <p:cNvPr id="28" name="Text 26"/>
          <p:cNvSpPr/>
          <p:nvPr/>
        </p:nvSpPr>
        <p:spPr>
          <a:xfrm>
            <a:off x="3481388" y="6038850"/>
            <a:ext cx="6096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Keras API</a:t>
            </a:r>
            <a:endParaRPr lang="en-US" sz="1600" dirty="0"/>
          </a:p>
        </p:txBody>
      </p:sp>
      <p:sp>
        <p:nvSpPr>
          <p:cNvPr id="29" name="Shape 27"/>
          <p:cNvSpPr/>
          <p:nvPr/>
        </p:nvSpPr>
        <p:spPr>
          <a:xfrm>
            <a:off x="6176963" y="1185863"/>
            <a:ext cx="5629275" cy="2486025"/>
          </a:xfrm>
          <a:custGeom>
            <a:avLst/>
            <a:gdLst/>
            <a:ahLst/>
            <a:cxnLst/>
            <a:rect l="l" t="t" r="r" b="b"/>
            <a:pathLst>
              <a:path w="5629275" h="2486025">
                <a:moveTo>
                  <a:pt x="76197" y="0"/>
                </a:moveTo>
                <a:lnTo>
                  <a:pt x="5553078" y="0"/>
                </a:lnTo>
                <a:cubicBezTo>
                  <a:pt x="5595161" y="0"/>
                  <a:pt x="5629275" y="34114"/>
                  <a:pt x="5629275" y="76197"/>
                </a:cubicBezTo>
                <a:lnTo>
                  <a:pt x="5629275" y="2409828"/>
                </a:lnTo>
                <a:cubicBezTo>
                  <a:pt x="5629275" y="2451911"/>
                  <a:pt x="5595161" y="2486025"/>
                  <a:pt x="5553078" y="2486025"/>
                </a:cubicBezTo>
                <a:lnTo>
                  <a:pt x="76197" y="2486025"/>
                </a:lnTo>
                <a:cubicBezTo>
                  <a:pt x="34114" y="2486025"/>
                  <a:pt x="0" y="2451911"/>
                  <a:pt x="0" y="2409828"/>
                </a:cubicBezTo>
                <a:lnTo>
                  <a:pt x="0" y="76197"/>
                </a:lnTo>
                <a:cubicBezTo>
                  <a:pt x="0" y="34114"/>
                  <a:pt x="34114" y="0"/>
                  <a:pt x="76197" y="0"/>
                </a:cubicBezTo>
                <a:close/>
              </a:path>
            </a:pathLst>
          </a:custGeom>
          <a:solidFill>
            <a:srgbClr val="FFD54F">
              <a:alpha val="5098"/>
            </a:srgbClr>
          </a:solidFill>
          <a:ln w="12700">
            <a:solidFill>
              <a:srgbClr val="FFD54F">
                <a:alpha val="30196"/>
              </a:srgbClr>
            </a:solidFill>
            <a:prstDash val="solid"/>
          </a:ln>
        </p:spPr>
      </p:sp>
      <p:sp>
        <p:nvSpPr>
          <p:cNvPr id="30" name="Text 28"/>
          <p:cNvSpPr/>
          <p:nvPr/>
        </p:nvSpPr>
        <p:spPr>
          <a:xfrm>
            <a:off x="6296025" y="1304925"/>
            <a:ext cx="5476875" cy="266700"/>
          </a:xfrm>
          <a:prstGeom prst="rect">
            <a:avLst/>
          </a:prstGeom>
          <a:noFill/>
          <a:ln/>
        </p:spPr>
        <p:txBody>
          <a:bodyPr wrap="square" lIns="0" tIns="0" rIns="0" bIns="0" rtlCol="0" anchor="ctr"/>
          <a:lstStyle/>
          <a:p>
            <a:pPr>
              <a:lnSpc>
                <a:spcPct val="130000"/>
              </a:lnSpc>
            </a:pPr>
            <a:r>
              <a:rPr lang="en-US" sz="1350" b="1" dirty="0">
                <a:solidFill>
                  <a:srgbClr val="ECEFF1"/>
                </a:solidFill>
                <a:latin typeface="Liter" pitchFamily="34" charset="0"/>
                <a:ea typeface="Liter" pitchFamily="34" charset="-122"/>
                <a:cs typeface="Liter" pitchFamily="34" charset="-120"/>
              </a:rPr>
              <a:t>PyTorch (Meta)</a:t>
            </a:r>
            <a:endParaRPr lang="en-US" sz="1600" dirty="0"/>
          </a:p>
        </p:txBody>
      </p:sp>
      <p:sp>
        <p:nvSpPr>
          <p:cNvPr id="31" name="Shape 29"/>
          <p:cNvSpPr/>
          <p:nvPr/>
        </p:nvSpPr>
        <p:spPr>
          <a:xfrm>
            <a:off x="6296025" y="1647825"/>
            <a:ext cx="5391150" cy="1257300"/>
          </a:xfrm>
          <a:custGeom>
            <a:avLst/>
            <a:gdLst/>
            <a:ahLst/>
            <a:cxnLst/>
            <a:rect l="l" t="t" r="r" b="b"/>
            <a:pathLst>
              <a:path w="5391150" h="1257300">
                <a:moveTo>
                  <a:pt x="76205" y="0"/>
                </a:moveTo>
                <a:lnTo>
                  <a:pt x="5314945" y="0"/>
                </a:lnTo>
                <a:cubicBezTo>
                  <a:pt x="5357032" y="0"/>
                  <a:pt x="5391150" y="34118"/>
                  <a:pt x="5391150" y="76205"/>
                </a:cubicBezTo>
                <a:lnTo>
                  <a:pt x="5391150" y="1181095"/>
                </a:lnTo>
                <a:cubicBezTo>
                  <a:pt x="5391150" y="1223182"/>
                  <a:pt x="5357032" y="1257300"/>
                  <a:pt x="5314945" y="1257300"/>
                </a:cubicBezTo>
                <a:lnTo>
                  <a:pt x="76205" y="1257300"/>
                </a:lnTo>
                <a:cubicBezTo>
                  <a:pt x="34118" y="1257300"/>
                  <a:pt x="0" y="1223182"/>
                  <a:pt x="0" y="1181095"/>
                </a:cubicBezTo>
                <a:lnTo>
                  <a:pt x="0" y="76205"/>
                </a:lnTo>
                <a:cubicBezTo>
                  <a:pt x="0" y="34146"/>
                  <a:pt x="34146" y="0"/>
                  <a:pt x="76205" y="0"/>
                </a:cubicBezTo>
                <a:close/>
              </a:path>
            </a:pathLst>
          </a:custGeom>
          <a:solidFill>
            <a:srgbClr val="1A1D21"/>
          </a:solidFill>
          <a:ln/>
        </p:spPr>
      </p:sp>
      <p:sp>
        <p:nvSpPr>
          <p:cNvPr id="32" name="Text 30"/>
          <p:cNvSpPr/>
          <p:nvPr/>
        </p:nvSpPr>
        <p:spPr>
          <a:xfrm>
            <a:off x="6372225" y="1724025"/>
            <a:ext cx="5305425" cy="190500"/>
          </a:xfrm>
          <a:prstGeom prst="rect">
            <a:avLst/>
          </a:prstGeom>
          <a:noFill/>
          <a:ln/>
        </p:spPr>
        <p:txBody>
          <a:bodyPr wrap="square" lIns="0" tIns="0" rIns="0" bIns="0" rtlCol="0" anchor="ctr"/>
          <a:lstStyle/>
          <a:p>
            <a:pPr>
              <a:lnSpc>
                <a:spcPct val="120000"/>
              </a:lnSpc>
            </a:pPr>
            <a:r>
              <a:rPr lang="en-US" sz="1050" b="1" dirty="0">
                <a:solidFill>
                  <a:srgbClr val="FFD54F"/>
                </a:solidFill>
                <a:latin typeface="Quattrocento Sans" pitchFamily="34" charset="0"/>
                <a:ea typeface="Quattrocento Sans" pitchFamily="34" charset="-122"/>
                <a:cs typeface="Quattrocento Sans" pitchFamily="34" charset="-120"/>
              </a:rPr>
              <a:t>Strengths</a:t>
            </a:r>
            <a:endParaRPr lang="en-US" sz="1600" dirty="0"/>
          </a:p>
        </p:txBody>
      </p:sp>
      <p:sp>
        <p:nvSpPr>
          <p:cNvPr id="33" name="Text 31"/>
          <p:cNvSpPr/>
          <p:nvPr/>
        </p:nvSpPr>
        <p:spPr>
          <a:xfrm>
            <a:off x="6372225" y="19526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Dynamic computation graphs</a:t>
            </a:r>
            <a:endParaRPr lang="en-US" sz="1600" dirty="0"/>
          </a:p>
        </p:txBody>
      </p:sp>
      <p:sp>
        <p:nvSpPr>
          <p:cNvPr id="34" name="Text 32"/>
          <p:cNvSpPr/>
          <p:nvPr/>
        </p:nvSpPr>
        <p:spPr>
          <a:xfrm>
            <a:off x="6372225" y="21812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Pythonic &amp; intuitive</a:t>
            </a:r>
            <a:endParaRPr lang="en-US" sz="1600" dirty="0"/>
          </a:p>
        </p:txBody>
      </p:sp>
      <p:sp>
        <p:nvSpPr>
          <p:cNvPr id="35" name="Text 33"/>
          <p:cNvSpPr/>
          <p:nvPr/>
        </p:nvSpPr>
        <p:spPr>
          <a:xfrm>
            <a:off x="6372225" y="24098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Easy debugging</a:t>
            </a:r>
            <a:endParaRPr lang="en-US" sz="1600" dirty="0"/>
          </a:p>
        </p:txBody>
      </p:sp>
      <p:sp>
        <p:nvSpPr>
          <p:cNvPr id="36" name="Text 34"/>
          <p:cNvSpPr/>
          <p:nvPr/>
        </p:nvSpPr>
        <p:spPr>
          <a:xfrm>
            <a:off x="6372225" y="26384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 Research community favorite</a:t>
            </a:r>
            <a:endParaRPr lang="en-US" sz="1600" dirty="0"/>
          </a:p>
        </p:txBody>
      </p:sp>
      <p:sp>
        <p:nvSpPr>
          <p:cNvPr id="37" name="Shape 35"/>
          <p:cNvSpPr/>
          <p:nvPr/>
        </p:nvSpPr>
        <p:spPr>
          <a:xfrm>
            <a:off x="6296025" y="2981325"/>
            <a:ext cx="5391150" cy="571500"/>
          </a:xfrm>
          <a:custGeom>
            <a:avLst/>
            <a:gdLst/>
            <a:ahLst/>
            <a:cxnLst/>
            <a:rect l="l" t="t" r="r" b="b"/>
            <a:pathLst>
              <a:path w="5391150" h="571500">
                <a:moveTo>
                  <a:pt x="76198" y="0"/>
                </a:moveTo>
                <a:lnTo>
                  <a:pt x="5314952" y="0"/>
                </a:lnTo>
                <a:cubicBezTo>
                  <a:pt x="5357035" y="0"/>
                  <a:pt x="5391150" y="34115"/>
                  <a:pt x="5391150" y="76198"/>
                </a:cubicBezTo>
                <a:lnTo>
                  <a:pt x="5391150" y="495302"/>
                </a:lnTo>
                <a:cubicBezTo>
                  <a:pt x="5391150" y="537385"/>
                  <a:pt x="5357035" y="571500"/>
                  <a:pt x="5314952" y="571500"/>
                </a:cubicBezTo>
                <a:lnTo>
                  <a:pt x="76198" y="571500"/>
                </a:lnTo>
                <a:cubicBezTo>
                  <a:pt x="34115" y="571500"/>
                  <a:pt x="0" y="537385"/>
                  <a:pt x="0" y="495302"/>
                </a:cubicBezTo>
                <a:lnTo>
                  <a:pt x="0" y="76198"/>
                </a:lnTo>
                <a:cubicBezTo>
                  <a:pt x="0" y="34115"/>
                  <a:pt x="34115" y="0"/>
                  <a:pt x="76198" y="0"/>
                </a:cubicBezTo>
                <a:close/>
              </a:path>
            </a:pathLst>
          </a:custGeom>
          <a:solidFill>
            <a:srgbClr val="1A1D21"/>
          </a:solidFill>
          <a:ln/>
        </p:spPr>
      </p:sp>
      <p:sp>
        <p:nvSpPr>
          <p:cNvPr id="38" name="Text 36"/>
          <p:cNvSpPr/>
          <p:nvPr/>
        </p:nvSpPr>
        <p:spPr>
          <a:xfrm>
            <a:off x="6372225" y="3057525"/>
            <a:ext cx="5305425" cy="190500"/>
          </a:xfrm>
          <a:prstGeom prst="rect">
            <a:avLst/>
          </a:prstGeom>
          <a:noFill/>
          <a:ln/>
        </p:spPr>
        <p:txBody>
          <a:bodyPr wrap="square" lIns="0" tIns="0" rIns="0" bIns="0" rtlCol="0" anchor="ctr"/>
          <a:lstStyle/>
          <a:p>
            <a:pPr>
              <a:lnSpc>
                <a:spcPct val="120000"/>
              </a:lnSpc>
            </a:pPr>
            <a:r>
              <a:rPr lang="en-US" sz="1050" b="1" dirty="0">
                <a:solidFill>
                  <a:srgbClr val="4DB6AC"/>
                </a:solidFill>
                <a:latin typeface="Quattrocento Sans" pitchFamily="34" charset="0"/>
                <a:ea typeface="Quattrocento Sans" pitchFamily="34" charset="-122"/>
                <a:cs typeface="Quattrocento Sans" pitchFamily="34" charset="-120"/>
              </a:rPr>
              <a:t>Best For</a:t>
            </a:r>
            <a:endParaRPr lang="en-US" sz="1600" dirty="0"/>
          </a:p>
        </p:txBody>
      </p:sp>
      <p:sp>
        <p:nvSpPr>
          <p:cNvPr id="39" name="Text 37"/>
          <p:cNvSpPr/>
          <p:nvPr/>
        </p:nvSpPr>
        <p:spPr>
          <a:xfrm>
            <a:off x="6372225" y="3286125"/>
            <a:ext cx="530542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Research, prototyping, experimentation</a:t>
            </a:r>
            <a:endParaRPr lang="en-US" sz="1600" dirty="0"/>
          </a:p>
        </p:txBody>
      </p:sp>
      <p:sp>
        <p:nvSpPr>
          <p:cNvPr id="40" name="Shape 38"/>
          <p:cNvSpPr/>
          <p:nvPr/>
        </p:nvSpPr>
        <p:spPr>
          <a:xfrm>
            <a:off x="6172200" y="3752850"/>
            <a:ext cx="5638800" cy="990600"/>
          </a:xfrm>
          <a:custGeom>
            <a:avLst/>
            <a:gdLst/>
            <a:ahLst/>
            <a:cxnLst/>
            <a:rect l="l" t="t" r="r" b="b"/>
            <a:pathLst>
              <a:path w="5638800" h="990600">
                <a:moveTo>
                  <a:pt x="76197" y="0"/>
                </a:moveTo>
                <a:lnTo>
                  <a:pt x="5562603" y="0"/>
                </a:lnTo>
                <a:cubicBezTo>
                  <a:pt x="5604685" y="0"/>
                  <a:pt x="5638800" y="34115"/>
                  <a:pt x="5638800" y="76197"/>
                </a:cubicBezTo>
                <a:lnTo>
                  <a:pt x="5638800" y="914403"/>
                </a:lnTo>
                <a:cubicBezTo>
                  <a:pt x="5638800" y="956485"/>
                  <a:pt x="5604685" y="990600"/>
                  <a:pt x="5562603" y="990600"/>
                </a:cubicBezTo>
                <a:lnTo>
                  <a:pt x="76197" y="990600"/>
                </a:lnTo>
                <a:cubicBezTo>
                  <a:pt x="34115" y="990600"/>
                  <a:pt x="0" y="956485"/>
                  <a:pt x="0" y="914403"/>
                </a:cubicBezTo>
                <a:lnTo>
                  <a:pt x="0" y="76197"/>
                </a:lnTo>
                <a:cubicBezTo>
                  <a:pt x="0" y="34143"/>
                  <a:pt x="34143" y="0"/>
                  <a:pt x="76197" y="0"/>
                </a:cubicBezTo>
                <a:close/>
              </a:path>
            </a:pathLst>
          </a:custGeom>
          <a:solidFill>
            <a:srgbClr val="4DB6AC">
              <a:alpha val="10196"/>
            </a:srgbClr>
          </a:solidFill>
          <a:ln/>
        </p:spPr>
      </p:sp>
      <p:sp>
        <p:nvSpPr>
          <p:cNvPr id="41" name="Text 39"/>
          <p:cNvSpPr/>
          <p:nvPr/>
        </p:nvSpPr>
        <p:spPr>
          <a:xfrm>
            <a:off x="6286500" y="38671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PyTorch Ecosystem</a:t>
            </a:r>
            <a:endParaRPr lang="en-US" sz="1600" dirty="0"/>
          </a:p>
        </p:txBody>
      </p:sp>
      <p:sp>
        <p:nvSpPr>
          <p:cNvPr id="42" name="Shape 40"/>
          <p:cNvSpPr/>
          <p:nvPr/>
        </p:nvSpPr>
        <p:spPr>
          <a:xfrm>
            <a:off x="6297216" y="4200525"/>
            <a:ext cx="150019" cy="133350"/>
          </a:xfrm>
          <a:custGeom>
            <a:avLst/>
            <a:gdLst/>
            <a:ahLst/>
            <a:cxnLst/>
            <a:rect l="l" t="t" r="r" b="b"/>
            <a:pathLst>
              <a:path w="150019" h="133350">
                <a:moveTo>
                  <a:pt x="75009" y="8334"/>
                </a:moveTo>
                <a:cubicBezTo>
                  <a:pt x="53965" y="8334"/>
                  <a:pt x="37114" y="17919"/>
                  <a:pt x="24847" y="29327"/>
                </a:cubicBezTo>
                <a:cubicBezTo>
                  <a:pt x="12658" y="40656"/>
                  <a:pt x="4506" y="54173"/>
                  <a:pt x="625" y="63471"/>
                </a:cubicBezTo>
                <a:cubicBezTo>
                  <a:pt x="-234" y="65529"/>
                  <a:pt x="-234" y="67821"/>
                  <a:pt x="625" y="69879"/>
                </a:cubicBezTo>
                <a:cubicBezTo>
                  <a:pt x="4506" y="79177"/>
                  <a:pt x="12658" y="92720"/>
                  <a:pt x="24847" y="104023"/>
                </a:cubicBezTo>
                <a:cubicBezTo>
                  <a:pt x="37114" y="115405"/>
                  <a:pt x="53965" y="125016"/>
                  <a:pt x="75009" y="125016"/>
                </a:cubicBezTo>
                <a:cubicBezTo>
                  <a:pt x="96054" y="125016"/>
                  <a:pt x="112905" y="115431"/>
                  <a:pt x="125172" y="104023"/>
                </a:cubicBezTo>
                <a:cubicBezTo>
                  <a:pt x="137361" y="92694"/>
                  <a:pt x="145513" y="79177"/>
                  <a:pt x="149394" y="69879"/>
                </a:cubicBezTo>
                <a:cubicBezTo>
                  <a:pt x="150253" y="67821"/>
                  <a:pt x="150253" y="65529"/>
                  <a:pt x="149394" y="63471"/>
                </a:cubicBezTo>
                <a:cubicBezTo>
                  <a:pt x="145513" y="54173"/>
                  <a:pt x="137361" y="40630"/>
                  <a:pt x="125172" y="29327"/>
                </a:cubicBezTo>
                <a:cubicBezTo>
                  <a:pt x="112905" y="17945"/>
                  <a:pt x="96054" y="8334"/>
                  <a:pt x="75009" y="8334"/>
                </a:cubicBezTo>
                <a:close/>
                <a:moveTo>
                  <a:pt x="37505" y="66675"/>
                </a:moveTo>
                <a:cubicBezTo>
                  <a:pt x="37505" y="45976"/>
                  <a:pt x="54310" y="29170"/>
                  <a:pt x="75009" y="29170"/>
                </a:cubicBezTo>
                <a:cubicBezTo>
                  <a:pt x="95709" y="29170"/>
                  <a:pt x="112514" y="45976"/>
                  <a:pt x="112514" y="66675"/>
                </a:cubicBezTo>
                <a:cubicBezTo>
                  <a:pt x="112514" y="87374"/>
                  <a:pt x="95709" y="104180"/>
                  <a:pt x="75009" y="104180"/>
                </a:cubicBezTo>
                <a:cubicBezTo>
                  <a:pt x="54310" y="104180"/>
                  <a:pt x="37505" y="87374"/>
                  <a:pt x="37505" y="66675"/>
                </a:cubicBezTo>
                <a:close/>
                <a:moveTo>
                  <a:pt x="75009" y="50006"/>
                </a:moveTo>
                <a:cubicBezTo>
                  <a:pt x="75009" y="59200"/>
                  <a:pt x="67534" y="66675"/>
                  <a:pt x="58341" y="66675"/>
                </a:cubicBezTo>
                <a:cubicBezTo>
                  <a:pt x="55345" y="66675"/>
                  <a:pt x="52533" y="65894"/>
                  <a:pt x="50084" y="64487"/>
                </a:cubicBezTo>
                <a:cubicBezTo>
                  <a:pt x="49824" y="67326"/>
                  <a:pt x="50058" y="70243"/>
                  <a:pt x="50840" y="73134"/>
                </a:cubicBezTo>
                <a:cubicBezTo>
                  <a:pt x="54408" y="86469"/>
                  <a:pt x="68134" y="94387"/>
                  <a:pt x="81469" y="90819"/>
                </a:cubicBezTo>
                <a:cubicBezTo>
                  <a:pt x="94804" y="87250"/>
                  <a:pt x="102721" y="73525"/>
                  <a:pt x="99153" y="60190"/>
                </a:cubicBezTo>
                <a:cubicBezTo>
                  <a:pt x="95976" y="48287"/>
                  <a:pt x="84698" y="40708"/>
                  <a:pt x="72822" y="41750"/>
                </a:cubicBezTo>
                <a:cubicBezTo>
                  <a:pt x="74202" y="44172"/>
                  <a:pt x="75009" y="46985"/>
                  <a:pt x="75009" y="50006"/>
                </a:cubicBezTo>
                <a:close/>
              </a:path>
            </a:pathLst>
          </a:custGeom>
          <a:solidFill>
            <a:srgbClr val="4DB6AC"/>
          </a:solidFill>
          <a:ln/>
        </p:spPr>
      </p:sp>
      <p:sp>
        <p:nvSpPr>
          <p:cNvPr id="43" name="Text 41"/>
          <p:cNvSpPr/>
          <p:nvPr/>
        </p:nvSpPr>
        <p:spPr>
          <a:xfrm>
            <a:off x="6529388" y="4171950"/>
            <a:ext cx="7524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TorchVision</a:t>
            </a:r>
            <a:endParaRPr lang="en-US" sz="1600" dirty="0"/>
          </a:p>
        </p:txBody>
      </p:sp>
      <p:sp>
        <p:nvSpPr>
          <p:cNvPr id="44" name="Shape 42"/>
          <p:cNvSpPr/>
          <p:nvPr/>
        </p:nvSpPr>
        <p:spPr>
          <a:xfrm>
            <a:off x="9040416" y="4200525"/>
            <a:ext cx="150019" cy="133350"/>
          </a:xfrm>
          <a:custGeom>
            <a:avLst/>
            <a:gdLst/>
            <a:ahLst/>
            <a:cxnLst/>
            <a:rect l="l" t="t" r="r" b="b"/>
            <a:pathLst>
              <a:path w="150019" h="133350">
                <a:moveTo>
                  <a:pt x="41672" y="0"/>
                </a:moveTo>
                <a:cubicBezTo>
                  <a:pt x="46282" y="0"/>
                  <a:pt x="50006" y="3724"/>
                  <a:pt x="50006" y="8334"/>
                </a:cubicBezTo>
                <a:lnTo>
                  <a:pt x="50006" y="16669"/>
                </a:lnTo>
                <a:lnTo>
                  <a:pt x="83344" y="16669"/>
                </a:lnTo>
                <a:cubicBezTo>
                  <a:pt x="87954" y="16669"/>
                  <a:pt x="91678" y="20393"/>
                  <a:pt x="91678" y="25003"/>
                </a:cubicBezTo>
                <a:cubicBezTo>
                  <a:pt x="91678" y="29613"/>
                  <a:pt x="87954" y="33337"/>
                  <a:pt x="83344" y="33337"/>
                </a:cubicBezTo>
                <a:lnTo>
                  <a:pt x="80843" y="33337"/>
                </a:lnTo>
                <a:lnTo>
                  <a:pt x="78656" y="39354"/>
                </a:lnTo>
                <a:cubicBezTo>
                  <a:pt x="74384" y="51126"/>
                  <a:pt x="67951" y="61883"/>
                  <a:pt x="59851" y="71129"/>
                </a:cubicBezTo>
                <a:cubicBezTo>
                  <a:pt x="63550" y="73421"/>
                  <a:pt x="67404" y="75452"/>
                  <a:pt x="71415" y="77249"/>
                </a:cubicBezTo>
                <a:lnTo>
                  <a:pt x="84542" y="83083"/>
                </a:lnTo>
                <a:lnTo>
                  <a:pt x="100742" y="46620"/>
                </a:lnTo>
                <a:cubicBezTo>
                  <a:pt x="102070" y="43599"/>
                  <a:pt x="105065" y="41672"/>
                  <a:pt x="108347" y="41672"/>
                </a:cubicBezTo>
                <a:cubicBezTo>
                  <a:pt x="111629" y="41672"/>
                  <a:pt x="114624" y="43599"/>
                  <a:pt x="115952" y="46620"/>
                </a:cubicBezTo>
                <a:lnTo>
                  <a:pt x="149289" y="121630"/>
                </a:lnTo>
                <a:cubicBezTo>
                  <a:pt x="151165" y="125849"/>
                  <a:pt x="149263" y="130772"/>
                  <a:pt x="145070" y="132621"/>
                </a:cubicBezTo>
                <a:cubicBezTo>
                  <a:pt x="140877" y="134470"/>
                  <a:pt x="135928" y="132595"/>
                  <a:pt x="134079" y="128401"/>
                </a:cubicBezTo>
                <a:lnTo>
                  <a:pt x="128870" y="116681"/>
                </a:lnTo>
                <a:lnTo>
                  <a:pt x="87850" y="116681"/>
                </a:lnTo>
                <a:lnTo>
                  <a:pt x="82641" y="128401"/>
                </a:lnTo>
                <a:cubicBezTo>
                  <a:pt x="80765" y="132621"/>
                  <a:pt x="75843" y="134496"/>
                  <a:pt x="71650" y="132621"/>
                </a:cubicBezTo>
                <a:cubicBezTo>
                  <a:pt x="67456" y="130746"/>
                  <a:pt x="65555" y="125823"/>
                  <a:pt x="67430" y="121630"/>
                </a:cubicBezTo>
                <a:lnTo>
                  <a:pt x="77796" y="98320"/>
                </a:lnTo>
                <a:lnTo>
                  <a:pt x="64670" y="92486"/>
                </a:lnTo>
                <a:cubicBezTo>
                  <a:pt x="58679" y="89829"/>
                  <a:pt x="52949" y="86651"/>
                  <a:pt x="47532" y="83005"/>
                </a:cubicBezTo>
                <a:cubicBezTo>
                  <a:pt x="41984" y="87485"/>
                  <a:pt x="35916" y="91392"/>
                  <a:pt x="29431" y="94647"/>
                </a:cubicBezTo>
                <a:lnTo>
                  <a:pt x="20393" y="99127"/>
                </a:lnTo>
                <a:cubicBezTo>
                  <a:pt x="16278" y="101185"/>
                  <a:pt x="11277" y="99518"/>
                  <a:pt x="9220" y="95403"/>
                </a:cubicBezTo>
                <a:cubicBezTo>
                  <a:pt x="7162" y="91287"/>
                  <a:pt x="8829" y="86287"/>
                  <a:pt x="12944" y="84229"/>
                </a:cubicBezTo>
                <a:lnTo>
                  <a:pt x="21930" y="79724"/>
                </a:lnTo>
                <a:cubicBezTo>
                  <a:pt x="26175" y="77588"/>
                  <a:pt x="30212" y="75114"/>
                  <a:pt x="34015" y="72353"/>
                </a:cubicBezTo>
                <a:cubicBezTo>
                  <a:pt x="30420" y="69045"/>
                  <a:pt x="27035" y="65477"/>
                  <a:pt x="23883" y="61700"/>
                </a:cubicBezTo>
                <a:lnTo>
                  <a:pt x="21253" y="58523"/>
                </a:lnTo>
                <a:cubicBezTo>
                  <a:pt x="18310" y="54981"/>
                  <a:pt x="18778" y="49720"/>
                  <a:pt x="22320" y="46777"/>
                </a:cubicBezTo>
                <a:cubicBezTo>
                  <a:pt x="25863" y="43834"/>
                  <a:pt x="31124" y="44302"/>
                  <a:pt x="34067" y="47845"/>
                </a:cubicBezTo>
                <a:lnTo>
                  <a:pt x="36723" y="51022"/>
                </a:lnTo>
                <a:cubicBezTo>
                  <a:pt x="39719" y="54642"/>
                  <a:pt x="43000" y="58002"/>
                  <a:pt x="46464" y="61101"/>
                </a:cubicBezTo>
                <a:cubicBezTo>
                  <a:pt x="53626" y="53184"/>
                  <a:pt x="59278" y="43886"/>
                  <a:pt x="63003" y="33650"/>
                </a:cubicBezTo>
                <a:lnTo>
                  <a:pt x="63133" y="33337"/>
                </a:lnTo>
                <a:lnTo>
                  <a:pt x="8360" y="33337"/>
                </a:lnTo>
                <a:cubicBezTo>
                  <a:pt x="3724" y="33337"/>
                  <a:pt x="0" y="29613"/>
                  <a:pt x="0" y="25003"/>
                </a:cubicBezTo>
                <a:cubicBezTo>
                  <a:pt x="0" y="20393"/>
                  <a:pt x="3724" y="16669"/>
                  <a:pt x="8334" y="16669"/>
                </a:cubicBezTo>
                <a:lnTo>
                  <a:pt x="33337" y="16669"/>
                </a:lnTo>
                <a:lnTo>
                  <a:pt x="33337" y="8334"/>
                </a:lnTo>
                <a:cubicBezTo>
                  <a:pt x="33337" y="3724"/>
                  <a:pt x="37062" y="0"/>
                  <a:pt x="41672" y="0"/>
                </a:cubicBezTo>
                <a:close/>
                <a:moveTo>
                  <a:pt x="108347" y="70530"/>
                </a:moveTo>
                <a:lnTo>
                  <a:pt x="95246" y="100013"/>
                </a:lnTo>
                <a:lnTo>
                  <a:pt x="121447" y="100013"/>
                </a:lnTo>
                <a:lnTo>
                  <a:pt x="108347" y="70530"/>
                </a:lnTo>
                <a:close/>
              </a:path>
            </a:pathLst>
          </a:custGeom>
          <a:solidFill>
            <a:srgbClr val="4DB6AC"/>
          </a:solidFill>
          <a:ln/>
        </p:spPr>
      </p:sp>
      <p:sp>
        <p:nvSpPr>
          <p:cNvPr id="45" name="Text 43"/>
          <p:cNvSpPr/>
          <p:nvPr/>
        </p:nvSpPr>
        <p:spPr>
          <a:xfrm>
            <a:off x="9272588" y="4171950"/>
            <a:ext cx="6477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TorchText</a:t>
            </a:r>
            <a:endParaRPr lang="en-US" sz="1600" dirty="0"/>
          </a:p>
        </p:txBody>
      </p:sp>
      <p:sp>
        <p:nvSpPr>
          <p:cNvPr id="46" name="Shape 44"/>
          <p:cNvSpPr/>
          <p:nvPr/>
        </p:nvSpPr>
        <p:spPr>
          <a:xfrm>
            <a:off x="6313884" y="4467225"/>
            <a:ext cx="116681" cy="133350"/>
          </a:xfrm>
          <a:custGeom>
            <a:avLst/>
            <a:gdLst/>
            <a:ahLst/>
            <a:cxnLst/>
            <a:rect l="l" t="t" r="r" b="b"/>
            <a:pathLst>
              <a:path w="116681" h="133350">
                <a:moveTo>
                  <a:pt x="16669" y="8334"/>
                </a:moveTo>
                <a:cubicBezTo>
                  <a:pt x="7475" y="8334"/>
                  <a:pt x="0" y="15809"/>
                  <a:pt x="0" y="25003"/>
                </a:cubicBezTo>
                <a:lnTo>
                  <a:pt x="0" y="41672"/>
                </a:lnTo>
                <a:cubicBezTo>
                  <a:pt x="0" y="50866"/>
                  <a:pt x="7475" y="58341"/>
                  <a:pt x="16669" y="58341"/>
                </a:cubicBezTo>
                <a:lnTo>
                  <a:pt x="100013" y="58341"/>
                </a:lnTo>
                <a:cubicBezTo>
                  <a:pt x="109206" y="58341"/>
                  <a:pt x="116681" y="50866"/>
                  <a:pt x="116681" y="41672"/>
                </a:cubicBezTo>
                <a:lnTo>
                  <a:pt x="116681" y="25003"/>
                </a:lnTo>
                <a:cubicBezTo>
                  <a:pt x="116681" y="15809"/>
                  <a:pt x="109206" y="8334"/>
                  <a:pt x="100013" y="8334"/>
                </a:cubicBezTo>
                <a:lnTo>
                  <a:pt x="16669" y="8334"/>
                </a:lnTo>
                <a:close/>
                <a:moveTo>
                  <a:pt x="72926" y="27087"/>
                </a:moveTo>
                <a:cubicBezTo>
                  <a:pt x="76376" y="27087"/>
                  <a:pt x="79177" y="29888"/>
                  <a:pt x="79177" y="33337"/>
                </a:cubicBezTo>
                <a:cubicBezTo>
                  <a:pt x="79177" y="36787"/>
                  <a:pt x="76376" y="39588"/>
                  <a:pt x="72926" y="39588"/>
                </a:cubicBezTo>
                <a:cubicBezTo>
                  <a:pt x="69476" y="39588"/>
                  <a:pt x="66675" y="36787"/>
                  <a:pt x="66675" y="33337"/>
                </a:cubicBezTo>
                <a:cubicBezTo>
                  <a:pt x="66675" y="29888"/>
                  <a:pt x="69476" y="27087"/>
                  <a:pt x="72926" y="27087"/>
                </a:cubicBezTo>
                <a:close/>
                <a:moveTo>
                  <a:pt x="87511" y="33337"/>
                </a:moveTo>
                <a:cubicBezTo>
                  <a:pt x="87511" y="29888"/>
                  <a:pt x="90312" y="27087"/>
                  <a:pt x="93762" y="27087"/>
                </a:cubicBezTo>
                <a:cubicBezTo>
                  <a:pt x="97212" y="27087"/>
                  <a:pt x="100013" y="29888"/>
                  <a:pt x="100013" y="33337"/>
                </a:cubicBezTo>
                <a:cubicBezTo>
                  <a:pt x="100013" y="36787"/>
                  <a:pt x="97212" y="39588"/>
                  <a:pt x="93762" y="39588"/>
                </a:cubicBezTo>
                <a:cubicBezTo>
                  <a:pt x="90312" y="39588"/>
                  <a:pt x="87511" y="36787"/>
                  <a:pt x="87511" y="33337"/>
                </a:cubicBezTo>
                <a:close/>
                <a:moveTo>
                  <a:pt x="16669" y="75009"/>
                </a:moveTo>
                <a:cubicBezTo>
                  <a:pt x="7475" y="75009"/>
                  <a:pt x="0" y="82484"/>
                  <a:pt x="0" y="91678"/>
                </a:cubicBezTo>
                <a:lnTo>
                  <a:pt x="0" y="108347"/>
                </a:lnTo>
                <a:cubicBezTo>
                  <a:pt x="0" y="117541"/>
                  <a:pt x="7475" y="125016"/>
                  <a:pt x="16669" y="125016"/>
                </a:cubicBezTo>
                <a:lnTo>
                  <a:pt x="100013" y="125016"/>
                </a:lnTo>
                <a:cubicBezTo>
                  <a:pt x="109206" y="125016"/>
                  <a:pt x="116681" y="117541"/>
                  <a:pt x="116681" y="108347"/>
                </a:cubicBezTo>
                <a:lnTo>
                  <a:pt x="116681" y="91678"/>
                </a:lnTo>
                <a:cubicBezTo>
                  <a:pt x="116681" y="82484"/>
                  <a:pt x="109206" y="75009"/>
                  <a:pt x="100013" y="75009"/>
                </a:cubicBezTo>
                <a:lnTo>
                  <a:pt x="16669" y="75009"/>
                </a:lnTo>
                <a:close/>
                <a:moveTo>
                  <a:pt x="72926" y="93762"/>
                </a:moveTo>
                <a:cubicBezTo>
                  <a:pt x="76376" y="93762"/>
                  <a:pt x="79177" y="96563"/>
                  <a:pt x="79177" y="100013"/>
                </a:cubicBezTo>
                <a:cubicBezTo>
                  <a:pt x="79177" y="103462"/>
                  <a:pt x="76376" y="106263"/>
                  <a:pt x="72926" y="106263"/>
                </a:cubicBezTo>
                <a:cubicBezTo>
                  <a:pt x="69476" y="106263"/>
                  <a:pt x="66675" y="103462"/>
                  <a:pt x="66675" y="100013"/>
                </a:cubicBezTo>
                <a:cubicBezTo>
                  <a:pt x="66675" y="96563"/>
                  <a:pt x="69476" y="93762"/>
                  <a:pt x="72926" y="93762"/>
                </a:cubicBezTo>
                <a:close/>
                <a:moveTo>
                  <a:pt x="87511" y="100013"/>
                </a:moveTo>
                <a:cubicBezTo>
                  <a:pt x="87511" y="96563"/>
                  <a:pt x="90312" y="93762"/>
                  <a:pt x="93762" y="93762"/>
                </a:cubicBezTo>
                <a:cubicBezTo>
                  <a:pt x="97212" y="93762"/>
                  <a:pt x="100013" y="96563"/>
                  <a:pt x="100013" y="100013"/>
                </a:cubicBezTo>
                <a:cubicBezTo>
                  <a:pt x="100013" y="103462"/>
                  <a:pt x="97212" y="106263"/>
                  <a:pt x="93762" y="106263"/>
                </a:cubicBezTo>
                <a:cubicBezTo>
                  <a:pt x="90312" y="106263"/>
                  <a:pt x="87511" y="103462"/>
                  <a:pt x="87511" y="100013"/>
                </a:cubicBezTo>
                <a:close/>
              </a:path>
            </a:pathLst>
          </a:custGeom>
          <a:solidFill>
            <a:srgbClr val="FFD54F"/>
          </a:solidFill>
          <a:ln/>
        </p:spPr>
      </p:sp>
      <p:sp>
        <p:nvSpPr>
          <p:cNvPr id="47" name="Text 45"/>
          <p:cNvSpPr/>
          <p:nvPr/>
        </p:nvSpPr>
        <p:spPr>
          <a:xfrm>
            <a:off x="6529388" y="4438650"/>
            <a:ext cx="72390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TorchServe</a:t>
            </a:r>
            <a:endParaRPr lang="en-US" sz="1600" dirty="0"/>
          </a:p>
        </p:txBody>
      </p:sp>
      <p:sp>
        <p:nvSpPr>
          <p:cNvPr id="48" name="Shape 46"/>
          <p:cNvSpPr/>
          <p:nvPr/>
        </p:nvSpPr>
        <p:spPr>
          <a:xfrm>
            <a:off x="9065419" y="4467225"/>
            <a:ext cx="100013" cy="133350"/>
          </a:xfrm>
          <a:custGeom>
            <a:avLst/>
            <a:gdLst/>
            <a:ahLst/>
            <a:cxnLst/>
            <a:rect l="l" t="t" r="r" b="b"/>
            <a:pathLst>
              <a:path w="100013" h="133350">
                <a:moveTo>
                  <a:pt x="4167" y="16669"/>
                </a:moveTo>
                <a:cubicBezTo>
                  <a:pt x="4167" y="7475"/>
                  <a:pt x="11642" y="0"/>
                  <a:pt x="20836" y="0"/>
                </a:cubicBezTo>
                <a:lnTo>
                  <a:pt x="79177" y="0"/>
                </a:lnTo>
                <a:cubicBezTo>
                  <a:pt x="88370" y="0"/>
                  <a:pt x="95845" y="7475"/>
                  <a:pt x="95845" y="16669"/>
                </a:cubicBezTo>
                <a:lnTo>
                  <a:pt x="95845" y="116681"/>
                </a:lnTo>
                <a:cubicBezTo>
                  <a:pt x="95845" y="125875"/>
                  <a:pt x="88370" y="133350"/>
                  <a:pt x="79177" y="133350"/>
                </a:cubicBezTo>
                <a:lnTo>
                  <a:pt x="20836" y="133350"/>
                </a:lnTo>
                <a:cubicBezTo>
                  <a:pt x="11642" y="133350"/>
                  <a:pt x="4167" y="125875"/>
                  <a:pt x="4167" y="116681"/>
                </a:cubicBezTo>
                <a:lnTo>
                  <a:pt x="4167" y="16669"/>
                </a:lnTo>
                <a:close/>
                <a:moveTo>
                  <a:pt x="20836" y="16669"/>
                </a:moveTo>
                <a:lnTo>
                  <a:pt x="20836" y="95845"/>
                </a:lnTo>
                <a:lnTo>
                  <a:pt x="79177" y="95845"/>
                </a:lnTo>
                <a:lnTo>
                  <a:pt x="79177" y="16669"/>
                </a:lnTo>
                <a:lnTo>
                  <a:pt x="20836" y="16669"/>
                </a:lnTo>
                <a:close/>
                <a:moveTo>
                  <a:pt x="50006" y="122932"/>
                </a:moveTo>
                <a:cubicBezTo>
                  <a:pt x="54616" y="122932"/>
                  <a:pt x="58341" y="119208"/>
                  <a:pt x="58341" y="114598"/>
                </a:cubicBezTo>
                <a:cubicBezTo>
                  <a:pt x="58341" y="109988"/>
                  <a:pt x="54616" y="106263"/>
                  <a:pt x="50006" y="106263"/>
                </a:cubicBezTo>
                <a:cubicBezTo>
                  <a:pt x="45396" y="106263"/>
                  <a:pt x="41672" y="109988"/>
                  <a:pt x="41672" y="114598"/>
                </a:cubicBezTo>
                <a:cubicBezTo>
                  <a:pt x="41672" y="119208"/>
                  <a:pt x="45396" y="122932"/>
                  <a:pt x="50006" y="122932"/>
                </a:cubicBezTo>
                <a:close/>
              </a:path>
            </a:pathLst>
          </a:custGeom>
          <a:solidFill>
            <a:srgbClr val="FFD54F"/>
          </a:solidFill>
          <a:ln/>
        </p:spPr>
      </p:sp>
      <p:sp>
        <p:nvSpPr>
          <p:cNvPr id="49" name="Text 47"/>
          <p:cNvSpPr/>
          <p:nvPr/>
        </p:nvSpPr>
        <p:spPr>
          <a:xfrm>
            <a:off x="9272588" y="4438650"/>
            <a:ext cx="9715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PyTorch Mobile</a:t>
            </a:r>
            <a:endParaRPr lang="en-US" sz="1600" dirty="0"/>
          </a:p>
        </p:txBody>
      </p:sp>
      <p:sp>
        <p:nvSpPr>
          <p:cNvPr id="50" name="Shape 48"/>
          <p:cNvSpPr/>
          <p:nvPr/>
        </p:nvSpPr>
        <p:spPr>
          <a:xfrm>
            <a:off x="6172200" y="4819650"/>
            <a:ext cx="5638800" cy="990600"/>
          </a:xfrm>
          <a:custGeom>
            <a:avLst/>
            <a:gdLst/>
            <a:ahLst/>
            <a:cxnLst/>
            <a:rect l="l" t="t" r="r" b="b"/>
            <a:pathLst>
              <a:path w="5638800" h="990600">
                <a:moveTo>
                  <a:pt x="76197" y="0"/>
                </a:moveTo>
                <a:lnTo>
                  <a:pt x="5562603" y="0"/>
                </a:lnTo>
                <a:cubicBezTo>
                  <a:pt x="5604685" y="0"/>
                  <a:pt x="5638800" y="34115"/>
                  <a:pt x="5638800" y="76197"/>
                </a:cubicBezTo>
                <a:lnTo>
                  <a:pt x="5638800" y="914403"/>
                </a:lnTo>
                <a:cubicBezTo>
                  <a:pt x="5638800" y="956485"/>
                  <a:pt x="5604685" y="990600"/>
                  <a:pt x="5562603" y="990600"/>
                </a:cubicBezTo>
                <a:lnTo>
                  <a:pt x="76197" y="990600"/>
                </a:lnTo>
                <a:cubicBezTo>
                  <a:pt x="34115" y="990600"/>
                  <a:pt x="0" y="956485"/>
                  <a:pt x="0" y="914403"/>
                </a:cubicBezTo>
                <a:lnTo>
                  <a:pt x="0" y="76197"/>
                </a:lnTo>
                <a:cubicBezTo>
                  <a:pt x="0" y="34143"/>
                  <a:pt x="34143" y="0"/>
                  <a:pt x="76197" y="0"/>
                </a:cubicBezTo>
                <a:close/>
              </a:path>
            </a:pathLst>
          </a:custGeom>
          <a:solidFill>
            <a:srgbClr val="78909C">
              <a:alpha val="10196"/>
            </a:srgbClr>
          </a:solidFill>
          <a:ln/>
        </p:spPr>
      </p:sp>
      <p:sp>
        <p:nvSpPr>
          <p:cNvPr id="51" name="Text 49"/>
          <p:cNvSpPr/>
          <p:nvPr/>
        </p:nvSpPr>
        <p:spPr>
          <a:xfrm>
            <a:off x="6286500" y="4933950"/>
            <a:ext cx="5486400" cy="228600"/>
          </a:xfrm>
          <a:prstGeom prst="rect">
            <a:avLst/>
          </a:prstGeom>
          <a:noFill/>
          <a:ln/>
        </p:spPr>
        <p:txBody>
          <a:bodyPr wrap="square" lIns="0" tIns="0" rIns="0" bIns="0" rtlCol="0" anchor="ctr"/>
          <a:lstStyle/>
          <a:p>
            <a:pPr>
              <a:lnSpc>
                <a:spcPct val="130000"/>
              </a:lnSpc>
            </a:pPr>
            <a:r>
              <a:rPr lang="en-US" sz="1200" b="1" dirty="0">
                <a:solidFill>
                  <a:srgbClr val="ECEFF1"/>
                </a:solidFill>
                <a:latin typeface="Liter" pitchFamily="34" charset="0"/>
                <a:ea typeface="Liter" pitchFamily="34" charset="-122"/>
                <a:cs typeface="Liter" pitchFamily="34" charset="-120"/>
              </a:rPr>
              <a:t>ONNX: Interoperability</a:t>
            </a:r>
            <a:endParaRPr lang="en-US" sz="1600" dirty="0"/>
          </a:p>
        </p:txBody>
      </p:sp>
      <p:sp>
        <p:nvSpPr>
          <p:cNvPr id="52" name="Text 50"/>
          <p:cNvSpPr/>
          <p:nvPr/>
        </p:nvSpPr>
        <p:spPr>
          <a:xfrm>
            <a:off x="6286500" y="5238750"/>
            <a:ext cx="5476875"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Open Neural Network Exchange enables model conversion between frameworks.</a:t>
            </a:r>
            <a:endParaRPr lang="en-US" sz="1600" dirty="0"/>
          </a:p>
        </p:txBody>
      </p:sp>
      <p:sp>
        <p:nvSpPr>
          <p:cNvPr id="53" name="Shape 51"/>
          <p:cNvSpPr/>
          <p:nvPr/>
        </p:nvSpPr>
        <p:spPr>
          <a:xfrm>
            <a:off x="6305550" y="5534025"/>
            <a:ext cx="133350" cy="133350"/>
          </a:xfrm>
          <a:custGeom>
            <a:avLst/>
            <a:gdLst/>
            <a:ahLst/>
            <a:cxnLst/>
            <a:rect l="l" t="t" r="r" b="b"/>
            <a:pathLst>
              <a:path w="133350" h="133350">
                <a:moveTo>
                  <a:pt x="130902" y="39224"/>
                </a:moveTo>
                <a:lnTo>
                  <a:pt x="105899" y="64227"/>
                </a:lnTo>
                <a:cubicBezTo>
                  <a:pt x="103503" y="66623"/>
                  <a:pt x="99934" y="67326"/>
                  <a:pt x="96809" y="66024"/>
                </a:cubicBezTo>
                <a:cubicBezTo>
                  <a:pt x="93684" y="64722"/>
                  <a:pt x="91678" y="61700"/>
                  <a:pt x="91678" y="58341"/>
                </a:cubicBezTo>
                <a:lnTo>
                  <a:pt x="91678" y="41672"/>
                </a:lnTo>
                <a:lnTo>
                  <a:pt x="8334" y="41672"/>
                </a:lnTo>
                <a:cubicBezTo>
                  <a:pt x="3724" y="41672"/>
                  <a:pt x="0" y="37947"/>
                  <a:pt x="0" y="33337"/>
                </a:cubicBezTo>
                <a:cubicBezTo>
                  <a:pt x="0" y="28728"/>
                  <a:pt x="3724" y="25003"/>
                  <a:pt x="8334" y="25003"/>
                </a:cubicBezTo>
                <a:lnTo>
                  <a:pt x="91678" y="25003"/>
                </a:lnTo>
                <a:lnTo>
                  <a:pt x="91678" y="8334"/>
                </a:lnTo>
                <a:cubicBezTo>
                  <a:pt x="91678" y="4975"/>
                  <a:pt x="93710" y="1927"/>
                  <a:pt x="96835" y="625"/>
                </a:cubicBezTo>
                <a:cubicBezTo>
                  <a:pt x="99960" y="-677"/>
                  <a:pt x="103529" y="52"/>
                  <a:pt x="105925" y="2422"/>
                </a:cubicBezTo>
                <a:lnTo>
                  <a:pt x="130928" y="27425"/>
                </a:lnTo>
                <a:cubicBezTo>
                  <a:pt x="134183" y="30681"/>
                  <a:pt x="134183" y="35968"/>
                  <a:pt x="130928" y="39224"/>
                </a:cubicBezTo>
                <a:close/>
                <a:moveTo>
                  <a:pt x="27425" y="130902"/>
                </a:moveTo>
                <a:lnTo>
                  <a:pt x="2422" y="105899"/>
                </a:lnTo>
                <a:cubicBezTo>
                  <a:pt x="-833" y="102643"/>
                  <a:pt x="-833" y="97356"/>
                  <a:pt x="2422" y="94100"/>
                </a:cubicBezTo>
                <a:lnTo>
                  <a:pt x="27425" y="69097"/>
                </a:lnTo>
                <a:cubicBezTo>
                  <a:pt x="29821" y="66701"/>
                  <a:pt x="33390" y="65998"/>
                  <a:pt x="36515" y="67300"/>
                </a:cubicBezTo>
                <a:cubicBezTo>
                  <a:pt x="39640" y="68602"/>
                  <a:pt x="41672" y="71650"/>
                  <a:pt x="41672" y="75009"/>
                </a:cubicBezTo>
                <a:lnTo>
                  <a:pt x="41672" y="91678"/>
                </a:lnTo>
                <a:lnTo>
                  <a:pt x="125016" y="91678"/>
                </a:lnTo>
                <a:cubicBezTo>
                  <a:pt x="129626" y="91678"/>
                  <a:pt x="133350" y="95403"/>
                  <a:pt x="133350" y="100013"/>
                </a:cubicBezTo>
                <a:cubicBezTo>
                  <a:pt x="133350" y="104622"/>
                  <a:pt x="129626" y="108347"/>
                  <a:pt x="125016" y="108347"/>
                </a:cubicBezTo>
                <a:lnTo>
                  <a:pt x="41672" y="108347"/>
                </a:lnTo>
                <a:lnTo>
                  <a:pt x="41672" y="125016"/>
                </a:lnTo>
                <a:cubicBezTo>
                  <a:pt x="41672" y="128375"/>
                  <a:pt x="39640" y="131423"/>
                  <a:pt x="36515" y="132725"/>
                </a:cubicBezTo>
                <a:cubicBezTo>
                  <a:pt x="33390" y="134027"/>
                  <a:pt x="29821" y="133298"/>
                  <a:pt x="27425" y="130928"/>
                </a:cubicBezTo>
                <a:close/>
              </a:path>
            </a:pathLst>
          </a:custGeom>
          <a:solidFill>
            <a:srgbClr val="4DB6AC"/>
          </a:solidFill>
          <a:ln/>
        </p:spPr>
      </p:sp>
      <p:sp>
        <p:nvSpPr>
          <p:cNvPr id="54" name="Text 52"/>
          <p:cNvSpPr/>
          <p:nvPr/>
        </p:nvSpPr>
        <p:spPr>
          <a:xfrm>
            <a:off x="6529388" y="5505450"/>
            <a:ext cx="2000250" cy="190500"/>
          </a:xfrm>
          <a:prstGeom prst="rect">
            <a:avLst/>
          </a:prstGeom>
          <a:noFill/>
          <a:ln/>
        </p:spPr>
        <p:txBody>
          <a:bodyPr wrap="square" lIns="0" tIns="0" rIns="0" bIns="0" rtlCol="0" anchor="ctr"/>
          <a:lstStyle/>
          <a:p>
            <a:pPr>
              <a:lnSpc>
                <a:spcPct val="120000"/>
              </a:lnSpc>
            </a:pPr>
            <a:r>
              <a:rPr lang="en-US" sz="1050" dirty="0">
                <a:solidFill>
                  <a:srgbClr val="ECEFF1"/>
                </a:solidFill>
                <a:latin typeface="Quattrocento Sans" pitchFamily="34" charset="0"/>
                <a:ea typeface="Quattrocento Sans" pitchFamily="34" charset="-122"/>
                <a:cs typeface="Quattrocento Sans" pitchFamily="34" charset="-120"/>
              </a:rPr>
              <a:t>TensorFlow ↔ PyTorch ↔ Others</a:t>
            </a:r>
            <a:endParaRPr lang="en-US" sz="1600" dirty="0"/>
          </a:p>
        </p:txBody>
      </p:sp>
      <p:sp>
        <p:nvSpPr>
          <p:cNvPr id="55" name="Shape 53"/>
          <p:cNvSpPr/>
          <p:nvPr/>
        </p:nvSpPr>
        <p:spPr>
          <a:xfrm>
            <a:off x="6176963" y="589121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4DB6AC">
              <a:alpha val="10196"/>
            </a:srgbClr>
          </a:solidFill>
          <a:ln w="12700">
            <a:solidFill>
              <a:srgbClr val="4DB6AC">
                <a:alpha val="30196"/>
              </a:srgbClr>
            </a:solidFill>
            <a:prstDash val="solid"/>
          </a:ln>
        </p:spPr>
      </p:sp>
      <p:sp>
        <p:nvSpPr>
          <p:cNvPr id="56" name="Shape 54"/>
          <p:cNvSpPr/>
          <p:nvPr/>
        </p:nvSpPr>
        <p:spPr>
          <a:xfrm>
            <a:off x="7448550" y="6010275"/>
            <a:ext cx="228600" cy="228600"/>
          </a:xfrm>
          <a:custGeom>
            <a:avLst/>
            <a:gdLst/>
            <a:ahLst/>
            <a:cxnLst/>
            <a:rect l="l" t="t" r="r" b="b"/>
            <a:pathLst>
              <a:path w="228600" h="228600">
                <a:moveTo>
                  <a:pt x="223242" y="116890"/>
                </a:moveTo>
                <a:cubicBezTo>
                  <a:pt x="223242" y="180067"/>
                  <a:pt x="179978" y="225028"/>
                  <a:pt x="116086" y="225028"/>
                </a:cubicBezTo>
                <a:cubicBezTo>
                  <a:pt x="54828" y="225028"/>
                  <a:pt x="5358" y="175558"/>
                  <a:pt x="5358" y="114300"/>
                </a:cubicBezTo>
                <a:cubicBezTo>
                  <a:pt x="5358" y="53042"/>
                  <a:pt x="54828" y="3572"/>
                  <a:pt x="116086" y="3572"/>
                </a:cubicBezTo>
                <a:cubicBezTo>
                  <a:pt x="145911" y="3572"/>
                  <a:pt x="171004" y="14511"/>
                  <a:pt x="190336" y="32549"/>
                </a:cubicBezTo>
                <a:lnTo>
                  <a:pt x="160199" y="61526"/>
                </a:lnTo>
                <a:cubicBezTo>
                  <a:pt x="120774" y="23485"/>
                  <a:pt x="47461" y="52060"/>
                  <a:pt x="47461" y="114300"/>
                </a:cubicBezTo>
                <a:cubicBezTo>
                  <a:pt x="47461" y="152921"/>
                  <a:pt x="78313" y="184219"/>
                  <a:pt x="116086" y="184219"/>
                </a:cubicBezTo>
                <a:cubicBezTo>
                  <a:pt x="159931" y="184219"/>
                  <a:pt x="176361" y="152787"/>
                  <a:pt x="178951" y="136490"/>
                </a:cubicBezTo>
                <a:lnTo>
                  <a:pt x="116086" y="136490"/>
                </a:lnTo>
                <a:lnTo>
                  <a:pt x="116086" y="98405"/>
                </a:lnTo>
                <a:lnTo>
                  <a:pt x="221501" y="98405"/>
                </a:lnTo>
                <a:cubicBezTo>
                  <a:pt x="222528" y="104076"/>
                  <a:pt x="223242" y="109523"/>
                  <a:pt x="223242" y="116890"/>
                </a:cubicBezTo>
                <a:close/>
              </a:path>
            </a:pathLst>
          </a:custGeom>
          <a:solidFill>
            <a:srgbClr val="4DB6AC"/>
          </a:solidFill>
          <a:ln/>
        </p:spPr>
      </p:sp>
      <p:sp>
        <p:nvSpPr>
          <p:cNvPr id="57" name="Text 55"/>
          <p:cNvSpPr/>
          <p:nvPr/>
        </p:nvSpPr>
        <p:spPr>
          <a:xfrm>
            <a:off x="6262688" y="631507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TensorFlow</a:t>
            </a:r>
            <a:endParaRPr lang="en-US" sz="1600" dirty="0"/>
          </a:p>
        </p:txBody>
      </p:sp>
      <p:sp>
        <p:nvSpPr>
          <p:cNvPr id="58" name="Text 56"/>
          <p:cNvSpPr/>
          <p:nvPr/>
        </p:nvSpPr>
        <p:spPr>
          <a:xfrm>
            <a:off x="6267450" y="650557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Production First</a:t>
            </a:r>
            <a:endParaRPr lang="en-US" sz="1600" dirty="0"/>
          </a:p>
        </p:txBody>
      </p:sp>
      <p:sp>
        <p:nvSpPr>
          <p:cNvPr id="59" name="Shape 57"/>
          <p:cNvSpPr/>
          <p:nvPr/>
        </p:nvSpPr>
        <p:spPr>
          <a:xfrm>
            <a:off x="9034463" y="5891213"/>
            <a:ext cx="2771775" cy="885825"/>
          </a:xfrm>
          <a:custGeom>
            <a:avLst/>
            <a:gdLst/>
            <a:ahLst/>
            <a:cxnLst/>
            <a:rect l="l" t="t" r="r" b="b"/>
            <a:pathLst>
              <a:path w="2771775" h="885825">
                <a:moveTo>
                  <a:pt x="76199" y="0"/>
                </a:moveTo>
                <a:lnTo>
                  <a:pt x="2695576" y="0"/>
                </a:lnTo>
                <a:cubicBezTo>
                  <a:pt x="2737660" y="0"/>
                  <a:pt x="2771775" y="34115"/>
                  <a:pt x="2771775" y="76199"/>
                </a:cubicBezTo>
                <a:lnTo>
                  <a:pt x="2771775" y="809626"/>
                </a:lnTo>
                <a:cubicBezTo>
                  <a:pt x="2771775" y="851710"/>
                  <a:pt x="2737660" y="885825"/>
                  <a:pt x="2695576" y="885825"/>
                </a:cubicBezTo>
                <a:lnTo>
                  <a:pt x="76199" y="885825"/>
                </a:lnTo>
                <a:cubicBezTo>
                  <a:pt x="34115" y="885825"/>
                  <a:pt x="0" y="851710"/>
                  <a:pt x="0" y="809626"/>
                </a:cubicBezTo>
                <a:lnTo>
                  <a:pt x="0" y="76199"/>
                </a:lnTo>
                <a:cubicBezTo>
                  <a:pt x="0" y="34143"/>
                  <a:pt x="34143" y="0"/>
                  <a:pt x="76199" y="0"/>
                </a:cubicBezTo>
                <a:close/>
              </a:path>
            </a:pathLst>
          </a:custGeom>
          <a:solidFill>
            <a:srgbClr val="FFD54F">
              <a:alpha val="10196"/>
            </a:srgbClr>
          </a:solidFill>
          <a:ln w="12700">
            <a:solidFill>
              <a:srgbClr val="FFD54F">
                <a:alpha val="30196"/>
              </a:srgbClr>
            </a:solidFill>
            <a:prstDash val="solid"/>
          </a:ln>
        </p:spPr>
      </p:sp>
      <p:sp>
        <p:nvSpPr>
          <p:cNvPr id="60" name="Shape 58"/>
          <p:cNvSpPr/>
          <p:nvPr/>
        </p:nvSpPr>
        <p:spPr>
          <a:xfrm>
            <a:off x="10277475" y="6010275"/>
            <a:ext cx="285750" cy="228600"/>
          </a:xfrm>
          <a:custGeom>
            <a:avLst/>
            <a:gdLst/>
            <a:ahLst/>
            <a:cxnLst/>
            <a:rect l="l" t="t" r="r" b="b"/>
            <a:pathLst>
              <a:path w="285750" h="228600">
                <a:moveTo>
                  <a:pt x="285750" y="141937"/>
                </a:moveTo>
                <a:cubicBezTo>
                  <a:pt x="285750" y="182701"/>
                  <a:pt x="268159" y="208240"/>
                  <a:pt x="236503" y="208240"/>
                </a:cubicBezTo>
                <a:cubicBezTo>
                  <a:pt x="208553" y="208240"/>
                  <a:pt x="193730" y="192792"/>
                  <a:pt x="166449" y="147251"/>
                </a:cubicBezTo>
                <a:lnTo>
                  <a:pt x="152430" y="123765"/>
                </a:lnTo>
                <a:cubicBezTo>
                  <a:pt x="148724" y="118184"/>
                  <a:pt x="145956" y="112961"/>
                  <a:pt x="142964" y="108139"/>
                </a:cubicBezTo>
                <a:cubicBezTo>
                  <a:pt x="133990" y="123230"/>
                  <a:pt x="121935" y="145197"/>
                  <a:pt x="121935" y="145197"/>
                </a:cubicBezTo>
                <a:cubicBezTo>
                  <a:pt x="92020" y="197257"/>
                  <a:pt x="75233" y="208240"/>
                  <a:pt x="51881" y="208240"/>
                </a:cubicBezTo>
                <a:cubicBezTo>
                  <a:pt x="19377" y="208240"/>
                  <a:pt x="0" y="182657"/>
                  <a:pt x="0" y="143098"/>
                </a:cubicBezTo>
                <a:cubicBezTo>
                  <a:pt x="0" y="79251"/>
                  <a:pt x="35629" y="18931"/>
                  <a:pt x="82108" y="18931"/>
                </a:cubicBezTo>
                <a:cubicBezTo>
                  <a:pt x="104522" y="18931"/>
                  <a:pt x="123989" y="29959"/>
                  <a:pt x="146759" y="58891"/>
                </a:cubicBezTo>
                <a:cubicBezTo>
                  <a:pt x="163324" y="36522"/>
                  <a:pt x="181630" y="18931"/>
                  <a:pt x="205070" y="18931"/>
                </a:cubicBezTo>
                <a:cubicBezTo>
                  <a:pt x="249317" y="18931"/>
                  <a:pt x="285750" y="75054"/>
                  <a:pt x="285750" y="141937"/>
                </a:cubicBezTo>
                <a:close/>
                <a:moveTo>
                  <a:pt x="128320" y="85814"/>
                </a:moveTo>
                <a:cubicBezTo>
                  <a:pt x="109165" y="58088"/>
                  <a:pt x="96664" y="49872"/>
                  <a:pt x="81707" y="49872"/>
                </a:cubicBezTo>
                <a:cubicBezTo>
                  <a:pt x="54069" y="49872"/>
                  <a:pt x="30897" y="97244"/>
                  <a:pt x="30897" y="143634"/>
                </a:cubicBezTo>
                <a:cubicBezTo>
                  <a:pt x="30897" y="165289"/>
                  <a:pt x="39157" y="177433"/>
                  <a:pt x="53042" y="177433"/>
                </a:cubicBezTo>
                <a:cubicBezTo>
                  <a:pt x="66526" y="177433"/>
                  <a:pt x="74920" y="168950"/>
                  <a:pt x="99120" y="131088"/>
                </a:cubicBezTo>
                <a:cubicBezTo>
                  <a:pt x="99120" y="131088"/>
                  <a:pt x="110148" y="113630"/>
                  <a:pt x="128320" y="85814"/>
                </a:cubicBezTo>
                <a:close/>
                <a:moveTo>
                  <a:pt x="237173" y="177433"/>
                </a:moveTo>
                <a:cubicBezTo>
                  <a:pt x="251549" y="177433"/>
                  <a:pt x="258113" y="165155"/>
                  <a:pt x="258113" y="143991"/>
                </a:cubicBezTo>
                <a:cubicBezTo>
                  <a:pt x="258113" y="88538"/>
                  <a:pt x="233869" y="43354"/>
                  <a:pt x="203106" y="43354"/>
                </a:cubicBezTo>
                <a:cubicBezTo>
                  <a:pt x="188282" y="43354"/>
                  <a:pt x="175826" y="54918"/>
                  <a:pt x="160734" y="78179"/>
                </a:cubicBezTo>
                <a:cubicBezTo>
                  <a:pt x="164931" y="84341"/>
                  <a:pt x="169262" y="91127"/>
                  <a:pt x="173816" y="98450"/>
                </a:cubicBezTo>
                <a:lnTo>
                  <a:pt x="190560" y="126310"/>
                </a:lnTo>
                <a:cubicBezTo>
                  <a:pt x="216768" y="168325"/>
                  <a:pt x="223376" y="177433"/>
                  <a:pt x="237173" y="177433"/>
                </a:cubicBezTo>
                <a:close/>
              </a:path>
            </a:pathLst>
          </a:custGeom>
          <a:solidFill>
            <a:srgbClr val="FFD54F"/>
          </a:solidFill>
          <a:ln/>
        </p:spPr>
      </p:sp>
      <p:sp>
        <p:nvSpPr>
          <p:cNvPr id="61" name="Text 59"/>
          <p:cNvSpPr/>
          <p:nvPr/>
        </p:nvSpPr>
        <p:spPr>
          <a:xfrm>
            <a:off x="9120188" y="6315075"/>
            <a:ext cx="2600325" cy="190500"/>
          </a:xfrm>
          <a:prstGeom prst="rect">
            <a:avLst/>
          </a:prstGeom>
          <a:noFill/>
          <a:ln/>
        </p:spPr>
        <p:txBody>
          <a:bodyPr wrap="square" lIns="0" tIns="0" rIns="0" bIns="0" rtlCol="0" anchor="ctr"/>
          <a:lstStyle/>
          <a:p>
            <a:pPr algn="ctr">
              <a:lnSpc>
                <a:spcPct val="120000"/>
              </a:lnSpc>
            </a:pPr>
            <a:r>
              <a:rPr lang="en-US" sz="1050" b="1" dirty="0">
                <a:solidFill>
                  <a:srgbClr val="ECEFF1"/>
                </a:solidFill>
                <a:latin typeface="Liter" pitchFamily="34" charset="0"/>
                <a:ea typeface="Liter" pitchFamily="34" charset="-122"/>
                <a:cs typeface="Liter" pitchFamily="34" charset="-120"/>
              </a:rPr>
              <a:t>PyTorch</a:t>
            </a:r>
            <a:endParaRPr lang="en-US" sz="1600" dirty="0"/>
          </a:p>
        </p:txBody>
      </p:sp>
      <p:sp>
        <p:nvSpPr>
          <p:cNvPr id="62" name="Text 60"/>
          <p:cNvSpPr/>
          <p:nvPr/>
        </p:nvSpPr>
        <p:spPr>
          <a:xfrm>
            <a:off x="9124950" y="6505575"/>
            <a:ext cx="2590800" cy="152400"/>
          </a:xfrm>
          <a:prstGeom prst="rect">
            <a:avLst/>
          </a:prstGeom>
          <a:noFill/>
          <a:ln/>
        </p:spPr>
        <p:txBody>
          <a:bodyPr wrap="square" lIns="0" tIns="0" rIns="0" bIns="0" rtlCol="0" anchor="ctr"/>
          <a:lstStyle/>
          <a:p>
            <a:pPr algn="ctr">
              <a:lnSpc>
                <a:spcPct val="110000"/>
              </a:lnSpc>
            </a:pPr>
            <a:r>
              <a:rPr lang="en-US" sz="900" dirty="0">
                <a:solidFill>
                  <a:srgbClr val="78909C"/>
                </a:solidFill>
                <a:latin typeface="Quattrocento Sans" pitchFamily="34" charset="0"/>
                <a:ea typeface="Quattrocento Sans" pitchFamily="34" charset="-122"/>
                <a:cs typeface="Quattrocento Sans" pitchFamily="34" charset="-120"/>
              </a:rPr>
              <a:t>Research First</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img.freepik.com/8a67c60e6a4c4c0315867d3987dbcd5b3326b54b.jpg"/>
          <p:cNvPicPr>
            <a:picLocks noChangeAspect="1"/>
          </p:cNvPicPr>
          <p:nvPr/>
        </p:nvPicPr>
        <p:blipFill>
          <a:blip r:embed="rId3">
            <a:alphaModFix amt="30000"/>
          </a:blip>
          <a:srcRect l="14643" r="1464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gs>
              <a:gs pos="50000">
                <a:srgbClr val="1A1D21">
                  <a:alpha val="90000"/>
                </a:srgbClr>
              </a:gs>
              <a:gs pos="100000">
                <a:srgbClr val="1A1D21">
                  <a:alpha val="70000"/>
                </a:srgbClr>
              </a:gs>
            </a:gsLst>
            <a:lin ang="0" scaled="1"/>
          </a:gradFill>
          <a:ln/>
        </p:spPr>
      </p:sp>
      <p:sp>
        <p:nvSpPr>
          <p:cNvPr id="4" name="Shape 1"/>
          <p:cNvSpPr/>
          <p:nvPr/>
        </p:nvSpPr>
        <p:spPr>
          <a:xfrm>
            <a:off x="385763" y="1157288"/>
            <a:ext cx="3048000" cy="428625"/>
          </a:xfrm>
          <a:custGeom>
            <a:avLst/>
            <a:gdLst/>
            <a:ahLst/>
            <a:cxnLst/>
            <a:rect l="l" t="t" r="r" b="b"/>
            <a:pathLst>
              <a:path w="3048000" h="428625">
                <a:moveTo>
                  <a:pt x="214313" y="0"/>
                </a:moveTo>
                <a:lnTo>
                  <a:pt x="2833688" y="0"/>
                </a:lnTo>
                <a:cubicBezTo>
                  <a:pt x="2951970" y="0"/>
                  <a:pt x="3048000" y="96030"/>
                  <a:pt x="3048000" y="214313"/>
                </a:cubicBezTo>
                <a:lnTo>
                  <a:pt x="3048000" y="214313"/>
                </a:lnTo>
                <a:cubicBezTo>
                  <a:pt x="3048000" y="332595"/>
                  <a:pt x="2951970" y="428625"/>
                  <a:pt x="2833688" y="428625"/>
                </a:cubicBezTo>
                <a:lnTo>
                  <a:pt x="214313" y="428625"/>
                </a:lnTo>
                <a:cubicBezTo>
                  <a:pt x="96030" y="428625"/>
                  <a:pt x="0" y="332595"/>
                  <a:pt x="0" y="214313"/>
                </a:cubicBezTo>
                <a:lnTo>
                  <a:pt x="0" y="214313"/>
                </a:lnTo>
                <a:cubicBezTo>
                  <a:pt x="0" y="96030"/>
                  <a:pt x="96030" y="0"/>
                  <a:pt x="214312"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619125" y="1266825"/>
            <a:ext cx="2675632" cy="209550"/>
          </a:xfrm>
          <a:prstGeom prst="rect">
            <a:avLst/>
          </a:prstGeom>
          <a:noFill/>
          <a:ln/>
        </p:spPr>
        <p:txBody>
          <a:bodyPr wrap="square" lIns="0" tIns="0" rIns="0" bIns="0" rtlCol="0" anchor="ctr"/>
          <a:lstStyle/>
          <a:p>
            <a:pPr>
              <a:lnSpc>
                <a:spcPct val="120000"/>
              </a:lnSpc>
            </a:pPr>
            <a:r>
              <a:rPr lang="en-US" sz="1500" b="1" kern="0" spc="75" dirty="0">
                <a:solidFill>
                  <a:srgbClr val="4DB6AC"/>
                </a:solidFill>
                <a:latin typeface="Quattrocento Sans" pitchFamily="34" charset="0"/>
                <a:ea typeface="Quattrocento Sans" pitchFamily="34" charset="-122"/>
                <a:cs typeface="Quattrocento Sans" pitchFamily="34" charset="-120"/>
              </a:rPr>
              <a:t>CHAPTER 06 | KAPITULLI 06</a:t>
            </a:r>
            <a:endParaRPr lang="en-US" sz="1600" dirty="0"/>
          </a:p>
        </p:txBody>
      </p:sp>
      <p:sp>
        <p:nvSpPr>
          <p:cNvPr id="6" name="Text 3"/>
          <p:cNvSpPr/>
          <p:nvPr/>
        </p:nvSpPr>
        <p:spPr>
          <a:xfrm>
            <a:off x="381000" y="2047875"/>
            <a:ext cx="11772900" cy="1714500"/>
          </a:xfrm>
          <a:prstGeom prst="rect">
            <a:avLst/>
          </a:prstGeom>
          <a:noFill/>
          <a:ln/>
        </p:spPr>
        <p:txBody>
          <a:bodyPr wrap="square" lIns="0" tIns="0" rIns="0" bIns="0" rtlCol="0" anchor="ctr"/>
          <a:lstStyle/>
          <a:p>
            <a:pPr>
              <a:lnSpc>
                <a:spcPct val="100000"/>
              </a:lnSpc>
            </a:pPr>
            <a:r>
              <a:rPr lang="en-US" sz="5400" b="1" dirty="0">
                <a:solidFill>
                  <a:srgbClr val="ECEFF1"/>
                </a:solidFill>
                <a:latin typeface="Liter" pitchFamily="34" charset="0"/>
                <a:ea typeface="Liter" pitchFamily="34" charset="-122"/>
                <a:cs typeface="Liter" pitchFamily="34" charset="-120"/>
              </a:rPr>
              <a:t>Applications</a:t>
            </a:r>
            <a:endParaRPr lang="en-US" sz="1600" dirty="0"/>
          </a:p>
          <a:p>
            <a:pPr>
              <a:lnSpc>
                <a:spcPct val="100000"/>
              </a:lnSpc>
            </a:pPr>
            <a:r>
              <a:rPr lang="en-US" sz="5400" b="1" dirty="0">
                <a:solidFill>
                  <a:srgbClr val="ECEFF1"/>
                </a:solidFill>
                <a:latin typeface="Liter" pitchFamily="34" charset="0"/>
                <a:ea typeface="Liter" pitchFamily="34" charset="-122"/>
                <a:cs typeface="Liter" pitchFamily="34" charset="-120"/>
              </a:rPr>
              <a:t>&amp; Future</a:t>
            </a:r>
            <a:endParaRPr lang="en-US" sz="1600" dirty="0"/>
          </a:p>
        </p:txBody>
      </p:sp>
      <p:sp>
        <p:nvSpPr>
          <p:cNvPr id="7" name="Text 4"/>
          <p:cNvSpPr/>
          <p:nvPr/>
        </p:nvSpPr>
        <p:spPr>
          <a:xfrm>
            <a:off x="381000" y="3990975"/>
            <a:ext cx="11658600" cy="457200"/>
          </a:xfrm>
          <a:prstGeom prst="rect">
            <a:avLst/>
          </a:prstGeom>
          <a:noFill/>
          <a:ln/>
        </p:spPr>
        <p:txBody>
          <a:bodyPr wrap="square" lIns="0" tIns="0" rIns="0" bIns="0" rtlCol="0" anchor="ctr"/>
          <a:lstStyle/>
          <a:p>
            <a:pPr>
              <a:lnSpc>
                <a:spcPct val="80000"/>
              </a:lnSpc>
            </a:pPr>
            <a:r>
              <a:rPr lang="en-US" sz="3600" b="1" dirty="0">
                <a:solidFill>
                  <a:srgbClr val="4DB6AC"/>
                </a:solidFill>
                <a:latin typeface="Hedvig Letters Sans" pitchFamily="34" charset="0"/>
                <a:ea typeface="Hedvig Letters Sans" pitchFamily="34" charset="-122"/>
                <a:cs typeface="Hedvig Letters Sans" pitchFamily="34" charset="-120"/>
              </a:rPr>
              <a:t>Aplikime &amp; E Ardhmja</a:t>
            </a:r>
            <a:endParaRPr lang="en-US" sz="1600" dirty="0"/>
          </a:p>
        </p:txBody>
      </p:sp>
      <p:sp>
        <p:nvSpPr>
          <p:cNvPr id="8" name="Shape 5"/>
          <p:cNvSpPr/>
          <p:nvPr/>
        </p:nvSpPr>
        <p:spPr>
          <a:xfrm>
            <a:off x="381000" y="4752975"/>
            <a:ext cx="1524000" cy="38100"/>
          </a:xfrm>
          <a:custGeom>
            <a:avLst/>
            <a:gdLst/>
            <a:ahLst/>
            <a:cxnLst/>
            <a:rect l="l" t="t" r="r" b="b"/>
            <a:pathLst>
              <a:path w="1524000" h="38100">
                <a:moveTo>
                  <a:pt x="0" y="0"/>
                </a:moveTo>
                <a:lnTo>
                  <a:pt x="1524000" y="0"/>
                </a:lnTo>
                <a:lnTo>
                  <a:pt x="1524000" y="38100"/>
                </a:lnTo>
                <a:lnTo>
                  <a:pt x="0" y="3810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381000" y="5095875"/>
            <a:ext cx="7429500" cy="609600"/>
          </a:xfrm>
          <a:prstGeom prst="rect">
            <a:avLst/>
          </a:prstGeom>
          <a:noFill/>
          <a:ln/>
        </p:spPr>
        <p:txBody>
          <a:bodyPr wrap="square" lIns="0" tIns="0" rIns="0" bIns="0" rtlCol="0" anchor="ctr"/>
          <a:lstStyle/>
          <a:p>
            <a:pPr>
              <a:lnSpc>
                <a:spcPct val="110000"/>
              </a:lnSpc>
            </a:pPr>
            <a:r>
              <a:rPr lang="en-US" sz="1800" dirty="0">
                <a:solidFill>
                  <a:srgbClr val="78909C"/>
                </a:solidFill>
                <a:latin typeface="Quattrocento Sans" pitchFamily="34" charset="0"/>
                <a:ea typeface="Quattrocento Sans" pitchFamily="34" charset="-122"/>
                <a:cs typeface="Quattrocento Sans" pitchFamily="34" charset="-120"/>
              </a:rPr>
              <a:t>Real-world impact and emerging trends</a:t>
            </a:r>
            <a:endParaRPr lang="en-US" sz="1600" dirty="0"/>
          </a:p>
          <a:p>
            <a:pPr>
              <a:lnSpc>
                <a:spcPct val="110000"/>
              </a:lnSpc>
            </a:pPr>
            <a:r>
              <a:rPr lang="en-US" sz="1800" dirty="0">
                <a:solidFill>
                  <a:srgbClr val="4DB6AC"/>
                </a:solidFill>
                <a:latin typeface="Quattrocento Sans" pitchFamily="34" charset="0"/>
                <a:ea typeface="Quattrocento Sans" pitchFamily="34" charset="-122"/>
                <a:cs typeface="Quattrocento Sans" pitchFamily="34" charset="-120"/>
              </a:rPr>
              <a:t>Ndikimi në botën reale dhe tendencat e reja</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1A1D21"/>
        </a:solidFill>
        <a:effectLst/>
      </p:bgPr>
    </p:bg>
    <p:spTree>
      <p:nvGrpSpPr>
        <p:cNvPr id="1" name=""/>
        <p:cNvGrpSpPr/>
        <p:nvPr/>
      </p:nvGrpSpPr>
      <p:grpSpPr>
        <a:xfrm>
          <a:off x="0" y="0"/>
          <a:ext cx="0" cy="0"/>
          <a:chOff x="0" y="0"/>
          <a:chExt cx="0" cy="0"/>
        </a:xfrm>
      </p:grpSpPr>
      <p:sp>
        <p:nvSpPr>
          <p:cNvPr id="2" name="Text 0"/>
          <p:cNvSpPr/>
          <p:nvPr/>
        </p:nvSpPr>
        <p:spPr>
          <a:xfrm>
            <a:off x="369735" y="369735"/>
            <a:ext cx="11618911" cy="369735"/>
          </a:xfrm>
          <a:prstGeom prst="rect">
            <a:avLst/>
          </a:prstGeom>
          <a:noFill/>
          <a:ln/>
        </p:spPr>
        <p:txBody>
          <a:bodyPr wrap="square" lIns="0" tIns="0" rIns="0" bIns="0" rtlCol="0" anchor="ctr"/>
          <a:lstStyle/>
          <a:p>
            <a:pPr>
              <a:lnSpc>
                <a:spcPct val="90000"/>
              </a:lnSpc>
            </a:pPr>
            <a:r>
              <a:rPr lang="en-US" sz="2620" b="1" dirty="0">
                <a:solidFill>
                  <a:srgbClr val="ECEFF1"/>
                </a:solidFill>
                <a:latin typeface="Liter" pitchFamily="34" charset="0"/>
                <a:ea typeface="Liter" pitchFamily="34" charset="-122"/>
                <a:cs typeface="Liter" pitchFamily="34" charset="-120"/>
              </a:rPr>
              <a:t>Real-World Applications</a:t>
            </a:r>
            <a:endParaRPr lang="en-US" sz="1600" dirty="0"/>
          </a:p>
        </p:txBody>
      </p:sp>
      <p:sp>
        <p:nvSpPr>
          <p:cNvPr id="3" name="Text 1"/>
          <p:cNvSpPr/>
          <p:nvPr/>
        </p:nvSpPr>
        <p:spPr>
          <a:xfrm>
            <a:off x="369735" y="776443"/>
            <a:ext cx="11563451" cy="295788"/>
          </a:xfrm>
          <a:prstGeom prst="rect">
            <a:avLst/>
          </a:prstGeom>
          <a:noFill/>
          <a:ln/>
        </p:spPr>
        <p:txBody>
          <a:bodyPr wrap="square" lIns="0" tIns="0" rIns="0" bIns="0" rtlCol="0" anchor="ctr"/>
          <a:lstStyle/>
          <a:p>
            <a:pPr>
              <a:lnSpc>
                <a:spcPct val="110000"/>
              </a:lnSpc>
            </a:pPr>
            <a:r>
              <a:rPr lang="en-US" sz="1747" b="1" dirty="0">
                <a:solidFill>
                  <a:srgbClr val="4DB6AC"/>
                </a:solidFill>
                <a:latin typeface="Hedvig Letters Sans" pitchFamily="34" charset="0"/>
                <a:ea typeface="Hedvig Letters Sans" pitchFamily="34" charset="-122"/>
                <a:cs typeface="Hedvig Letters Sans" pitchFamily="34" charset="-120"/>
              </a:rPr>
              <a:t>Aplikime në Botën Reale</a:t>
            </a:r>
            <a:endParaRPr lang="en-US" sz="1600" dirty="0"/>
          </a:p>
        </p:txBody>
      </p:sp>
      <p:sp>
        <p:nvSpPr>
          <p:cNvPr id="4" name="Shape 2"/>
          <p:cNvSpPr/>
          <p:nvPr/>
        </p:nvSpPr>
        <p:spPr>
          <a:xfrm>
            <a:off x="374356" y="1150799"/>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4DB6AC">
              <a:alpha val="10196"/>
            </a:srgbClr>
          </a:solidFill>
          <a:ln w="12700">
            <a:solidFill>
              <a:srgbClr val="4DB6AC">
                <a:alpha val="30196"/>
              </a:srgbClr>
            </a:solidFill>
            <a:prstDash val="solid"/>
          </a:ln>
        </p:spPr>
      </p:sp>
      <p:sp>
        <p:nvSpPr>
          <p:cNvPr id="5" name="Shape 3"/>
          <p:cNvSpPr/>
          <p:nvPr/>
        </p:nvSpPr>
        <p:spPr>
          <a:xfrm>
            <a:off x="489898" y="1266341"/>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4DB6AC"/>
          </a:solidFill>
          <a:ln/>
        </p:spPr>
      </p:sp>
      <p:sp>
        <p:nvSpPr>
          <p:cNvPr id="6" name="Shape 4"/>
          <p:cNvSpPr/>
          <p:nvPr/>
        </p:nvSpPr>
        <p:spPr>
          <a:xfrm>
            <a:off x="586954" y="1377262"/>
            <a:ext cx="249571" cy="221841"/>
          </a:xfrm>
          <a:custGeom>
            <a:avLst/>
            <a:gdLst/>
            <a:ahLst/>
            <a:cxnLst/>
            <a:rect l="l" t="t" r="r" b="b"/>
            <a:pathLst>
              <a:path w="249571" h="221841">
                <a:moveTo>
                  <a:pt x="124785" y="13865"/>
                </a:moveTo>
                <a:cubicBezTo>
                  <a:pt x="89776" y="13865"/>
                  <a:pt x="61743" y="29810"/>
                  <a:pt x="41335" y="48788"/>
                </a:cubicBezTo>
                <a:cubicBezTo>
                  <a:pt x="21058" y="67635"/>
                  <a:pt x="7496" y="90123"/>
                  <a:pt x="1040" y="105591"/>
                </a:cubicBezTo>
                <a:cubicBezTo>
                  <a:pt x="-390" y="109014"/>
                  <a:pt x="-390" y="112827"/>
                  <a:pt x="1040" y="116250"/>
                </a:cubicBezTo>
                <a:cubicBezTo>
                  <a:pt x="7496" y="131718"/>
                  <a:pt x="21058" y="154249"/>
                  <a:pt x="41335" y="173053"/>
                </a:cubicBezTo>
                <a:cubicBezTo>
                  <a:pt x="61743" y="191988"/>
                  <a:pt x="89776" y="207976"/>
                  <a:pt x="124785" y="207976"/>
                </a:cubicBezTo>
                <a:cubicBezTo>
                  <a:pt x="159795" y="207976"/>
                  <a:pt x="187828" y="192031"/>
                  <a:pt x="208236" y="173053"/>
                </a:cubicBezTo>
                <a:cubicBezTo>
                  <a:pt x="228513" y="154205"/>
                  <a:pt x="242075" y="131718"/>
                  <a:pt x="248531" y="116250"/>
                </a:cubicBezTo>
                <a:cubicBezTo>
                  <a:pt x="249961" y="112827"/>
                  <a:pt x="249961" y="109014"/>
                  <a:pt x="248531" y="105591"/>
                </a:cubicBezTo>
                <a:cubicBezTo>
                  <a:pt x="242075" y="90123"/>
                  <a:pt x="228513" y="67592"/>
                  <a:pt x="208236" y="48788"/>
                </a:cubicBezTo>
                <a:cubicBezTo>
                  <a:pt x="187828" y="29853"/>
                  <a:pt x="159795" y="13865"/>
                  <a:pt x="124785" y="13865"/>
                </a:cubicBezTo>
                <a:close/>
                <a:moveTo>
                  <a:pt x="62393" y="110920"/>
                </a:moveTo>
                <a:cubicBezTo>
                  <a:pt x="62393" y="76485"/>
                  <a:pt x="90350" y="48528"/>
                  <a:pt x="124785" y="48528"/>
                </a:cubicBezTo>
                <a:cubicBezTo>
                  <a:pt x="159221" y="48528"/>
                  <a:pt x="187178" y="76485"/>
                  <a:pt x="187178" y="110920"/>
                </a:cubicBezTo>
                <a:cubicBezTo>
                  <a:pt x="187178" y="145356"/>
                  <a:pt x="159221" y="173313"/>
                  <a:pt x="124785" y="173313"/>
                </a:cubicBezTo>
                <a:cubicBezTo>
                  <a:pt x="90350" y="173313"/>
                  <a:pt x="62393" y="145356"/>
                  <a:pt x="62393" y="110920"/>
                </a:cubicBezTo>
                <a:close/>
                <a:moveTo>
                  <a:pt x="124785" y="83190"/>
                </a:moveTo>
                <a:cubicBezTo>
                  <a:pt x="124785" y="98485"/>
                  <a:pt x="112350" y="110920"/>
                  <a:pt x="97055" y="110920"/>
                </a:cubicBezTo>
                <a:cubicBezTo>
                  <a:pt x="92073" y="110920"/>
                  <a:pt x="87393" y="109621"/>
                  <a:pt x="83320" y="107281"/>
                </a:cubicBezTo>
                <a:cubicBezTo>
                  <a:pt x="82887" y="112004"/>
                  <a:pt x="83277" y="116856"/>
                  <a:pt x="84577" y="121666"/>
                </a:cubicBezTo>
                <a:cubicBezTo>
                  <a:pt x="90513" y="143850"/>
                  <a:pt x="113347" y="157022"/>
                  <a:pt x="135531" y="151086"/>
                </a:cubicBezTo>
                <a:cubicBezTo>
                  <a:pt x="157715" y="145150"/>
                  <a:pt x="170887" y="122316"/>
                  <a:pt x="164951" y="100132"/>
                </a:cubicBezTo>
                <a:cubicBezTo>
                  <a:pt x="159665" y="80331"/>
                  <a:pt x="140904" y="67722"/>
                  <a:pt x="121146" y="69455"/>
                </a:cubicBezTo>
                <a:cubicBezTo>
                  <a:pt x="123442" y="73485"/>
                  <a:pt x="124785" y="78164"/>
                  <a:pt x="124785" y="83190"/>
                </a:cubicBezTo>
                <a:close/>
              </a:path>
            </a:pathLst>
          </a:custGeom>
          <a:solidFill>
            <a:srgbClr val="1A1D21"/>
          </a:solidFill>
          <a:ln/>
        </p:spPr>
      </p:sp>
      <p:sp>
        <p:nvSpPr>
          <p:cNvPr id="7" name="Text 5"/>
          <p:cNvSpPr/>
          <p:nvPr/>
        </p:nvSpPr>
        <p:spPr>
          <a:xfrm>
            <a:off x="1044500" y="1266341"/>
            <a:ext cx="1312558"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Computer Vision</a:t>
            </a:r>
            <a:endParaRPr lang="en-US" sz="1600" dirty="0"/>
          </a:p>
        </p:txBody>
      </p:sp>
      <p:sp>
        <p:nvSpPr>
          <p:cNvPr id="8" name="Text 6"/>
          <p:cNvSpPr/>
          <p:nvPr/>
        </p:nvSpPr>
        <p:spPr>
          <a:xfrm>
            <a:off x="1044500" y="1525155"/>
            <a:ext cx="1294071"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Shikimi Kompjuterik</a:t>
            </a:r>
            <a:endParaRPr lang="en-US" sz="1600" dirty="0"/>
          </a:p>
        </p:txBody>
      </p:sp>
      <p:sp>
        <p:nvSpPr>
          <p:cNvPr id="9" name="Text 7"/>
          <p:cNvSpPr/>
          <p:nvPr/>
        </p:nvSpPr>
        <p:spPr>
          <a:xfrm>
            <a:off x="489898" y="178397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Image classification (ImageNet)</a:t>
            </a:r>
            <a:endParaRPr lang="en-US" sz="1600" dirty="0"/>
          </a:p>
        </p:txBody>
      </p:sp>
      <p:sp>
        <p:nvSpPr>
          <p:cNvPr id="10" name="Text 8"/>
          <p:cNvSpPr/>
          <p:nvPr/>
        </p:nvSpPr>
        <p:spPr>
          <a:xfrm>
            <a:off x="489898" y="200581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Object detection (YOLO, R-CNN)</a:t>
            </a:r>
            <a:endParaRPr lang="en-US" sz="1600" dirty="0"/>
          </a:p>
        </p:txBody>
      </p:sp>
      <p:sp>
        <p:nvSpPr>
          <p:cNvPr id="11" name="Text 9"/>
          <p:cNvSpPr/>
          <p:nvPr/>
        </p:nvSpPr>
        <p:spPr>
          <a:xfrm>
            <a:off x="489898" y="2227651"/>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Facial recognition</a:t>
            </a:r>
            <a:endParaRPr lang="en-US" sz="1600" dirty="0"/>
          </a:p>
        </p:txBody>
      </p:sp>
      <p:sp>
        <p:nvSpPr>
          <p:cNvPr id="12" name="Text 10"/>
          <p:cNvSpPr/>
          <p:nvPr/>
        </p:nvSpPr>
        <p:spPr>
          <a:xfrm>
            <a:off x="489898" y="2449492"/>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Medical imaging analysis</a:t>
            </a:r>
            <a:endParaRPr lang="en-US" sz="1600" dirty="0"/>
          </a:p>
        </p:txBody>
      </p:sp>
      <p:sp>
        <p:nvSpPr>
          <p:cNvPr id="13" name="Text 11"/>
          <p:cNvSpPr/>
          <p:nvPr/>
        </p:nvSpPr>
        <p:spPr>
          <a:xfrm>
            <a:off x="489898" y="2671333"/>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Autonomous vehicles</a:t>
            </a:r>
            <a:endParaRPr lang="en-US" sz="1600" dirty="0"/>
          </a:p>
        </p:txBody>
      </p:sp>
      <p:sp>
        <p:nvSpPr>
          <p:cNvPr id="14" name="Shape 12"/>
          <p:cNvSpPr/>
          <p:nvPr/>
        </p:nvSpPr>
        <p:spPr>
          <a:xfrm>
            <a:off x="6156515" y="1150799"/>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FFD54F">
              <a:alpha val="10196"/>
            </a:srgbClr>
          </a:solidFill>
          <a:ln w="12700">
            <a:solidFill>
              <a:srgbClr val="FFD54F">
                <a:alpha val="30196"/>
              </a:srgbClr>
            </a:solidFill>
            <a:prstDash val="solid"/>
          </a:ln>
        </p:spPr>
      </p:sp>
      <p:sp>
        <p:nvSpPr>
          <p:cNvPr id="15" name="Shape 13"/>
          <p:cNvSpPr/>
          <p:nvPr/>
        </p:nvSpPr>
        <p:spPr>
          <a:xfrm>
            <a:off x="6272057" y="1266341"/>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FFD54F"/>
          </a:solidFill>
          <a:ln/>
        </p:spPr>
      </p:sp>
      <p:sp>
        <p:nvSpPr>
          <p:cNvPr id="16" name="Shape 14"/>
          <p:cNvSpPr/>
          <p:nvPr/>
        </p:nvSpPr>
        <p:spPr>
          <a:xfrm>
            <a:off x="6369113" y="1377262"/>
            <a:ext cx="249571" cy="221841"/>
          </a:xfrm>
          <a:custGeom>
            <a:avLst/>
            <a:gdLst/>
            <a:ahLst/>
            <a:cxnLst/>
            <a:rect l="l" t="t" r="r" b="b"/>
            <a:pathLst>
              <a:path w="249571" h="221841">
                <a:moveTo>
                  <a:pt x="166381" y="62393"/>
                </a:moveTo>
                <a:cubicBezTo>
                  <a:pt x="166381" y="104508"/>
                  <a:pt x="129118" y="138650"/>
                  <a:pt x="83190" y="138650"/>
                </a:cubicBezTo>
                <a:cubicBezTo>
                  <a:pt x="71622" y="138650"/>
                  <a:pt x="60616" y="136484"/>
                  <a:pt x="50607" y="132585"/>
                </a:cubicBezTo>
                <a:lnTo>
                  <a:pt x="15252" y="151302"/>
                </a:lnTo>
                <a:cubicBezTo>
                  <a:pt x="11222" y="153425"/>
                  <a:pt x="6283" y="152689"/>
                  <a:pt x="3033" y="149483"/>
                </a:cubicBezTo>
                <a:cubicBezTo>
                  <a:pt x="-217" y="146276"/>
                  <a:pt x="-953" y="141294"/>
                  <a:pt x="1213" y="137264"/>
                </a:cubicBezTo>
                <a:lnTo>
                  <a:pt x="16638" y="108147"/>
                </a:lnTo>
                <a:cubicBezTo>
                  <a:pt x="6196" y="95409"/>
                  <a:pt x="0" y="79551"/>
                  <a:pt x="0" y="62393"/>
                </a:cubicBezTo>
                <a:cubicBezTo>
                  <a:pt x="0" y="20278"/>
                  <a:pt x="37262" y="-13865"/>
                  <a:pt x="83190" y="-13865"/>
                </a:cubicBezTo>
                <a:cubicBezTo>
                  <a:pt x="129118" y="-13865"/>
                  <a:pt x="166381" y="20278"/>
                  <a:pt x="166381" y="62393"/>
                </a:cubicBezTo>
                <a:close/>
                <a:moveTo>
                  <a:pt x="166381" y="221841"/>
                </a:moveTo>
                <a:cubicBezTo>
                  <a:pt x="125609" y="221841"/>
                  <a:pt x="91683" y="194934"/>
                  <a:pt x="84577" y="159448"/>
                </a:cubicBezTo>
                <a:cubicBezTo>
                  <a:pt x="136571" y="158798"/>
                  <a:pt x="181762" y="121796"/>
                  <a:pt x="186745" y="71622"/>
                </a:cubicBezTo>
                <a:cubicBezTo>
                  <a:pt x="222837" y="79941"/>
                  <a:pt x="249571" y="109881"/>
                  <a:pt x="249571" y="145583"/>
                </a:cubicBezTo>
                <a:cubicBezTo>
                  <a:pt x="249571" y="162741"/>
                  <a:pt x="243375" y="178599"/>
                  <a:pt x="232933" y="191338"/>
                </a:cubicBezTo>
                <a:lnTo>
                  <a:pt x="248358" y="220454"/>
                </a:lnTo>
                <a:cubicBezTo>
                  <a:pt x="250481" y="224484"/>
                  <a:pt x="249744" y="229423"/>
                  <a:pt x="246538" y="232673"/>
                </a:cubicBezTo>
                <a:cubicBezTo>
                  <a:pt x="243332" y="235922"/>
                  <a:pt x="238349" y="236659"/>
                  <a:pt x="234319" y="234493"/>
                </a:cubicBezTo>
                <a:lnTo>
                  <a:pt x="198963" y="215775"/>
                </a:lnTo>
                <a:cubicBezTo>
                  <a:pt x="188955" y="219674"/>
                  <a:pt x="177949" y="221841"/>
                  <a:pt x="166381" y="221841"/>
                </a:cubicBezTo>
                <a:close/>
              </a:path>
            </a:pathLst>
          </a:custGeom>
          <a:solidFill>
            <a:srgbClr val="1A1D21"/>
          </a:solidFill>
          <a:ln/>
        </p:spPr>
      </p:sp>
      <p:sp>
        <p:nvSpPr>
          <p:cNvPr id="17" name="Text 15"/>
          <p:cNvSpPr/>
          <p:nvPr/>
        </p:nvSpPr>
        <p:spPr>
          <a:xfrm>
            <a:off x="6826659" y="1266341"/>
            <a:ext cx="2227651"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Natural Language Processing</a:t>
            </a:r>
            <a:endParaRPr lang="en-US" sz="1600" dirty="0"/>
          </a:p>
        </p:txBody>
      </p:sp>
      <p:sp>
        <p:nvSpPr>
          <p:cNvPr id="18" name="Text 16"/>
          <p:cNvSpPr/>
          <p:nvPr/>
        </p:nvSpPr>
        <p:spPr>
          <a:xfrm>
            <a:off x="6826659" y="1525155"/>
            <a:ext cx="2209165"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Përpunimi i Gjuhës Natyrore</a:t>
            </a:r>
            <a:endParaRPr lang="en-US" sz="1600" dirty="0"/>
          </a:p>
        </p:txBody>
      </p:sp>
      <p:sp>
        <p:nvSpPr>
          <p:cNvPr id="19" name="Text 17"/>
          <p:cNvSpPr/>
          <p:nvPr/>
        </p:nvSpPr>
        <p:spPr>
          <a:xfrm>
            <a:off x="6272057" y="178397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Machine translation (Google Translate)</a:t>
            </a:r>
            <a:endParaRPr lang="en-US" sz="1600" dirty="0"/>
          </a:p>
        </p:txBody>
      </p:sp>
      <p:sp>
        <p:nvSpPr>
          <p:cNvPr id="20" name="Text 18"/>
          <p:cNvSpPr/>
          <p:nvPr/>
        </p:nvSpPr>
        <p:spPr>
          <a:xfrm>
            <a:off x="6272057" y="200581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Sentiment analysis</a:t>
            </a:r>
            <a:endParaRPr lang="en-US" sz="1600" dirty="0"/>
          </a:p>
        </p:txBody>
      </p:sp>
      <p:sp>
        <p:nvSpPr>
          <p:cNvPr id="21" name="Text 19"/>
          <p:cNvSpPr/>
          <p:nvPr/>
        </p:nvSpPr>
        <p:spPr>
          <a:xfrm>
            <a:off x="6272057" y="2227651"/>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Chatbots (ChatGPT, Claude)</a:t>
            </a:r>
            <a:endParaRPr lang="en-US" sz="1600" dirty="0"/>
          </a:p>
        </p:txBody>
      </p:sp>
      <p:sp>
        <p:nvSpPr>
          <p:cNvPr id="22" name="Text 20"/>
          <p:cNvSpPr/>
          <p:nvPr/>
        </p:nvSpPr>
        <p:spPr>
          <a:xfrm>
            <a:off x="6272057" y="2449492"/>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Text summarization</a:t>
            </a:r>
            <a:endParaRPr lang="en-US" sz="1600" dirty="0"/>
          </a:p>
        </p:txBody>
      </p:sp>
      <p:sp>
        <p:nvSpPr>
          <p:cNvPr id="23" name="Text 21"/>
          <p:cNvSpPr/>
          <p:nvPr/>
        </p:nvSpPr>
        <p:spPr>
          <a:xfrm>
            <a:off x="6272057" y="2671333"/>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Question answering</a:t>
            </a:r>
            <a:endParaRPr lang="en-US" sz="1600" dirty="0"/>
          </a:p>
        </p:txBody>
      </p:sp>
      <p:sp>
        <p:nvSpPr>
          <p:cNvPr id="24" name="Shape 22"/>
          <p:cNvSpPr/>
          <p:nvPr/>
        </p:nvSpPr>
        <p:spPr>
          <a:xfrm>
            <a:off x="374356" y="3091906"/>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4DB6AC">
              <a:alpha val="10196"/>
            </a:srgbClr>
          </a:solidFill>
          <a:ln w="12700">
            <a:solidFill>
              <a:srgbClr val="4DB6AC">
                <a:alpha val="30196"/>
              </a:srgbClr>
            </a:solidFill>
            <a:prstDash val="solid"/>
          </a:ln>
        </p:spPr>
      </p:sp>
      <p:sp>
        <p:nvSpPr>
          <p:cNvPr id="25" name="Shape 23"/>
          <p:cNvSpPr/>
          <p:nvPr/>
        </p:nvSpPr>
        <p:spPr>
          <a:xfrm>
            <a:off x="489898" y="3207448"/>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4DB6AC"/>
          </a:solidFill>
          <a:ln/>
        </p:spPr>
      </p:sp>
      <p:sp>
        <p:nvSpPr>
          <p:cNvPr id="26" name="Shape 24"/>
          <p:cNvSpPr/>
          <p:nvPr/>
        </p:nvSpPr>
        <p:spPr>
          <a:xfrm>
            <a:off x="600819" y="3318368"/>
            <a:ext cx="221841" cy="221841"/>
          </a:xfrm>
          <a:custGeom>
            <a:avLst/>
            <a:gdLst/>
            <a:ahLst/>
            <a:cxnLst/>
            <a:rect l="l" t="t" r="r" b="b"/>
            <a:pathLst>
              <a:path w="221841" h="221841">
                <a:moveTo>
                  <a:pt x="110920" y="46751"/>
                </a:moveTo>
                <a:lnTo>
                  <a:pt x="104421" y="37739"/>
                </a:lnTo>
                <a:cubicBezTo>
                  <a:pt x="93589" y="22747"/>
                  <a:pt x="76214" y="13865"/>
                  <a:pt x="57670" y="13865"/>
                </a:cubicBezTo>
                <a:cubicBezTo>
                  <a:pt x="25824" y="13865"/>
                  <a:pt x="0" y="39689"/>
                  <a:pt x="0" y="71535"/>
                </a:cubicBezTo>
                <a:lnTo>
                  <a:pt x="0" y="72662"/>
                </a:lnTo>
                <a:cubicBezTo>
                  <a:pt x="0" y="82887"/>
                  <a:pt x="2686" y="93459"/>
                  <a:pt x="7192" y="103988"/>
                </a:cubicBezTo>
                <a:lnTo>
                  <a:pt x="53120" y="103988"/>
                </a:lnTo>
                <a:cubicBezTo>
                  <a:pt x="54507" y="103988"/>
                  <a:pt x="55763" y="103165"/>
                  <a:pt x="56327" y="101865"/>
                </a:cubicBezTo>
                <a:lnTo>
                  <a:pt x="70105" y="68805"/>
                </a:lnTo>
                <a:cubicBezTo>
                  <a:pt x="71708" y="64992"/>
                  <a:pt x="75435" y="62479"/>
                  <a:pt x="79551" y="62393"/>
                </a:cubicBezTo>
                <a:cubicBezTo>
                  <a:pt x="83667" y="62306"/>
                  <a:pt x="87480" y="64732"/>
                  <a:pt x="89170" y="68502"/>
                </a:cubicBezTo>
                <a:lnTo>
                  <a:pt x="111397" y="117853"/>
                </a:lnTo>
                <a:lnTo>
                  <a:pt x="129335" y="81977"/>
                </a:lnTo>
                <a:cubicBezTo>
                  <a:pt x="131111" y="78468"/>
                  <a:pt x="134708" y="76214"/>
                  <a:pt x="138650" y="76214"/>
                </a:cubicBezTo>
                <a:cubicBezTo>
                  <a:pt x="142593" y="76214"/>
                  <a:pt x="146190" y="78424"/>
                  <a:pt x="147966" y="81977"/>
                </a:cubicBezTo>
                <a:lnTo>
                  <a:pt x="158018" y="102038"/>
                </a:lnTo>
                <a:cubicBezTo>
                  <a:pt x="158625" y="103208"/>
                  <a:pt x="159795" y="103945"/>
                  <a:pt x="161138" y="103945"/>
                </a:cubicBezTo>
                <a:lnTo>
                  <a:pt x="214692" y="103945"/>
                </a:lnTo>
                <a:cubicBezTo>
                  <a:pt x="219241" y="93416"/>
                  <a:pt x="221884" y="82844"/>
                  <a:pt x="221884" y="72618"/>
                </a:cubicBezTo>
                <a:lnTo>
                  <a:pt x="221884" y="71492"/>
                </a:lnTo>
                <a:cubicBezTo>
                  <a:pt x="221841" y="39689"/>
                  <a:pt x="196017" y="13865"/>
                  <a:pt x="164171" y="13865"/>
                </a:cubicBezTo>
                <a:cubicBezTo>
                  <a:pt x="145670" y="13865"/>
                  <a:pt x="128252" y="22747"/>
                  <a:pt x="117420" y="37739"/>
                </a:cubicBezTo>
                <a:lnTo>
                  <a:pt x="110920" y="46708"/>
                </a:lnTo>
                <a:close/>
                <a:moveTo>
                  <a:pt x="203470" y="124785"/>
                </a:moveTo>
                <a:lnTo>
                  <a:pt x="161095" y="124785"/>
                </a:lnTo>
                <a:cubicBezTo>
                  <a:pt x="151909" y="124785"/>
                  <a:pt x="143503" y="119586"/>
                  <a:pt x="139387" y="111354"/>
                </a:cubicBezTo>
                <a:lnTo>
                  <a:pt x="138650" y="109881"/>
                </a:lnTo>
                <a:lnTo>
                  <a:pt x="120236" y="146753"/>
                </a:lnTo>
                <a:cubicBezTo>
                  <a:pt x="118460" y="150349"/>
                  <a:pt x="114733" y="152602"/>
                  <a:pt x="110704" y="152516"/>
                </a:cubicBezTo>
                <a:cubicBezTo>
                  <a:pt x="106674" y="152429"/>
                  <a:pt x="103078" y="150046"/>
                  <a:pt x="101432" y="146406"/>
                </a:cubicBezTo>
                <a:lnTo>
                  <a:pt x="80071" y="98962"/>
                </a:lnTo>
                <a:lnTo>
                  <a:pt x="75521" y="109881"/>
                </a:lnTo>
                <a:cubicBezTo>
                  <a:pt x="71752" y="118936"/>
                  <a:pt x="62913" y="124829"/>
                  <a:pt x="53120" y="124829"/>
                </a:cubicBezTo>
                <a:lnTo>
                  <a:pt x="18371" y="124829"/>
                </a:lnTo>
                <a:cubicBezTo>
                  <a:pt x="38822" y="156805"/>
                  <a:pt x="71665" y="186225"/>
                  <a:pt x="92203" y="201910"/>
                </a:cubicBezTo>
                <a:cubicBezTo>
                  <a:pt x="97575" y="205983"/>
                  <a:pt x="104161" y="208019"/>
                  <a:pt x="110877" y="208019"/>
                </a:cubicBezTo>
                <a:cubicBezTo>
                  <a:pt x="117593" y="208019"/>
                  <a:pt x="124222" y="206026"/>
                  <a:pt x="129552" y="201910"/>
                </a:cubicBezTo>
                <a:cubicBezTo>
                  <a:pt x="150176" y="186182"/>
                  <a:pt x="183019" y="156762"/>
                  <a:pt x="203470" y="124785"/>
                </a:cubicBezTo>
                <a:close/>
              </a:path>
            </a:pathLst>
          </a:custGeom>
          <a:solidFill>
            <a:srgbClr val="1A1D21"/>
          </a:solidFill>
          <a:ln/>
        </p:spPr>
      </p:sp>
      <p:sp>
        <p:nvSpPr>
          <p:cNvPr id="27" name="Text 25"/>
          <p:cNvSpPr/>
          <p:nvPr/>
        </p:nvSpPr>
        <p:spPr>
          <a:xfrm>
            <a:off x="1044500" y="3207448"/>
            <a:ext cx="1220124"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Healthcare</a:t>
            </a:r>
            <a:endParaRPr lang="en-US" sz="1600" dirty="0"/>
          </a:p>
        </p:txBody>
      </p:sp>
      <p:sp>
        <p:nvSpPr>
          <p:cNvPr id="28" name="Text 26"/>
          <p:cNvSpPr/>
          <p:nvPr/>
        </p:nvSpPr>
        <p:spPr>
          <a:xfrm>
            <a:off x="1044500" y="3466262"/>
            <a:ext cx="1201638"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Kujdesi Shëndetësor</a:t>
            </a:r>
            <a:endParaRPr lang="en-US" sz="1600" dirty="0"/>
          </a:p>
        </p:txBody>
      </p:sp>
      <p:sp>
        <p:nvSpPr>
          <p:cNvPr id="29" name="Text 27"/>
          <p:cNvSpPr/>
          <p:nvPr/>
        </p:nvSpPr>
        <p:spPr>
          <a:xfrm>
            <a:off x="489898" y="372507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Disease diagnosis from scans</a:t>
            </a:r>
            <a:endParaRPr lang="en-US" sz="1600" dirty="0"/>
          </a:p>
        </p:txBody>
      </p:sp>
      <p:sp>
        <p:nvSpPr>
          <p:cNvPr id="30" name="Text 28"/>
          <p:cNvSpPr/>
          <p:nvPr/>
        </p:nvSpPr>
        <p:spPr>
          <a:xfrm>
            <a:off x="489898" y="394691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Drug discovery</a:t>
            </a:r>
            <a:endParaRPr lang="en-US" sz="1600" dirty="0"/>
          </a:p>
        </p:txBody>
      </p:sp>
      <p:sp>
        <p:nvSpPr>
          <p:cNvPr id="31" name="Text 29"/>
          <p:cNvSpPr/>
          <p:nvPr/>
        </p:nvSpPr>
        <p:spPr>
          <a:xfrm>
            <a:off x="489898" y="4168758"/>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Personalized treatment</a:t>
            </a:r>
            <a:endParaRPr lang="en-US" sz="1600" dirty="0"/>
          </a:p>
        </p:txBody>
      </p:sp>
      <p:sp>
        <p:nvSpPr>
          <p:cNvPr id="32" name="Text 30"/>
          <p:cNvSpPr/>
          <p:nvPr/>
        </p:nvSpPr>
        <p:spPr>
          <a:xfrm>
            <a:off x="489898" y="4390599"/>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Medical record analysis</a:t>
            </a:r>
            <a:endParaRPr lang="en-US" sz="1600" dirty="0"/>
          </a:p>
        </p:txBody>
      </p:sp>
      <p:sp>
        <p:nvSpPr>
          <p:cNvPr id="33" name="Text 31"/>
          <p:cNvSpPr/>
          <p:nvPr/>
        </p:nvSpPr>
        <p:spPr>
          <a:xfrm>
            <a:off x="489898" y="461244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Predictive analytics</a:t>
            </a:r>
            <a:endParaRPr lang="en-US" sz="1600" dirty="0"/>
          </a:p>
        </p:txBody>
      </p:sp>
      <p:sp>
        <p:nvSpPr>
          <p:cNvPr id="34" name="Shape 32"/>
          <p:cNvSpPr/>
          <p:nvPr/>
        </p:nvSpPr>
        <p:spPr>
          <a:xfrm>
            <a:off x="6156515" y="3091906"/>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FFD54F">
              <a:alpha val="10196"/>
            </a:srgbClr>
          </a:solidFill>
          <a:ln w="12700">
            <a:solidFill>
              <a:srgbClr val="FFD54F">
                <a:alpha val="30196"/>
              </a:srgbClr>
            </a:solidFill>
            <a:prstDash val="solid"/>
          </a:ln>
        </p:spPr>
      </p:sp>
      <p:sp>
        <p:nvSpPr>
          <p:cNvPr id="35" name="Shape 33"/>
          <p:cNvSpPr/>
          <p:nvPr/>
        </p:nvSpPr>
        <p:spPr>
          <a:xfrm>
            <a:off x="6272057" y="3207448"/>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FFD54F"/>
          </a:solidFill>
          <a:ln/>
        </p:spPr>
      </p:sp>
      <p:sp>
        <p:nvSpPr>
          <p:cNvPr id="36" name="Shape 34"/>
          <p:cNvSpPr/>
          <p:nvPr/>
        </p:nvSpPr>
        <p:spPr>
          <a:xfrm>
            <a:off x="6382978" y="3318368"/>
            <a:ext cx="221841" cy="221841"/>
          </a:xfrm>
          <a:custGeom>
            <a:avLst/>
            <a:gdLst/>
            <a:ahLst/>
            <a:cxnLst/>
            <a:rect l="l" t="t" r="r" b="b"/>
            <a:pathLst>
              <a:path w="221841" h="221841">
                <a:moveTo>
                  <a:pt x="58580" y="50867"/>
                </a:moveTo>
                <a:lnTo>
                  <a:pt x="47271" y="83190"/>
                </a:lnTo>
                <a:lnTo>
                  <a:pt x="174570" y="83190"/>
                </a:lnTo>
                <a:lnTo>
                  <a:pt x="163261" y="50867"/>
                </a:lnTo>
                <a:cubicBezTo>
                  <a:pt x="161311" y="45321"/>
                  <a:pt x="156068" y="41595"/>
                  <a:pt x="150176" y="41595"/>
                </a:cubicBezTo>
                <a:lnTo>
                  <a:pt x="71665" y="41595"/>
                </a:lnTo>
                <a:cubicBezTo>
                  <a:pt x="65772" y="41595"/>
                  <a:pt x="60530" y="45321"/>
                  <a:pt x="58580" y="50867"/>
                </a:cubicBezTo>
                <a:close/>
                <a:moveTo>
                  <a:pt x="17158" y="85270"/>
                </a:moveTo>
                <a:lnTo>
                  <a:pt x="32410" y="41725"/>
                </a:lnTo>
                <a:cubicBezTo>
                  <a:pt x="38259" y="25044"/>
                  <a:pt x="53987" y="13865"/>
                  <a:pt x="71665" y="13865"/>
                </a:cubicBezTo>
                <a:lnTo>
                  <a:pt x="150176" y="13865"/>
                </a:lnTo>
                <a:cubicBezTo>
                  <a:pt x="167854" y="13865"/>
                  <a:pt x="183582" y="25044"/>
                  <a:pt x="189431" y="41725"/>
                </a:cubicBezTo>
                <a:lnTo>
                  <a:pt x="204683" y="85270"/>
                </a:lnTo>
                <a:cubicBezTo>
                  <a:pt x="214735" y="89430"/>
                  <a:pt x="221841" y="99352"/>
                  <a:pt x="221841" y="110920"/>
                </a:cubicBezTo>
                <a:lnTo>
                  <a:pt x="221841" y="194111"/>
                </a:lnTo>
                <a:cubicBezTo>
                  <a:pt x="221841" y="201780"/>
                  <a:pt x="215645" y="207976"/>
                  <a:pt x="207976" y="207976"/>
                </a:cubicBezTo>
                <a:lnTo>
                  <a:pt x="194111" y="207976"/>
                </a:lnTo>
                <a:cubicBezTo>
                  <a:pt x="186442" y="207976"/>
                  <a:pt x="180246" y="201780"/>
                  <a:pt x="180246" y="194111"/>
                </a:cubicBezTo>
                <a:lnTo>
                  <a:pt x="180246" y="180246"/>
                </a:lnTo>
                <a:lnTo>
                  <a:pt x="41595" y="180246"/>
                </a:lnTo>
                <a:lnTo>
                  <a:pt x="41595" y="194111"/>
                </a:lnTo>
                <a:cubicBezTo>
                  <a:pt x="41595" y="201780"/>
                  <a:pt x="35399" y="207976"/>
                  <a:pt x="27730" y="207976"/>
                </a:cubicBezTo>
                <a:lnTo>
                  <a:pt x="13865" y="207976"/>
                </a:lnTo>
                <a:cubicBezTo>
                  <a:pt x="6196" y="207976"/>
                  <a:pt x="0" y="201780"/>
                  <a:pt x="0" y="194111"/>
                </a:cubicBezTo>
                <a:lnTo>
                  <a:pt x="0" y="110920"/>
                </a:lnTo>
                <a:cubicBezTo>
                  <a:pt x="0" y="99352"/>
                  <a:pt x="7106" y="89430"/>
                  <a:pt x="17158" y="85270"/>
                </a:cubicBezTo>
                <a:close/>
                <a:moveTo>
                  <a:pt x="55460" y="131718"/>
                </a:moveTo>
                <a:cubicBezTo>
                  <a:pt x="55460" y="124066"/>
                  <a:pt x="49247" y="117853"/>
                  <a:pt x="41595" y="117853"/>
                </a:cubicBezTo>
                <a:cubicBezTo>
                  <a:pt x="33943" y="117853"/>
                  <a:pt x="27730" y="124066"/>
                  <a:pt x="27730" y="131718"/>
                </a:cubicBezTo>
                <a:cubicBezTo>
                  <a:pt x="27730" y="139370"/>
                  <a:pt x="33943" y="145583"/>
                  <a:pt x="41595" y="145583"/>
                </a:cubicBezTo>
                <a:cubicBezTo>
                  <a:pt x="49247" y="145583"/>
                  <a:pt x="55460" y="139370"/>
                  <a:pt x="55460" y="131718"/>
                </a:cubicBezTo>
                <a:close/>
                <a:moveTo>
                  <a:pt x="180246" y="145583"/>
                </a:moveTo>
                <a:cubicBezTo>
                  <a:pt x="187898" y="145583"/>
                  <a:pt x="194111" y="139370"/>
                  <a:pt x="194111" y="131718"/>
                </a:cubicBezTo>
                <a:cubicBezTo>
                  <a:pt x="194111" y="124066"/>
                  <a:pt x="187898" y="117853"/>
                  <a:pt x="180246" y="117853"/>
                </a:cubicBezTo>
                <a:cubicBezTo>
                  <a:pt x="172593" y="117853"/>
                  <a:pt x="166381" y="124066"/>
                  <a:pt x="166381" y="131718"/>
                </a:cubicBezTo>
                <a:cubicBezTo>
                  <a:pt x="166381" y="139370"/>
                  <a:pt x="172593" y="145583"/>
                  <a:pt x="180246" y="145583"/>
                </a:cubicBezTo>
                <a:close/>
              </a:path>
            </a:pathLst>
          </a:custGeom>
          <a:solidFill>
            <a:srgbClr val="1A1D21"/>
          </a:solidFill>
          <a:ln/>
        </p:spPr>
      </p:sp>
      <p:sp>
        <p:nvSpPr>
          <p:cNvPr id="37" name="Text 35"/>
          <p:cNvSpPr/>
          <p:nvPr/>
        </p:nvSpPr>
        <p:spPr>
          <a:xfrm>
            <a:off x="6826659" y="3207448"/>
            <a:ext cx="1700779"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Autonomous Systems</a:t>
            </a:r>
            <a:endParaRPr lang="en-US" sz="1600" dirty="0"/>
          </a:p>
        </p:txBody>
      </p:sp>
      <p:sp>
        <p:nvSpPr>
          <p:cNvPr id="38" name="Text 36"/>
          <p:cNvSpPr/>
          <p:nvPr/>
        </p:nvSpPr>
        <p:spPr>
          <a:xfrm>
            <a:off x="6826659" y="3466262"/>
            <a:ext cx="1682293"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Sisteme Autonome</a:t>
            </a:r>
            <a:endParaRPr lang="en-US" sz="1600" dirty="0"/>
          </a:p>
        </p:txBody>
      </p:sp>
      <p:sp>
        <p:nvSpPr>
          <p:cNvPr id="39" name="Text 37"/>
          <p:cNvSpPr/>
          <p:nvPr/>
        </p:nvSpPr>
        <p:spPr>
          <a:xfrm>
            <a:off x="6272057" y="372507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Self-driving cars (Tesla, Waymo)</a:t>
            </a:r>
            <a:endParaRPr lang="en-US" sz="1600" dirty="0"/>
          </a:p>
        </p:txBody>
      </p:sp>
      <p:sp>
        <p:nvSpPr>
          <p:cNvPr id="40" name="Text 38"/>
          <p:cNvSpPr/>
          <p:nvPr/>
        </p:nvSpPr>
        <p:spPr>
          <a:xfrm>
            <a:off x="6272057" y="394691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Path planning</a:t>
            </a:r>
            <a:endParaRPr lang="en-US" sz="1600" dirty="0"/>
          </a:p>
        </p:txBody>
      </p:sp>
      <p:sp>
        <p:nvSpPr>
          <p:cNvPr id="41" name="Text 39"/>
          <p:cNvSpPr/>
          <p:nvPr/>
        </p:nvSpPr>
        <p:spPr>
          <a:xfrm>
            <a:off x="6272057" y="4168758"/>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Obstacle detection</a:t>
            </a:r>
            <a:endParaRPr lang="en-US" sz="1600" dirty="0"/>
          </a:p>
        </p:txBody>
      </p:sp>
      <p:sp>
        <p:nvSpPr>
          <p:cNvPr id="42" name="Text 40"/>
          <p:cNvSpPr/>
          <p:nvPr/>
        </p:nvSpPr>
        <p:spPr>
          <a:xfrm>
            <a:off x="6272057" y="4390599"/>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Decision making</a:t>
            </a:r>
            <a:endParaRPr lang="en-US" sz="1600" dirty="0"/>
          </a:p>
        </p:txBody>
      </p:sp>
      <p:sp>
        <p:nvSpPr>
          <p:cNvPr id="43" name="Text 41"/>
          <p:cNvSpPr/>
          <p:nvPr/>
        </p:nvSpPr>
        <p:spPr>
          <a:xfrm>
            <a:off x="6272057" y="4612440"/>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Sensor fusion</a:t>
            </a:r>
            <a:endParaRPr lang="en-US" sz="1600" dirty="0"/>
          </a:p>
        </p:txBody>
      </p:sp>
      <p:sp>
        <p:nvSpPr>
          <p:cNvPr id="44" name="Shape 42"/>
          <p:cNvSpPr/>
          <p:nvPr/>
        </p:nvSpPr>
        <p:spPr>
          <a:xfrm>
            <a:off x="374356" y="5033013"/>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4DB6AC">
              <a:alpha val="10196"/>
            </a:srgbClr>
          </a:solidFill>
          <a:ln w="12700">
            <a:solidFill>
              <a:srgbClr val="4DB6AC">
                <a:alpha val="30196"/>
              </a:srgbClr>
            </a:solidFill>
            <a:prstDash val="solid"/>
          </a:ln>
        </p:spPr>
      </p:sp>
      <p:sp>
        <p:nvSpPr>
          <p:cNvPr id="45" name="Shape 43"/>
          <p:cNvSpPr/>
          <p:nvPr/>
        </p:nvSpPr>
        <p:spPr>
          <a:xfrm>
            <a:off x="489898" y="5148555"/>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4DB6AC"/>
          </a:solidFill>
          <a:ln/>
        </p:spPr>
      </p:sp>
      <p:sp>
        <p:nvSpPr>
          <p:cNvPr id="46" name="Shape 44"/>
          <p:cNvSpPr/>
          <p:nvPr/>
        </p:nvSpPr>
        <p:spPr>
          <a:xfrm>
            <a:off x="600819" y="5259475"/>
            <a:ext cx="221841" cy="221841"/>
          </a:xfrm>
          <a:custGeom>
            <a:avLst/>
            <a:gdLst/>
            <a:ahLst/>
            <a:cxnLst/>
            <a:rect l="l" t="t" r="r" b="b"/>
            <a:pathLst>
              <a:path w="221841" h="221841">
                <a:moveTo>
                  <a:pt x="27730" y="27730"/>
                </a:moveTo>
                <a:cubicBezTo>
                  <a:pt x="27730" y="20061"/>
                  <a:pt x="21534" y="13865"/>
                  <a:pt x="13865" y="13865"/>
                </a:cubicBezTo>
                <a:cubicBezTo>
                  <a:pt x="6196" y="13865"/>
                  <a:pt x="0" y="20061"/>
                  <a:pt x="0" y="27730"/>
                </a:cubicBezTo>
                <a:lnTo>
                  <a:pt x="0" y="173313"/>
                </a:lnTo>
                <a:cubicBezTo>
                  <a:pt x="0" y="192464"/>
                  <a:pt x="15512" y="207976"/>
                  <a:pt x="34663" y="207976"/>
                </a:cubicBezTo>
                <a:lnTo>
                  <a:pt x="207976" y="207976"/>
                </a:lnTo>
                <a:cubicBezTo>
                  <a:pt x="215645" y="207976"/>
                  <a:pt x="221841" y="201780"/>
                  <a:pt x="221841" y="194111"/>
                </a:cubicBezTo>
                <a:cubicBezTo>
                  <a:pt x="221841" y="186442"/>
                  <a:pt x="215645" y="180246"/>
                  <a:pt x="207976" y="180246"/>
                </a:cubicBezTo>
                <a:lnTo>
                  <a:pt x="34663" y="180246"/>
                </a:lnTo>
                <a:cubicBezTo>
                  <a:pt x="30850" y="180246"/>
                  <a:pt x="27730" y="177126"/>
                  <a:pt x="27730" y="173313"/>
                </a:cubicBezTo>
                <a:lnTo>
                  <a:pt x="27730" y="27730"/>
                </a:lnTo>
                <a:close/>
                <a:moveTo>
                  <a:pt x="203903" y="65252"/>
                </a:moveTo>
                <a:cubicBezTo>
                  <a:pt x="209319" y="59836"/>
                  <a:pt x="209319" y="51041"/>
                  <a:pt x="203903" y="45625"/>
                </a:cubicBezTo>
                <a:cubicBezTo>
                  <a:pt x="198487" y="40209"/>
                  <a:pt x="189691" y="40209"/>
                  <a:pt x="184275" y="45625"/>
                </a:cubicBezTo>
                <a:lnTo>
                  <a:pt x="138650" y="91293"/>
                </a:lnTo>
                <a:lnTo>
                  <a:pt x="113780" y="66466"/>
                </a:lnTo>
                <a:cubicBezTo>
                  <a:pt x="108364" y="61050"/>
                  <a:pt x="99568" y="61050"/>
                  <a:pt x="94152" y="66466"/>
                </a:cubicBezTo>
                <a:lnTo>
                  <a:pt x="52557" y="108061"/>
                </a:lnTo>
                <a:cubicBezTo>
                  <a:pt x="47141" y="113477"/>
                  <a:pt x="47141" y="122272"/>
                  <a:pt x="52557" y="127688"/>
                </a:cubicBezTo>
                <a:cubicBezTo>
                  <a:pt x="57973" y="133104"/>
                  <a:pt x="66769" y="133104"/>
                  <a:pt x="72185" y="127688"/>
                </a:cubicBezTo>
                <a:lnTo>
                  <a:pt x="103988" y="95885"/>
                </a:lnTo>
                <a:lnTo>
                  <a:pt x="128858" y="120756"/>
                </a:lnTo>
                <a:cubicBezTo>
                  <a:pt x="134274" y="126172"/>
                  <a:pt x="143070" y="126172"/>
                  <a:pt x="148486" y="120756"/>
                </a:cubicBezTo>
                <a:lnTo>
                  <a:pt x="203946" y="65296"/>
                </a:lnTo>
                <a:close/>
              </a:path>
            </a:pathLst>
          </a:custGeom>
          <a:solidFill>
            <a:srgbClr val="1A1D21"/>
          </a:solidFill>
          <a:ln/>
        </p:spPr>
      </p:sp>
      <p:sp>
        <p:nvSpPr>
          <p:cNvPr id="47" name="Text 45"/>
          <p:cNvSpPr/>
          <p:nvPr/>
        </p:nvSpPr>
        <p:spPr>
          <a:xfrm>
            <a:off x="1044500" y="5148555"/>
            <a:ext cx="665522"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Finance</a:t>
            </a:r>
            <a:endParaRPr lang="en-US" sz="1600" dirty="0"/>
          </a:p>
        </p:txBody>
      </p:sp>
      <p:sp>
        <p:nvSpPr>
          <p:cNvPr id="48" name="Text 46"/>
          <p:cNvSpPr/>
          <p:nvPr/>
        </p:nvSpPr>
        <p:spPr>
          <a:xfrm>
            <a:off x="1044500" y="5407369"/>
            <a:ext cx="647036"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Financa</a:t>
            </a:r>
            <a:endParaRPr lang="en-US" sz="1600" dirty="0"/>
          </a:p>
        </p:txBody>
      </p:sp>
      <p:sp>
        <p:nvSpPr>
          <p:cNvPr id="49" name="Text 47"/>
          <p:cNvSpPr/>
          <p:nvPr/>
        </p:nvSpPr>
        <p:spPr>
          <a:xfrm>
            <a:off x="489898" y="5666183"/>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Fraud detection</a:t>
            </a:r>
            <a:endParaRPr lang="en-US" sz="1600" dirty="0"/>
          </a:p>
        </p:txBody>
      </p:sp>
      <p:sp>
        <p:nvSpPr>
          <p:cNvPr id="50" name="Text 48"/>
          <p:cNvSpPr/>
          <p:nvPr/>
        </p:nvSpPr>
        <p:spPr>
          <a:xfrm>
            <a:off x="489898" y="5888024"/>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Algorithmic trading</a:t>
            </a:r>
            <a:endParaRPr lang="en-US" sz="1600" dirty="0"/>
          </a:p>
        </p:txBody>
      </p:sp>
      <p:sp>
        <p:nvSpPr>
          <p:cNvPr id="51" name="Text 49"/>
          <p:cNvSpPr/>
          <p:nvPr/>
        </p:nvSpPr>
        <p:spPr>
          <a:xfrm>
            <a:off x="489898" y="6109865"/>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Risk assessment</a:t>
            </a:r>
            <a:endParaRPr lang="en-US" sz="1600" dirty="0"/>
          </a:p>
        </p:txBody>
      </p:sp>
      <p:sp>
        <p:nvSpPr>
          <p:cNvPr id="52" name="Text 50"/>
          <p:cNvSpPr/>
          <p:nvPr/>
        </p:nvSpPr>
        <p:spPr>
          <a:xfrm>
            <a:off x="489898" y="6331706"/>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Credit scoring</a:t>
            </a:r>
            <a:endParaRPr lang="en-US" sz="1600" dirty="0"/>
          </a:p>
        </p:txBody>
      </p:sp>
      <p:sp>
        <p:nvSpPr>
          <p:cNvPr id="53" name="Text 51"/>
          <p:cNvSpPr/>
          <p:nvPr/>
        </p:nvSpPr>
        <p:spPr>
          <a:xfrm>
            <a:off x="489898" y="655354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Market prediction</a:t>
            </a:r>
            <a:endParaRPr lang="en-US" sz="1600" dirty="0"/>
          </a:p>
        </p:txBody>
      </p:sp>
      <p:sp>
        <p:nvSpPr>
          <p:cNvPr id="54" name="Shape 52"/>
          <p:cNvSpPr/>
          <p:nvPr/>
        </p:nvSpPr>
        <p:spPr>
          <a:xfrm>
            <a:off x="6156515" y="5033013"/>
            <a:ext cx="5666183" cy="1820943"/>
          </a:xfrm>
          <a:custGeom>
            <a:avLst/>
            <a:gdLst/>
            <a:ahLst/>
            <a:cxnLst/>
            <a:rect l="l" t="t" r="r" b="b"/>
            <a:pathLst>
              <a:path w="5666183" h="1820943">
                <a:moveTo>
                  <a:pt x="73949" y="0"/>
                </a:moveTo>
                <a:lnTo>
                  <a:pt x="5592235" y="0"/>
                </a:lnTo>
                <a:cubicBezTo>
                  <a:pt x="5633076" y="0"/>
                  <a:pt x="5666183" y="33108"/>
                  <a:pt x="5666183" y="73949"/>
                </a:cubicBezTo>
                <a:lnTo>
                  <a:pt x="5666183" y="1746995"/>
                </a:lnTo>
                <a:cubicBezTo>
                  <a:pt x="5666183" y="1787835"/>
                  <a:pt x="5633076" y="1820943"/>
                  <a:pt x="5592235" y="1820943"/>
                </a:cubicBezTo>
                <a:lnTo>
                  <a:pt x="73949" y="1820943"/>
                </a:lnTo>
                <a:cubicBezTo>
                  <a:pt x="33108" y="1820943"/>
                  <a:pt x="0" y="1787835"/>
                  <a:pt x="0" y="1746995"/>
                </a:cubicBezTo>
                <a:lnTo>
                  <a:pt x="0" y="73949"/>
                </a:lnTo>
                <a:cubicBezTo>
                  <a:pt x="0" y="33135"/>
                  <a:pt x="33135" y="0"/>
                  <a:pt x="73949" y="0"/>
                </a:cubicBezTo>
                <a:close/>
              </a:path>
            </a:pathLst>
          </a:custGeom>
          <a:solidFill>
            <a:srgbClr val="FFD54F">
              <a:alpha val="10196"/>
            </a:srgbClr>
          </a:solidFill>
          <a:ln w="12700">
            <a:solidFill>
              <a:srgbClr val="FFD54F">
                <a:alpha val="30196"/>
              </a:srgbClr>
            </a:solidFill>
            <a:prstDash val="solid"/>
          </a:ln>
        </p:spPr>
      </p:sp>
      <p:sp>
        <p:nvSpPr>
          <p:cNvPr id="55" name="Shape 53"/>
          <p:cNvSpPr/>
          <p:nvPr/>
        </p:nvSpPr>
        <p:spPr>
          <a:xfrm>
            <a:off x="6272057" y="5148555"/>
            <a:ext cx="443682" cy="443682"/>
          </a:xfrm>
          <a:custGeom>
            <a:avLst/>
            <a:gdLst/>
            <a:ahLst/>
            <a:cxnLst/>
            <a:rect l="l" t="t" r="r" b="b"/>
            <a:pathLst>
              <a:path w="443682" h="443682">
                <a:moveTo>
                  <a:pt x="73948" y="0"/>
                </a:moveTo>
                <a:lnTo>
                  <a:pt x="369733" y="0"/>
                </a:lnTo>
                <a:cubicBezTo>
                  <a:pt x="410574" y="0"/>
                  <a:pt x="443682" y="33108"/>
                  <a:pt x="443682" y="73948"/>
                </a:cubicBezTo>
                <a:lnTo>
                  <a:pt x="443682" y="369733"/>
                </a:lnTo>
                <a:cubicBezTo>
                  <a:pt x="443682" y="410574"/>
                  <a:pt x="410574" y="443682"/>
                  <a:pt x="369733" y="443682"/>
                </a:cubicBezTo>
                <a:lnTo>
                  <a:pt x="73948" y="443682"/>
                </a:lnTo>
                <a:cubicBezTo>
                  <a:pt x="33108" y="443682"/>
                  <a:pt x="0" y="410574"/>
                  <a:pt x="0" y="369733"/>
                </a:cubicBezTo>
                <a:lnTo>
                  <a:pt x="0" y="73948"/>
                </a:lnTo>
                <a:cubicBezTo>
                  <a:pt x="0" y="33135"/>
                  <a:pt x="33135" y="0"/>
                  <a:pt x="73948" y="0"/>
                </a:cubicBezTo>
                <a:close/>
              </a:path>
            </a:pathLst>
          </a:custGeom>
          <a:solidFill>
            <a:srgbClr val="FFD54F"/>
          </a:solidFill>
          <a:ln/>
        </p:spPr>
      </p:sp>
      <p:sp>
        <p:nvSpPr>
          <p:cNvPr id="56" name="Shape 54"/>
          <p:cNvSpPr/>
          <p:nvPr/>
        </p:nvSpPr>
        <p:spPr>
          <a:xfrm>
            <a:off x="6355248" y="5259475"/>
            <a:ext cx="277301" cy="221841"/>
          </a:xfrm>
          <a:custGeom>
            <a:avLst/>
            <a:gdLst/>
            <a:ahLst/>
            <a:cxnLst/>
            <a:rect l="l" t="t" r="r" b="b"/>
            <a:pathLst>
              <a:path w="277301" h="221841">
                <a:moveTo>
                  <a:pt x="152516" y="0"/>
                </a:moveTo>
                <a:cubicBezTo>
                  <a:pt x="152516" y="-7669"/>
                  <a:pt x="146320" y="-13865"/>
                  <a:pt x="138650" y="-13865"/>
                </a:cubicBezTo>
                <a:cubicBezTo>
                  <a:pt x="130981" y="-13865"/>
                  <a:pt x="124785" y="-7669"/>
                  <a:pt x="124785" y="0"/>
                </a:cubicBezTo>
                <a:lnTo>
                  <a:pt x="124785" y="27730"/>
                </a:lnTo>
                <a:lnTo>
                  <a:pt x="83190" y="27730"/>
                </a:lnTo>
                <a:cubicBezTo>
                  <a:pt x="60226" y="27730"/>
                  <a:pt x="41595" y="46361"/>
                  <a:pt x="41595" y="69325"/>
                </a:cubicBezTo>
                <a:lnTo>
                  <a:pt x="41595" y="166381"/>
                </a:lnTo>
                <a:cubicBezTo>
                  <a:pt x="41595" y="189345"/>
                  <a:pt x="60226" y="207976"/>
                  <a:pt x="83190" y="207976"/>
                </a:cubicBezTo>
                <a:lnTo>
                  <a:pt x="194111" y="207976"/>
                </a:lnTo>
                <a:cubicBezTo>
                  <a:pt x="217075" y="207976"/>
                  <a:pt x="235706" y="189345"/>
                  <a:pt x="235706" y="166381"/>
                </a:cubicBezTo>
                <a:lnTo>
                  <a:pt x="235706" y="69325"/>
                </a:lnTo>
                <a:cubicBezTo>
                  <a:pt x="235706" y="46361"/>
                  <a:pt x="217075" y="27730"/>
                  <a:pt x="194111" y="27730"/>
                </a:cubicBezTo>
                <a:lnTo>
                  <a:pt x="152516" y="27730"/>
                </a:lnTo>
                <a:lnTo>
                  <a:pt x="152516" y="0"/>
                </a:lnTo>
                <a:close/>
                <a:moveTo>
                  <a:pt x="69325" y="159448"/>
                </a:moveTo>
                <a:cubicBezTo>
                  <a:pt x="69325" y="153685"/>
                  <a:pt x="73961" y="149049"/>
                  <a:pt x="79724" y="149049"/>
                </a:cubicBezTo>
                <a:lnTo>
                  <a:pt x="93589" y="149049"/>
                </a:lnTo>
                <a:cubicBezTo>
                  <a:pt x="99352" y="149049"/>
                  <a:pt x="103988" y="153685"/>
                  <a:pt x="103988" y="159448"/>
                </a:cubicBezTo>
                <a:cubicBezTo>
                  <a:pt x="103988" y="165211"/>
                  <a:pt x="99352" y="169847"/>
                  <a:pt x="93589" y="169847"/>
                </a:cubicBezTo>
                <a:lnTo>
                  <a:pt x="79724" y="169847"/>
                </a:lnTo>
                <a:cubicBezTo>
                  <a:pt x="73961" y="169847"/>
                  <a:pt x="69325" y="165211"/>
                  <a:pt x="69325" y="159448"/>
                </a:cubicBezTo>
                <a:close/>
                <a:moveTo>
                  <a:pt x="121319" y="159448"/>
                </a:moveTo>
                <a:cubicBezTo>
                  <a:pt x="121319" y="153685"/>
                  <a:pt x="125955" y="149049"/>
                  <a:pt x="131718" y="149049"/>
                </a:cubicBezTo>
                <a:lnTo>
                  <a:pt x="145583" y="149049"/>
                </a:lnTo>
                <a:cubicBezTo>
                  <a:pt x="151346" y="149049"/>
                  <a:pt x="155982" y="153685"/>
                  <a:pt x="155982" y="159448"/>
                </a:cubicBezTo>
                <a:cubicBezTo>
                  <a:pt x="155982" y="165211"/>
                  <a:pt x="151346" y="169847"/>
                  <a:pt x="145583" y="169847"/>
                </a:cubicBezTo>
                <a:lnTo>
                  <a:pt x="131718" y="169847"/>
                </a:lnTo>
                <a:cubicBezTo>
                  <a:pt x="125955" y="169847"/>
                  <a:pt x="121319" y="165211"/>
                  <a:pt x="121319" y="159448"/>
                </a:cubicBezTo>
                <a:close/>
                <a:moveTo>
                  <a:pt x="173313" y="159448"/>
                </a:moveTo>
                <a:cubicBezTo>
                  <a:pt x="173313" y="153685"/>
                  <a:pt x="177949" y="149049"/>
                  <a:pt x="183712" y="149049"/>
                </a:cubicBezTo>
                <a:lnTo>
                  <a:pt x="197577" y="149049"/>
                </a:lnTo>
                <a:cubicBezTo>
                  <a:pt x="203340" y="149049"/>
                  <a:pt x="207976" y="153685"/>
                  <a:pt x="207976" y="159448"/>
                </a:cubicBezTo>
                <a:cubicBezTo>
                  <a:pt x="207976" y="165211"/>
                  <a:pt x="203340" y="169847"/>
                  <a:pt x="197577" y="169847"/>
                </a:cubicBezTo>
                <a:lnTo>
                  <a:pt x="183712" y="169847"/>
                </a:lnTo>
                <a:cubicBezTo>
                  <a:pt x="177949" y="169847"/>
                  <a:pt x="173313" y="165211"/>
                  <a:pt x="173313" y="159448"/>
                </a:cubicBezTo>
                <a:close/>
                <a:moveTo>
                  <a:pt x="97055" y="76258"/>
                </a:moveTo>
                <a:cubicBezTo>
                  <a:pt x="108534" y="76258"/>
                  <a:pt x="117853" y="85577"/>
                  <a:pt x="117853" y="97055"/>
                </a:cubicBezTo>
                <a:cubicBezTo>
                  <a:pt x="117853" y="108534"/>
                  <a:pt x="108534" y="117853"/>
                  <a:pt x="97055" y="117853"/>
                </a:cubicBezTo>
                <a:cubicBezTo>
                  <a:pt x="85577" y="117853"/>
                  <a:pt x="76258" y="108534"/>
                  <a:pt x="76258" y="97055"/>
                </a:cubicBezTo>
                <a:cubicBezTo>
                  <a:pt x="76258" y="85577"/>
                  <a:pt x="85577" y="76258"/>
                  <a:pt x="97055" y="76258"/>
                </a:cubicBezTo>
                <a:close/>
                <a:moveTo>
                  <a:pt x="159448" y="97055"/>
                </a:moveTo>
                <a:cubicBezTo>
                  <a:pt x="159448" y="85577"/>
                  <a:pt x="168767" y="76258"/>
                  <a:pt x="180246" y="76258"/>
                </a:cubicBezTo>
                <a:cubicBezTo>
                  <a:pt x="191724" y="76258"/>
                  <a:pt x="201043" y="85577"/>
                  <a:pt x="201043" y="97055"/>
                </a:cubicBezTo>
                <a:cubicBezTo>
                  <a:pt x="201043" y="108534"/>
                  <a:pt x="191724" y="117853"/>
                  <a:pt x="180246" y="117853"/>
                </a:cubicBezTo>
                <a:cubicBezTo>
                  <a:pt x="168767" y="117853"/>
                  <a:pt x="159448" y="108534"/>
                  <a:pt x="159448" y="97055"/>
                </a:cubicBezTo>
                <a:close/>
                <a:moveTo>
                  <a:pt x="27730" y="97055"/>
                </a:moveTo>
                <a:cubicBezTo>
                  <a:pt x="27730" y="89386"/>
                  <a:pt x="21534" y="83190"/>
                  <a:pt x="13865" y="83190"/>
                </a:cubicBezTo>
                <a:cubicBezTo>
                  <a:pt x="6196" y="83190"/>
                  <a:pt x="0" y="89386"/>
                  <a:pt x="0" y="97055"/>
                </a:cubicBezTo>
                <a:lnTo>
                  <a:pt x="0" y="138650"/>
                </a:lnTo>
                <a:cubicBezTo>
                  <a:pt x="0" y="146320"/>
                  <a:pt x="6196" y="152516"/>
                  <a:pt x="13865" y="152516"/>
                </a:cubicBezTo>
                <a:cubicBezTo>
                  <a:pt x="21534" y="152516"/>
                  <a:pt x="27730" y="146320"/>
                  <a:pt x="27730" y="138650"/>
                </a:cubicBezTo>
                <a:lnTo>
                  <a:pt x="27730" y="97055"/>
                </a:lnTo>
                <a:close/>
                <a:moveTo>
                  <a:pt x="263436" y="83190"/>
                </a:moveTo>
                <a:cubicBezTo>
                  <a:pt x="255767" y="83190"/>
                  <a:pt x="249571" y="89386"/>
                  <a:pt x="249571" y="97055"/>
                </a:cubicBezTo>
                <a:lnTo>
                  <a:pt x="249571" y="138650"/>
                </a:lnTo>
                <a:cubicBezTo>
                  <a:pt x="249571" y="146320"/>
                  <a:pt x="255767" y="152516"/>
                  <a:pt x="263436" y="152516"/>
                </a:cubicBezTo>
                <a:cubicBezTo>
                  <a:pt x="271105" y="152516"/>
                  <a:pt x="277301" y="146320"/>
                  <a:pt x="277301" y="138650"/>
                </a:cubicBezTo>
                <a:lnTo>
                  <a:pt x="277301" y="97055"/>
                </a:lnTo>
                <a:cubicBezTo>
                  <a:pt x="277301" y="89386"/>
                  <a:pt x="271105" y="83190"/>
                  <a:pt x="263436" y="83190"/>
                </a:cubicBezTo>
                <a:close/>
              </a:path>
            </a:pathLst>
          </a:custGeom>
          <a:solidFill>
            <a:srgbClr val="1A1D21"/>
          </a:solidFill>
          <a:ln/>
        </p:spPr>
      </p:sp>
      <p:sp>
        <p:nvSpPr>
          <p:cNvPr id="57" name="Text 55"/>
          <p:cNvSpPr/>
          <p:nvPr/>
        </p:nvSpPr>
        <p:spPr>
          <a:xfrm>
            <a:off x="6826659" y="5148555"/>
            <a:ext cx="1451208" cy="258814"/>
          </a:xfrm>
          <a:prstGeom prst="rect">
            <a:avLst/>
          </a:prstGeom>
          <a:noFill/>
          <a:ln/>
        </p:spPr>
        <p:txBody>
          <a:bodyPr wrap="square" lIns="0" tIns="0" rIns="0" bIns="0" rtlCol="0" anchor="ctr"/>
          <a:lstStyle/>
          <a:p>
            <a:pPr>
              <a:lnSpc>
                <a:spcPct val="130000"/>
              </a:lnSpc>
            </a:pPr>
            <a:r>
              <a:rPr lang="en-US" sz="1310" b="1" dirty="0">
                <a:solidFill>
                  <a:srgbClr val="ECEFF1"/>
                </a:solidFill>
                <a:latin typeface="Liter" pitchFamily="34" charset="0"/>
                <a:ea typeface="Liter" pitchFamily="34" charset="-122"/>
                <a:cs typeface="Liter" pitchFamily="34" charset="-120"/>
              </a:rPr>
              <a:t>Other Applications</a:t>
            </a:r>
            <a:endParaRPr lang="en-US" sz="1600" dirty="0"/>
          </a:p>
        </p:txBody>
      </p:sp>
      <p:sp>
        <p:nvSpPr>
          <p:cNvPr id="58" name="Text 56"/>
          <p:cNvSpPr/>
          <p:nvPr/>
        </p:nvSpPr>
        <p:spPr>
          <a:xfrm>
            <a:off x="6826659" y="5407369"/>
            <a:ext cx="1432722" cy="184867"/>
          </a:xfrm>
          <a:prstGeom prst="rect">
            <a:avLst/>
          </a:prstGeom>
          <a:noFill/>
          <a:ln/>
        </p:spPr>
        <p:txBody>
          <a:bodyPr wrap="square" lIns="0" tIns="0" rIns="0" bIns="0" rtlCol="0" anchor="ctr"/>
          <a:lstStyle/>
          <a:p>
            <a:pPr>
              <a:lnSpc>
                <a:spcPct val="120000"/>
              </a:lnSpc>
            </a:pPr>
            <a:r>
              <a:rPr lang="en-US" sz="1019" dirty="0">
                <a:solidFill>
                  <a:srgbClr val="78909C"/>
                </a:solidFill>
                <a:latin typeface="Quattrocento Sans" pitchFamily="34" charset="0"/>
                <a:ea typeface="Quattrocento Sans" pitchFamily="34" charset="-122"/>
                <a:cs typeface="Quattrocento Sans" pitchFamily="34" charset="-120"/>
              </a:rPr>
              <a:t>Aplikime të Tjera</a:t>
            </a:r>
            <a:endParaRPr lang="en-US" sz="1600" dirty="0"/>
          </a:p>
        </p:txBody>
      </p:sp>
      <p:sp>
        <p:nvSpPr>
          <p:cNvPr id="59" name="Text 57"/>
          <p:cNvSpPr/>
          <p:nvPr/>
        </p:nvSpPr>
        <p:spPr>
          <a:xfrm>
            <a:off x="6272057" y="5666183"/>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Recommendation systems (Netflix, Amazon)</a:t>
            </a:r>
            <a:endParaRPr lang="en-US" sz="1600" dirty="0"/>
          </a:p>
        </p:txBody>
      </p:sp>
      <p:sp>
        <p:nvSpPr>
          <p:cNvPr id="60" name="Text 58"/>
          <p:cNvSpPr/>
          <p:nvPr/>
        </p:nvSpPr>
        <p:spPr>
          <a:xfrm>
            <a:off x="6272057" y="5888024"/>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Speech recognition (Siri, Alexa)</a:t>
            </a:r>
            <a:endParaRPr lang="en-US" sz="1600" dirty="0"/>
          </a:p>
        </p:txBody>
      </p:sp>
      <p:sp>
        <p:nvSpPr>
          <p:cNvPr id="61" name="Text 59"/>
          <p:cNvSpPr/>
          <p:nvPr/>
        </p:nvSpPr>
        <p:spPr>
          <a:xfrm>
            <a:off x="6272057" y="6109865"/>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Game playing (AlphaGo)</a:t>
            </a:r>
            <a:endParaRPr lang="en-US" sz="1600" dirty="0"/>
          </a:p>
        </p:txBody>
      </p:sp>
      <p:sp>
        <p:nvSpPr>
          <p:cNvPr id="62" name="Text 60"/>
          <p:cNvSpPr/>
          <p:nvPr/>
        </p:nvSpPr>
        <p:spPr>
          <a:xfrm>
            <a:off x="6272057" y="6331706"/>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Climate modeling</a:t>
            </a:r>
            <a:endParaRPr lang="en-US" sz="1600" dirty="0"/>
          </a:p>
        </p:txBody>
      </p:sp>
      <p:sp>
        <p:nvSpPr>
          <p:cNvPr id="63" name="Text 61"/>
          <p:cNvSpPr/>
          <p:nvPr/>
        </p:nvSpPr>
        <p:spPr>
          <a:xfrm>
            <a:off x="6272057" y="6553547"/>
            <a:ext cx="5499803" cy="184867"/>
          </a:xfrm>
          <a:prstGeom prst="rect">
            <a:avLst/>
          </a:prstGeom>
          <a:noFill/>
          <a:ln/>
        </p:spPr>
        <p:txBody>
          <a:bodyPr wrap="square" lIns="0" tIns="0" rIns="0" bIns="0" rtlCol="0" anchor="ctr"/>
          <a:lstStyle/>
          <a:p>
            <a:pPr>
              <a:lnSpc>
                <a:spcPct val="120000"/>
              </a:lnSpc>
            </a:pPr>
            <a:r>
              <a:rPr lang="en-US" sz="1019" dirty="0">
                <a:solidFill>
                  <a:srgbClr val="ECEFF1"/>
                </a:solidFill>
                <a:latin typeface="Quattrocento Sans" pitchFamily="34" charset="0"/>
                <a:ea typeface="Quattrocento Sans" pitchFamily="34" charset="-122"/>
                <a:cs typeface="Quattrocento Sans" pitchFamily="34" charset="-120"/>
              </a:rPr>
              <a:t>• Creative arts</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1A1D21"/>
        </a:solidFill>
        <a:effectLst/>
      </p:bgPr>
    </p:bg>
    <p:spTree>
      <p:nvGrpSpPr>
        <p:cNvPr id="1" name=""/>
        <p:cNvGrpSpPr/>
        <p:nvPr/>
      </p:nvGrpSpPr>
      <p:grpSpPr>
        <a:xfrm>
          <a:off x="0" y="0"/>
          <a:ext cx="0" cy="0"/>
          <a:chOff x="0" y="0"/>
          <a:chExt cx="0" cy="0"/>
        </a:xfrm>
      </p:grpSpPr>
      <p:pic>
        <p:nvPicPr>
          <p:cNvPr id="2" name="Image 0" descr="https://kimi-web-img.moonshot.cn/img/thumbs.dreamstime.com/a1b3dfbf9595c15cc9b8fa1971680e94f13524a2.jpg"/>
          <p:cNvPicPr>
            <a:picLocks noChangeAspect="1"/>
          </p:cNvPicPr>
          <p:nvPr/>
        </p:nvPicPr>
        <p:blipFill>
          <a:blip r:embed="rId3">
            <a:alphaModFix amt="30000"/>
          </a:blip>
          <a:srcRect t="7865" b="786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1">
                  <a:alpha val="95000"/>
                </a:srgbClr>
              </a:gs>
              <a:gs pos="50000">
                <a:srgbClr val="1A1D21">
                  <a:alpha val="90000"/>
                </a:srgbClr>
              </a:gs>
              <a:gs pos="100000">
                <a:srgbClr val="1A1D21">
                  <a:alpha val="85000"/>
                </a:srgbClr>
              </a:gs>
            </a:gsLst>
            <a:lin ang="2700000" scaled="1"/>
          </a:gradFill>
          <a:ln/>
        </p:spPr>
      </p:sp>
      <p:sp>
        <p:nvSpPr>
          <p:cNvPr id="4" name="Shape 1"/>
          <p:cNvSpPr/>
          <p:nvPr/>
        </p:nvSpPr>
        <p:spPr>
          <a:xfrm>
            <a:off x="4908600" y="321469"/>
            <a:ext cx="2373313" cy="357188"/>
          </a:xfrm>
          <a:custGeom>
            <a:avLst/>
            <a:gdLst/>
            <a:ahLst/>
            <a:cxnLst/>
            <a:rect l="l" t="t" r="r" b="b"/>
            <a:pathLst>
              <a:path w="2373313" h="357188">
                <a:moveTo>
                  <a:pt x="178594" y="0"/>
                </a:moveTo>
                <a:lnTo>
                  <a:pt x="2194719" y="0"/>
                </a:lnTo>
                <a:cubicBezTo>
                  <a:pt x="2293287" y="0"/>
                  <a:pt x="2373313" y="80025"/>
                  <a:pt x="2373313" y="178594"/>
                </a:cubicBezTo>
                <a:lnTo>
                  <a:pt x="2373313" y="178594"/>
                </a:lnTo>
                <a:cubicBezTo>
                  <a:pt x="2373313" y="277162"/>
                  <a:pt x="2293287" y="357188"/>
                  <a:pt x="2194719" y="357188"/>
                </a:cubicBezTo>
                <a:lnTo>
                  <a:pt x="178594" y="357188"/>
                </a:lnTo>
                <a:cubicBezTo>
                  <a:pt x="80025" y="357188"/>
                  <a:pt x="0" y="277162"/>
                  <a:pt x="0" y="178594"/>
                </a:cubicBezTo>
                <a:lnTo>
                  <a:pt x="0" y="178594"/>
                </a:lnTo>
                <a:cubicBezTo>
                  <a:pt x="0" y="80025"/>
                  <a:pt x="80025" y="0"/>
                  <a:pt x="178594" y="0"/>
                </a:cubicBezTo>
                <a:close/>
              </a:path>
            </a:pathLst>
          </a:custGeom>
          <a:solidFill>
            <a:srgbClr val="4DB6AC">
              <a:alpha val="20000"/>
            </a:srgbClr>
          </a:solidFill>
          <a:ln w="12700">
            <a:solidFill>
              <a:srgbClr val="4DB6AC">
                <a:alpha val="50196"/>
              </a:srgbClr>
            </a:solidFill>
            <a:prstDash val="solid"/>
          </a:ln>
        </p:spPr>
      </p:sp>
      <p:sp>
        <p:nvSpPr>
          <p:cNvPr id="5" name="Text 2"/>
          <p:cNvSpPr/>
          <p:nvPr/>
        </p:nvSpPr>
        <p:spPr>
          <a:xfrm>
            <a:off x="5063381" y="412750"/>
            <a:ext cx="2065238" cy="174625"/>
          </a:xfrm>
          <a:prstGeom prst="rect">
            <a:avLst/>
          </a:prstGeom>
          <a:noFill/>
          <a:ln/>
        </p:spPr>
        <p:txBody>
          <a:bodyPr wrap="square" lIns="0" tIns="0" rIns="0" bIns="0" rtlCol="0" anchor="ctr"/>
          <a:lstStyle/>
          <a:p>
            <a:pPr algn="ctr">
              <a:lnSpc>
                <a:spcPct val="120000"/>
              </a:lnSpc>
            </a:pPr>
            <a:r>
              <a:rPr lang="en-US" sz="1250" b="1" kern="0" spc="63" dirty="0">
                <a:solidFill>
                  <a:srgbClr val="4DB6AC"/>
                </a:solidFill>
                <a:latin typeface="Quattrocento Sans" pitchFamily="34" charset="0"/>
                <a:ea typeface="Quattrocento Sans" pitchFamily="34" charset="-122"/>
                <a:cs typeface="Quattrocento Sans" pitchFamily="34" charset="-120"/>
              </a:rPr>
              <a:t>THE FUTURE | E ARDHMJA</a:t>
            </a:r>
            <a:endParaRPr lang="en-US" sz="1600" dirty="0"/>
          </a:p>
        </p:txBody>
      </p:sp>
      <p:sp>
        <p:nvSpPr>
          <p:cNvPr id="6" name="Text 3"/>
          <p:cNvSpPr/>
          <p:nvPr/>
        </p:nvSpPr>
        <p:spPr>
          <a:xfrm>
            <a:off x="4453806" y="1063625"/>
            <a:ext cx="3286125" cy="1190625"/>
          </a:xfrm>
          <a:prstGeom prst="rect">
            <a:avLst/>
          </a:prstGeom>
          <a:noFill/>
          <a:ln/>
        </p:spPr>
        <p:txBody>
          <a:bodyPr wrap="square" lIns="0" tIns="0" rIns="0" bIns="0" rtlCol="0" anchor="ctr"/>
          <a:lstStyle/>
          <a:p>
            <a:pPr algn="ctr">
              <a:lnSpc>
                <a:spcPct val="100000"/>
              </a:lnSpc>
            </a:pPr>
            <a:r>
              <a:rPr lang="en-US" sz="3750" b="1" dirty="0">
                <a:solidFill>
                  <a:srgbClr val="ECEFF1"/>
                </a:solidFill>
                <a:latin typeface="Liter" pitchFamily="34" charset="0"/>
                <a:ea typeface="Liter" pitchFamily="34" charset="-122"/>
                <a:cs typeface="Liter" pitchFamily="34" charset="-120"/>
              </a:rPr>
              <a:t>The Future of</a:t>
            </a:r>
            <a:endParaRPr lang="en-US" sz="1600" dirty="0"/>
          </a:p>
          <a:p>
            <a:pPr algn="ctr">
              <a:lnSpc>
                <a:spcPct val="100000"/>
              </a:lnSpc>
            </a:pPr>
            <a:r>
              <a:rPr lang="en-US" sz="3750" b="1" dirty="0">
                <a:solidFill>
                  <a:srgbClr val="ECEFF1"/>
                </a:solidFill>
                <a:latin typeface="Liter" pitchFamily="34" charset="0"/>
                <a:ea typeface="Liter" pitchFamily="34" charset="-122"/>
                <a:cs typeface="Liter" pitchFamily="34" charset="-120"/>
              </a:rPr>
              <a:t>Deep Learning</a:t>
            </a:r>
            <a:endParaRPr lang="en-US" sz="1600" dirty="0"/>
          </a:p>
        </p:txBody>
      </p:sp>
      <p:sp>
        <p:nvSpPr>
          <p:cNvPr id="7" name="Text 4"/>
          <p:cNvSpPr/>
          <p:nvPr/>
        </p:nvSpPr>
        <p:spPr>
          <a:xfrm>
            <a:off x="4109145" y="2444750"/>
            <a:ext cx="3976687" cy="317500"/>
          </a:xfrm>
          <a:prstGeom prst="rect">
            <a:avLst/>
          </a:prstGeom>
          <a:noFill/>
          <a:ln/>
        </p:spPr>
        <p:txBody>
          <a:bodyPr wrap="square" lIns="0" tIns="0" rIns="0" bIns="0" rtlCol="0" anchor="ctr"/>
          <a:lstStyle/>
          <a:p>
            <a:pPr algn="ctr">
              <a:lnSpc>
                <a:spcPct val="90000"/>
              </a:lnSpc>
            </a:pPr>
            <a:r>
              <a:rPr lang="en-US" sz="2250" b="1" dirty="0">
                <a:solidFill>
                  <a:srgbClr val="4DB6AC"/>
                </a:solidFill>
                <a:latin typeface="Hedvig Letters Sans" pitchFamily="34" charset="0"/>
                <a:ea typeface="Hedvig Letters Sans" pitchFamily="34" charset="-122"/>
                <a:cs typeface="Hedvig Letters Sans" pitchFamily="34" charset="-120"/>
              </a:rPr>
              <a:t>E Ardhmja e Mësimit të Thellë</a:t>
            </a:r>
            <a:endParaRPr lang="en-US" sz="1600" dirty="0"/>
          </a:p>
        </p:txBody>
      </p:sp>
      <p:sp>
        <p:nvSpPr>
          <p:cNvPr id="8" name="Shape 5"/>
          <p:cNvSpPr/>
          <p:nvPr/>
        </p:nvSpPr>
        <p:spPr>
          <a:xfrm>
            <a:off x="5461000" y="3016250"/>
            <a:ext cx="1270000" cy="31750"/>
          </a:xfrm>
          <a:custGeom>
            <a:avLst/>
            <a:gdLst/>
            <a:ahLst/>
            <a:cxnLst/>
            <a:rect l="l" t="t" r="r" b="b"/>
            <a:pathLst>
              <a:path w="1270000" h="31750">
                <a:moveTo>
                  <a:pt x="0" y="0"/>
                </a:moveTo>
                <a:lnTo>
                  <a:pt x="1270000" y="0"/>
                </a:lnTo>
                <a:lnTo>
                  <a:pt x="1270000" y="31750"/>
                </a:lnTo>
                <a:lnTo>
                  <a:pt x="0" y="31750"/>
                </a:lnTo>
                <a:lnTo>
                  <a:pt x="0" y="0"/>
                </a:lnTo>
                <a:close/>
              </a:path>
            </a:pathLst>
          </a:custGeom>
          <a:gradFill flip="none" rotWithShape="1">
            <a:gsLst>
              <a:gs pos="0">
                <a:srgbClr val="4DB6AC"/>
              </a:gs>
              <a:gs pos="100000">
                <a:srgbClr val="FFD54F"/>
              </a:gs>
            </a:gsLst>
            <a:lin ang="0" scaled="1"/>
          </a:gradFill>
          <a:ln/>
        </p:spPr>
      </p:sp>
      <p:sp>
        <p:nvSpPr>
          <p:cNvPr id="9" name="Text 6"/>
          <p:cNvSpPr/>
          <p:nvPr/>
        </p:nvSpPr>
        <p:spPr>
          <a:xfrm>
            <a:off x="2500313" y="3302000"/>
            <a:ext cx="7191375" cy="515938"/>
          </a:xfrm>
          <a:prstGeom prst="rect">
            <a:avLst/>
          </a:prstGeom>
          <a:noFill/>
          <a:ln/>
        </p:spPr>
        <p:txBody>
          <a:bodyPr wrap="square" lIns="0" tIns="0" rIns="0" bIns="0" rtlCol="0" anchor="ctr"/>
          <a:lstStyle/>
          <a:p>
            <a:pPr algn="ctr">
              <a:lnSpc>
                <a:spcPct val="140000"/>
              </a:lnSpc>
            </a:pPr>
            <a:r>
              <a:rPr lang="en-US" sz="1250" dirty="0">
                <a:solidFill>
                  <a:srgbClr val="ECEFF1"/>
                </a:solidFill>
                <a:latin typeface="Quattrocento Sans" pitchFamily="34" charset="0"/>
                <a:ea typeface="Quattrocento Sans" pitchFamily="34" charset="-122"/>
                <a:cs typeface="Quattrocento Sans" pitchFamily="34" charset="-120"/>
              </a:rPr>
              <a:t>Deep learning continues to evolve at an unprecedented pace, with emerging trends promising to revolutionize how we build and deploy AI systems.</a:t>
            </a:r>
            <a:endParaRPr lang="en-US" sz="1600" dirty="0"/>
          </a:p>
        </p:txBody>
      </p:sp>
      <p:sp>
        <p:nvSpPr>
          <p:cNvPr id="10" name="Text 7"/>
          <p:cNvSpPr/>
          <p:nvPr/>
        </p:nvSpPr>
        <p:spPr>
          <a:xfrm>
            <a:off x="2504281" y="3944937"/>
            <a:ext cx="7183438" cy="444500"/>
          </a:xfrm>
          <a:prstGeom prst="rect">
            <a:avLst/>
          </a:prstGeom>
          <a:noFill/>
          <a:ln/>
        </p:spPr>
        <p:txBody>
          <a:bodyPr wrap="square" lIns="0" tIns="0" rIns="0" bIns="0" rtlCol="0" anchor="ctr"/>
          <a:lstStyle/>
          <a:p>
            <a:pPr algn="ctr">
              <a:lnSpc>
                <a:spcPct val="130000"/>
              </a:lnSpc>
            </a:pPr>
            <a:r>
              <a:rPr lang="en-US" sz="1125" dirty="0">
                <a:solidFill>
                  <a:srgbClr val="78909C"/>
                </a:solidFill>
                <a:latin typeface="Quattrocento Sans" pitchFamily="34" charset="0"/>
                <a:ea typeface="Quattrocento Sans" pitchFamily="34" charset="-122"/>
                <a:cs typeface="Quattrocento Sans" pitchFamily="34" charset="-120"/>
              </a:rPr>
              <a:t>Mësimi i thellë vazhdon të evoluojë me një shpejtësi të paprecedentë, me tendencat emergjente që premtojnë të revolucionarizojnë mënyrën se si ndërtojmë dhe vendosim sisteme IA.</a:t>
            </a:r>
            <a:endParaRPr lang="en-US" sz="1600" dirty="0"/>
          </a:p>
        </p:txBody>
      </p:sp>
      <p:sp>
        <p:nvSpPr>
          <p:cNvPr id="11" name="Shape 8"/>
          <p:cNvSpPr/>
          <p:nvPr/>
        </p:nvSpPr>
        <p:spPr>
          <a:xfrm>
            <a:off x="2046511" y="464740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4DB6AC">
              <a:alpha val="10196"/>
            </a:srgbClr>
          </a:solidFill>
          <a:ln w="12700">
            <a:solidFill>
              <a:srgbClr val="4DB6AC">
                <a:alpha val="30196"/>
              </a:srgbClr>
            </a:solidFill>
            <a:prstDash val="solid"/>
          </a:ln>
        </p:spPr>
      </p:sp>
      <p:sp>
        <p:nvSpPr>
          <p:cNvPr id="12" name="Shape 9"/>
          <p:cNvSpPr/>
          <p:nvPr/>
        </p:nvSpPr>
        <p:spPr>
          <a:xfrm>
            <a:off x="3249166" y="4778375"/>
            <a:ext cx="208359" cy="238125"/>
          </a:xfrm>
          <a:custGeom>
            <a:avLst/>
            <a:gdLst/>
            <a:ahLst/>
            <a:cxnLst/>
            <a:rect l="l" t="t" r="r" b="b"/>
            <a:pathLst>
              <a:path w="208359" h="238125">
                <a:moveTo>
                  <a:pt x="157572" y="-4604"/>
                </a:moveTo>
                <a:cubicBezTo>
                  <a:pt x="163106" y="-605"/>
                  <a:pt x="165153" y="6651"/>
                  <a:pt x="162641" y="12976"/>
                </a:cubicBezTo>
                <a:lnTo>
                  <a:pt x="126178" y="104180"/>
                </a:lnTo>
                <a:lnTo>
                  <a:pt x="193477" y="104180"/>
                </a:lnTo>
                <a:cubicBezTo>
                  <a:pt x="199755" y="104180"/>
                  <a:pt x="205336" y="108086"/>
                  <a:pt x="207476" y="113993"/>
                </a:cubicBezTo>
                <a:cubicBezTo>
                  <a:pt x="209615" y="119900"/>
                  <a:pt x="207801" y="126504"/>
                  <a:pt x="203011" y="130504"/>
                </a:cubicBezTo>
                <a:lnTo>
                  <a:pt x="69066" y="242125"/>
                </a:lnTo>
                <a:cubicBezTo>
                  <a:pt x="63810" y="246497"/>
                  <a:pt x="56322" y="246729"/>
                  <a:pt x="50788" y="242729"/>
                </a:cubicBezTo>
                <a:cubicBezTo>
                  <a:pt x="45253" y="238730"/>
                  <a:pt x="43207" y="231474"/>
                  <a:pt x="45718" y="225149"/>
                </a:cubicBezTo>
                <a:lnTo>
                  <a:pt x="82181" y="133945"/>
                </a:lnTo>
                <a:lnTo>
                  <a:pt x="14883" y="133945"/>
                </a:lnTo>
                <a:cubicBezTo>
                  <a:pt x="8604" y="133945"/>
                  <a:pt x="3023" y="130039"/>
                  <a:pt x="884" y="124132"/>
                </a:cubicBezTo>
                <a:cubicBezTo>
                  <a:pt x="-1256" y="118225"/>
                  <a:pt x="558" y="111621"/>
                  <a:pt x="5349" y="107621"/>
                </a:cubicBezTo>
                <a:lnTo>
                  <a:pt x="139294" y="-4000"/>
                </a:lnTo>
                <a:cubicBezTo>
                  <a:pt x="144549" y="-8372"/>
                  <a:pt x="152037" y="-8604"/>
                  <a:pt x="157572" y="-4604"/>
                </a:cubicBezTo>
                <a:close/>
              </a:path>
            </a:pathLst>
          </a:custGeom>
          <a:solidFill>
            <a:srgbClr val="4DB6AC"/>
          </a:solidFill>
          <a:ln/>
        </p:spPr>
      </p:sp>
      <p:sp>
        <p:nvSpPr>
          <p:cNvPr id="13" name="Text 10"/>
          <p:cNvSpPr/>
          <p:nvPr/>
        </p:nvSpPr>
        <p:spPr>
          <a:xfrm>
            <a:off x="2141761" y="511175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Efficient Architectures</a:t>
            </a:r>
            <a:endParaRPr lang="en-US" sz="1600" dirty="0"/>
          </a:p>
        </p:txBody>
      </p:sp>
      <p:sp>
        <p:nvSpPr>
          <p:cNvPr id="14" name="Text 11"/>
          <p:cNvSpPr/>
          <p:nvPr/>
        </p:nvSpPr>
        <p:spPr>
          <a:xfrm>
            <a:off x="2149698" y="539750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Mono-Forward algorithm reduces energy by 41%</a:t>
            </a:r>
            <a:endParaRPr lang="en-US" sz="1600" dirty="0"/>
          </a:p>
        </p:txBody>
      </p:sp>
      <p:sp>
        <p:nvSpPr>
          <p:cNvPr id="15" name="Shape 12"/>
          <p:cNvSpPr/>
          <p:nvPr/>
        </p:nvSpPr>
        <p:spPr>
          <a:xfrm>
            <a:off x="4791149" y="464740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FFD54F">
              <a:alpha val="10196"/>
            </a:srgbClr>
          </a:solidFill>
          <a:ln w="12700">
            <a:solidFill>
              <a:srgbClr val="FFD54F">
                <a:alpha val="30196"/>
              </a:srgbClr>
            </a:solidFill>
            <a:prstDash val="solid"/>
          </a:ln>
        </p:spPr>
      </p:sp>
      <p:sp>
        <p:nvSpPr>
          <p:cNvPr id="16" name="Shape 13"/>
          <p:cNvSpPr/>
          <p:nvPr/>
        </p:nvSpPr>
        <p:spPr>
          <a:xfrm>
            <a:off x="5978922" y="4778375"/>
            <a:ext cx="238125" cy="238125"/>
          </a:xfrm>
          <a:custGeom>
            <a:avLst/>
            <a:gdLst/>
            <a:ahLst/>
            <a:cxnLst/>
            <a:rect l="l" t="t" r="r" b="b"/>
            <a:pathLst>
              <a:path w="238125" h="238125">
                <a:moveTo>
                  <a:pt x="55811" y="26045"/>
                </a:moveTo>
                <a:cubicBezTo>
                  <a:pt x="55811" y="11674"/>
                  <a:pt x="67484" y="0"/>
                  <a:pt x="81855" y="0"/>
                </a:cubicBezTo>
                <a:lnTo>
                  <a:pt x="93018" y="0"/>
                </a:lnTo>
                <a:cubicBezTo>
                  <a:pt x="101250" y="0"/>
                  <a:pt x="107900" y="6651"/>
                  <a:pt x="107900" y="14883"/>
                </a:cubicBezTo>
                <a:lnTo>
                  <a:pt x="107900" y="223242"/>
                </a:lnTo>
                <a:cubicBezTo>
                  <a:pt x="107900" y="231474"/>
                  <a:pt x="101250" y="238125"/>
                  <a:pt x="93018" y="238125"/>
                </a:cubicBezTo>
                <a:lnTo>
                  <a:pt x="78135" y="238125"/>
                </a:lnTo>
                <a:cubicBezTo>
                  <a:pt x="64275" y="238125"/>
                  <a:pt x="52601" y="228637"/>
                  <a:pt x="49299" y="215801"/>
                </a:cubicBezTo>
                <a:cubicBezTo>
                  <a:pt x="48974" y="215801"/>
                  <a:pt x="48695" y="215801"/>
                  <a:pt x="48369" y="215801"/>
                </a:cubicBezTo>
                <a:cubicBezTo>
                  <a:pt x="27812" y="215801"/>
                  <a:pt x="11162" y="199151"/>
                  <a:pt x="11162" y="178594"/>
                </a:cubicBezTo>
                <a:cubicBezTo>
                  <a:pt x="11162" y="170222"/>
                  <a:pt x="13953" y="162502"/>
                  <a:pt x="18604" y="156270"/>
                </a:cubicBezTo>
                <a:cubicBezTo>
                  <a:pt x="9581" y="149479"/>
                  <a:pt x="3721" y="138689"/>
                  <a:pt x="3721" y="126504"/>
                </a:cubicBezTo>
                <a:cubicBezTo>
                  <a:pt x="3721" y="112133"/>
                  <a:pt x="11906" y="99622"/>
                  <a:pt x="23813" y="93436"/>
                </a:cubicBezTo>
                <a:cubicBezTo>
                  <a:pt x="20510" y="87855"/>
                  <a:pt x="18604" y="81344"/>
                  <a:pt x="18604" y="74414"/>
                </a:cubicBezTo>
                <a:cubicBezTo>
                  <a:pt x="18604" y="53857"/>
                  <a:pt x="35254" y="37207"/>
                  <a:pt x="55811" y="37207"/>
                </a:cubicBezTo>
                <a:lnTo>
                  <a:pt x="55811" y="26045"/>
                </a:lnTo>
                <a:close/>
                <a:moveTo>
                  <a:pt x="182314" y="26045"/>
                </a:moveTo>
                <a:lnTo>
                  <a:pt x="182314" y="37207"/>
                </a:lnTo>
                <a:cubicBezTo>
                  <a:pt x="202871" y="37207"/>
                  <a:pt x="219521" y="53857"/>
                  <a:pt x="219521" y="74414"/>
                </a:cubicBezTo>
                <a:cubicBezTo>
                  <a:pt x="219521" y="81390"/>
                  <a:pt x="217615" y="87902"/>
                  <a:pt x="214313" y="93436"/>
                </a:cubicBezTo>
                <a:cubicBezTo>
                  <a:pt x="226265" y="99622"/>
                  <a:pt x="234404" y="112086"/>
                  <a:pt x="234404" y="126504"/>
                </a:cubicBezTo>
                <a:cubicBezTo>
                  <a:pt x="234404" y="138689"/>
                  <a:pt x="228544" y="149479"/>
                  <a:pt x="219521" y="156270"/>
                </a:cubicBezTo>
                <a:cubicBezTo>
                  <a:pt x="224172" y="162502"/>
                  <a:pt x="226963" y="170222"/>
                  <a:pt x="226963" y="178594"/>
                </a:cubicBezTo>
                <a:cubicBezTo>
                  <a:pt x="226963" y="199151"/>
                  <a:pt x="210313" y="215801"/>
                  <a:pt x="189756" y="215801"/>
                </a:cubicBezTo>
                <a:cubicBezTo>
                  <a:pt x="189430" y="215801"/>
                  <a:pt x="189151" y="215801"/>
                  <a:pt x="188826" y="215801"/>
                </a:cubicBezTo>
                <a:cubicBezTo>
                  <a:pt x="185524" y="228637"/>
                  <a:pt x="173850" y="238125"/>
                  <a:pt x="159990" y="238125"/>
                </a:cubicBezTo>
                <a:lnTo>
                  <a:pt x="145107" y="238125"/>
                </a:lnTo>
                <a:cubicBezTo>
                  <a:pt x="136875" y="238125"/>
                  <a:pt x="130225" y="231474"/>
                  <a:pt x="130225" y="223242"/>
                </a:cubicBezTo>
                <a:lnTo>
                  <a:pt x="130225" y="14883"/>
                </a:lnTo>
                <a:cubicBezTo>
                  <a:pt x="130225" y="6651"/>
                  <a:pt x="136875" y="0"/>
                  <a:pt x="145107" y="0"/>
                </a:cubicBezTo>
                <a:lnTo>
                  <a:pt x="156270" y="0"/>
                </a:lnTo>
                <a:cubicBezTo>
                  <a:pt x="170641" y="0"/>
                  <a:pt x="182314" y="11674"/>
                  <a:pt x="182314" y="26045"/>
                </a:cubicBezTo>
                <a:close/>
              </a:path>
            </a:pathLst>
          </a:custGeom>
          <a:solidFill>
            <a:srgbClr val="FFD54F"/>
          </a:solidFill>
          <a:ln/>
        </p:spPr>
      </p:sp>
      <p:sp>
        <p:nvSpPr>
          <p:cNvPr id="17" name="Text 14"/>
          <p:cNvSpPr/>
          <p:nvPr/>
        </p:nvSpPr>
        <p:spPr>
          <a:xfrm>
            <a:off x="4886399" y="511175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Neuromorphic Computing</a:t>
            </a:r>
            <a:endParaRPr lang="en-US" sz="1600" dirty="0"/>
          </a:p>
        </p:txBody>
      </p:sp>
      <p:sp>
        <p:nvSpPr>
          <p:cNvPr id="18" name="Text 15"/>
          <p:cNvSpPr/>
          <p:nvPr/>
        </p:nvSpPr>
        <p:spPr>
          <a:xfrm>
            <a:off x="4894337" y="539750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Brain-inspired hardware for efficient AI</a:t>
            </a:r>
            <a:endParaRPr lang="en-US" sz="1600" dirty="0"/>
          </a:p>
        </p:txBody>
      </p:sp>
      <p:sp>
        <p:nvSpPr>
          <p:cNvPr id="19" name="Shape 16"/>
          <p:cNvSpPr/>
          <p:nvPr/>
        </p:nvSpPr>
        <p:spPr>
          <a:xfrm>
            <a:off x="7535788" y="464740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4DB6AC">
              <a:alpha val="10196"/>
            </a:srgbClr>
          </a:solidFill>
          <a:ln w="12700">
            <a:solidFill>
              <a:srgbClr val="4DB6AC">
                <a:alpha val="30196"/>
              </a:srgbClr>
            </a:solidFill>
            <a:prstDash val="solid"/>
          </a:ln>
        </p:spPr>
      </p:sp>
      <p:sp>
        <p:nvSpPr>
          <p:cNvPr id="20" name="Shape 17"/>
          <p:cNvSpPr/>
          <p:nvPr/>
        </p:nvSpPr>
        <p:spPr>
          <a:xfrm>
            <a:off x="8738443" y="4778375"/>
            <a:ext cx="208359" cy="238125"/>
          </a:xfrm>
          <a:custGeom>
            <a:avLst/>
            <a:gdLst/>
            <a:ahLst/>
            <a:cxnLst/>
            <a:rect l="l" t="t" r="r" b="b"/>
            <a:pathLst>
              <a:path w="208359" h="238125">
                <a:moveTo>
                  <a:pt x="104180" y="185477"/>
                </a:moveTo>
                <a:cubicBezTo>
                  <a:pt x="98692" y="187849"/>
                  <a:pt x="93297" y="189988"/>
                  <a:pt x="87948" y="191756"/>
                </a:cubicBezTo>
                <a:cubicBezTo>
                  <a:pt x="95715" y="207476"/>
                  <a:pt x="102366" y="208359"/>
                  <a:pt x="104180" y="208359"/>
                </a:cubicBezTo>
                <a:cubicBezTo>
                  <a:pt x="105994" y="208359"/>
                  <a:pt x="112598" y="207476"/>
                  <a:pt x="120411" y="191756"/>
                </a:cubicBezTo>
                <a:cubicBezTo>
                  <a:pt x="115109" y="189942"/>
                  <a:pt x="109668" y="187849"/>
                  <a:pt x="104180" y="185477"/>
                </a:cubicBezTo>
                <a:close/>
                <a:moveTo>
                  <a:pt x="192546" y="119062"/>
                </a:moveTo>
                <a:cubicBezTo>
                  <a:pt x="207894" y="140084"/>
                  <a:pt x="213150" y="161339"/>
                  <a:pt x="203522" y="178594"/>
                </a:cubicBezTo>
                <a:cubicBezTo>
                  <a:pt x="194128" y="195476"/>
                  <a:pt x="174454" y="201523"/>
                  <a:pt x="149944" y="198686"/>
                </a:cubicBezTo>
                <a:cubicBezTo>
                  <a:pt x="139712" y="222917"/>
                  <a:pt x="124039" y="238125"/>
                  <a:pt x="104180" y="238125"/>
                </a:cubicBezTo>
                <a:cubicBezTo>
                  <a:pt x="84320" y="238125"/>
                  <a:pt x="68647" y="222917"/>
                  <a:pt x="58415" y="198686"/>
                </a:cubicBezTo>
                <a:cubicBezTo>
                  <a:pt x="33905" y="201523"/>
                  <a:pt x="14232" y="195476"/>
                  <a:pt x="4837" y="178594"/>
                </a:cubicBezTo>
                <a:cubicBezTo>
                  <a:pt x="-4790" y="161339"/>
                  <a:pt x="465" y="140084"/>
                  <a:pt x="15813" y="119062"/>
                </a:cubicBezTo>
                <a:cubicBezTo>
                  <a:pt x="465" y="98041"/>
                  <a:pt x="-4790" y="76786"/>
                  <a:pt x="4837" y="59531"/>
                </a:cubicBezTo>
                <a:cubicBezTo>
                  <a:pt x="14232" y="42649"/>
                  <a:pt x="33905" y="36602"/>
                  <a:pt x="58415" y="39439"/>
                </a:cubicBezTo>
                <a:cubicBezTo>
                  <a:pt x="68647" y="15208"/>
                  <a:pt x="84274" y="0"/>
                  <a:pt x="104180" y="0"/>
                </a:cubicBezTo>
                <a:cubicBezTo>
                  <a:pt x="124085" y="0"/>
                  <a:pt x="139712" y="15208"/>
                  <a:pt x="149944" y="39439"/>
                </a:cubicBezTo>
                <a:cubicBezTo>
                  <a:pt x="174454" y="36602"/>
                  <a:pt x="194128" y="42602"/>
                  <a:pt x="203522" y="59531"/>
                </a:cubicBezTo>
                <a:cubicBezTo>
                  <a:pt x="213150" y="76786"/>
                  <a:pt x="207894" y="98041"/>
                  <a:pt x="192546" y="119062"/>
                </a:cubicBezTo>
                <a:close/>
                <a:moveTo>
                  <a:pt x="161944" y="150409"/>
                </a:moveTo>
                <a:cubicBezTo>
                  <a:pt x="161153" y="157014"/>
                  <a:pt x="160130" y="163432"/>
                  <a:pt x="158828" y="169571"/>
                </a:cubicBezTo>
                <a:cubicBezTo>
                  <a:pt x="173617" y="170222"/>
                  <a:pt x="176780" y="165525"/>
                  <a:pt x="177524" y="164130"/>
                </a:cubicBezTo>
                <a:cubicBezTo>
                  <a:pt x="178594" y="162176"/>
                  <a:pt x="180780" y="155804"/>
                  <a:pt x="171990" y="141759"/>
                </a:cubicBezTo>
                <a:cubicBezTo>
                  <a:pt x="168827" y="144689"/>
                  <a:pt x="165478" y="147572"/>
                  <a:pt x="161944" y="150409"/>
                </a:cubicBezTo>
                <a:close/>
                <a:moveTo>
                  <a:pt x="158828" y="68600"/>
                </a:moveTo>
                <a:cubicBezTo>
                  <a:pt x="160130" y="74693"/>
                  <a:pt x="161153" y="81111"/>
                  <a:pt x="161944" y="87762"/>
                </a:cubicBezTo>
                <a:cubicBezTo>
                  <a:pt x="165478" y="90599"/>
                  <a:pt x="168827" y="93483"/>
                  <a:pt x="171990" y="96413"/>
                </a:cubicBezTo>
                <a:cubicBezTo>
                  <a:pt x="180780" y="82367"/>
                  <a:pt x="178594" y="75949"/>
                  <a:pt x="177524" y="74042"/>
                </a:cubicBezTo>
                <a:cubicBezTo>
                  <a:pt x="176780" y="72693"/>
                  <a:pt x="173617" y="67996"/>
                  <a:pt x="158828" y="68600"/>
                </a:cubicBezTo>
                <a:close/>
                <a:moveTo>
                  <a:pt x="120411" y="46369"/>
                </a:moveTo>
                <a:cubicBezTo>
                  <a:pt x="112598" y="30649"/>
                  <a:pt x="105994" y="29766"/>
                  <a:pt x="104180" y="29766"/>
                </a:cubicBezTo>
                <a:cubicBezTo>
                  <a:pt x="102366" y="29766"/>
                  <a:pt x="95762" y="30649"/>
                  <a:pt x="87948" y="46369"/>
                </a:cubicBezTo>
                <a:cubicBezTo>
                  <a:pt x="93250" y="48183"/>
                  <a:pt x="98692" y="50276"/>
                  <a:pt x="104180" y="52648"/>
                </a:cubicBezTo>
                <a:cubicBezTo>
                  <a:pt x="109668" y="50276"/>
                  <a:pt x="115063" y="48137"/>
                  <a:pt x="120411" y="46369"/>
                </a:cubicBezTo>
                <a:close/>
                <a:moveTo>
                  <a:pt x="46462" y="87716"/>
                </a:moveTo>
                <a:cubicBezTo>
                  <a:pt x="47253" y="81065"/>
                  <a:pt x="48276" y="74693"/>
                  <a:pt x="49578" y="68554"/>
                </a:cubicBezTo>
                <a:cubicBezTo>
                  <a:pt x="34789" y="67903"/>
                  <a:pt x="31626" y="72600"/>
                  <a:pt x="30882" y="73995"/>
                </a:cubicBezTo>
                <a:cubicBezTo>
                  <a:pt x="29812" y="75949"/>
                  <a:pt x="27626" y="82321"/>
                  <a:pt x="36416" y="96366"/>
                </a:cubicBezTo>
                <a:cubicBezTo>
                  <a:pt x="39579" y="93436"/>
                  <a:pt x="42928" y="90553"/>
                  <a:pt x="46462" y="87716"/>
                </a:cubicBezTo>
                <a:close/>
                <a:moveTo>
                  <a:pt x="36370" y="141759"/>
                </a:moveTo>
                <a:cubicBezTo>
                  <a:pt x="27580" y="155804"/>
                  <a:pt x="29766" y="162223"/>
                  <a:pt x="30835" y="164130"/>
                </a:cubicBezTo>
                <a:cubicBezTo>
                  <a:pt x="31579" y="165478"/>
                  <a:pt x="34742" y="170176"/>
                  <a:pt x="49532" y="169571"/>
                </a:cubicBezTo>
                <a:cubicBezTo>
                  <a:pt x="48230" y="163478"/>
                  <a:pt x="47206" y="157060"/>
                  <a:pt x="46416" y="150409"/>
                </a:cubicBezTo>
                <a:cubicBezTo>
                  <a:pt x="42881" y="147572"/>
                  <a:pt x="39532" y="144689"/>
                  <a:pt x="36370" y="141759"/>
                </a:cubicBezTo>
                <a:close/>
                <a:moveTo>
                  <a:pt x="141387" y="119062"/>
                </a:moveTo>
                <a:cubicBezTo>
                  <a:pt x="141387" y="98527"/>
                  <a:pt x="124715" y="81855"/>
                  <a:pt x="104180" y="81855"/>
                </a:cubicBezTo>
                <a:cubicBezTo>
                  <a:pt x="83645" y="81855"/>
                  <a:pt x="66973" y="98527"/>
                  <a:pt x="66973" y="119062"/>
                </a:cubicBezTo>
                <a:cubicBezTo>
                  <a:pt x="66973" y="139598"/>
                  <a:pt x="83645" y="156270"/>
                  <a:pt x="104180" y="156270"/>
                </a:cubicBezTo>
                <a:cubicBezTo>
                  <a:pt x="124715" y="156270"/>
                  <a:pt x="141387" y="139598"/>
                  <a:pt x="141387" y="119062"/>
                </a:cubicBezTo>
                <a:close/>
                <a:moveTo>
                  <a:pt x="104180" y="104180"/>
                </a:moveTo>
                <a:cubicBezTo>
                  <a:pt x="112394" y="104180"/>
                  <a:pt x="119062" y="110848"/>
                  <a:pt x="119062" y="119062"/>
                </a:cubicBezTo>
                <a:cubicBezTo>
                  <a:pt x="119062" y="127277"/>
                  <a:pt x="112394" y="133945"/>
                  <a:pt x="104180" y="133945"/>
                </a:cubicBezTo>
                <a:cubicBezTo>
                  <a:pt x="95966" y="133945"/>
                  <a:pt x="89297" y="127277"/>
                  <a:pt x="89297" y="119062"/>
                </a:cubicBezTo>
                <a:cubicBezTo>
                  <a:pt x="89297" y="110848"/>
                  <a:pt x="95966" y="104180"/>
                  <a:pt x="104180" y="104180"/>
                </a:cubicBezTo>
                <a:close/>
              </a:path>
            </a:pathLst>
          </a:custGeom>
          <a:solidFill>
            <a:srgbClr val="4DB6AC"/>
          </a:solidFill>
          <a:ln/>
        </p:spPr>
      </p:sp>
      <p:sp>
        <p:nvSpPr>
          <p:cNvPr id="21" name="Text 18"/>
          <p:cNvSpPr/>
          <p:nvPr/>
        </p:nvSpPr>
        <p:spPr>
          <a:xfrm>
            <a:off x="7631038" y="511175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Quantum ML</a:t>
            </a:r>
            <a:endParaRPr lang="en-US" sz="1600" dirty="0"/>
          </a:p>
        </p:txBody>
      </p:sp>
      <p:sp>
        <p:nvSpPr>
          <p:cNvPr id="22" name="Text 19"/>
          <p:cNvSpPr/>
          <p:nvPr/>
        </p:nvSpPr>
        <p:spPr>
          <a:xfrm>
            <a:off x="7638976" y="539750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Quantum-enhanced learning algorithms</a:t>
            </a:r>
            <a:endParaRPr lang="en-US" sz="1600" dirty="0"/>
          </a:p>
        </p:txBody>
      </p:sp>
      <p:sp>
        <p:nvSpPr>
          <p:cNvPr id="23" name="Shape 20"/>
          <p:cNvSpPr/>
          <p:nvPr/>
        </p:nvSpPr>
        <p:spPr>
          <a:xfrm>
            <a:off x="2046511" y="582215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FFD54F">
              <a:alpha val="10196"/>
            </a:srgbClr>
          </a:solidFill>
          <a:ln w="12700">
            <a:solidFill>
              <a:srgbClr val="FFD54F">
                <a:alpha val="30196"/>
              </a:srgbClr>
            </a:solidFill>
            <a:prstDash val="solid"/>
          </a:ln>
        </p:spPr>
      </p:sp>
      <p:sp>
        <p:nvSpPr>
          <p:cNvPr id="24" name="Shape 21"/>
          <p:cNvSpPr/>
          <p:nvPr/>
        </p:nvSpPr>
        <p:spPr>
          <a:xfrm>
            <a:off x="3219400" y="5953125"/>
            <a:ext cx="267891" cy="238125"/>
          </a:xfrm>
          <a:custGeom>
            <a:avLst/>
            <a:gdLst/>
            <a:ahLst/>
            <a:cxnLst/>
            <a:rect l="l" t="t" r="r" b="b"/>
            <a:pathLst>
              <a:path w="267891" h="238125">
                <a:moveTo>
                  <a:pt x="133945" y="14883"/>
                </a:moveTo>
                <a:cubicBezTo>
                  <a:pt x="96366" y="14883"/>
                  <a:pt x="66275" y="31998"/>
                  <a:pt x="44369" y="52369"/>
                </a:cubicBezTo>
                <a:cubicBezTo>
                  <a:pt x="22603" y="72600"/>
                  <a:pt x="8046" y="96738"/>
                  <a:pt x="1116" y="113342"/>
                </a:cubicBezTo>
                <a:cubicBezTo>
                  <a:pt x="-419" y="117016"/>
                  <a:pt x="-419" y="121109"/>
                  <a:pt x="1116" y="124783"/>
                </a:cubicBezTo>
                <a:cubicBezTo>
                  <a:pt x="8046" y="141387"/>
                  <a:pt x="22603" y="165571"/>
                  <a:pt x="44369" y="185756"/>
                </a:cubicBezTo>
                <a:cubicBezTo>
                  <a:pt x="66275" y="206080"/>
                  <a:pt x="96366" y="223242"/>
                  <a:pt x="133945" y="223242"/>
                </a:cubicBezTo>
                <a:cubicBezTo>
                  <a:pt x="171524" y="223242"/>
                  <a:pt x="201616" y="206127"/>
                  <a:pt x="223521" y="185756"/>
                </a:cubicBezTo>
                <a:cubicBezTo>
                  <a:pt x="245287" y="165525"/>
                  <a:pt x="259845" y="141387"/>
                  <a:pt x="266774" y="124783"/>
                </a:cubicBezTo>
                <a:cubicBezTo>
                  <a:pt x="268309" y="121109"/>
                  <a:pt x="268309" y="117016"/>
                  <a:pt x="266774" y="113342"/>
                </a:cubicBezTo>
                <a:cubicBezTo>
                  <a:pt x="259845" y="96738"/>
                  <a:pt x="245287" y="72554"/>
                  <a:pt x="223521" y="52369"/>
                </a:cubicBezTo>
                <a:cubicBezTo>
                  <a:pt x="201616" y="32045"/>
                  <a:pt x="171524" y="14883"/>
                  <a:pt x="133945" y="14883"/>
                </a:cubicBezTo>
                <a:close/>
                <a:moveTo>
                  <a:pt x="66973" y="119062"/>
                </a:moveTo>
                <a:cubicBezTo>
                  <a:pt x="66973" y="82099"/>
                  <a:pt x="96982" y="52090"/>
                  <a:pt x="133945" y="52090"/>
                </a:cubicBezTo>
                <a:cubicBezTo>
                  <a:pt x="170909" y="52090"/>
                  <a:pt x="200918" y="82099"/>
                  <a:pt x="200918" y="119062"/>
                </a:cubicBezTo>
                <a:cubicBezTo>
                  <a:pt x="200918" y="156026"/>
                  <a:pt x="170909" y="186035"/>
                  <a:pt x="133945" y="186035"/>
                </a:cubicBezTo>
                <a:cubicBezTo>
                  <a:pt x="96982" y="186035"/>
                  <a:pt x="66973" y="156026"/>
                  <a:pt x="66973" y="119062"/>
                </a:cubicBezTo>
                <a:close/>
                <a:moveTo>
                  <a:pt x="133945" y="89297"/>
                </a:moveTo>
                <a:cubicBezTo>
                  <a:pt x="133945" y="105714"/>
                  <a:pt x="120597" y="119062"/>
                  <a:pt x="104180" y="119062"/>
                </a:cubicBezTo>
                <a:cubicBezTo>
                  <a:pt x="98831" y="119062"/>
                  <a:pt x="93808" y="117667"/>
                  <a:pt x="89436" y="115156"/>
                </a:cubicBezTo>
                <a:cubicBezTo>
                  <a:pt x="88971" y="120225"/>
                  <a:pt x="89390" y="125434"/>
                  <a:pt x="90785" y="130597"/>
                </a:cubicBezTo>
                <a:cubicBezTo>
                  <a:pt x="97157" y="154409"/>
                  <a:pt x="121667" y="168548"/>
                  <a:pt x="145479" y="162176"/>
                </a:cubicBezTo>
                <a:cubicBezTo>
                  <a:pt x="169292" y="155804"/>
                  <a:pt x="183431" y="131294"/>
                  <a:pt x="177059" y="107482"/>
                </a:cubicBezTo>
                <a:cubicBezTo>
                  <a:pt x="171385" y="86227"/>
                  <a:pt x="151247" y="72693"/>
                  <a:pt x="130039" y="74554"/>
                </a:cubicBezTo>
                <a:cubicBezTo>
                  <a:pt x="132504" y="78879"/>
                  <a:pt x="133945" y="83902"/>
                  <a:pt x="133945" y="89297"/>
                </a:cubicBezTo>
                <a:close/>
              </a:path>
            </a:pathLst>
          </a:custGeom>
          <a:solidFill>
            <a:srgbClr val="FFD54F"/>
          </a:solidFill>
          <a:ln/>
        </p:spPr>
      </p:sp>
      <p:sp>
        <p:nvSpPr>
          <p:cNvPr id="25" name="Text 22"/>
          <p:cNvSpPr/>
          <p:nvPr/>
        </p:nvSpPr>
        <p:spPr>
          <a:xfrm>
            <a:off x="2141761" y="628650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Explainable AI</a:t>
            </a:r>
            <a:endParaRPr lang="en-US" sz="1600" dirty="0"/>
          </a:p>
        </p:txBody>
      </p:sp>
      <p:sp>
        <p:nvSpPr>
          <p:cNvPr id="26" name="Text 23"/>
          <p:cNvSpPr/>
          <p:nvPr/>
        </p:nvSpPr>
        <p:spPr>
          <a:xfrm>
            <a:off x="2149698" y="657225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Transparent and interpretable models</a:t>
            </a:r>
            <a:endParaRPr lang="en-US" sz="1600" dirty="0"/>
          </a:p>
        </p:txBody>
      </p:sp>
      <p:sp>
        <p:nvSpPr>
          <p:cNvPr id="27" name="Shape 24"/>
          <p:cNvSpPr/>
          <p:nvPr/>
        </p:nvSpPr>
        <p:spPr>
          <a:xfrm>
            <a:off x="4791149" y="582215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4DB6AC">
              <a:alpha val="10196"/>
            </a:srgbClr>
          </a:solidFill>
          <a:ln w="12700">
            <a:solidFill>
              <a:srgbClr val="4DB6AC">
                <a:alpha val="30196"/>
              </a:srgbClr>
            </a:solidFill>
            <a:prstDash val="solid"/>
          </a:ln>
        </p:spPr>
      </p:sp>
      <p:sp>
        <p:nvSpPr>
          <p:cNvPr id="28" name="Shape 25"/>
          <p:cNvSpPr/>
          <p:nvPr/>
        </p:nvSpPr>
        <p:spPr>
          <a:xfrm>
            <a:off x="5964039" y="5953125"/>
            <a:ext cx="267891" cy="238125"/>
          </a:xfrm>
          <a:custGeom>
            <a:avLst/>
            <a:gdLst/>
            <a:ahLst/>
            <a:cxnLst/>
            <a:rect l="l" t="t" r="r" b="b"/>
            <a:pathLst>
              <a:path w="267891" h="238125">
                <a:moveTo>
                  <a:pt x="115342" y="40928"/>
                </a:moveTo>
                <a:lnTo>
                  <a:pt x="152549" y="40928"/>
                </a:lnTo>
                <a:lnTo>
                  <a:pt x="152549" y="63252"/>
                </a:lnTo>
                <a:lnTo>
                  <a:pt x="115342" y="63252"/>
                </a:lnTo>
                <a:lnTo>
                  <a:pt x="115342" y="40928"/>
                </a:lnTo>
                <a:close/>
                <a:moveTo>
                  <a:pt x="111621" y="14883"/>
                </a:moveTo>
                <a:cubicBezTo>
                  <a:pt x="99296" y="14883"/>
                  <a:pt x="89297" y="24882"/>
                  <a:pt x="89297" y="37207"/>
                </a:cubicBezTo>
                <a:lnTo>
                  <a:pt x="89297" y="66973"/>
                </a:lnTo>
                <a:cubicBezTo>
                  <a:pt x="89297" y="79297"/>
                  <a:pt x="99296" y="89297"/>
                  <a:pt x="111621" y="89297"/>
                </a:cubicBezTo>
                <a:lnTo>
                  <a:pt x="119062" y="89297"/>
                </a:lnTo>
                <a:lnTo>
                  <a:pt x="119062" y="104180"/>
                </a:lnTo>
                <a:lnTo>
                  <a:pt x="14883" y="104180"/>
                </a:lnTo>
                <a:cubicBezTo>
                  <a:pt x="6651" y="104180"/>
                  <a:pt x="0" y="110830"/>
                  <a:pt x="0" y="119062"/>
                </a:cubicBezTo>
                <a:cubicBezTo>
                  <a:pt x="0" y="127295"/>
                  <a:pt x="6651" y="133945"/>
                  <a:pt x="14883" y="133945"/>
                </a:cubicBezTo>
                <a:lnTo>
                  <a:pt x="59531" y="133945"/>
                </a:lnTo>
                <a:lnTo>
                  <a:pt x="59531" y="148828"/>
                </a:lnTo>
                <a:lnTo>
                  <a:pt x="52090" y="148828"/>
                </a:lnTo>
                <a:cubicBezTo>
                  <a:pt x="39765" y="148828"/>
                  <a:pt x="29766" y="158828"/>
                  <a:pt x="29766" y="171152"/>
                </a:cubicBezTo>
                <a:lnTo>
                  <a:pt x="29766" y="200918"/>
                </a:lnTo>
                <a:cubicBezTo>
                  <a:pt x="29766" y="213243"/>
                  <a:pt x="39765" y="223242"/>
                  <a:pt x="52090" y="223242"/>
                </a:cubicBezTo>
                <a:lnTo>
                  <a:pt x="96738" y="223242"/>
                </a:lnTo>
                <a:cubicBezTo>
                  <a:pt x="109063" y="223242"/>
                  <a:pt x="119062" y="213243"/>
                  <a:pt x="119062" y="200918"/>
                </a:cubicBezTo>
                <a:lnTo>
                  <a:pt x="119062" y="171152"/>
                </a:lnTo>
                <a:cubicBezTo>
                  <a:pt x="119062" y="158828"/>
                  <a:pt x="109063" y="148828"/>
                  <a:pt x="96738" y="148828"/>
                </a:cubicBezTo>
                <a:lnTo>
                  <a:pt x="89297" y="148828"/>
                </a:lnTo>
                <a:lnTo>
                  <a:pt x="89297" y="133945"/>
                </a:lnTo>
                <a:lnTo>
                  <a:pt x="178594" y="133945"/>
                </a:lnTo>
                <a:lnTo>
                  <a:pt x="178594" y="148828"/>
                </a:lnTo>
                <a:lnTo>
                  <a:pt x="171152" y="148828"/>
                </a:lnTo>
                <a:cubicBezTo>
                  <a:pt x="158828" y="148828"/>
                  <a:pt x="148828" y="158828"/>
                  <a:pt x="148828" y="171152"/>
                </a:cubicBezTo>
                <a:lnTo>
                  <a:pt x="148828" y="200918"/>
                </a:lnTo>
                <a:cubicBezTo>
                  <a:pt x="148828" y="213243"/>
                  <a:pt x="158828" y="223242"/>
                  <a:pt x="171152" y="223242"/>
                </a:cubicBezTo>
                <a:lnTo>
                  <a:pt x="215801" y="223242"/>
                </a:lnTo>
                <a:cubicBezTo>
                  <a:pt x="228126" y="223242"/>
                  <a:pt x="238125" y="213243"/>
                  <a:pt x="238125" y="200918"/>
                </a:cubicBezTo>
                <a:lnTo>
                  <a:pt x="238125" y="171152"/>
                </a:lnTo>
                <a:cubicBezTo>
                  <a:pt x="238125" y="158828"/>
                  <a:pt x="228126" y="148828"/>
                  <a:pt x="215801" y="148828"/>
                </a:cubicBezTo>
                <a:lnTo>
                  <a:pt x="208359" y="148828"/>
                </a:lnTo>
                <a:lnTo>
                  <a:pt x="208359" y="133945"/>
                </a:lnTo>
                <a:lnTo>
                  <a:pt x="253008" y="133945"/>
                </a:lnTo>
                <a:cubicBezTo>
                  <a:pt x="261240" y="133945"/>
                  <a:pt x="267891" y="127295"/>
                  <a:pt x="267891" y="119062"/>
                </a:cubicBezTo>
                <a:cubicBezTo>
                  <a:pt x="267891" y="110830"/>
                  <a:pt x="261240" y="104180"/>
                  <a:pt x="253008" y="104180"/>
                </a:cubicBezTo>
                <a:lnTo>
                  <a:pt x="148828" y="104180"/>
                </a:lnTo>
                <a:lnTo>
                  <a:pt x="148828" y="89297"/>
                </a:lnTo>
                <a:lnTo>
                  <a:pt x="156270" y="89297"/>
                </a:lnTo>
                <a:cubicBezTo>
                  <a:pt x="168594" y="89297"/>
                  <a:pt x="178594" y="79297"/>
                  <a:pt x="178594" y="66973"/>
                </a:cubicBezTo>
                <a:lnTo>
                  <a:pt x="178594" y="37207"/>
                </a:lnTo>
                <a:cubicBezTo>
                  <a:pt x="178594" y="24882"/>
                  <a:pt x="168594" y="14883"/>
                  <a:pt x="156270" y="14883"/>
                </a:cubicBezTo>
                <a:lnTo>
                  <a:pt x="111621" y="14883"/>
                </a:lnTo>
                <a:close/>
                <a:moveTo>
                  <a:pt x="208359" y="174873"/>
                </a:moveTo>
                <a:lnTo>
                  <a:pt x="212080" y="174873"/>
                </a:lnTo>
                <a:lnTo>
                  <a:pt x="212080" y="197197"/>
                </a:lnTo>
                <a:lnTo>
                  <a:pt x="174873" y="197197"/>
                </a:lnTo>
                <a:lnTo>
                  <a:pt x="174873" y="174873"/>
                </a:lnTo>
                <a:lnTo>
                  <a:pt x="208359" y="174873"/>
                </a:lnTo>
                <a:close/>
                <a:moveTo>
                  <a:pt x="89297" y="174873"/>
                </a:moveTo>
                <a:lnTo>
                  <a:pt x="93018" y="174873"/>
                </a:lnTo>
                <a:lnTo>
                  <a:pt x="93018" y="197197"/>
                </a:lnTo>
                <a:lnTo>
                  <a:pt x="55811" y="197197"/>
                </a:lnTo>
                <a:lnTo>
                  <a:pt x="55811" y="174873"/>
                </a:lnTo>
                <a:lnTo>
                  <a:pt x="89297" y="174873"/>
                </a:lnTo>
                <a:close/>
              </a:path>
            </a:pathLst>
          </a:custGeom>
          <a:solidFill>
            <a:srgbClr val="4DB6AC"/>
          </a:solidFill>
          <a:ln/>
        </p:spPr>
      </p:sp>
      <p:sp>
        <p:nvSpPr>
          <p:cNvPr id="29" name="Text 26"/>
          <p:cNvSpPr/>
          <p:nvPr/>
        </p:nvSpPr>
        <p:spPr>
          <a:xfrm>
            <a:off x="4886399" y="628650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Federated Learning</a:t>
            </a:r>
            <a:endParaRPr lang="en-US" sz="1600" dirty="0"/>
          </a:p>
        </p:txBody>
      </p:sp>
      <p:sp>
        <p:nvSpPr>
          <p:cNvPr id="30" name="Text 27"/>
          <p:cNvSpPr/>
          <p:nvPr/>
        </p:nvSpPr>
        <p:spPr>
          <a:xfrm>
            <a:off x="4894337" y="657225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Privacy-preserving distributed training</a:t>
            </a:r>
            <a:endParaRPr lang="en-US" sz="1600" dirty="0"/>
          </a:p>
        </p:txBody>
      </p:sp>
      <p:sp>
        <p:nvSpPr>
          <p:cNvPr id="31" name="Shape 28"/>
          <p:cNvSpPr/>
          <p:nvPr/>
        </p:nvSpPr>
        <p:spPr>
          <a:xfrm>
            <a:off x="7535788" y="5822156"/>
            <a:ext cx="2611438" cy="1039812"/>
          </a:xfrm>
          <a:custGeom>
            <a:avLst/>
            <a:gdLst/>
            <a:ahLst/>
            <a:cxnLst/>
            <a:rect l="l" t="t" r="r" b="b"/>
            <a:pathLst>
              <a:path w="2611438" h="1039812">
                <a:moveTo>
                  <a:pt x="63501" y="0"/>
                </a:moveTo>
                <a:lnTo>
                  <a:pt x="2547936" y="0"/>
                </a:lnTo>
                <a:cubicBezTo>
                  <a:pt x="2583007" y="0"/>
                  <a:pt x="2611438" y="28431"/>
                  <a:pt x="2611438" y="63501"/>
                </a:cubicBezTo>
                <a:lnTo>
                  <a:pt x="2611438" y="976311"/>
                </a:lnTo>
                <a:cubicBezTo>
                  <a:pt x="2611438" y="1011382"/>
                  <a:pt x="2583007" y="1039812"/>
                  <a:pt x="2547936" y="1039813"/>
                </a:cubicBezTo>
                <a:lnTo>
                  <a:pt x="63501" y="1039812"/>
                </a:lnTo>
                <a:cubicBezTo>
                  <a:pt x="28431" y="1039813"/>
                  <a:pt x="0" y="1011382"/>
                  <a:pt x="0" y="976311"/>
                </a:cubicBezTo>
                <a:lnTo>
                  <a:pt x="0" y="63501"/>
                </a:lnTo>
                <a:cubicBezTo>
                  <a:pt x="0" y="28431"/>
                  <a:pt x="28431" y="0"/>
                  <a:pt x="63501" y="0"/>
                </a:cubicBezTo>
                <a:close/>
              </a:path>
            </a:pathLst>
          </a:custGeom>
          <a:solidFill>
            <a:srgbClr val="FFD54F">
              <a:alpha val="10196"/>
            </a:srgbClr>
          </a:solidFill>
          <a:ln w="12700">
            <a:solidFill>
              <a:srgbClr val="FFD54F">
                <a:alpha val="30196"/>
              </a:srgbClr>
            </a:solidFill>
            <a:prstDash val="solid"/>
          </a:ln>
        </p:spPr>
      </p:sp>
      <p:sp>
        <p:nvSpPr>
          <p:cNvPr id="32" name="Shape 29"/>
          <p:cNvSpPr/>
          <p:nvPr/>
        </p:nvSpPr>
        <p:spPr>
          <a:xfrm>
            <a:off x="8693795" y="5953125"/>
            <a:ext cx="297656" cy="238125"/>
          </a:xfrm>
          <a:custGeom>
            <a:avLst/>
            <a:gdLst/>
            <a:ahLst/>
            <a:cxnLst/>
            <a:rect l="l" t="t" r="r" b="b"/>
            <a:pathLst>
              <a:path w="297656" h="238125">
                <a:moveTo>
                  <a:pt x="0" y="119062"/>
                </a:moveTo>
                <a:cubicBezTo>
                  <a:pt x="0" y="77949"/>
                  <a:pt x="33300" y="44648"/>
                  <a:pt x="74414" y="44648"/>
                </a:cubicBezTo>
                <a:cubicBezTo>
                  <a:pt x="97854" y="44648"/>
                  <a:pt x="119900" y="55671"/>
                  <a:pt x="133945" y="74414"/>
                </a:cubicBezTo>
                <a:lnTo>
                  <a:pt x="148828" y="94273"/>
                </a:lnTo>
                <a:lnTo>
                  <a:pt x="163711" y="74414"/>
                </a:lnTo>
                <a:cubicBezTo>
                  <a:pt x="177757" y="55671"/>
                  <a:pt x="199802" y="44648"/>
                  <a:pt x="223242" y="44648"/>
                </a:cubicBezTo>
                <a:cubicBezTo>
                  <a:pt x="264356" y="44648"/>
                  <a:pt x="297656" y="77949"/>
                  <a:pt x="297656" y="119062"/>
                </a:cubicBezTo>
                <a:cubicBezTo>
                  <a:pt x="297656" y="160176"/>
                  <a:pt x="264356" y="193477"/>
                  <a:pt x="223242" y="193477"/>
                </a:cubicBezTo>
                <a:cubicBezTo>
                  <a:pt x="199802" y="193477"/>
                  <a:pt x="177757" y="182454"/>
                  <a:pt x="163711" y="163711"/>
                </a:cubicBezTo>
                <a:lnTo>
                  <a:pt x="148828" y="143852"/>
                </a:lnTo>
                <a:lnTo>
                  <a:pt x="133945" y="163711"/>
                </a:lnTo>
                <a:cubicBezTo>
                  <a:pt x="119900" y="182454"/>
                  <a:pt x="97854" y="193477"/>
                  <a:pt x="74414" y="193477"/>
                </a:cubicBezTo>
                <a:cubicBezTo>
                  <a:pt x="33300" y="193477"/>
                  <a:pt x="0" y="160176"/>
                  <a:pt x="0" y="119062"/>
                </a:cubicBezTo>
                <a:close/>
                <a:moveTo>
                  <a:pt x="130225" y="119062"/>
                </a:moveTo>
                <a:lnTo>
                  <a:pt x="110133" y="92273"/>
                </a:lnTo>
                <a:cubicBezTo>
                  <a:pt x="101715" y="81018"/>
                  <a:pt x="88460" y="74414"/>
                  <a:pt x="74414" y="74414"/>
                </a:cubicBezTo>
                <a:cubicBezTo>
                  <a:pt x="49764" y="74414"/>
                  <a:pt x="29766" y="94413"/>
                  <a:pt x="29766" y="119062"/>
                </a:cubicBezTo>
                <a:cubicBezTo>
                  <a:pt x="29766" y="143712"/>
                  <a:pt x="49764" y="163711"/>
                  <a:pt x="74414" y="163711"/>
                </a:cubicBezTo>
                <a:cubicBezTo>
                  <a:pt x="88460" y="163711"/>
                  <a:pt x="101715" y="157107"/>
                  <a:pt x="110133" y="145852"/>
                </a:cubicBezTo>
                <a:lnTo>
                  <a:pt x="130225" y="119062"/>
                </a:lnTo>
                <a:close/>
                <a:moveTo>
                  <a:pt x="167432" y="119062"/>
                </a:moveTo>
                <a:lnTo>
                  <a:pt x="187523" y="145852"/>
                </a:lnTo>
                <a:cubicBezTo>
                  <a:pt x="195942" y="157107"/>
                  <a:pt x="209197" y="163711"/>
                  <a:pt x="223242" y="163711"/>
                </a:cubicBezTo>
                <a:cubicBezTo>
                  <a:pt x="247892" y="163711"/>
                  <a:pt x="267891" y="143712"/>
                  <a:pt x="267891" y="119062"/>
                </a:cubicBezTo>
                <a:cubicBezTo>
                  <a:pt x="267891" y="94413"/>
                  <a:pt x="247892" y="74414"/>
                  <a:pt x="223242" y="74414"/>
                </a:cubicBezTo>
                <a:cubicBezTo>
                  <a:pt x="209197" y="74414"/>
                  <a:pt x="195942" y="81018"/>
                  <a:pt x="187523" y="92273"/>
                </a:cubicBezTo>
                <a:lnTo>
                  <a:pt x="167432" y="119062"/>
                </a:lnTo>
                <a:close/>
              </a:path>
            </a:pathLst>
          </a:custGeom>
          <a:solidFill>
            <a:srgbClr val="FFD54F"/>
          </a:solidFill>
          <a:ln/>
        </p:spPr>
      </p:sp>
      <p:sp>
        <p:nvSpPr>
          <p:cNvPr id="33" name="Text 30"/>
          <p:cNvSpPr/>
          <p:nvPr/>
        </p:nvSpPr>
        <p:spPr>
          <a:xfrm>
            <a:off x="7631038" y="6286500"/>
            <a:ext cx="2420938" cy="222250"/>
          </a:xfrm>
          <a:prstGeom prst="rect">
            <a:avLst/>
          </a:prstGeom>
          <a:noFill/>
          <a:ln/>
        </p:spPr>
        <p:txBody>
          <a:bodyPr wrap="square" lIns="0" tIns="0" rIns="0" bIns="0" rtlCol="0" anchor="ctr"/>
          <a:lstStyle/>
          <a:p>
            <a:pPr algn="ctr">
              <a:lnSpc>
                <a:spcPct val="130000"/>
              </a:lnSpc>
            </a:pPr>
            <a:r>
              <a:rPr lang="en-US" sz="1125" b="1" dirty="0">
                <a:solidFill>
                  <a:srgbClr val="ECEFF1"/>
                </a:solidFill>
                <a:latin typeface="Liter" pitchFamily="34" charset="0"/>
                <a:ea typeface="Liter" pitchFamily="34" charset="-122"/>
                <a:cs typeface="Liter" pitchFamily="34" charset="-120"/>
              </a:rPr>
              <a:t>Continuous Learning</a:t>
            </a:r>
            <a:endParaRPr lang="en-US" sz="1600" dirty="0"/>
          </a:p>
        </p:txBody>
      </p:sp>
      <p:sp>
        <p:nvSpPr>
          <p:cNvPr id="34" name="Text 31"/>
          <p:cNvSpPr/>
          <p:nvPr/>
        </p:nvSpPr>
        <p:spPr>
          <a:xfrm>
            <a:off x="7638976" y="6572250"/>
            <a:ext cx="2405063" cy="158750"/>
          </a:xfrm>
          <a:prstGeom prst="rect">
            <a:avLst/>
          </a:prstGeom>
          <a:noFill/>
          <a:ln/>
        </p:spPr>
        <p:txBody>
          <a:bodyPr wrap="square" lIns="0" tIns="0" rIns="0" bIns="0" rtlCol="0" anchor="ctr"/>
          <a:lstStyle/>
          <a:p>
            <a:pPr algn="ctr">
              <a:lnSpc>
                <a:spcPct val="120000"/>
              </a:lnSpc>
            </a:pPr>
            <a:r>
              <a:rPr lang="en-US" sz="875" dirty="0">
                <a:solidFill>
                  <a:srgbClr val="ECEFF1"/>
                </a:solidFill>
                <a:latin typeface="Quattrocento Sans" pitchFamily="34" charset="0"/>
                <a:ea typeface="Quattrocento Sans" pitchFamily="34" charset="-122"/>
                <a:cs typeface="Quattrocento Sans" pitchFamily="34" charset="-120"/>
              </a:rPr>
              <a:t>Lifelong adaptation and improvement</a:t>
            </a:r>
            <a:endParaRPr lang="en-US" sz="1600" dirty="0"/>
          </a:p>
        </p:txBody>
      </p:sp>
      <p:sp>
        <p:nvSpPr>
          <p:cNvPr id="35" name="Shape 32"/>
          <p:cNvSpPr/>
          <p:nvPr/>
        </p:nvSpPr>
        <p:spPr>
          <a:xfrm>
            <a:off x="2792636" y="7123906"/>
            <a:ext cx="6604000" cy="896938"/>
          </a:xfrm>
          <a:custGeom>
            <a:avLst/>
            <a:gdLst/>
            <a:ahLst/>
            <a:cxnLst/>
            <a:rect l="l" t="t" r="r" b="b"/>
            <a:pathLst>
              <a:path w="6604000" h="896938">
                <a:moveTo>
                  <a:pt x="95246" y="0"/>
                </a:moveTo>
                <a:lnTo>
                  <a:pt x="6508754" y="0"/>
                </a:lnTo>
                <a:cubicBezTo>
                  <a:pt x="6561357" y="0"/>
                  <a:pt x="6604000" y="42643"/>
                  <a:pt x="6604000" y="95246"/>
                </a:cubicBezTo>
                <a:lnTo>
                  <a:pt x="6604000" y="801692"/>
                </a:lnTo>
                <a:cubicBezTo>
                  <a:pt x="6604000" y="854295"/>
                  <a:pt x="6561357" y="896937"/>
                  <a:pt x="6508754" y="896938"/>
                </a:cubicBezTo>
                <a:lnTo>
                  <a:pt x="95246" y="896938"/>
                </a:lnTo>
                <a:cubicBezTo>
                  <a:pt x="42643" y="896938"/>
                  <a:pt x="0" y="854295"/>
                  <a:pt x="0" y="801692"/>
                </a:cubicBezTo>
                <a:lnTo>
                  <a:pt x="0" y="95246"/>
                </a:lnTo>
                <a:cubicBezTo>
                  <a:pt x="0" y="42678"/>
                  <a:pt x="42678" y="0"/>
                  <a:pt x="95246" y="0"/>
                </a:cubicBezTo>
                <a:close/>
              </a:path>
            </a:pathLst>
          </a:custGeom>
          <a:gradFill flip="none" rotWithShape="1">
            <a:gsLst>
              <a:gs pos="0">
                <a:srgbClr val="4DB6AC">
                  <a:alpha val="20000"/>
                </a:srgbClr>
              </a:gs>
              <a:gs pos="100000">
                <a:srgbClr val="FFD54F">
                  <a:alpha val="20000"/>
                </a:srgbClr>
              </a:gs>
            </a:gsLst>
            <a:lin ang="0" scaled="1"/>
          </a:gradFill>
          <a:ln w="12700">
            <a:solidFill>
              <a:srgbClr val="4DB6AC">
                <a:alpha val="50196"/>
              </a:srgbClr>
            </a:solidFill>
            <a:prstDash val="solid"/>
          </a:ln>
        </p:spPr>
      </p:sp>
      <p:sp>
        <p:nvSpPr>
          <p:cNvPr id="36" name="Text 33"/>
          <p:cNvSpPr/>
          <p:nvPr/>
        </p:nvSpPr>
        <p:spPr>
          <a:xfrm>
            <a:off x="2947417" y="7318375"/>
            <a:ext cx="6294438" cy="222250"/>
          </a:xfrm>
          <a:prstGeom prst="rect">
            <a:avLst/>
          </a:prstGeom>
          <a:noFill/>
          <a:ln/>
        </p:spPr>
        <p:txBody>
          <a:bodyPr wrap="square" lIns="0" tIns="0" rIns="0" bIns="0" rtlCol="0" anchor="ctr"/>
          <a:lstStyle/>
          <a:p>
            <a:pPr algn="ctr">
              <a:lnSpc>
                <a:spcPct val="120000"/>
              </a:lnSpc>
            </a:pPr>
            <a:r>
              <a:rPr lang="en-US" sz="1250" b="1" dirty="0">
                <a:solidFill>
                  <a:srgbClr val="ECEFF1"/>
                </a:solidFill>
                <a:latin typeface="Quattrocento Sans" pitchFamily="34" charset="0"/>
                <a:ea typeface="Quattrocento Sans" pitchFamily="34" charset="-122"/>
                <a:cs typeface="Quattrocento Sans" pitchFamily="34" charset="-120"/>
              </a:rPr>
              <a:t>Deep learning will continue transforming industries and shaping our technological future.</a:t>
            </a:r>
            <a:endParaRPr lang="en-US" sz="1600" dirty="0"/>
          </a:p>
        </p:txBody>
      </p:sp>
      <p:sp>
        <p:nvSpPr>
          <p:cNvPr id="37" name="Text 34"/>
          <p:cNvSpPr/>
          <p:nvPr/>
        </p:nvSpPr>
        <p:spPr>
          <a:xfrm>
            <a:off x="2951386" y="7604125"/>
            <a:ext cx="6286500" cy="222250"/>
          </a:xfrm>
          <a:prstGeom prst="rect">
            <a:avLst/>
          </a:prstGeom>
          <a:noFill/>
          <a:ln/>
        </p:spPr>
        <p:txBody>
          <a:bodyPr wrap="square" lIns="0" tIns="0" rIns="0" bIns="0" rtlCol="0" anchor="ctr"/>
          <a:lstStyle/>
          <a:p>
            <a:pPr algn="ctr">
              <a:lnSpc>
                <a:spcPct val="130000"/>
              </a:lnSpc>
            </a:pPr>
            <a:r>
              <a:rPr lang="en-US" sz="1125" dirty="0">
                <a:solidFill>
                  <a:srgbClr val="4DB6AC"/>
                </a:solidFill>
                <a:latin typeface="Quattrocento Sans" pitchFamily="34" charset="0"/>
                <a:ea typeface="Quattrocento Sans" pitchFamily="34" charset="-122"/>
                <a:cs typeface="Quattrocento Sans" pitchFamily="34" charset="-120"/>
              </a:rPr>
              <a:t>Mësimi i thellë do të vazhdojë të transformojë industritë dhe të formojë të ardhmen tonë teknologjike.</a:t>
            </a:r>
            <a:endParaRPr lang="en-US"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4798</Words>
  <Application>Microsoft Office PowerPoint</Application>
  <PresentationFormat>Widescreen</PresentationFormat>
  <Paragraphs>844</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Hedvig Letters Sans</vt:lpstr>
      <vt:lpstr>Liter</vt:lpstr>
      <vt:lpstr>Calibri</vt:lpstr>
      <vt:lpstr>Arial</vt:lpstr>
      <vt:lpstr>Noto Sans SC</vt:lpstr>
      <vt:lpstr>MiSans</vt:lpstr>
      <vt:lpstr>Quattrocento 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&amp; Neural Networks | Mësimi i Thellë &amp; Rrjetet Nervore</dc:title>
  <dc:subject>Deep Learning &amp; Neural Networks | Mësimi i Thellë &amp; Rrjetet Nervore</dc:subject>
  <dc:creator>Kimi</dc:creator>
  <cp:lastModifiedBy>Admin</cp:lastModifiedBy>
  <cp:revision>7</cp:revision>
  <dcterms:created xsi:type="dcterms:W3CDTF">2026-04-11T18:47:02Z</dcterms:created>
  <dcterms:modified xsi:type="dcterms:W3CDTF">2026-04-19T18:35:30Z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{"Label":"Deep Learning &amp; Neural Networks | Mësimi i Thellë &amp; Rrjetet Nervore","ContentProducer":"001191110108MACG2KBH8F10000","ProduceID":"19d7d7cc-1772-801e-8000-000083741ad2","ReservedCode1":"","ContentPropagator":"001191110108MACG2KBH8F20000","Propaga</vt:lpwstr>
  </property>
</Properties>
</file>