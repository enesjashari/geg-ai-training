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12192000"/>
  <p:embeddedFontLst>
    <p:embeddedFont>
      <p:font typeface="微软雅黑" panose="020B0503020204020204" pitchFamily="34" charset="-122"/>
      <p:regular r:id="rId32"/>
      <p:bold r:id="rId33"/>
    </p:embeddedFont>
    <p:embeddedFont>
      <p:font typeface="Calibri" panose="020F0502020204030204" pitchFamily="34" charset="0"/>
      <p:regular r:id="rId34"/>
      <p:bold r:id="rId35"/>
      <p:italic r:id="rId36"/>
      <p:boldItalic r:id="rId37"/>
    </p:embeddedFont>
    <p:embeddedFont>
      <p:font typeface="Quattrocento Sans" panose="020B0604020202020204" charset="0"/>
      <p:regular r:id="rId38"/>
    </p:embeddedFont>
    <p:embeddedFont>
      <p:font typeface="Sorts Mill Goudy" panose="020B0604020202020204" charset="0"/>
      <p:regular r:id="rId39"/>
    </p:embeddedFont>
  </p:embeddedFontLst>
  <p:defaultTextStyle>
    <a:defPPr>
      <a:defRPr lang="en-A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0482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93a78905d0524207f8ad31925a86b1fbf815c2ad.jpg"/>
          <p:cNvPicPr>
            <a:picLocks noChangeAspect="1"/>
          </p:cNvPicPr>
          <p:nvPr/>
        </p:nvPicPr>
        <p:blipFill>
          <a:blip r:embed="rId3">
            <a:alphaModFix amt="40000"/>
          </a:blip>
          <a:srcRect l="183" r="18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F3E3B">
                  <a:alpha val="95000"/>
                </a:srgbClr>
              </a:gs>
              <a:gs pos="50000">
                <a:srgbClr val="2F3E3B">
                  <a:alpha val="85000"/>
                </a:srgbClr>
              </a:gs>
              <a:gs pos="100000">
                <a:srgbClr val="4C8A7A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640907" y="1157288"/>
            <a:ext cx="2914650" cy="428625"/>
          </a:xfrm>
          <a:custGeom>
            <a:avLst/>
            <a:gdLst/>
            <a:ahLst/>
            <a:cxnLst/>
            <a:rect l="l" t="t" r="r" b="b"/>
            <a:pathLst>
              <a:path w="2914650" h="428625">
                <a:moveTo>
                  <a:pt x="214313" y="0"/>
                </a:moveTo>
                <a:lnTo>
                  <a:pt x="2700338" y="0"/>
                </a:lnTo>
                <a:cubicBezTo>
                  <a:pt x="2818620" y="0"/>
                  <a:pt x="2914650" y="96030"/>
                  <a:pt x="2914650" y="214313"/>
                </a:cubicBezTo>
                <a:lnTo>
                  <a:pt x="2914650" y="214313"/>
                </a:lnTo>
                <a:cubicBezTo>
                  <a:pt x="2914650" y="332595"/>
                  <a:pt x="2818620" y="428625"/>
                  <a:pt x="2700338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solidFill>
            <a:srgbClr val="4C8A7A">
              <a:alpha val="30196"/>
            </a:srgbClr>
          </a:solidFill>
          <a:ln w="12700">
            <a:solidFill>
              <a:srgbClr val="8FB7AC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831407" y="1238250"/>
            <a:ext cx="2533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kern="0" spc="135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INTELIGJENCA ARTIFICIALE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717328" y="2124075"/>
            <a:ext cx="875347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Introduction to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Artificial Intelligence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077444" y="4638675"/>
            <a:ext cx="4038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Hyrje në Inteligjencën Artificiale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970734" y="54578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9" name="Text 6"/>
          <p:cNvSpPr/>
          <p:nvPr/>
        </p:nvSpPr>
        <p:spPr>
          <a:xfrm>
            <a:off x="4256484" y="5438775"/>
            <a:ext cx="4038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Journey into the World of Intelligent Machines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0578" y="370578"/>
            <a:ext cx="11524960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kern="0" spc="58" dirty="0">
                <a:solidFill>
                  <a:srgbClr val="4C8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PËRMBJATJA / CONTENTS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0578" y="667040"/>
            <a:ext cx="11673191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02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What We'll Explore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0578" y="1185848"/>
            <a:ext cx="11543489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Çfarë do të Eksplorojmë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9106" y="1667599"/>
            <a:ext cx="5632778" cy="1185848"/>
          </a:xfrm>
          <a:custGeom>
            <a:avLst/>
            <a:gdLst/>
            <a:ahLst/>
            <a:cxnLst/>
            <a:rect l="l" t="t" r="r" b="b"/>
            <a:pathLst>
              <a:path w="5632778" h="1185848">
                <a:moveTo>
                  <a:pt x="37058" y="0"/>
                </a:moveTo>
                <a:lnTo>
                  <a:pt x="5521605" y="0"/>
                </a:lnTo>
                <a:cubicBezTo>
                  <a:pt x="5583004" y="0"/>
                  <a:pt x="5632778" y="49774"/>
                  <a:pt x="5632778" y="111173"/>
                </a:cubicBezTo>
                <a:lnTo>
                  <a:pt x="5632778" y="1074675"/>
                </a:lnTo>
                <a:cubicBezTo>
                  <a:pt x="5632778" y="1136074"/>
                  <a:pt x="5583004" y="1185848"/>
                  <a:pt x="5521605" y="1185848"/>
                </a:cubicBezTo>
                <a:lnTo>
                  <a:pt x="37058" y="1185848"/>
                </a:lnTo>
                <a:cubicBezTo>
                  <a:pt x="16591" y="1185848"/>
                  <a:pt x="0" y="1169257"/>
                  <a:pt x="0" y="1148790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793" dist="926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9106" y="1667599"/>
            <a:ext cx="37058" cy="1185848"/>
          </a:xfrm>
          <a:custGeom>
            <a:avLst/>
            <a:gdLst/>
            <a:ahLst/>
            <a:cxnLst/>
            <a:rect l="l" t="t" r="r" b="b"/>
            <a:pathLst>
              <a:path w="37058" h="1185848">
                <a:moveTo>
                  <a:pt x="37058" y="0"/>
                </a:moveTo>
                <a:lnTo>
                  <a:pt x="37058" y="0"/>
                </a:lnTo>
                <a:lnTo>
                  <a:pt x="37058" y="1185848"/>
                </a:lnTo>
                <a:lnTo>
                  <a:pt x="37058" y="1185848"/>
                </a:lnTo>
                <a:cubicBezTo>
                  <a:pt x="16591" y="1185848"/>
                  <a:pt x="0" y="1169257"/>
                  <a:pt x="0" y="1148790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7" name="Shape 5"/>
          <p:cNvSpPr/>
          <p:nvPr/>
        </p:nvSpPr>
        <p:spPr>
          <a:xfrm>
            <a:off x="592924" y="1889945"/>
            <a:ext cx="444693" cy="444693"/>
          </a:xfrm>
          <a:custGeom>
            <a:avLst/>
            <a:gdLst/>
            <a:ahLst/>
            <a:cxnLst/>
            <a:rect l="l" t="t" r="r" b="b"/>
            <a:pathLst>
              <a:path w="444693" h="444693">
                <a:moveTo>
                  <a:pt x="222347" y="0"/>
                </a:moveTo>
                <a:lnTo>
                  <a:pt x="222347" y="0"/>
                </a:lnTo>
                <a:cubicBezTo>
                  <a:pt x="345145" y="0"/>
                  <a:pt x="444693" y="99548"/>
                  <a:pt x="444693" y="222347"/>
                </a:cubicBezTo>
                <a:lnTo>
                  <a:pt x="444693" y="222347"/>
                </a:lnTo>
                <a:cubicBezTo>
                  <a:pt x="444693" y="345145"/>
                  <a:pt x="345145" y="444693"/>
                  <a:pt x="222347" y="444693"/>
                </a:cubicBezTo>
                <a:lnTo>
                  <a:pt x="222347" y="444693"/>
                </a:lnTo>
                <a:cubicBezTo>
                  <a:pt x="99548" y="444693"/>
                  <a:pt x="0" y="345145"/>
                  <a:pt x="0" y="222347"/>
                </a:cubicBezTo>
                <a:lnTo>
                  <a:pt x="0" y="222347"/>
                </a:lnTo>
                <a:cubicBezTo>
                  <a:pt x="0" y="99548"/>
                  <a:pt x="99548" y="0"/>
                  <a:pt x="222347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8" name="Text 6"/>
          <p:cNvSpPr/>
          <p:nvPr/>
        </p:nvSpPr>
        <p:spPr>
          <a:xfrm>
            <a:off x="546602" y="1889945"/>
            <a:ext cx="537337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5848" y="1889945"/>
            <a:ext cx="2649629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AI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5848" y="2186407"/>
            <a:ext cx="2631100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is AI? History &amp; Daily Applications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5848" y="2445812"/>
            <a:ext cx="2621836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Kuptimi i IA-së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9106" y="3001678"/>
            <a:ext cx="5632778" cy="1185848"/>
          </a:xfrm>
          <a:custGeom>
            <a:avLst/>
            <a:gdLst/>
            <a:ahLst/>
            <a:cxnLst/>
            <a:rect l="l" t="t" r="r" b="b"/>
            <a:pathLst>
              <a:path w="5632778" h="1185848">
                <a:moveTo>
                  <a:pt x="37058" y="0"/>
                </a:moveTo>
                <a:lnTo>
                  <a:pt x="5521605" y="0"/>
                </a:lnTo>
                <a:cubicBezTo>
                  <a:pt x="5583004" y="0"/>
                  <a:pt x="5632778" y="49774"/>
                  <a:pt x="5632778" y="111173"/>
                </a:cubicBezTo>
                <a:lnTo>
                  <a:pt x="5632778" y="1074675"/>
                </a:lnTo>
                <a:cubicBezTo>
                  <a:pt x="5632778" y="1136074"/>
                  <a:pt x="5583004" y="1185848"/>
                  <a:pt x="5521605" y="1185848"/>
                </a:cubicBezTo>
                <a:lnTo>
                  <a:pt x="37058" y="1185848"/>
                </a:lnTo>
                <a:cubicBezTo>
                  <a:pt x="16591" y="1185848"/>
                  <a:pt x="0" y="1169257"/>
                  <a:pt x="0" y="1148790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793" dist="926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9106" y="3001678"/>
            <a:ext cx="37058" cy="1185848"/>
          </a:xfrm>
          <a:custGeom>
            <a:avLst/>
            <a:gdLst/>
            <a:ahLst/>
            <a:cxnLst/>
            <a:rect l="l" t="t" r="r" b="b"/>
            <a:pathLst>
              <a:path w="37058" h="1185848">
                <a:moveTo>
                  <a:pt x="37058" y="0"/>
                </a:moveTo>
                <a:lnTo>
                  <a:pt x="37058" y="0"/>
                </a:lnTo>
                <a:lnTo>
                  <a:pt x="37058" y="1185848"/>
                </a:lnTo>
                <a:lnTo>
                  <a:pt x="37058" y="1185848"/>
                </a:lnTo>
                <a:cubicBezTo>
                  <a:pt x="16591" y="1185848"/>
                  <a:pt x="0" y="1169257"/>
                  <a:pt x="0" y="1148790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4" name="Shape 12"/>
          <p:cNvSpPr/>
          <p:nvPr/>
        </p:nvSpPr>
        <p:spPr>
          <a:xfrm>
            <a:off x="592924" y="3224024"/>
            <a:ext cx="444693" cy="444693"/>
          </a:xfrm>
          <a:custGeom>
            <a:avLst/>
            <a:gdLst/>
            <a:ahLst/>
            <a:cxnLst/>
            <a:rect l="l" t="t" r="r" b="b"/>
            <a:pathLst>
              <a:path w="444693" h="444693">
                <a:moveTo>
                  <a:pt x="222347" y="0"/>
                </a:moveTo>
                <a:lnTo>
                  <a:pt x="222347" y="0"/>
                </a:lnTo>
                <a:cubicBezTo>
                  <a:pt x="345145" y="0"/>
                  <a:pt x="444693" y="99548"/>
                  <a:pt x="444693" y="222347"/>
                </a:cubicBezTo>
                <a:lnTo>
                  <a:pt x="444693" y="222347"/>
                </a:lnTo>
                <a:cubicBezTo>
                  <a:pt x="444693" y="345145"/>
                  <a:pt x="345145" y="444693"/>
                  <a:pt x="222347" y="444693"/>
                </a:cubicBezTo>
                <a:lnTo>
                  <a:pt x="222347" y="444693"/>
                </a:lnTo>
                <a:cubicBezTo>
                  <a:pt x="99548" y="444693"/>
                  <a:pt x="0" y="345145"/>
                  <a:pt x="0" y="222347"/>
                </a:cubicBezTo>
                <a:lnTo>
                  <a:pt x="0" y="222347"/>
                </a:lnTo>
                <a:cubicBezTo>
                  <a:pt x="0" y="99548"/>
                  <a:pt x="99548" y="0"/>
                  <a:pt x="222347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5" name="Text 13"/>
          <p:cNvSpPr/>
          <p:nvPr/>
        </p:nvSpPr>
        <p:spPr>
          <a:xfrm>
            <a:off x="546602" y="3224024"/>
            <a:ext cx="537337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5848" y="3224024"/>
            <a:ext cx="2427283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Types of AI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5848" y="3520486"/>
            <a:ext cx="2408754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Narrow, General &amp; Superintelligence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5848" y="3779891"/>
            <a:ext cx="2399489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Llojet e IA-së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9106" y="4335757"/>
            <a:ext cx="5632778" cy="1185848"/>
          </a:xfrm>
          <a:custGeom>
            <a:avLst/>
            <a:gdLst/>
            <a:ahLst/>
            <a:cxnLst/>
            <a:rect l="l" t="t" r="r" b="b"/>
            <a:pathLst>
              <a:path w="5632778" h="1185848">
                <a:moveTo>
                  <a:pt x="37058" y="0"/>
                </a:moveTo>
                <a:lnTo>
                  <a:pt x="5521605" y="0"/>
                </a:lnTo>
                <a:cubicBezTo>
                  <a:pt x="5583004" y="0"/>
                  <a:pt x="5632778" y="49774"/>
                  <a:pt x="5632778" y="111173"/>
                </a:cubicBezTo>
                <a:lnTo>
                  <a:pt x="5632778" y="1074675"/>
                </a:lnTo>
                <a:cubicBezTo>
                  <a:pt x="5632778" y="1136074"/>
                  <a:pt x="5583004" y="1185848"/>
                  <a:pt x="5521605" y="1185848"/>
                </a:cubicBezTo>
                <a:lnTo>
                  <a:pt x="37058" y="1185848"/>
                </a:lnTo>
                <a:cubicBezTo>
                  <a:pt x="16591" y="1185848"/>
                  <a:pt x="0" y="1169257"/>
                  <a:pt x="0" y="1148790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793" dist="926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9106" y="4335757"/>
            <a:ext cx="37058" cy="1185848"/>
          </a:xfrm>
          <a:custGeom>
            <a:avLst/>
            <a:gdLst/>
            <a:ahLst/>
            <a:cxnLst/>
            <a:rect l="l" t="t" r="r" b="b"/>
            <a:pathLst>
              <a:path w="37058" h="1185848">
                <a:moveTo>
                  <a:pt x="37058" y="0"/>
                </a:moveTo>
                <a:lnTo>
                  <a:pt x="37058" y="0"/>
                </a:lnTo>
                <a:lnTo>
                  <a:pt x="37058" y="1185848"/>
                </a:lnTo>
                <a:lnTo>
                  <a:pt x="37058" y="1185848"/>
                </a:lnTo>
                <a:cubicBezTo>
                  <a:pt x="16591" y="1185848"/>
                  <a:pt x="0" y="1169257"/>
                  <a:pt x="0" y="1148790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21" name="Shape 19"/>
          <p:cNvSpPr/>
          <p:nvPr/>
        </p:nvSpPr>
        <p:spPr>
          <a:xfrm>
            <a:off x="592924" y="4558103"/>
            <a:ext cx="444693" cy="444693"/>
          </a:xfrm>
          <a:custGeom>
            <a:avLst/>
            <a:gdLst/>
            <a:ahLst/>
            <a:cxnLst/>
            <a:rect l="l" t="t" r="r" b="b"/>
            <a:pathLst>
              <a:path w="444693" h="444693">
                <a:moveTo>
                  <a:pt x="222347" y="0"/>
                </a:moveTo>
                <a:lnTo>
                  <a:pt x="222347" y="0"/>
                </a:lnTo>
                <a:cubicBezTo>
                  <a:pt x="345145" y="0"/>
                  <a:pt x="444693" y="99548"/>
                  <a:pt x="444693" y="222347"/>
                </a:cubicBezTo>
                <a:lnTo>
                  <a:pt x="444693" y="222347"/>
                </a:lnTo>
                <a:cubicBezTo>
                  <a:pt x="444693" y="345145"/>
                  <a:pt x="345145" y="444693"/>
                  <a:pt x="222347" y="444693"/>
                </a:cubicBezTo>
                <a:lnTo>
                  <a:pt x="222347" y="444693"/>
                </a:lnTo>
                <a:cubicBezTo>
                  <a:pt x="99548" y="444693"/>
                  <a:pt x="0" y="345145"/>
                  <a:pt x="0" y="222347"/>
                </a:cubicBezTo>
                <a:lnTo>
                  <a:pt x="0" y="222347"/>
                </a:lnTo>
                <a:cubicBezTo>
                  <a:pt x="0" y="99548"/>
                  <a:pt x="99548" y="0"/>
                  <a:pt x="222347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22" name="Text 20"/>
          <p:cNvSpPr/>
          <p:nvPr/>
        </p:nvSpPr>
        <p:spPr>
          <a:xfrm>
            <a:off x="546602" y="4558103"/>
            <a:ext cx="537337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5848" y="4558103"/>
            <a:ext cx="2473605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AI Works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5848" y="4854565"/>
            <a:ext cx="2455076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 &amp; Neural Networks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85848" y="5113970"/>
            <a:ext cx="2445812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 funksionon IA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9106" y="5669836"/>
            <a:ext cx="5632778" cy="1185848"/>
          </a:xfrm>
          <a:custGeom>
            <a:avLst/>
            <a:gdLst/>
            <a:ahLst/>
            <a:cxnLst/>
            <a:rect l="l" t="t" r="r" b="b"/>
            <a:pathLst>
              <a:path w="5632778" h="1185848">
                <a:moveTo>
                  <a:pt x="37058" y="0"/>
                </a:moveTo>
                <a:lnTo>
                  <a:pt x="5521605" y="0"/>
                </a:lnTo>
                <a:cubicBezTo>
                  <a:pt x="5583004" y="0"/>
                  <a:pt x="5632778" y="49774"/>
                  <a:pt x="5632778" y="111173"/>
                </a:cubicBezTo>
                <a:lnTo>
                  <a:pt x="5632778" y="1074675"/>
                </a:lnTo>
                <a:cubicBezTo>
                  <a:pt x="5632778" y="1136074"/>
                  <a:pt x="5583004" y="1185848"/>
                  <a:pt x="5521605" y="1185848"/>
                </a:cubicBezTo>
                <a:lnTo>
                  <a:pt x="37058" y="1185848"/>
                </a:lnTo>
                <a:cubicBezTo>
                  <a:pt x="16591" y="1185848"/>
                  <a:pt x="0" y="1169257"/>
                  <a:pt x="0" y="1148790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793" dist="926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89106" y="5669836"/>
            <a:ext cx="37058" cy="1185848"/>
          </a:xfrm>
          <a:custGeom>
            <a:avLst/>
            <a:gdLst/>
            <a:ahLst/>
            <a:cxnLst/>
            <a:rect l="l" t="t" r="r" b="b"/>
            <a:pathLst>
              <a:path w="37058" h="1185848">
                <a:moveTo>
                  <a:pt x="37058" y="0"/>
                </a:moveTo>
                <a:lnTo>
                  <a:pt x="37058" y="0"/>
                </a:lnTo>
                <a:lnTo>
                  <a:pt x="37058" y="1185848"/>
                </a:lnTo>
                <a:lnTo>
                  <a:pt x="37058" y="1185848"/>
                </a:lnTo>
                <a:cubicBezTo>
                  <a:pt x="16591" y="1185848"/>
                  <a:pt x="0" y="1169257"/>
                  <a:pt x="0" y="1148790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28" name="Shape 26"/>
          <p:cNvSpPr/>
          <p:nvPr/>
        </p:nvSpPr>
        <p:spPr>
          <a:xfrm>
            <a:off x="592924" y="5892182"/>
            <a:ext cx="444693" cy="444693"/>
          </a:xfrm>
          <a:custGeom>
            <a:avLst/>
            <a:gdLst/>
            <a:ahLst/>
            <a:cxnLst/>
            <a:rect l="l" t="t" r="r" b="b"/>
            <a:pathLst>
              <a:path w="444693" h="444693">
                <a:moveTo>
                  <a:pt x="222347" y="0"/>
                </a:moveTo>
                <a:lnTo>
                  <a:pt x="222347" y="0"/>
                </a:lnTo>
                <a:cubicBezTo>
                  <a:pt x="345145" y="0"/>
                  <a:pt x="444693" y="99548"/>
                  <a:pt x="444693" y="222347"/>
                </a:cubicBezTo>
                <a:lnTo>
                  <a:pt x="444693" y="222347"/>
                </a:lnTo>
                <a:cubicBezTo>
                  <a:pt x="444693" y="345145"/>
                  <a:pt x="345145" y="444693"/>
                  <a:pt x="222347" y="444693"/>
                </a:cubicBezTo>
                <a:lnTo>
                  <a:pt x="222347" y="444693"/>
                </a:lnTo>
                <a:cubicBezTo>
                  <a:pt x="99548" y="444693"/>
                  <a:pt x="0" y="345145"/>
                  <a:pt x="0" y="222347"/>
                </a:cubicBezTo>
                <a:lnTo>
                  <a:pt x="0" y="222347"/>
                </a:lnTo>
                <a:cubicBezTo>
                  <a:pt x="0" y="99548"/>
                  <a:pt x="99548" y="0"/>
                  <a:pt x="222347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29" name="Text 27"/>
          <p:cNvSpPr/>
          <p:nvPr/>
        </p:nvSpPr>
        <p:spPr>
          <a:xfrm>
            <a:off x="546602" y="5892182"/>
            <a:ext cx="537337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85848" y="5892182"/>
            <a:ext cx="2232729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Technologies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85848" y="6188644"/>
            <a:ext cx="2214201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NLP, Computer Vision &amp; Robotics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85848" y="6448049"/>
            <a:ext cx="2204936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Teknologjitë Kryesore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86473" y="1667599"/>
            <a:ext cx="5632778" cy="1111733"/>
          </a:xfrm>
          <a:custGeom>
            <a:avLst/>
            <a:gdLst/>
            <a:ahLst/>
            <a:cxnLst/>
            <a:rect l="l" t="t" r="r" b="b"/>
            <a:pathLst>
              <a:path w="5632778" h="1111733">
                <a:moveTo>
                  <a:pt x="37058" y="0"/>
                </a:moveTo>
                <a:lnTo>
                  <a:pt x="5521605" y="0"/>
                </a:lnTo>
                <a:cubicBezTo>
                  <a:pt x="5583004" y="0"/>
                  <a:pt x="5632778" y="49774"/>
                  <a:pt x="5632778" y="111173"/>
                </a:cubicBezTo>
                <a:lnTo>
                  <a:pt x="5632778" y="1000559"/>
                </a:lnTo>
                <a:cubicBezTo>
                  <a:pt x="5632778" y="1061959"/>
                  <a:pt x="5583004" y="1111733"/>
                  <a:pt x="5521605" y="1111733"/>
                </a:cubicBezTo>
                <a:lnTo>
                  <a:pt x="37058" y="1111733"/>
                </a:lnTo>
                <a:cubicBezTo>
                  <a:pt x="16591" y="1111733"/>
                  <a:pt x="0" y="1095141"/>
                  <a:pt x="0" y="1074675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793" dist="926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86473" y="1667599"/>
            <a:ext cx="37058" cy="1111733"/>
          </a:xfrm>
          <a:custGeom>
            <a:avLst/>
            <a:gdLst/>
            <a:ahLst/>
            <a:cxnLst/>
            <a:rect l="l" t="t" r="r" b="b"/>
            <a:pathLst>
              <a:path w="37058" h="1111733">
                <a:moveTo>
                  <a:pt x="37058" y="0"/>
                </a:moveTo>
                <a:lnTo>
                  <a:pt x="37058" y="0"/>
                </a:lnTo>
                <a:lnTo>
                  <a:pt x="37058" y="1111733"/>
                </a:lnTo>
                <a:lnTo>
                  <a:pt x="37058" y="1111733"/>
                </a:lnTo>
                <a:cubicBezTo>
                  <a:pt x="16591" y="1111733"/>
                  <a:pt x="0" y="1095141"/>
                  <a:pt x="0" y="1074675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35" name="Shape 33"/>
          <p:cNvSpPr/>
          <p:nvPr/>
        </p:nvSpPr>
        <p:spPr>
          <a:xfrm>
            <a:off x="6390291" y="1852888"/>
            <a:ext cx="444693" cy="444693"/>
          </a:xfrm>
          <a:custGeom>
            <a:avLst/>
            <a:gdLst/>
            <a:ahLst/>
            <a:cxnLst/>
            <a:rect l="l" t="t" r="r" b="b"/>
            <a:pathLst>
              <a:path w="444693" h="444693">
                <a:moveTo>
                  <a:pt x="222347" y="0"/>
                </a:moveTo>
                <a:lnTo>
                  <a:pt x="222347" y="0"/>
                </a:lnTo>
                <a:cubicBezTo>
                  <a:pt x="345145" y="0"/>
                  <a:pt x="444693" y="99548"/>
                  <a:pt x="444693" y="222347"/>
                </a:cubicBezTo>
                <a:lnTo>
                  <a:pt x="444693" y="222347"/>
                </a:lnTo>
                <a:cubicBezTo>
                  <a:pt x="444693" y="345145"/>
                  <a:pt x="345145" y="444693"/>
                  <a:pt x="222347" y="444693"/>
                </a:cubicBezTo>
                <a:lnTo>
                  <a:pt x="222347" y="444693"/>
                </a:lnTo>
                <a:cubicBezTo>
                  <a:pt x="99548" y="444693"/>
                  <a:pt x="0" y="345145"/>
                  <a:pt x="0" y="222347"/>
                </a:cubicBezTo>
                <a:lnTo>
                  <a:pt x="0" y="222347"/>
                </a:lnTo>
                <a:cubicBezTo>
                  <a:pt x="0" y="99548"/>
                  <a:pt x="99548" y="0"/>
                  <a:pt x="222347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36" name="Text 34"/>
          <p:cNvSpPr/>
          <p:nvPr/>
        </p:nvSpPr>
        <p:spPr>
          <a:xfrm>
            <a:off x="6343968" y="1852888"/>
            <a:ext cx="537337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983215" y="1852888"/>
            <a:ext cx="1686128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in Action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83215" y="2149350"/>
            <a:ext cx="1667599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Real-World Applications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983215" y="2408754"/>
            <a:ext cx="1658334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IA në Veprim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86473" y="2927562"/>
            <a:ext cx="5632778" cy="1111733"/>
          </a:xfrm>
          <a:custGeom>
            <a:avLst/>
            <a:gdLst/>
            <a:ahLst/>
            <a:cxnLst/>
            <a:rect l="l" t="t" r="r" b="b"/>
            <a:pathLst>
              <a:path w="5632778" h="1111733">
                <a:moveTo>
                  <a:pt x="37058" y="0"/>
                </a:moveTo>
                <a:lnTo>
                  <a:pt x="5521605" y="0"/>
                </a:lnTo>
                <a:cubicBezTo>
                  <a:pt x="5583004" y="0"/>
                  <a:pt x="5632778" y="49774"/>
                  <a:pt x="5632778" y="111173"/>
                </a:cubicBezTo>
                <a:lnTo>
                  <a:pt x="5632778" y="1000559"/>
                </a:lnTo>
                <a:cubicBezTo>
                  <a:pt x="5632778" y="1061959"/>
                  <a:pt x="5583004" y="1111733"/>
                  <a:pt x="5521605" y="1111733"/>
                </a:cubicBezTo>
                <a:lnTo>
                  <a:pt x="37058" y="1111733"/>
                </a:lnTo>
                <a:cubicBezTo>
                  <a:pt x="16591" y="1111733"/>
                  <a:pt x="0" y="1095141"/>
                  <a:pt x="0" y="1074675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793" dist="926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86473" y="2927562"/>
            <a:ext cx="37058" cy="1111733"/>
          </a:xfrm>
          <a:custGeom>
            <a:avLst/>
            <a:gdLst/>
            <a:ahLst/>
            <a:cxnLst/>
            <a:rect l="l" t="t" r="r" b="b"/>
            <a:pathLst>
              <a:path w="37058" h="1111733">
                <a:moveTo>
                  <a:pt x="37058" y="0"/>
                </a:moveTo>
                <a:lnTo>
                  <a:pt x="37058" y="0"/>
                </a:lnTo>
                <a:lnTo>
                  <a:pt x="37058" y="1111733"/>
                </a:lnTo>
                <a:lnTo>
                  <a:pt x="37058" y="1111733"/>
                </a:lnTo>
                <a:cubicBezTo>
                  <a:pt x="16591" y="1111733"/>
                  <a:pt x="0" y="1095141"/>
                  <a:pt x="0" y="1074675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42" name="Shape 40"/>
          <p:cNvSpPr/>
          <p:nvPr/>
        </p:nvSpPr>
        <p:spPr>
          <a:xfrm>
            <a:off x="6390291" y="3112851"/>
            <a:ext cx="444693" cy="444693"/>
          </a:xfrm>
          <a:custGeom>
            <a:avLst/>
            <a:gdLst/>
            <a:ahLst/>
            <a:cxnLst/>
            <a:rect l="l" t="t" r="r" b="b"/>
            <a:pathLst>
              <a:path w="444693" h="444693">
                <a:moveTo>
                  <a:pt x="222347" y="0"/>
                </a:moveTo>
                <a:lnTo>
                  <a:pt x="222347" y="0"/>
                </a:lnTo>
                <a:cubicBezTo>
                  <a:pt x="345145" y="0"/>
                  <a:pt x="444693" y="99548"/>
                  <a:pt x="444693" y="222347"/>
                </a:cubicBezTo>
                <a:lnTo>
                  <a:pt x="444693" y="222347"/>
                </a:lnTo>
                <a:cubicBezTo>
                  <a:pt x="444693" y="345145"/>
                  <a:pt x="345145" y="444693"/>
                  <a:pt x="222347" y="444693"/>
                </a:cubicBezTo>
                <a:lnTo>
                  <a:pt x="222347" y="444693"/>
                </a:lnTo>
                <a:cubicBezTo>
                  <a:pt x="99548" y="444693"/>
                  <a:pt x="0" y="345145"/>
                  <a:pt x="0" y="222347"/>
                </a:cubicBezTo>
                <a:lnTo>
                  <a:pt x="0" y="222347"/>
                </a:lnTo>
                <a:cubicBezTo>
                  <a:pt x="0" y="99548"/>
                  <a:pt x="99548" y="0"/>
                  <a:pt x="222347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43" name="Text 41"/>
          <p:cNvSpPr/>
          <p:nvPr/>
        </p:nvSpPr>
        <p:spPr>
          <a:xfrm>
            <a:off x="6343968" y="3112851"/>
            <a:ext cx="537337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983215" y="3112851"/>
            <a:ext cx="2084498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Benefits &amp; Challenges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983215" y="3409313"/>
            <a:ext cx="2065970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Advantages &amp; Ethical Concerns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983215" y="3668717"/>
            <a:ext cx="2056705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Përfitimet &amp; Sfida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86473" y="4187526"/>
            <a:ext cx="5632778" cy="1111733"/>
          </a:xfrm>
          <a:custGeom>
            <a:avLst/>
            <a:gdLst/>
            <a:ahLst/>
            <a:cxnLst/>
            <a:rect l="l" t="t" r="r" b="b"/>
            <a:pathLst>
              <a:path w="5632778" h="1111733">
                <a:moveTo>
                  <a:pt x="37058" y="0"/>
                </a:moveTo>
                <a:lnTo>
                  <a:pt x="5521605" y="0"/>
                </a:lnTo>
                <a:cubicBezTo>
                  <a:pt x="5583004" y="0"/>
                  <a:pt x="5632778" y="49774"/>
                  <a:pt x="5632778" y="111173"/>
                </a:cubicBezTo>
                <a:lnTo>
                  <a:pt x="5632778" y="1000559"/>
                </a:lnTo>
                <a:cubicBezTo>
                  <a:pt x="5632778" y="1061959"/>
                  <a:pt x="5583004" y="1111733"/>
                  <a:pt x="5521605" y="1111733"/>
                </a:cubicBezTo>
                <a:lnTo>
                  <a:pt x="37058" y="1111733"/>
                </a:lnTo>
                <a:cubicBezTo>
                  <a:pt x="16591" y="1111733"/>
                  <a:pt x="0" y="1095141"/>
                  <a:pt x="0" y="1074675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793" dist="926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186473" y="4187526"/>
            <a:ext cx="37058" cy="1111733"/>
          </a:xfrm>
          <a:custGeom>
            <a:avLst/>
            <a:gdLst/>
            <a:ahLst/>
            <a:cxnLst/>
            <a:rect l="l" t="t" r="r" b="b"/>
            <a:pathLst>
              <a:path w="37058" h="1111733">
                <a:moveTo>
                  <a:pt x="37058" y="0"/>
                </a:moveTo>
                <a:lnTo>
                  <a:pt x="37058" y="0"/>
                </a:lnTo>
                <a:lnTo>
                  <a:pt x="37058" y="1111733"/>
                </a:lnTo>
                <a:lnTo>
                  <a:pt x="37058" y="1111733"/>
                </a:lnTo>
                <a:cubicBezTo>
                  <a:pt x="16591" y="1111733"/>
                  <a:pt x="0" y="1095141"/>
                  <a:pt x="0" y="1074675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49" name="Shape 47"/>
          <p:cNvSpPr/>
          <p:nvPr/>
        </p:nvSpPr>
        <p:spPr>
          <a:xfrm>
            <a:off x="6390291" y="4372815"/>
            <a:ext cx="444693" cy="444693"/>
          </a:xfrm>
          <a:custGeom>
            <a:avLst/>
            <a:gdLst/>
            <a:ahLst/>
            <a:cxnLst/>
            <a:rect l="l" t="t" r="r" b="b"/>
            <a:pathLst>
              <a:path w="444693" h="444693">
                <a:moveTo>
                  <a:pt x="222347" y="0"/>
                </a:moveTo>
                <a:lnTo>
                  <a:pt x="222347" y="0"/>
                </a:lnTo>
                <a:cubicBezTo>
                  <a:pt x="345145" y="0"/>
                  <a:pt x="444693" y="99548"/>
                  <a:pt x="444693" y="222347"/>
                </a:cubicBezTo>
                <a:lnTo>
                  <a:pt x="444693" y="222347"/>
                </a:lnTo>
                <a:cubicBezTo>
                  <a:pt x="444693" y="345145"/>
                  <a:pt x="345145" y="444693"/>
                  <a:pt x="222347" y="444693"/>
                </a:cubicBezTo>
                <a:lnTo>
                  <a:pt x="222347" y="444693"/>
                </a:lnTo>
                <a:cubicBezTo>
                  <a:pt x="99548" y="444693"/>
                  <a:pt x="0" y="345145"/>
                  <a:pt x="0" y="222347"/>
                </a:cubicBezTo>
                <a:lnTo>
                  <a:pt x="0" y="222347"/>
                </a:lnTo>
                <a:cubicBezTo>
                  <a:pt x="0" y="99548"/>
                  <a:pt x="99548" y="0"/>
                  <a:pt x="222347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50" name="Text 48"/>
          <p:cNvSpPr/>
          <p:nvPr/>
        </p:nvSpPr>
        <p:spPr>
          <a:xfrm>
            <a:off x="6343968" y="4372815"/>
            <a:ext cx="537337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983215" y="4372815"/>
            <a:ext cx="1417459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Future of AI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983215" y="4669277"/>
            <a:ext cx="1398930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Trends &amp; Predictions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983215" y="4928681"/>
            <a:ext cx="1389666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 Ardhmja e IA-së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167944" y="5447489"/>
            <a:ext cx="5651307" cy="1408195"/>
          </a:xfrm>
          <a:custGeom>
            <a:avLst/>
            <a:gdLst/>
            <a:ahLst/>
            <a:cxnLst/>
            <a:rect l="l" t="t" r="r" b="b"/>
            <a:pathLst>
              <a:path w="5651307" h="1408195">
                <a:moveTo>
                  <a:pt x="111177" y="0"/>
                </a:moveTo>
                <a:lnTo>
                  <a:pt x="5540130" y="0"/>
                </a:lnTo>
                <a:cubicBezTo>
                  <a:pt x="5601531" y="0"/>
                  <a:pt x="5651307" y="49776"/>
                  <a:pt x="5651307" y="111177"/>
                </a:cubicBezTo>
                <a:lnTo>
                  <a:pt x="5651307" y="1297018"/>
                </a:lnTo>
                <a:cubicBezTo>
                  <a:pt x="5651307" y="1358419"/>
                  <a:pt x="5601531" y="1408195"/>
                  <a:pt x="5540130" y="1408195"/>
                </a:cubicBezTo>
                <a:lnTo>
                  <a:pt x="111177" y="1408195"/>
                </a:lnTo>
                <a:cubicBezTo>
                  <a:pt x="49776" y="1408195"/>
                  <a:pt x="0" y="1358419"/>
                  <a:pt x="0" y="1297018"/>
                </a:cubicBezTo>
                <a:lnTo>
                  <a:pt x="0" y="111177"/>
                </a:lnTo>
                <a:cubicBezTo>
                  <a:pt x="0" y="49817"/>
                  <a:pt x="49817" y="0"/>
                  <a:pt x="11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A7A">
                  <a:alpha val="10000"/>
                </a:srgbClr>
              </a:gs>
              <a:gs pos="100000">
                <a:srgbClr val="8FB7AC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55" name="Shape 53"/>
          <p:cNvSpPr/>
          <p:nvPr/>
        </p:nvSpPr>
        <p:spPr>
          <a:xfrm>
            <a:off x="8825680" y="5632778"/>
            <a:ext cx="333520" cy="444693"/>
          </a:xfrm>
          <a:custGeom>
            <a:avLst/>
            <a:gdLst/>
            <a:ahLst/>
            <a:cxnLst/>
            <a:rect l="l" t="t" r="r" b="b"/>
            <a:pathLst>
              <a:path w="333520" h="444693">
                <a:moveTo>
                  <a:pt x="254396" y="333520"/>
                </a:moveTo>
                <a:cubicBezTo>
                  <a:pt x="260736" y="314151"/>
                  <a:pt x="273417" y="296607"/>
                  <a:pt x="287748" y="281494"/>
                </a:cubicBezTo>
                <a:cubicBezTo>
                  <a:pt x="316149" y="251616"/>
                  <a:pt x="333520" y="211229"/>
                  <a:pt x="333520" y="166760"/>
                </a:cubicBezTo>
                <a:cubicBezTo>
                  <a:pt x="333520" y="74695"/>
                  <a:pt x="258825" y="0"/>
                  <a:pt x="166760" y="0"/>
                </a:cubicBezTo>
                <a:cubicBezTo>
                  <a:pt x="74695" y="0"/>
                  <a:pt x="0" y="74695"/>
                  <a:pt x="0" y="166760"/>
                </a:cubicBezTo>
                <a:cubicBezTo>
                  <a:pt x="0" y="211229"/>
                  <a:pt x="17371" y="251616"/>
                  <a:pt x="45772" y="281494"/>
                </a:cubicBezTo>
                <a:cubicBezTo>
                  <a:pt x="60103" y="296607"/>
                  <a:pt x="72871" y="314151"/>
                  <a:pt x="79124" y="333520"/>
                </a:cubicBezTo>
                <a:lnTo>
                  <a:pt x="254309" y="333520"/>
                </a:lnTo>
                <a:close/>
                <a:moveTo>
                  <a:pt x="250140" y="375210"/>
                </a:moveTo>
                <a:lnTo>
                  <a:pt x="83380" y="375210"/>
                </a:lnTo>
                <a:lnTo>
                  <a:pt x="83380" y="389106"/>
                </a:lnTo>
                <a:cubicBezTo>
                  <a:pt x="83380" y="427496"/>
                  <a:pt x="114474" y="458590"/>
                  <a:pt x="152863" y="458590"/>
                </a:cubicBezTo>
                <a:lnTo>
                  <a:pt x="180657" y="458590"/>
                </a:lnTo>
                <a:cubicBezTo>
                  <a:pt x="219046" y="458590"/>
                  <a:pt x="250140" y="427496"/>
                  <a:pt x="250140" y="389106"/>
                </a:cubicBezTo>
                <a:lnTo>
                  <a:pt x="250140" y="375210"/>
                </a:lnTo>
                <a:close/>
                <a:moveTo>
                  <a:pt x="159812" y="97277"/>
                </a:moveTo>
                <a:cubicBezTo>
                  <a:pt x="125244" y="97277"/>
                  <a:pt x="97277" y="125244"/>
                  <a:pt x="97277" y="159812"/>
                </a:cubicBezTo>
                <a:cubicBezTo>
                  <a:pt x="97277" y="171363"/>
                  <a:pt x="87983" y="180657"/>
                  <a:pt x="76432" y="180657"/>
                </a:cubicBezTo>
                <a:cubicBezTo>
                  <a:pt x="64880" y="180657"/>
                  <a:pt x="55587" y="171363"/>
                  <a:pt x="55587" y="159812"/>
                </a:cubicBezTo>
                <a:cubicBezTo>
                  <a:pt x="55587" y="102227"/>
                  <a:pt x="102227" y="55587"/>
                  <a:pt x="159812" y="55587"/>
                </a:cubicBezTo>
                <a:cubicBezTo>
                  <a:pt x="171363" y="55587"/>
                  <a:pt x="180657" y="64880"/>
                  <a:pt x="180657" y="76432"/>
                </a:cubicBezTo>
                <a:cubicBezTo>
                  <a:pt x="180657" y="87983"/>
                  <a:pt x="171363" y="97277"/>
                  <a:pt x="159812" y="97277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56" name="Text 54"/>
          <p:cNvSpPr/>
          <p:nvPr/>
        </p:nvSpPr>
        <p:spPr>
          <a:xfrm>
            <a:off x="8117674" y="6188644"/>
            <a:ext cx="1750979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3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Let's Begin the Journey!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122306" y="6448049"/>
            <a:ext cx="1741714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7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 të Fillojmë Udhëtimin!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F3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2dbbee240a95d4285bd6bb62a709d0f7eacb8983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1444" r="144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F3E3B">
                  <a:alpha val="98000"/>
                </a:srgbClr>
              </a:gs>
              <a:gs pos="50000">
                <a:srgbClr val="2F3E3B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171575"/>
            <a:ext cx="1914525" cy="533400"/>
          </a:xfrm>
          <a:custGeom>
            <a:avLst/>
            <a:gdLst/>
            <a:ahLst/>
            <a:cxnLst/>
            <a:rect l="l" t="t" r="r" b="b"/>
            <a:pathLst>
              <a:path w="1914525" h="533400">
                <a:moveTo>
                  <a:pt x="266700" y="0"/>
                </a:moveTo>
                <a:lnTo>
                  <a:pt x="1647825" y="0"/>
                </a:lnTo>
                <a:cubicBezTo>
                  <a:pt x="1795021" y="0"/>
                  <a:pt x="1914525" y="119504"/>
                  <a:pt x="1914525" y="266700"/>
                </a:cubicBezTo>
                <a:lnTo>
                  <a:pt x="1914525" y="266700"/>
                </a:lnTo>
                <a:cubicBezTo>
                  <a:pt x="1914525" y="413896"/>
                  <a:pt x="1795021" y="533400"/>
                  <a:pt x="1647825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1285875"/>
            <a:ext cx="1571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kern="0" spc="18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009775"/>
            <a:ext cx="76581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Understanding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AI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952875"/>
            <a:ext cx="7458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Kuptimi i IA-së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60057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4943475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is Artificial Intelligence?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Çfarë është Inteligjenca Artificiale?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4C8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/ UNDERSTANDING AI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8324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What is Artificial Intelligence?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52525"/>
            <a:ext cx="8248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Çfarë është Inteligjenca Artificiale?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571625"/>
            <a:ext cx="8134350" cy="1866900"/>
          </a:xfrm>
          <a:custGeom>
            <a:avLst/>
            <a:gdLst/>
            <a:ahLst/>
            <a:cxnLst/>
            <a:rect l="l" t="t" r="r" b="b"/>
            <a:pathLst>
              <a:path w="8134350" h="1866900">
                <a:moveTo>
                  <a:pt x="38100" y="0"/>
                </a:moveTo>
                <a:lnTo>
                  <a:pt x="8020058" y="0"/>
                </a:lnTo>
                <a:cubicBezTo>
                  <a:pt x="8083180" y="0"/>
                  <a:pt x="8134350" y="51170"/>
                  <a:pt x="8134350" y="114292"/>
                </a:cubicBezTo>
                <a:lnTo>
                  <a:pt x="8134350" y="1752608"/>
                </a:lnTo>
                <a:cubicBezTo>
                  <a:pt x="8134350" y="1815730"/>
                  <a:pt x="8083180" y="1866900"/>
                  <a:pt x="8020058" y="1866900"/>
                </a:cubicBezTo>
                <a:lnTo>
                  <a:pt x="38100" y="1866900"/>
                </a:lnTo>
                <a:cubicBezTo>
                  <a:pt x="17072" y="1866900"/>
                  <a:pt x="0" y="1849828"/>
                  <a:pt x="0" y="1828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1571625"/>
            <a:ext cx="38100" cy="1866900"/>
          </a:xfrm>
          <a:custGeom>
            <a:avLst/>
            <a:gdLst/>
            <a:ahLst/>
            <a:cxnLst/>
            <a:rect l="l" t="t" r="r" b="b"/>
            <a:pathLst>
              <a:path w="38100" h="1866900">
                <a:moveTo>
                  <a:pt x="38100" y="0"/>
                </a:moveTo>
                <a:lnTo>
                  <a:pt x="38100" y="0"/>
                </a:lnTo>
                <a:lnTo>
                  <a:pt x="38100" y="1866900"/>
                </a:lnTo>
                <a:lnTo>
                  <a:pt x="38100" y="1866900"/>
                </a:lnTo>
                <a:cubicBezTo>
                  <a:pt x="17072" y="1866900"/>
                  <a:pt x="0" y="1849828"/>
                  <a:pt x="0" y="1828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7" name="Shape 5"/>
          <p:cNvSpPr/>
          <p:nvPr/>
        </p:nvSpPr>
        <p:spPr>
          <a:xfrm>
            <a:off x="647700" y="18002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71525" y="195262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1800225"/>
            <a:ext cx="7067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Definition / Përkufizimi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33500" y="2143125"/>
            <a:ext cx="7048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refers to computer systems that can perform tasks that normally require human intelligence.</a:t>
            </a:r>
            <a:r>
              <a:rPr lang="en-US" sz="120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These include recognizing patterns, understanding language, making decisions, and learning from experience.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33500" y="2714625"/>
            <a:ext cx="7048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IA i referohet sistemeve kompjuterike që mund të kryejnë detyra që normalisht kërkojnë inteligjencë njerëzore.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1000" y="3590925"/>
            <a:ext cx="8153400" cy="2886075"/>
          </a:xfrm>
          <a:custGeom>
            <a:avLst/>
            <a:gdLst/>
            <a:ahLst/>
            <a:cxnLst/>
            <a:rect l="l" t="t" r="r" b="b"/>
            <a:pathLst>
              <a:path w="8153400" h="2886075">
                <a:moveTo>
                  <a:pt x="114289" y="0"/>
                </a:moveTo>
                <a:lnTo>
                  <a:pt x="8039111" y="0"/>
                </a:lnTo>
                <a:cubicBezTo>
                  <a:pt x="8102189" y="0"/>
                  <a:pt x="8153400" y="51211"/>
                  <a:pt x="8153400" y="114289"/>
                </a:cubicBezTo>
                <a:lnTo>
                  <a:pt x="8153400" y="2771786"/>
                </a:lnTo>
                <a:cubicBezTo>
                  <a:pt x="8153400" y="2834906"/>
                  <a:pt x="8102231" y="2886075"/>
                  <a:pt x="8039111" y="2886075"/>
                </a:cubicBezTo>
                <a:lnTo>
                  <a:pt x="114289" y="2886075"/>
                </a:lnTo>
                <a:cubicBezTo>
                  <a:pt x="51211" y="2886075"/>
                  <a:pt x="0" y="2834864"/>
                  <a:pt x="0" y="2771786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3413" y="38576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4" name="Text 12"/>
          <p:cNvSpPr/>
          <p:nvPr/>
        </p:nvSpPr>
        <p:spPr>
          <a:xfrm>
            <a:off x="847725" y="3819525"/>
            <a:ext cx="7553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Capabilities / Kapacitetet Kryesore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9600" y="4238625"/>
            <a:ext cx="3790950" cy="647700"/>
          </a:xfrm>
          <a:custGeom>
            <a:avLst/>
            <a:gdLst/>
            <a:ahLst/>
            <a:cxnLst/>
            <a:rect l="l" t="t" r="r" b="b"/>
            <a:pathLst>
              <a:path w="3790950" h="647700">
                <a:moveTo>
                  <a:pt x="76202" y="0"/>
                </a:moveTo>
                <a:lnTo>
                  <a:pt x="3714748" y="0"/>
                </a:lnTo>
                <a:cubicBezTo>
                  <a:pt x="3756833" y="0"/>
                  <a:pt x="3790950" y="34117"/>
                  <a:pt x="3790950" y="76202"/>
                </a:cubicBezTo>
                <a:lnTo>
                  <a:pt x="3790950" y="571498"/>
                </a:lnTo>
                <a:cubicBezTo>
                  <a:pt x="3790950" y="613583"/>
                  <a:pt x="3756833" y="647700"/>
                  <a:pt x="371474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16" name="Shape 14"/>
          <p:cNvSpPr/>
          <p:nvPr/>
        </p:nvSpPr>
        <p:spPr>
          <a:xfrm>
            <a:off x="747713" y="43910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39303" y="69652"/>
                </a:moveTo>
                <a:cubicBezTo>
                  <a:pt x="139303" y="85022"/>
                  <a:pt x="134314" y="99220"/>
                  <a:pt x="125909" y="110739"/>
                </a:cubicBezTo>
                <a:lnTo>
                  <a:pt x="168302" y="153166"/>
                </a:lnTo>
                <a:cubicBezTo>
                  <a:pt x="172488" y="157352"/>
                  <a:pt x="172488" y="164150"/>
                  <a:pt x="168302" y="168336"/>
                </a:cubicBezTo>
                <a:cubicBezTo>
                  <a:pt x="164116" y="172522"/>
                  <a:pt x="157319" y="172522"/>
                  <a:pt x="153133" y="168336"/>
                </a:cubicBezTo>
                <a:lnTo>
                  <a:pt x="110739" y="125909"/>
                </a:lnTo>
                <a:cubicBezTo>
                  <a:pt x="99220" y="134314"/>
                  <a:pt x="85022" y="139303"/>
                  <a:pt x="69652" y="139303"/>
                </a:cubicBezTo>
                <a:cubicBezTo>
                  <a:pt x="31176" y="139303"/>
                  <a:pt x="0" y="108127"/>
                  <a:pt x="0" y="69652"/>
                </a:cubicBezTo>
                <a:cubicBezTo>
                  <a:pt x="0" y="31176"/>
                  <a:pt x="31176" y="0"/>
                  <a:pt x="69652" y="0"/>
                </a:cubicBezTo>
                <a:cubicBezTo>
                  <a:pt x="108127" y="0"/>
                  <a:pt x="139303" y="31176"/>
                  <a:pt x="139303" y="69652"/>
                </a:cubicBezTo>
                <a:close/>
                <a:moveTo>
                  <a:pt x="69652" y="117872"/>
                </a:moveTo>
                <a:cubicBezTo>
                  <a:pt x="96265" y="117872"/>
                  <a:pt x="117872" y="96265"/>
                  <a:pt x="117872" y="69652"/>
                </a:cubicBezTo>
                <a:cubicBezTo>
                  <a:pt x="117872" y="43038"/>
                  <a:pt x="96265" y="21431"/>
                  <a:pt x="69652" y="21431"/>
                </a:cubicBezTo>
                <a:cubicBezTo>
                  <a:pt x="43038" y="21431"/>
                  <a:pt x="21431" y="43038"/>
                  <a:pt x="21431" y="69652"/>
                </a:cubicBezTo>
                <a:cubicBezTo>
                  <a:pt x="21431" y="96265"/>
                  <a:pt x="43038" y="117872"/>
                  <a:pt x="69652" y="117872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7" name="Text 15"/>
          <p:cNvSpPr/>
          <p:nvPr/>
        </p:nvSpPr>
        <p:spPr>
          <a:xfrm>
            <a:off x="1052513" y="4352925"/>
            <a:ext cx="1362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Pattern Recognition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2513" y="4581525"/>
            <a:ext cx="1352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Njohja e Modeleve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14850" y="4238625"/>
            <a:ext cx="3790950" cy="647700"/>
          </a:xfrm>
          <a:custGeom>
            <a:avLst/>
            <a:gdLst/>
            <a:ahLst/>
            <a:cxnLst/>
            <a:rect l="l" t="t" r="r" b="b"/>
            <a:pathLst>
              <a:path w="3790950" h="647700">
                <a:moveTo>
                  <a:pt x="76202" y="0"/>
                </a:moveTo>
                <a:lnTo>
                  <a:pt x="3714748" y="0"/>
                </a:lnTo>
                <a:cubicBezTo>
                  <a:pt x="3756833" y="0"/>
                  <a:pt x="3790950" y="34117"/>
                  <a:pt x="3790950" y="76202"/>
                </a:cubicBezTo>
                <a:lnTo>
                  <a:pt x="3790950" y="571498"/>
                </a:lnTo>
                <a:cubicBezTo>
                  <a:pt x="3790950" y="613583"/>
                  <a:pt x="3756833" y="647700"/>
                  <a:pt x="371474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20" name="Shape 18"/>
          <p:cNvSpPr/>
          <p:nvPr/>
        </p:nvSpPr>
        <p:spPr>
          <a:xfrm>
            <a:off x="4642247" y="43910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53578" y="0"/>
                </a:moveTo>
                <a:cubicBezTo>
                  <a:pt x="59505" y="0"/>
                  <a:pt x="64294" y="4789"/>
                  <a:pt x="64294" y="10716"/>
                </a:cubicBezTo>
                <a:lnTo>
                  <a:pt x="64294" y="21431"/>
                </a:lnTo>
                <a:lnTo>
                  <a:pt x="107156" y="21431"/>
                </a:lnTo>
                <a:cubicBezTo>
                  <a:pt x="113083" y="21431"/>
                  <a:pt x="117872" y="26220"/>
                  <a:pt x="117872" y="32147"/>
                </a:cubicBezTo>
                <a:cubicBezTo>
                  <a:pt x="117872" y="38074"/>
                  <a:pt x="113083" y="42863"/>
                  <a:pt x="107156" y="42863"/>
                </a:cubicBezTo>
                <a:lnTo>
                  <a:pt x="103942" y="42863"/>
                </a:lnTo>
                <a:lnTo>
                  <a:pt x="101129" y="50598"/>
                </a:lnTo>
                <a:cubicBezTo>
                  <a:pt x="95637" y="65734"/>
                  <a:pt x="87366" y="79564"/>
                  <a:pt x="76952" y="91451"/>
                </a:cubicBezTo>
                <a:cubicBezTo>
                  <a:pt x="81707" y="94398"/>
                  <a:pt x="86663" y="97010"/>
                  <a:pt x="91820" y="99320"/>
                </a:cubicBezTo>
                <a:lnTo>
                  <a:pt x="108697" y="106821"/>
                </a:lnTo>
                <a:lnTo>
                  <a:pt x="129525" y="59941"/>
                </a:lnTo>
                <a:cubicBezTo>
                  <a:pt x="131233" y="56056"/>
                  <a:pt x="135084" y="53578"/>
                  <a:pt x="139303" y="53578"/>
                </a:cubicBezTo>
                <a:cubicBezTo>
                  <a:pt x="143522" y="53578"/>
                  <a:pt x="147373" y="56056"/>
                  <a:pt x="149081" y="59941"/>
                </a:cubicBezTo>
                <a:lnTo>
                  <a:pt x="191944" y="156381"/>
                </a:lnTo>
                <a:cubicBezTo>
                  <a:pt x="194355" y="161806"/>
                  <a:pt x="191910" y="168135"/>
                  <a:pt x="186519" y="170512"/>
                </a:cubicBezTo>
                <a:cubicBezTo>
                  <a:pt x="181128" y="172890"/>
                  <a:pt x="174765" y="170479"/>
                  <a:pt x="172388" y="165088"/>
                </a:cubicBezTo>
                <a:lnTo>
                  <a:pt x="165690" y="150019"/>
                </a:lnTo>
                <a:lnTo>
                  <a:pt x="112949" y="150019"/>
                </a:lnTo>
                <a:lnTo>
                  <a:pt x="106252" y="165088"/>
                </a:lnTo>
                <a:cubicBezTo>
                  <a:pt x="103841" y="170512"/>
                  <a:pt x="97512" y="172923"/>
                  <a:pt x="92121" y="170512"/>
                </a:cubicBezTo>
                <a:cubicBezTo>
                  <a:pt x="86730" y="168101"/>
                  <a:pt x="84285" y="161772"/>
                  <a:pt x="86696" y="156381"/>
                </a:cubicBezTo>
                <a:lnTo>
                  <a:pt x="100024" y="126411"/>
                </a:lnTo>
                <a:lnTo>
                  <a:pt x="83147" y="118910"/>
                </a:lnTo>
                <a:cubicBezTo>
                  <a:pt x="75445" y="115494"/>
                  <a:pt x="68078" y="111409"/>
                  <a:pt x="61113" y="106721"/>
                </a:cubicBezTo>
                <a:cubicBezTo>
                  <a:pt x="53980" y="112481"/>
                  <a:pt x="46178" y="117504"/>
                  <a:pt x="37840" y="121689"/>
                </a:cubicBezTo>
                <a:lnTo>
                  <a:pt x="26220" y="127449"/>
                </a:lnTo>
                <a:cubicBezTo>
                  <a:pt x="20929" y="130094"/>
                  <a:pt x="14500" y="127951"/>
                  <a:pt x="11854" y="122660"/>
                </a:cubicBezTo>
                <a:cubicBezTo>
                  <a:pt x="9209" y="117370"/>
                  <a:pt x="11352" y="110940"/>
                  <a:pt x="16643" y="108295"/>
                </a:cubicBezTo>
                <a:lnTo>
                  <a:pt x="28195" y="102502"/>
                </a:lnTo>
                <a:cubicBezTo>
                  <a:pt x="33654" y="99756"/>
                  <a:pt x="38844" y="96575"/>
                  <a:pt x="43733" y="93025"/>
                </a:cubicBezTo>
                <a:cubicBezTo>
                  <a:pt x="39112" y="88772"/>
                  <a:pt x="34759" y="84185"/>
                  <a:pt x="30707" y="79329"/>
                </a:cubicBezTo>
                <a:lnTo>
                  <a:pt x="27325" y="75244"/>
                </a:lnTo>
                <a:cubicBezTo>
                  <a:pt x="23541" y="70690"/>
                  <a:pt x="24144" y="63925"/>
                  <a:pt x="28698" y="60141"/>
                </a:cubicBezTo>
                <a:cubicBezTo>
                  <a:pt x="33252" y="56357"/>
                  <a:pt x="40016" y="56960"/>
                  <a:pt x="43800" y="61514"/>
                </a:cubicBezTo>
                <a:lnTo>
                  <a:pt x="47216" y="65600"/>
                </a:lnTo>
                <a:cubicBezTo>
                  <a:pt x="51067" y="70254"/>
                  <a:pt x="55286" y="74574"/>
                  <a:pt x="59740" y="78559"/>
                </a:cubicBezTo>
                <a:cubicBezTo>
                  <a:pt x="68948" y="68379"/>
                  <a:pt x="76215" y="56424"/>
                  <a:pt x="81003" y="43264"/>
                </a:cubicBezTo>
                <a:lnTo>
                  <a:pt x="81171" y="42862"/>
                </a:lnTo>
                <a:lnTo>
                  <a:pt x="10749" y="42862"/>
                </a:lnTo>
                <a:cubicBezTo>
                  <a:pt x="4789" y="42863"/>
                  <a:pt x="0" y="38074"/>
                  <a:pt x="0" y="32147"/>
                </a:cubicBezTo>
                <a:cubicBezTo>
                  <a:pt x="0" y="26220"/>
                  <a:pt x="4789" y="21431"/>
                  <a:pt x="10716" y="21431"/>
                </a:cubicBezTo>
                <a:lnTo>
                  <a:pt x="42863" y="21431"/>
                </a:lnTo>
                <a:lnTo>
                  <a:pt x="42863" y="10716"/>
                </a:lnTo>
                <a:cubicBezTo>
                  <a:pt x="42863" y="4789"/>
                  <a:pt x="47651" y="0"/>
                  <a:pt x="53578" y="0"/>
                </a:cubicBezTo>
                <a:close/>
                <a:moveTo>
                  <a:pt x="139303" y="90681"/>
                </a:moveTo>
                <a:lnTo>
                  <a:pt x="122460" y="128588"/>
                </a:lnTo>
                <a:lnTo>
                  <a:pt x="156147" y="128588"/>
                </a:lnTo>
                <a:lnTo>
                  <a:pt x="139303" y="90681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21" name="Text 19"/>
          <p:cNvSpPr/>
          <p:nvPr/>
        </p:nvSpPr>
        <p:spPr>
          <a:xfrm>
            <a:off x="4957763" y="4352925"/>
            <a:ext cx="1704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Language Understanding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57763" y="4581525"/>
            <a:ext cx="1695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Kuptimi i Gjuhës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09600" y="5000625"/>
            <a:ext cx="3790950" cy="647700"/>
          </a:xfrm>
          <a:custGeom>
            <a:avLst/>
            <a:gdLst/>
            <a:ahLst/>
            <a:cxnLst/>
            <a:rect l="l" t="t" r="r" b="b"/>
            <a:pathLst>
              <a:path w="3790950" h="647700">
                <a:moveTo>
                  <a:pt x="76202" y="0"/>
                </a:moveTo>
                <a:lnTo>
                  <a:pt x="3714748" y="0"/>
                </a:lnTo>
                <a:cubicBezTo>
                  <a:pt x="3756833" y="0"/>
                  <a:pt x="3790950" y="34117"/>
                  <a:pt x="3790950" y="76202"/>
                </a:cubicBezTo>
                <a:lnTo>
                  <a:pt x="3790950" y="571498"/>
                </a:lnTo>
                <a:cubicBezTo>
                  <a:pt x="3790950" y="613583"/>
                  <a:pt x="3756833" y="647700"/>
                  <a:pt x="371474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24" name="Shape 22"/>
          <p:cNvSpPr/>
          <p:nvPr/>
        </p:nvSpPr>
        <p:spPr>
          <a:xfrm>
            <a:off x="769144" y="51530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25" name="Text 23"/>
          <p:cNvSpPr/>
          <p:nvPr/>
        </p:nvSpPr>
        <p:spPr>
          <a:xfrm>
            <a:off x="1052513" y="5114925"/>
            <a:ext cx="123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Making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52513" y="5343525"/>
            <a:ext cx="122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Marrja e Vendimeve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14850" y="5000625"/>
            <a:ext cx="3790950" cy="647700"/>
          </a:xfrm>
          <a:custGeom>
            <a:avLst/>
            <a:gdLst/>
            <a:ahLst/>
            <a:cxnLst/>
            <a:rect l="l" t="t" r="r" b="b"/>
            <a:pathLst>
              <a:path w="3790950" h="647700">
                <a:moveTo>
                  <a:pt x="76202" y="0"/>
                </a:moveTo>
                <a:lnTo>
                  <a:pt x="3714748" y="0"/>
                </a:lnTo>
                <a:cubicBezTo>
                  <a:pt x="3756833" y="0"/>
                  <a:pt x="3790950" y="34117"/>
                  <a:pt x="3790950" y="76202"/>
                </a:cubicBezTo>
                <a:lnTo>
                  <a:pt x="3790950" y="571498"/>
                </a:lnTo>
                <a:cubicBezTo>
                  <a:pt x="3790950" y="613583"/>
                  <a:pt x="3756833" y="647700"/>
                  <a:pt x="371474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28" name="Shape 26"/>
          <p:cNvSpPr/>
          <p:nvPr/>
        </p:nvSpPr>
        <p:spPr>
          <a:xfrm>
            <a:off x="4642247" y="51530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6073" y="65566"/>
                </a:moveTo>
                <a:lnTo>
                  <a:pt x="86127" y="94398"/>
                </a:lnTo>
                <a:cubicBezTo>
                  <a:pt x="89408" y="95737"/>
                  <a:pt x="92891" y="96441"/>
                  <a:pt x="96441" y="96441"/>
                </a:cubicBezTo>
                <a:cubicBezTo>
                  <a:pt x="99990" y="96441"/>
                  <a:pt x="103473" y="95737"/>
                  <a:pt x="106754" y="94398"/>
                </a:cubicBezTo>
                <a:lnTo>
                  <a:pt x="187925" y="60979"/>
                </a:lnTo>
                <a:cubicBezTo>
                  <a:pt x="190939" y="59740"/>
                  <a:pt x="192881" y="56826"/>
                  <a:pt x="192881" y="53578"/>
                </a:cubicBezTo>
                <a:cubicBezTo>
                  <a:pt x="192881" y="50330"/>
                  <a:pt x="190939" y="47417"/>
                  <a:pt x="187925" y="46178"/>
                </a:cubicBezTo>
                <a:lnTo>
                  <a:pt x="106754" y="12758"/>
                </a:lnTo>
                <a:cubicBezTo>
                  <a:pt x="103473" y="11419"/>
                  <a:pt x="99990" y="10716"/>
                  <a:pt x="96441" y="10716"/>
                </a:cubicBezTo>
                <a:cubicBezTo>
                  <a:pt x="92891" y="10716"/>
                  <a:pt x="89408" y="11419"/>
                  <a:pt x="86127" y="12758"/>
                </a:cubicBezTo>
                <a:lnTo>
                  <a:pt x="4956" y="46178"/>
                </a:lnTo>
                <a:cubicBezTo>
                  <a:pt x="1942" y="47417"/>
                  <a:pt x="0" y="50330"/>
                  <a:pt x="0" y="53578"/>
                </a:cubicBezTo>
                <a:lnTo>
                  <a:pt x="0" y="152698"/>
                </a:lnTo>
                <a:cubicBezTo>
                  <a:pt x="0" y="157151"/>
                  <a:pt x="3583" y="160734"/>
                  <a:pt x="8037" y="160734"/>
                </a:cubicBezTo>
                <a:cubicBezTo>
                  <a:pt x="12490" y="160734"/>
                  <a:pt x="16073" y="157151"/>
                  <a:pt x="16073" y="152698"/>
                </a:cubicBezTo>
                <a:lnTo>
                  <a:pt x="16073" y="65566"/>
                </a:lnTo>
                <a:close/>
                <a:moveTo>
                  <a:pt x="32147" y="89576"/>
                </a:moveTo>
                <a:lnTo>
                  <a:pt x="32147" y="128588"/>
                </a:lnTo>
                <a:cubicBezTo>
                  <a:pt x="32147" y="146335"/>
                  <a:pt x="60945" y="160734"/>
                  <a:pt x="96441" y="160734"/>
                </a:cubicBezTo>
                <a:cubicBezTo>
                  <a:pt x="131936" y="160734"/>
                  <a:pt x="160734" y="146335"/>
                  <a:pt x="160734" y="128588"/>
                </a:cubicBezTo>
                <a:lnTo>
                  <a:pt x="160734" y="89542"/>
                </a:lnTo>
                <a:lnTo>
                  <a:pt x="112882" y="109266"/>
                </a:lnTo>
                <a:cubicBezTo>
                  <a:pt x="107659" y="111409"/>
                  <a:pt x="102100" y="112514"/>
                  <a:pt x="96441" y="112514"/>
                </a:cubicBezTo>
                <a:cubicBezTo>
                  <a:pt x="90781" y="112514"/>
                  <a:pt x="85223" y="111409"/>
                  <a:pt x="79999" y="109266"/>
                </a:cubicBezTo>
                <a:lnTo>
                  <a:pt x="32147" y="89542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29" name="Text 27"/>
          <p:cNvSpPr/>
          <p:nvPr/>
        </p:nvSpPr>
        <p:spPr>
          <a:xfrm>
            <a:off x="4957763" y="5114925"/>
            <a:ext cx="158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Learning from Data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957763" y="5343525"/>
            <a:ext cx="157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Të Mësuarit nga të Dhënat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763000" y="381000"/>
            <a:ext cx="3048000" cy="4038600"/>
          </a:xfrm>
          <a:custGeom>
            <a:avLst/>
            <a:gdLst/>
            <a:ahLst/>
            <a:cxnLst/>
            <a:rect l="l" t="t" r="r" b="b"/>
            <a:pathLst>
              <a:path w="3048000" h="4038600">
                <a:moveTo>
                  <a:pt x="114300" y="0"/>
                </a:moveTo>
                <a:lnTo>
                  <a:pt x="2933700" y="0"/>
                </a:lnTo>
                <a:cubicBezTo>
                  <a:pt x="2996784" y="0"/>
                  <a:pt x="3048000" y="51216"/>
                  <a:pt x="3048000" y="114300"/>
                </a:cubicBezTo>
                <a:lnTo>
                  <a:pt x="3048000" y="3924300"/>
                </a:lnTo>
                <a:cubicBezTo>
                  <a:pt x="3048000" y="3987384"/>
                  <a:pt x="2996784" y="4038600"/>
                  <a:pt x="2933700" y="4038600"/>
                </a:cubicBezTo>
                <a:lnTo>
                  <a:pt x="114300" y="4038600"/>
                </a:lnTo>
                <a:cubicBezTo>
                  <a:pt x="51216" y="4038600"/>
                  <a:pt x="0" y="3987384"/>
                  <a:pt x="0" y="392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A7A"/>
              </a:gs>
              <a:gs pos="100000">
                <a:srgbClr val="2F3E3B"/>
              </a:gs>
            </a:gsLst>
            <a:lin ang="2700000" scaled="1"/>
          </a:gradFill>
          <a:ln/>
        </p:spPr>
      </p:sp>
      <p:sp>
        <p:nvSpPr>
          <p:cNvPr id="32" name="Text 30"/>
          <p:cNvSpPr/>
          <p:nvPr/>
        </p:nvSpPr>
        <p:spPr>
          <a:xfrm>
            <a:off x="8943975" y="666750"/>
            <a:ext cx="2686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Think of AI as...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991600" y="1085850"/>
            <a:ext cx="2590800" cy="647700"/>
          </a:xfrm>
          <a:custGeom>
            <a:avLst/>
            <a:gdLst/>
            <a:ahLst/>
            <a:cxnLst/>
            <a:rect l="l" t="t" r="r" b="b"/>
            <a:pathLst>
              <a:path w="2590800" h="647700">
                <a:moveTo>
                  <a:pt x="76202" y="0"/>
                </a:moveTo>
                <a:lnTo>
                  <a:pt x="2514598" y="0"/>
                </a:lnTo>
                <a:cubicBezTo>
                  <a:pt x="2556683" y="0"/>
                  <a:pt x="2590800" y="34117"/>
                  <a:pt x="2590800" y="76202"/>
                </a:cubicBezTo>
                <a:lnTo>
                  <a:pt x="2590800" y="571498"/>
                </a:lnTo>
                <a:cubicBezTo>
                  <a:pt x="2590800" y="613583"/>
                  <a:pt x="2556683" y="647700"/>
                  <a:pt x="25145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9105900" y="1200150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🗣️ A Virtual Assistant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105900" y="1428750"/>
            <a:ext cx="2428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Asistent Virtual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991600" y="1885950"/>
            <a:ext cx="2590800" cy="647700"/>
          </a:xfrm>
          <a:custGeom>
            <a:avLst/>
            <a:gdLst/>
            <a:ahLst/>
            <a:cxnLst/>
            <a:rect l="l" t="t" r="r" b="b"/>
            <a:pathLst>
              <a:path w="2590800" h="647700">
                <a:moveTo>
                  <a:pt x="76202" y="0"/>
                </a:moveTo>
                <a:lnTo>
                  <a:pt x="2514598" y="0"/>
                </a:lnTo>
                <a:cubicBezTo>
                  <a:pt x="2556683" y="0"/>
                  <a:pt x="2590800" y="34117"/>
                  <a:pt x="2590800" y="76202"/>
                </a:cubicBezTo>
                <a:lnTo>
                  <a:pt x="2590800" y="571498"/>
                </a:lnTo>
                <a:cubicBezTo>
                  <a:pt x="2590800" y="613583"/>
                  <a:pt x="2556683" y="647700"/>
                  <a:pt x="25145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9105900" y="2000250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🎬 A Recommendation Engine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105900" y="2228850"/>
            <a:ext cx="2428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Motor Rekomandimesh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991600" y="2686050"/>
            <a:ext cx="2590800" cy="647700"/>
          </a:xfrm>
          <a:custGeom>
            <a:avLst/>
            <a:gdLst/>
            <a:ahLst/>
            <a:cxnLst/>
            <a:rect l="l" t="t" r="r" b="b"/>
            <a:pathLst>
              <a:path w="2590800" h="647700">
                <a:moveTo>
                  <a:pt x="76202" y="0"/>
                </a:moveTo>
                <a:lnTo>
                  <a:pt x="2514598" y="0"/>
                </a:lnTo>
                <a:cubicBezTo>
                  <a:pt x="2556683" y="0"/>
                  <a:pt x="2590800" y="34117"/>
                  <a:pt x="2590800" y="76202"/>
                </a:cubicBezTo>
                <a:lnTo>
                  <a:pt x="2590800" y="571498"/>
                </a:lnTo>
                <a:cubicBezTo>
                  <a:pt x="2590800" y="613583"/>
                  <a:pt x="2556683" y="647700"/>
                  <a:pt x="25145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9105900" y="2800350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🚗 An Autonomous Driver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105900" y="3028950"/>
            <a:ext cx="2428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Shofer Autonom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991600" y="3486150"/>
            <a:ext cx="2590800" cy="647700"/>
          </a:xfrm>
          <a:custGeom>
            <a:avLst/>
            <a:gdLst/>
            <a:ahLst/>
            <a:cxnLst/>
            <a:rect l="l" t="t" r="r" b="b"/>
            <a:pathLst>
              <a:path w="2590800" h="647700">
                <a:moveTo>
                  <a:pt x="76202" y="0"/>
                </a:moveTo>
                <a:lnTo>
                  <a:pt x="2514598" y="0"/>
                </a:lnTo>
                <a:cubicBezTo>
                  <a:pt x="2556683" y="0"/>
                  <a:pt x="2590800" y="34117"/>
                  <a:pt x="2590800" y="76202"/>
                </a:cubicBezTo>
                <a:lnTo>
                  <a:pt x="2590800" y="571498"/>
                </a:lnTo>
                <a:cubicBezTo>
                  <a:pt x="2590800" y="613583"/>
                  <a:pt x="2556683" y="647700"/>
                  <a:pt x="25145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9105900" y="3600450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🩺 A Medical Diagnostic Tool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105900" y="3829050"/>
            <a:ext cx="2428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Mjet Diagnostikues Mjekësor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763000" y="4572000"/>
            <a:ext cx="3048000" cy="1905000"/>
          </a:xfrm>
          <a:custGeom>
            <a:avLst/>
            <a:gdLst/>
            <a:ahLst/>
            <a:cxnLst/>
            <a:rect l="l" t="t" r="r" b="b"/>
            <a:pathLst>
              <a:path w="3048000" h="1905000">
                <a:moveTo>
                  <a:pt x="114300" y="0"/>
                </a:moveTo>
                <a:lnTo>
                  <a:pt x="2933700" y="0"/>
                </a:lnTo>
                <a:cubicBezTo>
                  <a:pt x="2996784" y="0"/>
                  <a:pt x="3048000" y="51216"/>
                  <a:pt x="3048000" y="114300"/>
                </a:cubicBezTo>
                <a:lnTo>
                  <a:pt x="3048000" y="1790700"/>
                </a:lnTo>
                <a:cubicBezTo>
                  <a:pt x="3048000" y="1853784"/>
                  <a:pt x="2996784" y="1905000"/>
                  <a:pt x="2933700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10186988" y="47244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0" y="96441"/>
                </a:moveTo>
                <a:cubicBezTo>
                  <a:pt x="0" y="66839"/>
                  <a:pt x="23976" y="42863"/>
                  <a:pt x="53578" y="42863"/>
                </a:cubicBezTo>
                <a:lnTo>
                  <a:pt x="57150" y="42863"/>
                </a:lnTo>
                <a:cubicBezTo>
                  <a:pt x="65053" y="42863"/>
                  <a:pt x="71438" y="49247"/>
                  <a:pt x="71438" y="57150"/>
                </a:cubicBezTo>
                <a:cubicBezTo>
                  <a:pt x="71438" y="65053"/>
                  <a:pt x="65053" y="71438"/>
                  <a:pt x="57150" y="71438"/>
                </a:cubicBezTo>
                <a:lnTo>
                  <a:pt x="53578" y="71438"/>
                </a:lnTo>
                <a:cubicBezTo>
                  <a:pt x="39782" y="71438"/>
                  <a:pt x="28575" y="82644"/>
                  <a:pt x="28575" y="96441"/>
                </a:cubicBezTo>
                <a:lnTo>
                  <a:pt x="28575" y="100013"/>
                </a:lnTo>
                <a:lnTo>
                  <a:pt x="57150" y="100013"/>
                </a:lnTo>
                <a:cubicBezTo>
                  <a:pt x="72911" y="100013"/>
                  <a:pt x="85725" y="112827"/>
                  <a:pt x="85725" y="128588"/>
                </a:cubicBezTo>
                <a:lnTo>
                  <a:pt x="85725" y="157163"/>
                </a:lnTo>
                <a:cubicBezTo>
                  <a:pt x="85725" y="172923"/>
                  <a:pt x="72911" y="185738"/>
                  <a:pt x="57150" y="185738"/>
                </a:cubicBezTo>
                <a:lnTo>
                  <a:pt x="28575" y="185738"/>
                </a:lnTo>
                <a:cubicBezTo>
                  <a:pt x="12814" y="185738"/>
                  <a:pt x="0" y="172923"/>
                  <a:pt x="0" y="157163"/>
                </a:cubicBezTo>
                <a:lnTo>
                  <a:pt x="0" y="96441"/>
                </a:lnTo>
                <a:close/>
                <a:moveTo>
                  <a:pt x="114300" y="96441"/>
                </a:moveTo>
                <a:cubicBezTo>
                  <a:pt x="114300" y="66839"/>
                  <a:pt x="138276" y="42863"/>
                  <a:pt x="167878" y="42863"/>
                </a:cubicBezTo>
                <a:lnTo>
                  <a:pt x="171450" y="42863"/>
                </a:lnTo>
                <a:cubicBezTo>
                  <a:pt x="179353" y="42863"/>
                  <a:pt x="185738" y="49247"/>
                  <a:pt x="185738" y="57150"/>
                </a:cubicBezTo>
                <a:cubicBezTo>
                  <a:pt x="185738" y="65053"/>
                  <a:pt x="179353" y="71438"/>
                  <a:pt x="171450" y="71438"/>
                </a:cubicBezTo>
                <a:lnTo>
                  <a:pt x="167878" y="71438"/>
                </a:lnTo>
                <a:cubicBezTo>
                  <a:pt x="154082" y="71438"/>
                  <a:pt x="142875" y="82644"/>
                  <a:pt x="142875" y="96441"/>
                </a:cubicBezTo>
                <a:lnTo>
                  <a:pt x="142875" y="100013"/>
                </a:lnTo>
                <a:lnTo>
                  <a:pt x="171450" y="100013"/>
                </a:lnTo>
                <a:cubicBezTo>
                  <a:pt x="187211" y="100013"/>
                  <a:pt x="200025" y="112827"/>
                  <a:pt x="200025" y="128588"/>
                </a:cubicBezTo>
                <a:lnTo>
                  <a:pt x="200025" y="157163"/>
                </a:lnTo>
                <a:cubicBezTo>
                  <a:pt x="200025" y="172923"/>
                  <a:pt x="187211" y="185738"/>
                  <a:pt x="171450" y="185738"/>
                </a:cubicBezTo>
                <a:lnTo>
                  <a:pt x="142875" y="185738"/>
                </a:lnTo>
                <a:cubicBezTo>
                  <a:pt x="127114" y="185738"/>
                  <a:pt x="114300" y="172923"/>
                  <a:pt x="114300" y="157163"/>
                </a:cubicBezTo>
                <a:lnTo>
                  <a:pt x="114300" y="96441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47" name="Text 45"/>
          <p:cNvSpPr/>
          <p:nvPr/>
        </p:nvSpPr>
        <p:spPr>
          <a:xfrm>
            <a:off x="8877300" y="5029200"/>
            <a:ext cx="2819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"AI is not just about robots—it's about intelligent systems that augment human capabilities."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882063" y="5753100"/>
            <a:ext cx="28098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"IA nuk është vetëm për robotë—është për sisteme inteligjente që zgjerojnë kapacitetet njerëzore."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9813" y="379813"/>
            <a:ext cx="11508336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kern="0" spc="60" dirty="0">
                <a:solidFill>
                  <a:srgbClr val="4C8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/ UNDERSTANDING AI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9813" y="683664"/>
            <a:ext cx="11603290" cy="379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92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AI in Our Daily Lives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9813" y="1101458"/>
            <a:ext cx="11527327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IA në Jetën tonë të Përditshme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9813" y="1443290"/>
            <a:ext cx="11517832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You're already using AI every day—here's how! / Ju tashmë po përdorni IA çdo ditë—ja se si!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9813" y="1880075"/>
            <a:ext cx="3712673" cy="2164935"/>
          </a:xfrm>
          <a:custGeom>
            <a:avLst/>
            <a:gdLst/>
            <a:ahLst/>
            <a:cxnLst/>
            <a:rect l="l" t="t" r="r" b="b"/>
            <a:pathLst>
              <a:path w="3712673" h="2164935">
                <a:moveTo>
                  <a:pt x="37981" y="0"/>
                </a:moveTo>
                <a:lnTo>
                  <a:pt x="3674692" y="0"/>
                </a:lnTo>
                <a:cubicBezTo>
                  <a:pt x="3695668" y="0"/>
                  <a:pt x="3712673" y="17005"/>
                  <a:pt x="3712673" y="37981"/>
                </a:cubicBezTo>
                <a:lnTo>
                  <a:pt x="3712673" y="2050994"/>
                </a:lnTo>
                <a:cubicBezTo>
                  <a:pt x="3712673" y="2113922"/>
                  <a:pt x="3661660" y="2164935"/>
                  <a:pt x="3598732" y="2164935"/>
                </a:cubicBezTo>
                <a:lnTo>
                  <a:pt x="113941" y="2164935"/>
                </a:lnTo>
                <a:cubicBezTo>
                  <a:pt x="51013" y="2164935"/>
                  <a:pt x="0" y="2113922"/>
                  <a:pt x="0" y="2050994"/>
                </a:cubicBezTo>
                <a:lnTo>
                  <a:pt x="0" y="37981"/>
                </a:lnTo>
                <a:cubicBezTo>
                  <a:pt x="0" y="17005"/>
                  <a:pt x="17005" y="0"/>
                  <a:pt x="3798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486" dist="949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79813" y="1880075"/>
            <a:ext cx="3712673" cy="37981"/>
          </a:xfrm>
          <a:custGeom>
            <a:avLst/>
            <a:gdLst/>
            <a:ahLst/>
            <a:cxnLst/>
            <a:rect l="l" t="t" r="r" b="b"/>
            <a:pathLst>
              <a:path w="3712673" h="37981">
                <a:moveTo>
                  <a:pt x="37981" y="0"/>
                </a:moveTo>
                <a:lnTo>
                  <a:pt x="3674692" y="0"/>
                </a:lnTo>
                <a:cubicBezTo>
                  <a:pt x="3695668" y="0"/>
                  <a:pt x="3712673" y="17005"/>
                  <a:pt x="3712673" y="37981"/>
                </a:cubicBezTo>
                <a:lnTo>
                  <a:pt x="3712673" y="37981"/>
                </a:lnTo>
                <a:lnTo>
                  <a:pt x="0" y="37981"/>
                </a:ln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8" name="Shape 6"/>
          <p:cNvSpPr/>
          <p:nvPr/>
        </p:nvSpPr>
        <p:spPr>
          <a:xfrm>
            <a:off x="569720" y="2088972"/>
            <a:ext cx="455776" cy="455776"/>
          </a:xfrm>
          <a:custGeom>
            <a:avLst/>
            <a:gdLst/>
            <a:ahLst/>
            <a:cxnLst/>
            <a:rect l="l" t="t" r="r" b="b"/>
            <a:pathLst>
              <a:path w="455776" h="455776">
                <a:moveTo>
                  <a:pt x="227888" y="0"/>
                </a:moveTo>
                <a:lnTo>
                  <a:pt x="227888" y="0"/>
                </a:lnTo>
                <a:cubicBezTo>
                  <a:pt x="353663" y="0"/>
                  <a:pt x="455776" y="102113"/>
                  <a:pt x="455776" y="227888"/>
                </a:cubicBezTo>
                <a:lnTo>
                  <a:pt x="455776" y="227888"/>
                </a:lnTo>
                <a:cubicBezTo>
                  <a:pt x="455776" y="353663"/>
                  <a:pt x="353663" y="455776"/>
                  <a:pt x="227888" y="455776"/>
                </a:cubicBezTo>
                <a:lnTo>
                  <a:pt x="227888" y="455776"/>
                </a:lnTo>
                <a:cubicBezTo>
                  <a:pt x="102113" y="455776"/>
                  <a:pt x="0" y="353663"/>
                  <a:pt x="0" y="227888"/>
                </a:cubicBezTo>
                <a:lnTo>
                  <a:pt x="0" y="227888"/>
                </a:lnTo>
                <a:cubicBezTo>
                  <a:pt x="0" y="102113"/>
                  <a:pt x="102113" y="0"/>
                  <a:pt x="227888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26393" y="2221907"/>
            <a:ext cx="142430" cy="189907"/>
          </a:xfrm>
          <a:custGeom>
            <a:avLst/>
            <a:gdLst/>
            <a:ahLst/>
            <a:cxnLst/>
            <a:rect l="l" t="t" r="r" b="b"/>
            <a:pathLst>
              <a:path w="142430" h="189907">
                <a:moveTo>
                  <a:pt x="5935" y="23738"/>
                </a:moveTo>
                <a:cubicBezTo>
                  <a:pt x="5935" y="10645"/>
                  <a:pt x="16580" y="0"/>
                  <a:pt x="29673" y="0"/>
                </a:cubicBezTo>
                <a:lnTo>
                  <a:pt x="112757" y="0"/>
                </a:lnTo>
                <a:cubicBezTo>
                  <a:pt x="125850" y="0"/>
                  <a:pt x="136495" y="10645"/>
                  <a:pt x="136495" y="23738"/>
                </a:cubicBezTo>
                <a:lnTo>
                  <a:pt x="136495" y="166168"/>
                </a:lnTo>
                <a:cubicBezTo>
                  <a:pt x="136495" y="179261"/>
                  <a:pt x="125850" y="189907"/>
                  <a:pt x="112757" y="189907"/>
                </a:cubicBezTo>
                <a:lnTo>
                  <a:pt x="29673" y="189907"/>
                </a:lnTo>
                <a:cubicBezTo>
                  <a:pt x="16580" y="189907"/>
                  <a:pt x="5935" y="179261"/>
                  <a:pt x="5935" y="166168"/>
                </a:cubicBezTo>
                <a:lnTo>
                  <a:pt x="5935" y="23738"/>
                </a:lnTo>
                <a:close/>
                <a:moveTo>
                  <a:pt x="29673" y="23738"/>
                </a:moveTo>
                <a:lnTo>
                  <a:pt x="29673" y="136495"/>
                </a:lnTo>
                <a:lnTo>
                  <a:pt x="112757" y="136495"/>
                </a:lnTo>
                <a:lnTo>
                  <a:pt x="112757" y="23738"/>
                </a:lnTo>
                <a:lnTo>
                  <a:pt x="29673" y="23738"/>
                </a:lnTo>
                <a:close/>
                <a:moveTo>
                  <a:pt x="71215" y="175070"/>
                </a:moveTo>
                <a:cubicBezTo>
                  <a:pt x="77780" y="175070"/>
                  <a:pt x="83084" y="169766"/>
                  <a:pt x="83084" y="163201"/>
                </a:cubicBezTo>
                <a:cubicBezTo>
                  <a:pt x="83084" y="156636"/>
                  <a:pt x="77780" y="151332"/>
                  <a:pt x="71215" y="151332"/>
                </a:cubicBezTo>
                <a:cubicBezTo>
                  <a:pt x="64650" y="151332"/>
                  <a:pt x="59346" y="156636"/>
                  <a:pt x="59346" y="163201"/>
                </a:cubicBezTo>
                <a:cubicBezTo>
                  <a:pt x="59346" y="169766"/>
                  <a:pt x="64650" y="175070"/>
                  <a:pt x="71215" y="17507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0" name="Text 8"/>
          <p:cNvSpPr/>
          <p:nvPr/>
        </p:nvSpPr>
        <p:spPr>
          <a:xfrm>
            <a:off x="1139439" y="2183925"/>
            <a:ext cx="1775626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Smartphone Assistants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9720" y="2658692"/>
            <a:ext cx="3408822" cy="740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6" b="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Siri, Google Assistant, Alexa</a:t>
            </a:r>
            <a:r>
              <a:rPr lang="en-US" sz="1196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understand your voice commands, answer questions, and control smart devices.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9720" y="3475290"/>
            <a:ext cx="3399327" cy="379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Asistentët e zërit kuptojnë komandat tuaja dhe kontrollojnë pajisjet.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39812" y="1880075"/>
            <a:ext cx="3712673" cy="2164935"/>
          </a:xfrm>
          <a:custGeom>
            <a:avLst/>
            <a:gdLst/>
            <a:ahLst/>
            <a:cxnLst/>
            <a:rect l="l" t="t" r="r" b="b"/>
            <a:pathLst>
              <a:path w="3712673" h="2164935">
                <a:moveTo>
                  <a:pt x="37981" y="0"/>
                </a:moveTo>
                <a:lnTo>
                  <a:pt x="3674692" y="0"/>
                </a:lnTo>
                <a:cubicBezTo>
                  <a:pt x="3695668" y="0"/>
                  <a:pt x="3712673" y="17005"/>
                  <a:pt x="3712673" y="37981"/>
                </a:cubicBezTo>
                <a:lnTo>
                  <a:pt x="3712673" y="2050994"/>
                </a:lnTo>
                <a:cubicBezTo>
                  <a:pt x="3712673" y="2113922"/>
                  <a:pt x="3661660" y="2164935"/>
                  <a:pt x="3598732" y="2164935"/>
                </a:cubicBezTo>
                <a:lnTo>
                  <a:pt x="113941" y="2164935"/>
                </a:lnTo>
                <a:cubicBezTo>
                  <a:pt x="51013" y="2164935"/>
                  <a:pt x="0" y="2113922"/>
                  <a:pt x="0" y="2050994"/>
                </a:cubicBezTo>
                <a:lnTo>
                  <a:pt x="0" y="37981"/>
                </a:lnTo>
                <a:cubicBezTo>
                  <a:pt x="0" y="17005"/>
                  <a:pt x="17005" y="0"/>
                  <a:pt x="3798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486" dist="949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39812" y="1880075"/>
            <a:ext cx="3712673" cy="37981"/>
          </a:xfrm>
          <a:custGeom>
            <a:avLst/>
            <a:gdLst/>
            <a:ahLst/>
            <a:cxnLst/>
            <a:rect l="l" t="t" r="r" b="b"/>
            <a:pathLst>
              <a:path w="3712673" h="37981">
                <a:moveTo>
                  <a:pt x="37981" y="0"/>
                </a:moveTo>
                <a:lnTo>
                  <a:pt x="3674692" y="0"/>
                </a:lnTo>
                <a:cubicBezTo>
                  <a:pt x="3695668" y="0"/>
                  <a:pt x="3712673" y="17005"/>
                  <a:pt x="3712673" y="37981"/>
                </a:cubicBezTo>
                <a:lnTo>
                  <a:pt x="3712673" y="37981"/>
                </a:lnTo>
                <a:lnTo>
                  <a:pt x="0" y="37981"/>
                </a:ln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5" name="Shape 13"/>
          <p:cNvSpPr/>
          <p:nvPr/>
        </p:nvSpPr>
        <p:spPr>
          <a:xfrm>
            <a:off x="4429718" y="2088972"/>
            <a:ext cx="455776" cy="455776"/>
          </a:xfrm>
          <a:custGeom>
            <a:avLst/>
            <a:gdLst/>
            <a:ahLst/>
            <a:cxnLst/>
            <a:rect l="l" t="t" r="r" b="b"/>
            <a:pathLst>
              <a:path w="455776" h="455776">
                <a:moveTo>
                  <a:pt x="227888" y="0"/>
                </a:moveTo>
                <a:lnTo>
                  <a:pt x="227888" y="0"/>
                </a:lnTo>
                <a:cubicBezTo>
                  <a:pt x="353663" y="0"/>
                  <a:pt x="455776" y="102113"/>
                  <a:pt x="455776" y="227888"/>
                </a:cubicBezTo>
                <a:lnTo>
                  <a:pt x="455776" y="227888"/>
                </a:lnTo>
                <a:cubicBezTo>
                  <a:pt x="455776" y="353663"/>
                  <a:pt x="353663" y="455776"/>
                  <a:pt x="227888" y="455776"/>
                </a:cubicBezTo>
                <a:lnTo>
                  <a:pt x="227888" y="455776"/>
                </a:lnTo>
                <a:cubicBezTo>
                  <a:pt x="102113" y="455776"/>
                  <a:pt x="0" y="353663"/>
                  <a:pt x="0" y="227888"/>
                </a:cubicBezTo>
                <a:lnTo>
                  <a:pt x="0" y="227888"/>
                </a:lnTo>
                <a:cubicBezTo>
                  <a:pt x="0" y="102113"/>
                  <a:pt x="102113" y="0"/>
                  <a:pt x="227888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574522" y="2221907"/>
            <a:ext cx="166168" cy="189907"/>
          </a:xfrm>
          <a:custGeom>
            <a:avLst/>
            <a:gdLst/>
            <a:ahLst/>
            <a:cxnLst/>
            <a:rect l="l" t="t" r="r" b="b"/>
            <a:pathLst>
              <a:path w="166168" h="189907">
                <a:moveTo>
                  <a:pt x="0" y="35607"/>
                </a:moveTo>
                <a:cubicBezTo>
                  <a:pt x="0" y="22514"/>
                  <a:pt x="10645" y="11869"/>
                  <a:pt x="23738" y="11869"/>
                </a:cubicBezTo>
                <a:lnTo>
                  <a:pt x="142430" y="11869"/>
                </a:lnTo>
                <a:cubicBezTo>
                  <a:pt x="155523" y="11869"/>
                  <a:pt x="166168" y="22514"/>
                  <a:pt x="166168" y="35607"/>
                </a:cubicBezTo>
                <a:lnTo>
                  <a:pt x="166168" y="154299"/>
                </a:lnTo>
                <a:cubicBezTo>
                  <a:pt x="166168" y="167392"/>
                  <a:pt x="155523" y="178037"/>
                  <a:pt x="142430" y="178037"/>
                </a:cubicBezTo>
                <a:lnTo>
                  <a:pt x="23738" y="178037"/>
                </a:lnTo>
                <a:cubicBezTo>
                  <a:pt x="10645" y="178037"/>
                  <a:pt x="0" y="167392"/>
                  <a:pt x="0" y="154299"/>
                </a:cubicBezTo>
                <a:lnTo>
                  <a:pt x="0" y="35607"/>
                </a:lnTo>
                <a:close/>
                <a:moveTo>
                  <a:pt x="17804" y="136495"/>
                </a:moveTo>
                <a:lnTo>
                  <a:pt x="17804" y="148364"/>
                </a:lnTo>
                <a:cubicBezTo>
                  <a:pt x="17804" y="151629"/>
                  <a:pt x="20474" y="154299"/>
                  <a:pt x="23738" y="154299"/>
                </a:cubicBezTo>
                <a:lnTo>
                  <a:pt x="35607" y="154299"/>
                </a:lnTo>
                <a:cubicBezTo>
                  <a:pt x="38871" y="154299"/>
                  <a:pt x="41542" y="151629"/>
                  <a:pt x="41542" y="148364"/>
                </a:cubicBezTo>
                <a:lnTo>
                  <a:pt x="41542" y="136495"/>
                </a:lnTo>
                <a:cubicBezTo>
                  <a:pt x="41542" y="133231"/>
                  <a:pt x="38871" y="130561"/>
                  <a:pt x="35607" y="130561"/>
                </a:cubicBezTo>
                <a:lnTo>
                  <a:pt x="23738" y="130561"/>
                </a:lnTo>
                <a:cubicBezTo>
                  <a:pt x="20474" y="130561"/>
                  <a:pt x="17804" y="133231"/>
                  <a:pt x="17804" y="136495"/>
                </a:cubicBezTo>
                <a:close/>
                <a:moveTo>
                  <a:pt x="130561" y="130561"/>
                </a:moveTo>
                <a:cubicBezTo>
                  <a:pt x="127297" y="130561"/>
                  <a:pt x="124626" y="133231"/>
                  <a:pt x="124626" y="136495"/>
                </a:cubicBezTo>
                <a:lnTo>
                  <a:pt x="124626" y="148364"/>
                </a:lnTo>
                <a:cubicBezTo>
                  <a:pt x="124626" y="151629"/>
                  <a:pt x="127297" y="154299"/>
                  <a:pt x="130561" y="154299"/>
                </a:cubicBezTo>
                <a:lnTo>
                  <a:pt x="142430" y="154299"/>
                </a:lnTo>
                <a:cubicBezTo>
                  <a:pt x="145694" y="154299"/>
                  <a:pt x="148364" y="151629"/>
                  <a:pt x="148364" y="148364"/>
                </a:cubicBezTo>
                <a:lnTo>
                  <a:pt x="148364" y="136495"/>
                </a:lnTo>
                <a:cubicBezTo>
                  <a:pt x="148364" y="133231"/>
                  <a:pt x="145694" y="130561"/>
                  <a:pt x="142430" y="130561"/>
                </a:cubicBezTo>
                <a:lnTo>
                  <a:pt x="130561" y="130561"/>
                </a:lnTo>
                <a:close/>
                <a:moveTo>
                  <a:pt x="17804" y="89019"/>
                </a:moveTo>
                <a:lnTo>
                  <a:pt x="17804" y="100888"/>
                </a:lnTo>
                <a:cubicBezTo>
                  <a:pt x="17804" y="104152"/>
                  <a:pt x="20474" y="106822"/>
                  <a:pt x="23738" y="106822"/>
                </a:cubicBezTo>
                <a:lnTo>
                  <a:pt x="35607" y="106822"/>
                </a:lnTo>
                <a:cubicBezTo>
                  <a:pt x="38871" y="106822"/>
                  <a:pt x="41542" y="104152"/>
                  <a:pt x="41542" y="100888"/>
                </a:cubicBezTo>
                <a:lnTo>
                  <a:pt x="41542" y="89019"/>
                </a:lnTo>
                <a:cubicBezTo>
                  <a:pt x="41542" y="85755"/>
                  <a:pt x="38871" y="83084"/>
                  <a:pt x="35607" y="83084"/>
                </a:cubicBezTo>
                <a:lnTo>
                  <a:pt x="23738" y="83084"/>
                </a:lnTo>
                <a:cubicBezTo>
                  <a:pt x="20474" y="83084"/>
                  <a:pt x="17804" y="85755"/>
                  <a:pt x="17804" y="89019"/>
                </a:cubicBezTo>
                <a:close/>
                <a:moveTo>
                  <a:pt x="130561" y="83084"/>
                </a:moveTo>
                <a:cubicBezTo>
                  <a:pt x="127297" y="83084"/>
                  <a:pt x="124626" y="85755"/>
                  <a:pt x="124626" y="89019"/>
                </a:cubicBezTo>
                <a:lnTo>
                  <a:pt x="124626" y="100888"/>
                </a:lnTo>
                <a:cubicBezTo>
                  <a:pt x="124626" y="104152"/>
                  <a:pt x="127297" y="106822"/>
                  <a:pt x="130561" y="106822"/>
                </a:cubicBezTo>
                <a:lnTo>
                  <a:pt x="142430" y="106822"/>
                </a:lnTo>
                <a:cubicBezTo>
                  <a:pt x="145694" y="106822"/>
                  <a:pt x="148364" y="104152"/>
                  <a:pt x="148364" y="100888"/>
                </a:cubicBezTo>
                <a:lnTo>
                  <a:pt x="148364" y="89019"/>
                </a:lnTo>
                <a:cubicBezTo>
                  <a:pt x="148364" y="85755"/>
                  <a:pt x="145694" y="83084"/>
                  <a:pt x="142430" y="83084"/>
                </a:cubicBezTo>
                <a:lnTo>
                  <a:pt x="130561" y="83084"/>
                </a:lnTo>
                <a:close/>
                <a:moveTo>
                  <a:pt x="17804" y="41542"/>
                </a:moveTo>
                <a:lnTo>
                  <a:pt x="17804" y="53411"/>
                </a:lnTo>
                <a:cubicBezTo>
                  <a:pt x="17804" y="56675"/>
                  <a:pt x="20474" y="59346"/>
                  <a:pt x="23738" y="59346"/>
                </a:cubicBezTo>
                <a:lnTo>
                  <a:pt x="35607" y="59346"/>
                </a:lnTo>
                <a:cubicBezTo>
                  <a:pt x="38871" y="59346"/>
                  <a:pt x="41542" y="56675"/>
                  <a:pt x="41542" y="53411"/>
                </a:cubicBezTo>
                <a:lnTo>
                  <a:pt x="41542" y="41542"/>
                </a:lnTo>
                <a:cubicBezTo>
                  <a:pt x="41542" y="38278"/>
                  <a:pt x="38871" y="35607"/>
                  <a:pt x="35607" y="35607"/>
                </a:cubicBezTo>
                <a:lnTo>
                  <a:pt x="23738" y="35607"/>
                </a:lnTo>
                <a:cubicBezTo>
                  <a:pt x="20474" y="35607"/>
                  <a:pt x="17804" y="38278"/>
                  <a:pt x="17804" y="41542"/>
                </a:cubicBezTo>
                <a:close/>
                <a:moveTo>
                  <a:pt x="130561" y="35607"/>
                </a:moveTo>
                <a:cubicBezTo>
                  <a:pt x="127297" y="35607"/>
                  <a:pt x="124626" y="38278"/>
                  <a:pt x="124626" y="41542"/>
                </a:cubicBezTo>
                <a:lnTo>
                  <a:pt x="124626" y="53411"/>
                </a:lnTo>
                <a:cubicBezTo>
                  <a:pt x="124626" y="56675"/>
                  <a:pt x="127297" y="59346"/>
                  <a:pt x="130561" y="59346"/>
                </a:cubicBezTo>
                <a:lnTo>
                  <a:pt x="142430" y="59346"/>
                </a:lnTo>
                <a:cubicBezTo>
                  <a:pt x="145694" y="59346"/>
                  <a:pt x="148364" y="56675"/>
                  <a:pt x="148364" y="53411"/>
                </a:cubicBezTo>
                <a:lnTo>
                  <a:pt x="148364" y="41542"/>
                </a:lnTo>
                <a:cubicBezTo>
                  <a:pt x="148364" y="38278"/>
                  <a:pt x="145694" y="35607"/>
                  <a:pt x="142430" y="35607"/>
                </a:cubicBezTo>
                <a:lnTo>
                  <a:pt x="130561" y="35607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7" name="Text 15"/>
          <p:cNvSpPr/>
          <p:nvPr/>
        </p:nvSpPr>
        <p:spPr>
          <a:xfrm>
            <a:off x="4999438" y="2183925"/>
            <a:ext cx="2554243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Entertainment Recommendations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29718" y="2658692"/>
            <a:ext cx="3408822" cy="740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6" b="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Netflix, Spotify, YouTube</a:t>
            </a:r>
            <a:r>
              <a:rPr lang="en-US" sz="1196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analyze your preferences to suggest movies, music, and videos you'll love.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29718" y="3475290"/>
            <a:ext cx="3399327" cy="379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Platformet analizojnë preferencat tuaja për të sugjeruar përmbajtje.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99811" y="1880075"/>
            <a:ext cx="3712673" cy="2164935"/>
          </a:xfrm>
          <a:custGeom>
            <a:avLst/>
            <a:gdLst/>
            <a:ahLst/>
            <a:cxnLst/>
            <a:rect l="l" t="t" r="r" b="b"/>
            <a:pathLst>
              <a:path w="3712673" h="2164935">
                <a:moveTo>
                  <a:pt x="37981" y="0"/>
                </a:moveTo>
                <a:lnTo>
                  <a:pt x="3674692" y="0"/>
                </a:lnTo>
                <a:cubicBezTo>
                  <a:pt x="3695668" y="0"/>
                  <a:pt x="3712673" y="17005"/>
                  <a:pt x="3712673" y="37981"/>
                </a:cubicBezTo>
                <a:lnTo>
                  <a:pt x="3712673" y="2050994"/>
                </a:lnTo>
                <a:cubicBezTo>
                  <a:pt x="3712673" y="2113922"/>
                  <a:pt x="3661660" y="2164935"/>
                  <a:pt x="3598732" y="2164935"/>
                </a:cubicBezTo>
                <a:lnTo>
                  <a:pt x="113941" y="2164935"/>
                </a:lnTo>
                <a:cubicBezTo>
                  <a:pt x="51013" y="2164935"/>
                  <a:pt x="0" y="2113922"/>
                  <a:pt x="0" y="2050994"/>
                </a:cubicBezTo>
                <a:lnTo>
                  <a:pt x="0" y="37981"/>
                </a:lnTo>
                <a:cubicBezTo>
                  <a:pt x="0" y="17005"/>
                  <a:pt x="17005" y="0"/>
                  <a:pt x="3798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486" dist="949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99811" y="1880075"/>
            <a:ext cx="3712673" cy="37981"/>
          </a:xfrm>
          <a:custGeom>
            <a:avLst/>
            <a:gdLst/>
            <a:ahLst/>
            <a:cxnLst/>
            <a:rect l="l" t="t" r="r" b="b"/>
            <a:pathLst>
              <a:path w="3712673" h="37981">
                <a:moveTo>
                  <a:pt x="37981" y="0"/>
                </a:moveTo>
                <a:lnTo>
                  <a:pt x="3674692" y="0"/>
                </a:lnTo>
                <a:cubicBezTo>
                  <a:pt x="3695668" y="0"/>
                  <a:pt x="3712673" y="17005"/>
                  <a:pt x="3712673" y="37981"/>
                </a:cubicBezTo>
                <a:lnTo>
                  <a:pt x="3712673" y="37981"/>
                </a:lnTo>
                <a:lnTo>
                  <a:pt x="0" y="37981"/>
                </a:ln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22" name="Shape 20"/>
          <p:cNvSpPr/>
          <p:nvPr/>
        </p:nvSpPr>
        <p:spPr>
          <a:xfrm>
            <a:off x="8289717" y="2088972"/>
            <a:ext cx="455776" cy="455776"/>
          </a:xfrm>
          <a:custGeom>
            <a:avLst/>
            <a:gdLst/>
            <a:ahLst/>
            <a:cxnLst/>
            <a:rect l="l" t="t" r="r" b="b"/>
            <a:pathLst>
              <a:path w="455776" h="455776">
                <a:moveTo>
                  <a:pt x="227888" y="0"/>
                </a:moveTo>
                <a:lnTo>
                  <a:pt x="227888" y="0"/>
                </a:lnTo>
                <a:cubicBezTo>
                  <a:pt x="353663" y="0"/>
                  <a:pt x="455776" y="102113"/>
                  <a:pt x="455776" y="227888"/>
                </a:cubicBezTo>
                <a:lnTo>
                  <a:pt x="455776" y="227888"/>
                </a:lnTo>
                <a:cubicBezTo>
                  <a:pt x="455776" y="353663"/>
                  <a:pt x="353663" y="455776"/>
                  <a:pt x="227888" y="455776"/>
                </a:cubicBezTo>
                <a:lnTo>
                  <a:pt x="227888" y="455776"/>
                </a:lnTo>
                <a:cubicBezTo>
                  <a:pt x="102113" y="455776"/>
                  <a:pt x="0" y="353663"/>
                  <a:pt x="0" y="227888"/>
                </a:cubicBezTo>
                <a:lnTo>
                  <a:pt x="0" y="227888"/>
                </a:lnTo>
                <a:cubicBezTo>
                  <a:pt x="0" y="102113"/>
                  <a:pt x="102113" y="0"/>
                  <a:pt x="227888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422652" y="2221907"/>
            <a:ext cx="189907" cy="189907"/>
          </a:xfrm>
          <a:custGeom>
            <a:avLst/>
            <a:gdLst/>
            <a:ahLst/>
            <a:cxnLst/>
            <a:rect l="l" t="t" r="r" b="b"/>
            <a:pathLst>
              <a:path w="189907" h="189907">
                <a:moveTo>
                  <a:pt x="17804" y="23738"/>
                </a:moveTo>
                <a:cubicBezTo>
                  <a:pt x="7975" y="23738"/>
                  <a:pt x="0" y="31713"/>
                  <a:pt x="0" y="41542"/>
                </a:cubicBezTo>
                <a:cubicBezTo>
                  <a:pt x="0" y="47143"/>
                  <a:pt x="2633" y="52410"/>
                  <a:pt x="7121" y="55785"/>
                </a:cubicBezTo>
                <a:lnTo>
                  <a:pt x="84271" y="113647"/>
                </a:lnTo>
                <a:cubicBezTo>
                  <a:pt x="90614" y="118395"/>
                  <a:pt x="99293" y="118395"/>
                  <a:pt x="105636" y="113647"/>
                </a:cubicBezTo>
                <a:lnTo>
                  <a:pt x="182785" y="55785"/>
                </a:lnTo>
                <a:cubicBezTo>
                  <a:pt x="187273" y="52410"/>
                  <a:pt x="189907" y="47143"/>
                  <a:pt x="189907" y="41542"/>
                </a:cubicBezTo>
                <a:cubicBezTo>
                  <a:pt x="189907" y="31713"/>
                  <a:pt x="181932" y="23738"/>
                  <a:pt x="172103" y="23738"/>
                </a:cubicBezTo>
                <a:lnTo>
                  <a:pt x="17804" y="23738"/>
                </a:lnTo>
                <a:close/>
                <a:moveTo>
                  <a:pt x="0" y="72699"/>
                </a:moveTo>
                <a:lnTo>
                  <a:pt x="0" y="142430"/>
                </a:lnTo>
                <a:cubicBezTo>
                  <a:pt x="0" y="155523"/>
                  <a:pt x="10645" y="166168"/>
                  <a:pt x="23738" y="166168"/>
                </a:cubicBezTo>
                <a:lnTo>
                  <a:pt x="166168" y="166168"/>
                </a:lnTo>
                <a:cubicBezTo>
                  <a:pt x="179261" y="166168"/>
                  <a:pt x="189907" y="155523"/>
                  <a:pt x="189907" y="142430"/>
                </a:cubicBezTo>
                <a:lnTo>
                  <a:pt x="189907" y="72699"/>
                </a:lnTo>
                <a:lnTo>
                  <a:pt x="116318" y="127890"/>
                </a:lnTo>
                <a:cubicBezTo>
                  <a:pt x="103670" y="137386"/>
                  <a:pt x="86237" y="137386"/>
                  <a:pt x="73589" y="127890"/>
                </a:cubicBezTo>
                <a:lnTo>
                  <a:pt x="0" y="72699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24" name="Text 22"/>
          <p:cNvSpPr/>
          <p:nvPr/>
        </p:nvSpPr>
        <p:spPr>
          <a:xfrm>
            <a:off x="8859437" y="2183925"/>
            <a:ext cx="1433794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Email Spam Filters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89717" y="2658692"/>
            <a:ext cx="3408822" cy="740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6" b="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Gmail, Outlook</a:t>
            </a:r>
            <a:r>
              <a:rPr lang="en-US" sz="1196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automatically detect and filter spam emails, learning from your actions.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89717" y="3475290"/>
            <a:ext cx="3399327" cy="379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Filtrat e postës elektronike zbulojnë dhe filtrojnë automatikisht spam.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79813" y="4215925"/>
            <a:ext cx="3712673" cy="1918056"/>
          </a:xfrm>
          <a:custGeom>
            <a:avLst/>
            <a:gdLst/>
            <a:ahLst/>
            <a:cxnLst/>
            <a:rect l="l" t="t" r="r" b="b"/>
            <a:pathLst>
              <a:path w="3712673" h="1918056">
                <a:moveTo>
                  <a:pt x="37981" y="0"/>
                </a:moveTo>
                <a:lnTo>
                  <a:pt x="3674692" y="0"/>
                </a:lnTo>
                <a:cubicBezTo>
                  <a:pt x="3695668" y="0"/>
                  <a:pt x="3712673" y="17005"/>
                  <a:pt x="3712673" y="37981"/>
                </a:cubicBezTo>
                <a:lnTo>
                  <a:pt x="3712673" y="1804104"/>
                </a:lnTo>
                <a:cubicBezTo>
                  <a:pt x="3712673" y="1867038"/>
                  <a:pt x="3661655" y="1918056"/>
                  <a:pt x="3598721" y="1918056"/>
                </a:cubicBezTo>
                <a:lnTo>
                  <a:pt x="113952" y="1918056"/>
                </a:lnTo>
                <a:cubicBezTo>
                  <a:pt x="51018" y="1918056"/>
                  <a:pt x="0" y="1867038"/>
                  <a:pt x="0" y="1804104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486" dist="949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79813" y="4215925"/>
            <a:ext cx="3712673" cy="37981"/>
          </a:xfrm>
          <a:custGeom>
            <a:avLst/>
            <a:gdLst/>
            <a:ahLst/>
            <a:cxnLst/>
            <a:rect l="l" t="t" r="r" b="b"/>
            <a:pathLst>
              <a:path w="3712673" h="37981">
                <a:moveTo>
                  <a:pt x="37981" y="0"/>
                </a:moveTo>
                <a:lnTo>
                  <a:pt x="3674692" y="0"/>
                </a:lnTo>
                <a:cubicBezTo>
                  <a:pt x="3695668" y="0"/>
                  <a:pt x="3712673" y="17005"/>
                  <a:pt x="3712673" y="37981"/>
                </a:cubicBezTo>
                <a:lnTo>
                  <a:pt x="3712673" y="37981"/>
                </a:lnTo>
                <a:lnTo>
                  <a:pt x="0" y="37981"/>
                </a:ln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29" name="Shape 27"/>
          <p:cNvSpPr/>
          <p:nvPr/>
        </p:nvSpPr>
        <p:spPr>
          <a:xfrm>
            <a:off x="569720" y="4424822"/>
            <a:ext cx="455776" cy="455776"/>
          </a:xfrm>
          <a:custGeom>
            <a:avLst/>
            <a:gdLst/>
            <a:ahLst/>
            <a:cxnLst/>
            <a:rect l="l" t="t" r="r" b="b"/>
            <a:pathLst>
              <a:path w="455776" h="455776">
                <a:moveTo>
                  <a:pt x="227888" y="0"/>
                </a:moveTo>
                <a:lnTo>
                  <a:pt x="227888" y="0"/>
                </a:lnTo>
                <a:cubicBezTo>
                  <a:pt x="353663" y="0"/>
                  <a:pt x="455776" y="102113"/>
                  <a:pt x="455776" y="227888"/>
                </a:cubicBezTo>
                <a:lnTo>
                  <a:pt x="455776" y="227888"/>
                </a:lnTo>
                <a:cubicBezTo>
                  <a:pt x="455776" y="353663"/>
                  <a:pt x="353663" y="455776"/>
                  <a:pt x="227888" y="455776"/>
                </a:cubicBezTo>
                <a:lnTo>
                  <a:pt x="227888" y="455776"/>
                </a:lnTo>
                <a:cubicBezTo>
                  <a:pt x="102113" y="455776"/>
                  <a:pt x="0" y="353663"/>
                  <a:pt x="0" y="227888"/>
                </a:cubicBezTo>
                <a:lnTo>
                  <a:pt x="0" y="227888"/>
                </a:lnTo>
                <a:cubicBezTo>
                  <a:pt x="0" y="102113"/>
                  <a:pt x="102113" y="0"/>
                  <a:pt x="227888" y="0"/>
                </a:cubicBezTo>
                <a:close/>
              </a:path>
            </a:pathLst>
          </a:custGeom>
          <a:solidFill>
            <a:srgbClr val="8FB7AC">
              <a:alpha val="1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78916" y="4557757"/>
            <a:ext cx="237383" cy="189907"/>
          </a:xfrm>
          <a:custGeom>
            <a:avLst/>
            <a:gdLst/>
            <a:ahLst/>
            <a:cxnLst/>
            <a:rect l="l" t="t" r="r" b="b"/>
            <a:pathLst>
              <a:path w="237383" h="189907">
                <a:moveTo>
                  <a:pt x="213645" y="17804"/>
                </a:moveTo>
                <a:cubicBezTo>
                  <a:pt x="213645" y="13687"/>
                  <a:pt x="211531" y="9866"/>
                  <a:pt x="208007" y="7715"/>
                </a:cubicBezTo>
                <a:cubicBezTo>
                  <a:pt x="204483" y="5564"/>
                  <a:pt x="200144" y="5341"/>
                  <a:pt x="196472" y="7196"/>
                </a:cubicBezTo>
                <a:lnTo>
                  <a:pt x="153372" y="28746"/>
                </a:lnTo>
                <a:lnTo>
                  <a:pt x="86830" y="6528"/>
                </a:lnTo>
                <a:cubicBezTo>
                  <a:pt x="83826" y="5527"/>
                  <a:pt x="80599" y="5749"/>
                  <a:pt x="77780" y="7159"/>
                </a:cubicBezTo>
                <a:lnTo>
                  <a:pt x="30303" y="30897"/>
                </a:lnTo>
                <a:cubicBezTo>
                  <a:pt x="26261" y="32937"/>
                  <a:pt x="23738" y="37054"/>
                  <a:pt x="23738" y="41542"/>
                </a:cubicBezTo>
                <a:lnTo>
                  <a:pt x="23738" y="172103"/>
                </a:lnTo>
                <a:cubicBezTo>
                  <a:pt x="23738" y="176220"/>
                  <a:pt x="25853" y="180040"/>
                  <a:pt x="29376" y="182192"/>
                </a:cubicBezTo>
                <a:cubicBezTo>
                  <a:pt x="32900" y="184343"/>
                  <a:pt x="37239" y="184565"/>
                  <a:pt x="40912" y="182711"/>
                </a:cubicBezTo>
                <a:lnTo>
                  <a:pt x="83974" y="161161"/>
                </a:lnTo>
                <a:lnTo>
                  <a:pt x="148253" y="182600"/>
                </a:lnTo>
                <a:cubicBezTo>
                  <a:pt x="146658" y="180226"/>
                  <a:pt x="145100" y="177741"/>
                  <a:pt x="143580" y="175218"/>
                </a:cubicBezTo>
                <a:cubicBezTo>
                  <a:pt x="139500" y="168431"/>
                  <a:pt x="135457" y="160642"/>
                  <a:pt x="132452" y="152296"/>
                </a:cubicBezTo>
                <a:lnTo>
                  <a:pt x="94916" y="139796"/>
                </a:lnTo>
                <a:lnTo>
                  <a:pt x="94916" y="34272"/>
                </a:lnTo>
                <a:lnTo>
                  <a:pt x="142393" y="50110"/>
                </a:lnTo>
                <a:lnTo>
                  <a:pt x="142393" y="86942"/>
                </a:lnTo>
                <a:cubicBezTo>
                  <a:pt x="153891" y="73663"/>
                  <a:pt x="170953" y="65280"/>
                  <a:pt x="189869" y="65280"/>
                </a:cubicBezTo>
                <a:cubicBezTo>
                  <a:pt x="198252" y="65280"/>
                  <a:pt x="206264" y="66912"/>
                  <a:pt x="213608" y="69917"/>
                </a:cubicBezTo>
                <a:lnTo>
                  <a:pt x="213645" y="17804"/>
                </a:lnTo>
                <a:close/>
                <a:moveTo>
                  <a:pt x="189907" y="83084"/>
                </a:moveTo>
                <a:cubicBezTo>
                  <a:pt x="165315" y="83084"/>
                  <a:pt x="145397" y="102668"/>
                  <a:pt x="145397" y="126815"/>
                </a:cubicBezTo>
                <a:cubicBezTo>
                  <a:pt x="145397" y="152370"/>
                  <a:pt x="169173" y="182600"/>
                  <a:pt x="181969" y="197028"/>
                </a:cubicBezTo>
                <a:cubicBezTo>
                  <a:pt x="186272" y="201850"/>
                  <a:pt x="193579" y="201850"/>
                  <a:pt x="197881" y="197028"/>
                </a:cubicBezTo>
                <a:cubicBezTo>
                  <a:pt x="210678" y="182600"/>
                  <a:pt x="234453" y="152370"/>
                  <a:pt x="234453" y="126815"/>
                </a:cubicBezTo>
                <a:cubicBezTo>
                  <a:pt x="234453" y="102668"/>
                  <a:pt x="214535" y="83084"/>
                  <a:pt x="189944" y="83084"/>
                </a:cubicBezTo>
                <a:close/>
                <a:moveTo>
                  <a:pt x="175070" y="127593"/>
                </a:moveTo>
                <a:cubicBezTo>
                  <a:pt x="175070" y="119405"/>
                  <a:pt x="181718" y="112757"/>
                  <a:pt x="189907" y="112757"/>
                </a:cubicBezTo>
                <a:cubicBezTo>
                  <a:pt x="198095" y="112757"/>
                  <a:pt x="204743" y="119405"/>
                  <a:pt x="204743" y="127593"/>
                </a:cubicBezTo>
                <a:cubicBezTo>
                  <a:pt x="204743" y="135782"/>
                  <a:pt x="198095" y="142430"/>
                  <a:pt x="189907" y="142430"/>
                </a:cubicBezTo>
                <a:cubicBezTo>
                  <a:pt x="181718" y="142430"/>
                  <a:pt x="175070" y="135782"/>
                  <a:pt x="175070" y="127593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31" name="Text 29"/>
          <p:cNvSpPr/>
          <p:nvPr/>
        </p:nvSpPr>
        <p:spPr>
          <a:xfrm>
            <a:off x="1139439" y="4519776"/>
            <a:ext cx="1291364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Navigation Apps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69720" y="4994542"/>
            <a:ext cx="3408822" cy="6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6" b="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Maps, Waze</a:t>
            </a:r>
            <a:r>
              <a:rPr lang="en-US" sz="1196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analyze traffic patterns in real-time to find the fastest routes.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69720" y="5754168"/>
            <a:ext cx="3399327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Aplikacionet e navigimit analizojnë trafikun në kohë reale.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239812" y="4215925"/>
            <a:ext cx="3712673" cy="1918056"/>
          </a:xfrm>
          <a:custGeom>
            <a:avLst/>
            <a:gdLst/>
            <a:ahLst/>
            <a:cxnLst/>
            <a:rect l="l" t="t" r="r" b="b"/>
            <a:pathLst>
              <a:path w="3712673" h="1918056">
                <a:moveTo>
                  <a:pt x="37981" y="0"/>
                </a:moveTo>
                <a:lnTo>
                  <a:pt x="3674692" y="0"/>
                </a:lnTo>
                <a:cubicBezTo>
                  <a:pt x="3695668" y="0"/>
                  <a:pt x="3712673" y="17005"/>
                  <a:pt x="3712673" y="37981"/>
                </a:cubicBezTo>
                <a:lnTo>
                  <a:pt x="3712673" y="1804104"/>
                </a:lnTo>
                <a:cubicBezTo>
                  <a:pt x="3712673" y="1867038"/>
                  <a:pt x="3661655" y="1918056"/>
                  <a:pt x="3598721" y="1918056"/>
                </a:cubicBezTo>
                <a:lnTo>
                  <a:pt x="113952" y="1918056"/>
                </a:lnTo>
                <a:cubicBezTo>
                  <a:pt x="51018" y="1918056"/>
                  <a:pt x="0" y="1867038"/>
                  <a:pt x="0" y="1804104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486" dist="949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239812" y="4215925"/>
            <a:ext cx="3712673" cy="37981"/>
          </a:xfrm>
          <a:custGeom>
            <a:avLst/>
            <a:gdLst/>
            <a:ahLst/>
            <a:cxnLst/>
            <a:rect l="l" t="t" r="r" b="b"/>
            <a:pathLst>
              <a:path w="3712673" h="37981">
                <a:moveTo>
                  <a:pt x="37981" y="0"/>
                </a:moveTo>
                <a:lnTo>
                  <a:pt x="3674692" y="0"/>
                </a:lnTo>
                <a:cubicBezTo>
                  <a:pt x="3695668" y="0"/>
                  <a:pt x="3712673" y="17005"/>
                  <a:pt x="3712673" y="37981"/>
                </a:cubicBezTo>
                <a:lnTo>
                  <a:pt x="3712673" y="37981"/>
                </a:lnTo>
                <a:lnTo>
                  <a:pt x="0" y="37981"/>
                </a:ln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36" name="Shape 34"/>
          <p:cNvSpPr/>
          <p:nvPr/>
        </p:nvSpPr>
        <p:spPr>
          <a:xfrm>
            <a:off x="4429718" y="4424822"/>
            <a:ext cx="455776" cy="455776"/>
          </a:xfrm>
          <a:custGeom>
            <a:avLst/>
            <a:gdLst/>
            <a:ahLst/>
            <a:cxnLst/>
            <a:rect l="l" t="t" r="r" b="b"/>
            <a:pathLst>
              <a:path w="455776" h="455776">
                <a:moveTo>
                  <a:pt x="227888" y="0"/>
                </a:moveTo>
                <a:lnTo>
                  <a:pt x="227888" y="0"/>
                </a:lnTo>
                <a:cubicBezTo>
                  <a:pt x="353663" y="0"/>
                  <a:pt x="455776" y="102113"/>
                  <a:pt x="455776" y="227888"/>
                </a:cubicBezTo>
                <a:lnTo>
                  <a:pt x="455776" y="227888"/>
                </a:lnTo>
                <a:cubicBezTo>
                  <a:pt x="455776" y="353663"/>
                  <a:pt x="353663" y="455776"/>
                  <a:pt x="227888" y="455776"/>
                </a:cubicBezTo>
                <a:lnTo>
                  <a:pt x="227888" y="455776"/>
                </a:lnTo>
                <a:cubicBezTo>
                  <a:pt x="102113" y="455776"/>
                  <a:pt x="0" y="353663"/>
                  <a:pt x="0" y="227888"/>
                </a:cubicBezTo>
                <a:lnTo>
                  <a:pt x="0" y="227888"/>
                </a:lnTo>
                <a:cubicBezTo>
                  <a:pt x="0" y="102113"/>
                  <a:pt x="102113" y="0"/>
                  <a:pt x="227888" y="0"/>
                </a:cubicBezTo>
                <a:close/>
              </a:path>
            </a:pathLst>
          </a:custGeom>
          <a:solidFill>
            <a:srgbClr val="8FB7AC">
              <a:alpha val="1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562653" y="4557757"/>
            <a:ext cx="189907" cy="189907"/>
          </a:xfrm>
          <a:custGeom>
            <a:avLst/>
            <a:gdLst/>
            <a:ahLst/>
            <a:cxnLst/>
            <a:rect l="l" t="t" r="r" b="b"/>
            <a:pathLst>
              <a:path w="189907" h="189907">
                <a:moveTo>
                  <a:pt x="103039" y="3190"/>
                </a:moveTo>
                <a:cubicBezTo>
                  <a:pt x="98477" y="-1039"/>
                  <a:pt x="91430" y="-1039"/>
                  <a:pt x="86904" y="3190"/>
                </a:cubicBezTo>
                <a:lnTo>
                  <a:pt x="3820" y="80339"/>
                </a:lnTo>
                <a:cubicBezTo>
                  <a:pt x="260" y="83678"/>
                  <a:pt x="-927" y="88833"/>
                  <a:pt x="853" y="93358"/>
                </a:cubicBezTo>
                <a:cubicBezTo>
                  <a:pt x="2633" y="97883"/>
                  <a:pt x="6973" y="100888"/>
                  <a:pt x="11869" y="100888"/>
                </a:cubicBezTo>
                <a:lnTo>
                  <a:pt x="17804" y="100888"/>
                </a:lnTo>
                <a:lnTo>
                  <a:pt x="17804" y="166168"/>
                </a:lnTo>
                <a:cubicBezTo>
                  <a:pt x="17804" y="179261"/>
                  <a:pt x="28449" y="189907"/>
                  <a:pt x="41542" y="189907"/>
                </a:cubicBezTo>
                <a:lnTo>
                  <a:pt x="148364" y="189907"/>
                </a:lnTo>
                <a:cubicBezTo>
                  <a:pt x="161458" y="189907"/>
                  <a:pt x="172103" y="179261"/>
                  <a:pt x="172103" y="166168"/>
                </a:cubicBezTo>
                <a:lnTo>
                  <a:pt x="172103" y="100888"/>
                </a:lnTo>
                <a:lnTo>
                  <a:pt x="178037" y="100888"/>
                </a:lnTo>
                <a:cubicBezTo>
                  <a:pt x="182933" y="100888"/>
                  <a:pt x="187310" y="97883"/>
                  <a:pt x="189091" y="93358"/>
                </a:cubicBezTo>
                <a:cubicBezTo>
                  <a:pt x="190871" y="88833"/>
                  <a:pt x="189684" y="83640"/>
                  <a:pt x="186123" y="80339"/>
                </a:cubicBezTo>
                <a:lnTo>
                  <a:pt x="103039" y="3190"/>
                </a:lnTo>
                <a:close/>
                <a:moveTo>
                  <a:pt x="89019" y="118692"/>
                </a:moveTo>
                <a:lnTo>
                  <a:pt x="100888" y="118692"/>
                </a:lnTo>
                <a:cubicBezTo>
                  <a:pt x="110717" y="118692"/>
                  <a:pt x="118692" y="126666"/>
                  <a:pt x="118692" y="136495"/>
                </a:cubicBezTo>
                <a:lnTo>
                  <a:pt x="118692" y="172103"/>
                </a:lnTo>
                <a:lnTo>
                  <a:pt x="71215" y="172103"/>
                </a:lnTo>
                <a:lnTo>
                  <a:pt x="71215" y="136495"/>
                </a:lnTo>
                <a:cubicBezTo>
                  <a:pt x="71215" y="126666"/>
                  <a:pt x="79190" y="118692"/>
                  <a:pt x="89019" y="118692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38" name="Text 36"/>
          <p:cNvSpPr/>
          <p:nvPr/>
        </p:nvSpPr>
        <p:spPr>
          <a:xfrm>
            <a:off x="4999438" y="4519776"/>
            <a:ext cx="1642692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Home Devices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429718" y="4994542"/>
            <a:ext cx="3408822" cy="493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6" b="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thermostats, lights, security systems</a:t>
            </a:r>
            <a:r>
              <a:rPr lang="en-US" sz="1196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learn your habits and adjust automatically.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429718" y="5564262"/>
            <a:ext cx="3399327" cy="379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Pajisjet inteligjente mësojnë zakonet tuaja dhe rregullohen automatikisht.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099811" y="4215925"/>
            <a:ext cx="3712673" cy="1918056"/>
          </a:xfrm>
          <a:custGeom>
            <a:avLst/>
            <a:gdLst/>
            <a:ahLst/>
            <a:cxnLst/>
            <a:rect l="l" t="t" r="r" b="b"/>
            <a:pathLst>
              <a:path w="3712673" h="1918056">
                <a:moveTo>
                  <a:pt x="37981" y="0"/>
                </a:moveTo>
                <a:lnTo>
                  <a:pt x="3674692" y="0"/>
                </a:lnTo>
                <a:cubicBezTo>
                  <a:pt x="3695668" y="0"/>
                  <a:pt x="3712673" y="17005"/>
                  <a:pt x="3712673" y="37981"/>
                </a:cubicBezTo>
                <a:lnTo>
                  <a:pt x="3712673" y="1804104"/>
                </a:lnTo>
                <a:cubicBezTo>
                  <a:pt x="3712673" y="1867038"/>
                  <a:pt x="3661655" y="1918056"/>
                  <a:pt x="3598721" y="1918056"/>
                </a:cubicBezTo>
                <a:lnTo>
                  <a:pt x="113952" y="1918056"/>
                </a:lnTo>
                <a:cubicBezTo>
                  <a:pt x="51018" y="1918056"/>
                  <a:pt x="0" y="1867038"/>
                  <a:pt x="0" y="1804104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486" dist="949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099811" y="4215925"/>
            <a:ext cx="3712673" cy="37981"/>
          </a:xfrm>
          <a:custGeom>
            <a:avLst/>
            <a:gdLst/>
            <a:ahLst/>
            <a:cxnLst/>
            <a:rect l="l" t="t" r="r" b="b"/>
            <a:pathLst>
              <a:path w="3712673" h="37981">
                <a:moveTo>
                  <a:pt x="37981" y="0"/>
                </a:moveTo>
                <a:lnTo>
                  <a:pt x="3674692" y="0"/>
                </a:lnTo>
                <a:cubicBezTo>
                  <a:pt x="3695668" y="0"/>
                  <a:pt x="3712673" y="17005"/>
                  <a:pt x="3712673" y="37981"/>
                </a:cubicBezTo>
                <a:lnTo>
                  <a:pt x="3712673" y="37981"/>
                </a:lnTo>
                <a:lnTo>
                  <a:pt x="0" y="37981"/>
                </a:ln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43" name="Shape 41"/>
          <p:cNvSpPr/>
          <p:nvPr/>
        </p:nvSpPr>
        <p:spPr>
          <a:xfrm>
            <a:off x="8289717" y="4424822"/>
            <a:ext cx="455776" cy="455776"/>
          </a:xfrm>
          <a:custGeom>
            <a:avLst/>
            <a:gdLst/>
            <a:ahLst/>
            <a:cxnLst/>
            <a:rect l="l" t="t" r="r" b="b"/>
            <a:pathLst>
              <a:path w="455776" h="455776">
                <a:moveTo>
                  <a:pt x="227888" y="0"/>
                </a:moveTo>
                <a:lnTo>
                  <a:pt x="227888" y="0"/>
                </a:lnTo>
                <a:cubicBezTo>
                  <a:pt x="353663" y="0"/>
                  <a:pt x="455776" y="102113"/>
                  <a:pt x="455776" y="227888"/>
                </a:cubicBezTo>
                <a:lnTo>
                  <a:pt x="455776" y="227888"/>
                </a:lnTo>
                <a:cubicBezTo>
                  <a:pt x="455776" y="353663"/>
                  <a:pt x="353663" y="455776"/>
                  <a:pt x="227888" y="455776"/>
                </a:cubicBezTo>
                <a:lnTo>
                  <a:pt x="227888" y="455776"/>
                </a:lnTo>
                <a:cubicBezTo>
                  <a:pt x="102113" y="455776"/>
                  <a:pt x="0" y="353663"/>
                  <a:pt x="0" y="227888"/>
                </a:cubicBezTo>
                <a:lnTo>
                  <a:pt x="0" y="227888"/>
                </a:lnTo>
                <a:cubicBezTo>
                  <a:pt x="0" y="102113"/>
                  <a:pt x="102113" y="0"/>
                  <a:pt x="227888" y="0"/>
                </a:cubicBezTo>
                <a:close/>
              </a:path>
            </a:pathLst>
          </a:custGeom>
          <a:solidFill>
            <a:srgbClr val="8FB7AC">
              <a:alpha val="1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398914" y="4557757"/>
            <a:ext cx="237383" cy="189907"/>
          </a:xfrm>
          <a:custGeom>
            <a:avLst/>
            <a:gdLst/>
            <a:ahLst/>
            <a:cxnLst/>
            <a:rect l="l" t="t" r="r" b="b"/>
            <a:pathLst>
              <a:path w="237383" h="189907">
                <a:moveTo>
                  <a:pt x="8902" y="-5935"/>
                </a:moveTo>
                <a:cubicBezTo>
                  <a:pt x="3969" y="-5935"/>
                  <a:pt x="0" y="-1966"/>
                  <a:pt x="0" y="2967"/>
                </a:cubicBezTo>
                <a:cubicBezTo>
                  <a:pt x="0" y="7900"/>
                  <a:pt x="3969" y="11869"/>
                  <a:pt x="8902" y="11869"/>
                </a:cubicBezTo>
                <a:lnTo>
                  <a:pt x="25704" y="11869"/>
                </a:lnTo>
                <a:cubicBezTo>
                  <a:pt x="27151" y="11869"/>
                  <a:pt x="28375" y="12908"/>
                  <a:pt x="28634" y="14317"/>
                </a:cubicBezTo>
                <a:lnTo>
                  <a:pt x="47959" y="120509"/>
                </a:lnTo>
                <a:cubicBezTo>
                  <a:pt x="50258" y="133194"/>
                  <a:pt x="61312" y="142430"/>
                  <a:pt x="74219" y="142430"/>
                </a:cubicBezTo>
                <a:lnTo>
                  <a:pt x="169136" y="142430"/>
                </a:lnTo>
                <a:cubicBezTo>
                  <a:pt x="174069" y="142430"/>
                  <a:pt x="178037" y="138461"/>
                  <a:pt x="178037" y="133528"/>
                </a:cubicBezTo>
                <a:cubicBezTo>
                  <a:pt x="178037" y="128595"/>
                  <a:pt x="174069" y="124626"/>
                  <a:pt x="169136" y="124626"/>
                </a:cubicBezTo>
                <a:lnTo>
                  <a:pt x="74219" y="124626"/>
                </a:lnTo>
                <a:cubicBezTo>
                  <a:pt x="69917" y="124626"/>
                  <a:pt x="66245" y="121548"/>
                  <a:pt x="65466" y="117319"/>
                </a:cubicBezTo>
                <a:lnTo>
                  <a:pt x="63574" y="106822"/>
                </a:lnTo>
                <a:lnTo>
                  <a:pt x="176183" y="106822"/>
                </a:lnTo>
                <a:cubicBezTo>
                  <a:pt x="187607" y="106822"/>
                  <a:pt x="197399" y="98699"/>
                  <a:pt x="199513" y="87461"/>
                </a:cubicBezTo>
                <a:lnTo>
                  <a:pt x="211011" y="25927"/>
                </a:lnTo>
                <a:cubicBezTo>
                  <a:pt x="212384" y="18620"/>
                  <a:pt x="206783" y="11869"/>
                  <a:pt x="199328" y="11869"/>
                </a:cubicBezTo>
                <a:lnTo>
                  <a:pt x="46253" y="11869"/>
                </a:lnTo>
                <a:lnTo>
                  <a:pt x="46104" y="11127"/>
                </a:lnTo>
                <a:cubicBezTo>
                  <a:pt x="44324" y="1261"/>
                  <a:pt x="35719" y="-5935"/>
                  <a:pt x="25667" y="-5935"/>
                </a:cubicBezTo>
                <a:lnTo>
                  <a:pt x="8902" y="-5935"/>
                </a:lnTo>
                <a:close/>
                <a:moveTo>
                  <a:pt x="77150" y="189907"/>
                </a:moveTo>
                <a:cubicBezTo>
                  <a:pt x="86976" y="189907"/>
                  <a:pt x="94953" y="181929"/>
                  <a:pt x="94953" y="172103"/>
                </a:cubicBezTo>
                <a:cubicBezTo>
                  <a:pt x="94953" y="162277"/>
                  <a:pt x="86976" y="154299"/>
                  <a:pt x="77150" y="154299"/>
                </a:cubicBezTo>
                <a:cubicBezTo>
                  <a:pt x="67323" y="154299"/>
                  <a:pt x="59346" y="162277"/>
                  <a:pt x="59346" y="172103"/>
                </a:cubicBezTo>
                <a:cubicBezTo>
                  <a:pt x="59346" y="181929"/>
                  <a:pt x="67323" y="189907"/>
                  <a:pt x="77150" y="189907"/>
                </a:cubicBezTo>
                <a:close/>
                <a:moveTo>
                  <a:pt x="160234" y="189907"/>
                </a:moveTo>
                <a:cubicBezTo>
                  <a:pt x="170060" y="189907"/>
                  <a:pt x="178037" y="181929"/>
                  <a:pt x="178037" y="172103"/>
                </a:cubicBezTo>
                <a:cubicBezTo>
                  <a:pt x="178037" y="162277"/>
                  <a:pt x="170060" y="154299"/>
                  <a:pt x="160234" y="154299"/>
                </a:cubicBezTo>
                <a:cubicBezTo>
                  <a:pt x="150407" y="154299"/>
                  <a:pt x="142430" y="162277"/>
                  <a:pt x="142430" y="172103"/>
                </a:cubicBezTo>
                <a:cubicBezTo>
                  <a:pt x="142430" y="181929"/>
                  <a:pt x="150407" y="189907"/>
                  <a:pt x="160234" y="189907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45" name="Text 43"/>
          <p:cNvSpPr/>
          <p:nvPr/>
        </p:nvSpPr>
        <p:spPr>
          <a:xfrm>
            <a:off x="8859437" y="4519776"/>
            <a:ext cx="1310355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Online Shopping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289717" y="4994542"/>
            <a:ext cx="3408822" cy="493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6" b="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Amazon, eBay</a:t>
            </a:r>
            <a:r>
              <a:rPr lang="en-US" sz="1196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recommend products based on your browsing and purchase history.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289717" y="5564262"/>
            <a:ext cx="3399327" cy="379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Platformat e-commerce rekomandojnë produkte bazuar në historinë tuaj.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79813" y="6285907"/>
            <a:ext cx="11432374" cy="569720"/>
          </a:xfrm>
          <a:custGeom>
            <a:avLst/>
            <a:gdLst/>
            <a:ahLst/>
            <a:cxnLst/>
            <a:rect l="l" t="t" r="r" b="b"/>
            <a:pathLst>
              <a:path w="11432374" h="569720">
                <a:moveTo>
                  <a:pt x="113944" y="0"/>
                </a:moveTo>
                <a:lnTo>
                  <a:pt x="11318430" y="0"/>
                </a:lnTo>
                <a:cubicBezTo>
                  <a:pt x="11381359" y="0"/>
                  <a:pt x="11432374" y="51014"/>
                  <a:pt x="11432374" y="113944"/>
                </a:cubicBezTo>
                <a:lnTo>
                  <a:pt x="11432374" y="455776"/>
                </a:lnTo>
                <a:cubicBezTo>
                  <a:pt x="11432374" y="518705"/>
                  <a:pt x="11381359" y="569720"/>
                  <a:pt x="11318430" y="569720"/>
                </a:cubicBezTo>
                <a:lnTo>
                  <a:pt x="113944" y="569720"/>
                </a:lnTo>
                <a:cubicBezTo>
                  <a:pt x="51014" y="569720"/>
                  <a:pt x="0" y="518705"/>
                  <a:pt x="0" y="455776"/>
                </a:cubicBezTo>
                <a:lnTo>
                  <a:pt x="0" y="113944"/>
                </a:lnTo>
                <a:cubicBezTo>
                  <a:pt x="0" y="51057"/>
                  <a:pt x="51057" y="0"/>
                  <a:pt x="113944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A7A">
                  <a:alpha val="10000"/>
                </a:srgbClr>
              </a:gs>
              <a:gs pos="100000">
                <a:srgbClr val="8FB7AC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49" name="Shape 47"/>
          <p:cNvSpPr/>
          <p:nvPr/>
        </p:nvSpPr>
        <p:spPr>
          <a:xfrm>
            <a:off x="3159718" y="6456822"/>
            <a:ext cx="227888" cy="227888"/>
          </a:xfrm>
          <a:custGeom>
            <a:avLst/>
            <a:gdLst/>
            <a:ahLst/>
            <a:cxnLst/>
            <a:rect l="l" t="t" r="r" b="b"/>
            <a:pathLst>
              <a:path w="227888" h="227888">
                <a:moveTo>
                  <a:pt x="113944" y="227888"/>
                </a:moveTo>
                <a:cubicBezTo>
                  <a:pt x="176831" y="227888"/>
                  <a:pt x="227888" y="176831"/>
                  <a:pt x="227888" y="113944"/>
                </a:cubicBezTo>
                <a:cubicBezTo>
                  <a:pt x="227888" y="51057"/>
                  <a:pt x="176831" y="0"/>
                  <a:pt x="113944" y="0"/>
                </a:cubicBezTo>
                <a:cubicBezTo>
                  <a:pt x="51057" y="0"/>
                  <a:pt x="0" y="51057"/>
                  <a:pt x="0" y="113944"/>
                </a:cubicBezTo>
                <a:cubicBezTo>
                  <a:pt x="0" y="176831"/>
                  <a:pt x="51057" y="227888"/>
                  <a:pt x="113944" y="227888"/>
                </a:cubicBezTo>
                <a:close/>
                <a:moveTo>
                  <a:pt x="99701" y="71215"/>
                </a:moveTo>
                <a:cubicBezTo>
                  <a:pt x="99701" y="63354"/>
                  <a:pt x="106083" y="56972"/>
                  <a:pt x="113944" y="56972"/>
                </a:cubicBezTo>
                <a:cubicBezTo>
                  <a:pt x="121805" y="56972"/>
                  <a:pt x="128187" y="63354"/>
                  <a:pt x="128187" y="71215"/>
                </a:cubicBezTo>
                <a:cubicBezTo>
                  <a:pt x="128187" y="79076"/>
                  <a:pt x="121805" y="85458"/>
                  <a:pt x="113944" y="85458"/>
                </a:cubicBezTo>
                <a:cubicBezTo>
                  <a:pt x="106083" y="85458"/>
                  <a:pt x="99701" y="79076"/>
                  <a:pt x="99701" y="71215"/>
                </a:cubicBezTo>
                <a:close/>
                <a:moveTo>
                  <a:pt x="96140" y="99701"/>
                </a:moveTo>
                <a:lnTo>
                  <a:pt x="117505" y="99701"/>
                </a:lnTo>
                <a:cubicBezTo>
                  <a:pt x="123424" y="99701"/>
                  <a:pt x="128187" y="104463"/>
                  <a:pt x="128187" y="110383"/>
                </a:cubicBezTo>
                <a:lnTo>
                  <a:pt x="128187" y="149551"/>
                </a:lnTo>
                <a:lnTo>
                  <a:pt x="131748" y="149551"/>
                </a:lnTo>
                <a:cubicBezTo>
                  <a:pt x="137667" y="149551"/>
                  <a:pt x="142430" y="154314"/>
                  <a:pt x="142430" y="160234"/>
                </a:cubicBezTo>
                <a:cubicBezTo>
                  <a:pt x="142430" y="166153"/>
                  <a:pt x="137667" y="170916"/>
                  <a:pt x="131748" y="170916"/>
                </a:cubicBezTo>
                <a:lnTo>
                  <a:pt x="96140" y="170916"/>
                </a:lnTo>
                <a:cubicBezTo>
                  <a:pt x="90220" y="170916"/>
                  <a:pt x="85458" y="166153"/>
                  <a:pt x="85458" y="160234"/>
                </a:cubicBezTo>
                <a:cubicBezTo>
                  <a:pt x="85458" y="154314"/>
                  <a:pt x="90220" y="149551"/>
                  <a:pt x="96140" y="149551"/>
                </a:cubicBezTo>
                <a:lnTo>
                  <a:pt x="106822" y="149551"/>
                </a:lnTo>
                <a:lnTo>
                  <a:pt x="106822" y="121065"/>
                </a:lnTo>
                <a:lnTo>
                  <a:pt x="96140" y="121065"/>
                </a:lnTo>
                <a:cubicBezTo>
                  <a:pt x="90220" y="121065"/>
                  <a:pt x="85458" y="116303"/>
                  <a:pt x="85458" y="110383"/>
                </a:cubicBezTo>
                <a:cubicBezTo>
                  <a:pt x="85458" y="104463"/>
                  <a:pt x="90220" y="99701"/>
                  <a:pt x="96140" y="99701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50" name="Text 48"/>
          <p:cNvSpPr/>
          <p:nvPr/>
        </p:nvSpPr>
        <p:spPr>
          <a:xfrm>
            <a:off x="3530036" y="6437832"/>
            <a:ext cx="5611738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is already everywhere—making your life easier, one interaction at a time!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4C8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/ UNDERSTANDING AI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History of AI: Key Milestones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920750"/>
            <a:ext cx="1163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Historia e IA-së: Piketat Kryesore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80125" y="1270000"/>
            <a:ext cx="31750" cy="6985000"/>
          </a:xfrm>
          <a:custGeom>
            <a:avLst/>
            <a:gdLst/>
            <a:ahLst/>
            <a:cxnLst/>
            <a:rect l="l" t="t" r="r" b="b"/>
            <a:pathLst>
              <a:path w="31750" h="6985000">
                <a:moveTo>
                  <a:pt x="0" y="0"/>
                </a:moveTo>
                <a:lnTo>
                  <a:pt x="31750" y="0"/>
                </a:lnTo>
                <a:lnTo>
                  <a:pt x="31750" y="6985000"/>
                </a:lnTo>
                <a:lnTo>
                  <a:pt x="0" y="6985000"/>
                </a:lnTo>
                <a:lnTo>
                  <a:pt x="0" y="0"/>
                </a:lnTo>
                <a:close/>
              </a:path>
            </a:pathLst>
          </a:custGeom>
          <a:solidFill>
            <a:srgbClr val="4C8A7A">
              <a:alpha val="3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412008" y="1333500"/>
            <a:ext cx="3095625" cy="1143000"/>
          </a:xfrm>
          <a:custGeom>
            <a:avLst/>
            <a:gdLst/>
            <a:ahLst/>
            <a:cxnLst/>
            <a:rect l="l" t="t" r="r" b="b"/>
            <a:pathLst>
              <a:path w="3095625" h="1143000">
                <a:moveTo>
                  <a:pt x="95246" y="0"/>
                </a:moveTo>
                <a:lnTo>
                  <a:pt x="3063875" y="0"/>
                </a:lnTo>
                <a:cubicBezTo>
                  <a:pt x="3081398" y="0"/>
                  <a:pt x="3095625" y="14227"/>
                  <a:pt x="3095625" y="31750"/>
                </a:cubicBezTo>
                <a:lnTo>
                  <a:pt x="3095625" y="1111250"/>
                </a:lnTo>
                <a:cubicBezTo>
                  <a:pt x="3095625" y="1128773"/>
                  <a:pt x="3081398" y="1143000"/>
                  <a:pt x="3063875" y="1143000"/>
                </a:cubicBezTo>
                <a:lnTo>
                  <a:pt x="95246" y="1143000"/>
                </a:lnTo>
                <a:cubicBezTo>
                  <a:pt x="42643" y="1143000"/>
                  <a:pt x="0" y="1100357"/>
                  <a:pt x="0" y="1047754"/>
                </a:cubicBezTo>
                <a:lnTo>
                  <a:pt x="0" y="95246"/>
                </a:lnTo>
                <a:cubicBezTo>
                  <a:pt x="0" y="42643"/>
                  <a:pt x="42643" y="0"/>
                  <a:pt x="9524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507633" y="1333500"/>
            <a:ext cx="31750" cy="1143000"/>
          </a:xfrm>
          <a:custGeom>
            <a:avLst/>
            <a:gdLst/>
            <a:ahLst/>
            <a:cxnLst/>
            <a:rect l="l" t="t" r="r" b="b"/>
            <a:pathLst>
              <a:path w="31750" h="1143000">
                <a:moveTo>
                  <a:pt x="0" y="0"/>
                </a:moveTo>
                <a:lnTo>
                  <a:pt x="0" y="0"/>
                </a:lnTo>
                <a:cubicBezTo>
                  <a:pt x="17523" y="0"/>
                  <a:pt x="31750" y="14227"/>
                  <a:pt x="31750" y="31750"/>
                </a:cubicBezTo>
                <a:lnTo>
                  <a:pt x="31750" y="1111250"/>
                </a:lnTo>
                <a:cubicBezTo>
                  <a:pt x="31750" y="1128773"/>
                  <a:pt x="17523" y="1143000"/>
                  <a:pt x="0" y="1143000"/>
                </a:cubicBez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8" name="Text 6"/>
          <p:cNvSpPr/>
          <p:nvPr/>
        </p:nvSpPr>
        <p:spPr>
          <a:xfrm>
            <a:off x="2443758" y="1460500"/>
            <a:ext cx="292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00" b="1" dirty="0">
                <a:solidFill>
                  <a:srgbClr val="4C8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1950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467570" y="1746250"/>
            <a:ext cx="2897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125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Turing Test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475508" y="2000250"/>
            <a:ext cx="288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0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Alan Turing proposes a test for machine intelligence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83445" y="2190750"/>
            <a:ext cx="288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Testi i Turingut për inteligjencën e makinës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69000" y="1651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4C8A7A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39656" y="18097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07156" y="0"/>
                </a:moveTo>
                <a:lnTo>
                  <a:pt x="47625" y="0"/>
                </a:lnTo>
                <a:cubicBezTo>
                  <a:pt x="41039" y="0"/>
                  <a:pt x="35719" y="5321"/>
                  <a:pt x="35719" y="11906"/>
                </a:cubicBezTo>
                <a:cubicBezTo>
                  <a:pt x="35719" y="18492"/>
                  <a:pt x="41039" y="23812"/>
                  <a:pt x="47625" y="23812"/>
                </a:cubicBezTo>
                <a:lnTo>
                  <a:pt x="47625" y="80181"/>
                </a:lnTo>
                <a:lnTo>
                  <a:pt x="2791" y="158614"/>
                </a:lnTo>
                <a:cubicBezTo>
                  <a:pt x="967" y="161851"/>
                  <a:pt x="0" y="165460"/>
                  <a:pt x="0" y="169180"/>
                </a:cubicBezTo>
                <a:cubicBezTo>
                  <a:pt x="0" y="180975"/>
                  <a:pt x="9525" y="190500"/>
                  <a:pt x="21320" y="190500"/>
                </a:cubicBezTo>
                <a:lnTo>
                  <a:pt x="145368" y="190500"/>
                </a:lnTo>
                <a:cubicBezTo>
                  <a:pt x="157125" y="190500"/>
                  <a:pt x="166688" y="180975"/>
                  <a:pt x="166688" y="169180"/>
                </a:cubicBezTo>
                <a:cubicBezTo>
                  <a:pt x="166688" y="165460"/>
                  <a:pt x="165720" y="161813"/>
                  <a:pt x="163897" y="158614"/>
                </a:cubicBezTo>
                <a:lnTo>
                  <a:pt x="119063" y="80181"/>
                </a:lnTo>
                <a:lnTo>
                  <a:pt x="119063" y="23812"/>
                </a:lnTo>
                <a:cubicBezTo>
                  <a:pt x="125648" y="23812"/>
                  <a:pt x="130969" y="18492"/>
                  <a:pt x="130969" y="11906"/>
                </a:cubicBezTo>
                <a:cubicBezTo>
                  <a:pt x="130969" y="5321"/>
                  <a:pt x="125648" y="0"/>
                  <a:pt x="119063" y="0"/>
                </a:cubicBezTo>
                <a:lnTo>
                  <a:pt x="107156" y="0"/>
                </a:lnTo>
                <a:close/>
                <a:moveTo>
                  <a:pt x="71438" y="80181"/>
                </a:moveTo>
                <a:lnTo>
                  <a:pt x="71438" y="23812"/>
                </a:lnTo>
                <a:lnTo>
                  <a:pt x="95250" y="23812"/>
                </a:lnTo>
                <a:lnTo>
                  <a:pt x="95250" y="80181"/>
                </a:lnTo>
                <a:cubicBezTo>
                  <a:pt x="95250" y="84311"/>
                  <a:pt x="96329" y="88404"/>
                  <a:pt x="98375" y="92013"/>
                </a:cubicBezTo>
                <a:lnTo>
                  <a:pt x="113854" y="119063"/>
                </a:lnTo>
                <a:lnTo>
                  <a:pt x="52834" y="119063"/>
                </a:lnTo>
                <a:lnTo>
                  <a:pt x="68312" y="92013"/>
                </a:lnTo>
                <a:cubicBezTo>
                  <a:pt x="70358" y="88404"/>
                  <a:pt x="71438" y="84348"/>
                  <a:pt x="71438" y="8018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715000" y="279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4C8A7A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73750" y="2952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683375" y="2476500"/>
            <a:ext cx="3571875" cy="1143000"/>
          </a:xfrm>
          <a:custGeom>
            <a:avLst/>
            <a:gdLst/>
            <a:ahLst/>
            <a:cxnLst/>
            <a:rect l="l" t="t" r="r" b="b"/>
            <a:pathLst>
              <a:path w="3571875" h="1143000">
                <a:moveTo>
                  <a:pt x="31750" y="0"/>
                </a:moveTo>
                <a:lnTo>
                  <a:pt x="3476629" y="0"/>
                </a:lnTo>
                <a:cubicBezTo>
                  <a:pt x="3529232" y="0"/>
                  <a:pt x="3571875" y="42643"/>
                  <a:pt x="3571875" y="95246"/>
                </a:cubicBezTo>
                <a:lnTo>
                  <a:pt x="3571875" y="1047754"/>
                </a:lnTo>
                <a:cubicBezTo>
                  <a:pt x="3571875" y="1100357"/>
                  <a:pt x="3529232" y="1143000"/>
                  <a:pt x="3476629" y="1143000"/>
                </a:cubicBezTo>
                <a:lnTo>
                  <a:pt x="31750" y="1143000"/>
                </a:lnTo>
                <a:cubicBezTo>
                  <a:pt x="14227" y="1143000"/>
                  <a:pt x="0" y="1128773"/>
                  <a:pt x="0" y="1111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83375" y="2476500"/>
            <a:ext cx="31750" cy="1143000"/>
          </a:xfrm>
          <a:custGeom>
            <a:avLst/>
            <a:gdLst/>
            <a:ahLst/>
            <a:cxnLst/>
            <a:rect l="l" t="t" r="r" b="b"/>
            <a:pathLst>
              <a:path w="31750" h="1143000">
                <a:moveTo>
                  <a:pt x="31750" y="0"/>
                </a:moveTo>
                <a:lnTo>
                  <a:pt x="31750" y="0"/>
                </a:lnTo>
                <a:lnTo>
                  <a:pt x="31750" y="1143000"/>
                </a:lnTo>
                <a:lnTo>
                  <a:pt x="31750" y="1143000"/>
                </a:lnTo>
                <a:cubicBezTo>
                  <a:pt x="14227" y="1143000"/>
                  <a:pt x="0" y="1128773"/>
                  <a:pt x="0" y="1111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8" name="Text 16"/>
          <p:cNvSpPr/>
          <p:nvPr/>
        </p:nvSpPr>
        <p:spPr>
          <a:xfrm>
            <a:off x="6826250" y="2603500"/>
            <a:ext cx="3397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4C8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1956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26250" y="2889250"/>
            <a:ext cx="3373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Birth of AI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26250" y="3143250"/>
            <a:ext cx="336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Dartmouth Conference coins the term "Artificial Intelligence"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26250" y="3333750"/>
            <a:ext cx="3357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Konferenca e Dartmouth - Lindja e termit IA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119188" y="3619500"/>
            <a:ext cx="3389313" cy="1143000"/>
          </a:xfrm>
          <a:custGeom>
            <a:avLst/>
            <a:gdLst/>
            <a:ahLst/>
            <a:cxnLst/>
            <a:rect l="l" t="t" r="r" b="b"/>
            <a:pathLst>
              <a:path w="3389313" h="1143000">
                <a:moveTo>
                  <a:pt x="95246" y="0"/>
                </a:moveTo>
                <a:lnTo>
                  <a:pt x="3357563" y="0"/>
                </a:lnTo>
                <a:cubicBezTo>
                  <a:pt x="3375086" y="0"/>
                  <a:pt x="3389313" y="14227"/>
                  <a:pt x="3389313" y="31750"/>
                </a:cubicBezTo>
                <a:lnTo>
                  <a:pt x="3389313" y="1111250"/>
                </a:lnTo>
                <a:cubicBezTo>
                  <a:pt x="3389313" y="1128773"/>
                  <a:pt x="3375086" y="1143000"/>
                  <a:pt x="3357563" y="1143000"/>
                </a:cubicBezTo>
                <a:lnTo>
                  <a:pt x="95246" y="1143000"/>
                </a:lnTo>
                <a:cubicBezTo>
                  <a:pt x="42643" y="1143000"/>
                  <a:pt x="0" y="1100357"/>
                  <a:pt x="0" y="1047754"/>
                </a:cubicBezTo>
                <a:lnTo>
                  <a:pt x="0" y="95246"/>
                </a:lnTo>
                <a:cubicBezTo>
                  <a:pt x="0" y="42643"/>
                  <a:pt x="42643" y="0"/>
                  <a:pt x="9524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08501" y="3619500"/>
            <a:ext cx="31750" cy="1143000"/>
          </a:xfrm>
          <a:custGeom>
            <a:avLst/>
            <a:gdLst/>
            <a:ahLst/>
            <a:cxnLst/>
            <a:rect l="l" t="t" r="r" b="b"/>
            <a:pathLst>
              <a:path w="31750" h="1143000">
                <a:moveTo>
                  <a:pt x="0" y="0"/>
                </a:moveTo>
                <a:lnTo>
                  <a:pt x="0" y="0"/>
                </a:lnTo>
                <a:cubicBezTo>
                  <a:pt x="17523" y="0"/>
                  <a:pt x="31750" y="14227"/>
                  <a:pt x="31750" y="31750"/>
                </a:cubicBezTo>
                <a:lnTo>
                  <a:pt x="31750" y="1111250"/>
                </a:lnTo>
                <a:cubicBezTo>
                  <a:pt x="31750" y="1128773"/>
                  <a:pt x="17523" y="1143000"/>
                  <a:pt x="0" y="1143000"/>
                </a:cubicBez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24" name="Text 22"/>
          <p:cNvSpPr/>
          <p:nvPr/>
        </p:nvSpPr>
        <p:spPr>
          <a:xfrm>
            <a:off x="2150938" y="3746500"/>
            <a:ext cx="3214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00" b="1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1997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174751" y="4032250"/>
            <a:ext cx="3190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125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Blue Victory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182688" y="4286250"/>
            <a:ext cx="3182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0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IBM's Deep Blue defeats chess champion Garry Kasparov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190626" y="4476750"/>
            <a:ext cx="3175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Blue fiton kundër Kasparovit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969000" y="3937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8FB7AC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7750" y="4095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62508" y="20836"/>
                </a:moveTo>
                <a:lnTo>
                  <a:pt x="62508" y="35719"/>
                </a:lnTo>
                <a:lnTo>
                  <a:pt x="33449" y="35719"/>
                </a:lnTo>
                <a:cubicBezTo>
                  <a:pt x="28129" y="35719"/>
                  <a:pt x="23812" y="40035"/>
                  <a:pt x="23812" y="45355"/>
                </a:cubicBezTo>
                <a:cubicBezTo>
                  <a:pt x="23812" y="46844"/>
                  <a:pt x="24147" y="48332"/>
                  <a:pt x="24817" y="49671"/>
                </a:cubicBezTo>
                <a:lnTo>
                  <a:pt x="37244" y="74526"/>
                </a:lnTo>
                <a:cubicBezTo>
                  <a:pt x="33003" y="75195"/>
                  <a:pt x="29728" y="78879"/>
                  <a:pt x="29728" y="83344"/>
                </a:cubicBezTo>
                <a:cubicBezTo>
                  <a:pt x="29728" y="88292"/>
                  <a:pt x="33710" y="92273"/>
                  <a:pt x="38658" y="92273"/>
                </a:cubicBezTo>
                <a:lnTo>
                  <a:pt x="40742" y="92273"/>
                </a:lnTo>
                <a:lnTo>
                  <a:pt x="35682" y="142875"/>
                </a:lnTo>
                <a:lnTo>
                  <a:pt x="14771" y="169032"/>
                </a:lnTo>
                <a:cubicBezTo>
                  <a:pt x="12911" y="171376"/>
                  <a:pt x="11869" y="174278"/>
                  <a:pt x="11869" y="177292"/>
                </a:cubicBezTo>
                <a:cubicBezTo>
                  <a:pt x="11869" y="184584"/>
                  <a:pt x="17785" y="190500"/>
                  <a:pt x="25078" y="190500"/>
                </a:cubicBezTo>
                <a:lnTo>
                  <a:pt x="117686" y="190500"/>
                </a:lnTo>
                <a:cubicBezTo>
                  <a:pt x="124978" y="190500"/>
                  <a:pt x="130894" y="184584"/>
                  <a:pt x="130894" y="177292"/>
                </a:cubicBezTo>
                <a:cubicBezTo>
                  <a:pt x="130894" y="174278"/>
                  <a:pt x="129890" y="171376"/>
                  <a:pt x="127992" y="169032"/>
                </a:cubicBezTo>
                <a:lnTo>
                  <a:pt x="107156" y="142875"/>
                </a:lnTo>
                <a:lnTo>
                  <a:pt x="102096" y="92273"/>
                </a:lnTo>
                <a:lnTo>
                  <a:pt x="104180" y="92273"/>
                </a:lnTo>
                <a:cubicBezTo>
                  <a:pt x="109128" y="92273"/>
                  <a:pt x="113109" y="88292"/>
                  <a:pt x="113109" y="83344"/>
                </a:cubicBezTo>
                <a:cubicBezTo>
                  <a:pt x="113109" y="78916"/>
                  <a:pt x="109872" y="75195"/>
                  <a:pt x="105594" y="74526"/>
                </a:cubicBezTo>
                <a:lnTo>
                  <a:pt x="118021" y="49671"/>
                </a:lnTo>
                <a:cubicBezTo>
                  <a:pt x="118690" y="48332"/>
                  <a:pt x="119025" y="46844"/>
                  <a:pt x="119025" y="45355"/>
                </a:cubicBezTo>
                <a:cubicBezTo>
                  <a:pt x="119025" y="40035"/>
                  <a:pt x="114709" y="35719"/>
                  <a:pt x="109389" y="35719"/>
                </a:cubicBezTo>
                <a:lnTo>
                  <a:pt x="80330" y="35719"/>
                </a:lnTo>
                <a:lnTo>
                  <a:pt x="80330" y="20836"/>
                </a:lnTo>
                <a:lnTo>
                  <a:pt x="86283" y="20836"/>
                </a:lnTo>
                <a:cubicBezTo>
                  <a:pt x="91232" y="20836"/>
                  <a:pt x="95213" y="16855"/>
                  <a:pt x="95213" y="11906"/>
                </a:cubicBezTo>
                <a:cubicBezTo>
                  <a:pt x="95213" y="6958"/>
                  <a:pt x="91269" y="2977"/>
                  <a:pt x="86320" y="2977"/>
                </a:cubicBezTo>
                <a:lnTo>
                  <a:pt x="80367" y="2977"/>
                </a:lnTo>
                <a:lnTo>
                  <a:pt x="80367" y="-2977"/>
                </a:lnTo>
                <a:cubicBezTo>
                  <a:pt x="80367" y="-7925"/>
                  <a:pt x="76386" y="-11906"/>
                  <a:pt x="71438" y="-11906"/>
                </a:cubicBezTo>
                <a:cubicBezTo>
                  <a:pt x="66489" y="-11906"/>
                  <a:pt x="62508" y="-7925"/>
                  <a:pt x="62508" y="-2977"/>
                </a:cubicBezTo>
                <a:lnTo>
                  <a:pt x="62508" y="2977"/>
                </a:lnTo>
                <a:lnTo>
                  <a:pt x="56555" y="2977"/>
                </a:lnTo>
                <a:cubicBezTo>
                  <a:pt x="51606" y="2977"/>
                  <a:pt x="47625" y="6958"/>
                  <a:pt x="47625" y="11906"/>
                </a:cubicBezTo>
                <a:cubicBezTo>
                  <a:pt x="47625" y="16855"/>
                  <a:pt x="51606" y="20836"/>
                  <a:pt x="56555" y="20836"/>
                </a:cubicBezTo>
                <a:lnTo>
                  <a:pt x="62508" y="20836"/>
                </a:lnTo>
                <a:close/>
                <a:moveTo>
                  <a:pt x="121221" y="104031"/>
                </a:moveTo>
                <a:lnTo>
                  <a:pt x="124383" y="135843"/>
                </a:lnTo>
                <a:lnTo>
                  <a:pt x="142019" y="157869"/>
                </a:lnTo>
                <a:lnTo>
                  <a:pt x="143582" y="159990"/>
                </a:lnTo>
                <a:cubicBezTo>
                  <a:pt x="147005" y="165088"/>
                  <a:pt x="148828" y="171115"/>
                  <a:pt x="148828" y="177292"/>
                </a:cubicBezTo>
                <a:cubicBezTo>
                  <a:pt x="148828" y="182017"/>
                  <a:pt x="147786" y="186519"/>
                  <a:pt x="145889" y="190500"/>
                </a:cubicBezTo>
                <a:lnTo>
                  <a:pt x="176808" y="190500"/>
                </a:lnTo>
                <a:cubicBezTo>
                  <a:pt x="184361" y="190500"/>
                  <a:pt x="190500" y="184361"/>
                  <a:pt x="190500" y="176808"/>
                </a:cubicBezTo>
                <a:cubicBezTo>
                  <a:pt x="190500" y="174092"/>
                  <a:pt x="189681" y="171450"/>
                  <a:pt x="188193" y="169218"/>
                </a:cubicBezTo>
                <a:lnTo>
                  <a:pt x="178594" y="154818"/>
                </a:lnTo>
                <a:lnTo>
                  <a:pt x="178594" y="131006"/>
                </a:lnTo>
                <a:lnTo>
                  <a:pt x="183542" y="126057"/>
                </a:lnTo>
                <a:cubicBezTo>
                  <a:pt x="188007" y="121593"/>
                  <a:pt x="190500" y="115528"/>
                  <a:pt x="190500" y="109203"/>
                </a:cubicBezTo>
                <a:lnTo>
                  <a:pt x="190500" y="71438"/>
                </a:lnTo>
                <a:cubicBezTo>
                  <a:pt x="190500" y="64852"/>
                  <a:pt x="185179" y="59531"/>
                  <a:pt x="178594" y="59531"/>
                </a:cubicBezTo>
                <a:cubicBezTo>
                  <a:pt x="172008" y="59531"/>
                  <a:pt x="166688" y="64852"/>
                  <a:pt x="166688" y="71438"/>
                </a:cubicBezTo>
                <a:lnTo>
                  <a:pt x="166688" y="77391"/>
                </a:lnTo>
                <a:lnTo>
                  <a:pt x="154781" y="77391"/>
                </a:lnTo>
                <a:lnTo>
                  <a:pt x="154781" y="71438"/>
                </a:lnTo>
                <a:cubicBezTo>
                  <a:pt x="154781" y="64852"/>
                  <a:pt x="149461" y="59531"/>
                  <a:pt x="142875" y="59531"/>
                </a:cubicBezTo>
                <a:cubicBezTo>
                  <a:pt x="136289" y="59531"/>
                  <a:pt x="130969" y="64852"/>
                  <a:pt x="130969" y="71438"/>
                </a:cubicBezTo>
                <a:lnTo>
                  <a:pt x="130969" y="83344"/>
                </a:lnTo>
                <a:cubicBezTo>
                  <a:pt x="130969" y="91678"/>
                  <a:pt x="127174" y="99120"/>
                  <a:pt x="121221" y="10403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5715000" y="508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8FB7AC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873750" y="5238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3690" y="0"/>
                </a:moveTo>
                <a:lnTo>
                  <a:pt x="137033" y="0"/>
                </a:lnTo>
                <a:cubicBezTo>
                  <a:pt x="146893" y="0"/>
                  <a:pt x="154930" y="8111"/>
                  <a:pt x="154558" y="17934"/>
                </a:cubicBezTo>
                <a:cubicBezTo>
                  <a:pt x="154484" y="19906"/>
                  <a:pt x="154409" y="21878"/>
                  <a:pt x="154298" y="23812"/>
                </a:cubicBezTo>
                <a:lnTo>
                  <a:pt x="172752" y="23812"/>
                </a:lnTo>
                <a:cubicBezTo>
                  <a:pt x="182463" y="23812"/>
                  <a:pt x="191021" y="31849"/>
                  <a:pt x="190277" y="42342"/>
                </a:cubicBezTo>
                <a:cubicBezTo>
                  <a:pt x="187486" y="80925"/>
                  <a:pt x="167767" y="102133"/>
                  <a:pt x="146372" y="113221"/>
                </a:cubicBezTo>
                <a:cubicBezTo>
                  <a:pt x="140494" y="116272"/>
                  <a:pt x="134503" y="118542"/>
                  <a:pt x="128811" y="120216"/>
                </a:cubicBezTo>
                <a:cubicBezTo>
                  <a:pt x="121295" y="130857"/>
                  <a:pt x="113481" y="136475"/>
                  <a:pt x="107268" y="139489"/>
                </a:cubicBezTo>
                <a:lnTo>
                  <a:pt x="107268" y="166688"/>
                </a:lnTo>
                <a:lnTo>
                  <a:pt x="131080" y="166688"/>
                </a:lnTo>
                <a:cubicBezTo>
                  <a:pt x="137666" y="166688"/>
                  <a:pt x="142987" y="172008"/>
                  <a:pt x="142987" y="178594"/>
                </a:cubicBezTo>
                <a:cubicBezTo>
                  <a:pt x="142987" y="185179"/>
                  <a:pt x="137666" y="190500"/>
                  <a:pt x="131080" y="190500"/>
                </a:cubicBezTo>
                <a:lnTo>
                  <a:pt x="59643" y="190500"/>
                </a:lnTo>
                <a:cubicBezTo>
                  <a:pt x="53057" y="190500"/>
                  <a:pt x="47737" y="185179"/>
                  <a:pt x="47737" y="178594"/>
                </a:cubicBezTo>
                <a:cubicBezTo>
                  <a:pt x="47737" y="172008"/>
                  <a:pt x="53057" y="166688"/>
                  <a:pt x="59643" y="166688"/>
                </a:cubicBezTo>
                <a:lnTo>
                  <a:pt x="83455" y="166688"/>
                </a:lnTo>
                <a:lnTo>
                  <a:pt x="83455" y="139489"/>
                </a:lnTo>
                <a:cubicBezTo>
                  <a:pt x="77502" y="136624"/>
                  <a:pt x="70098" y="131304"/>
                  <a:pt x="62880" y="121518"/>
                </a:cubicBezTo>
                <a:cubicBezTo>
                  <a:pt x="56034" y="119732"/>
                  <a:pt x="48592" y="117016"/>
                  <a:pt x="41337" y="112923"/>
                </a:cubicBezTo>
                <a:cubicBezTo>
                  <a:pt x="21208" y="101650"/>
                  <a:pt x="3051" y="80404"/>
                  <a:pt x="446" y="42267"/>
                </a:cubicBezTo>
                <a:cubicBezTo>
                  <a:pt x="-260" y="31812"/>
                  <a:pt x="8260" y="23775"/>
                  <a:pt x="17971" y="23775"/>
                </a:cubicBezTo>
                <a:lnTo>
                  <a:pt x="36426" y="23775"/>
                </a:lnTo>
                <a:cubicBezTo>
                  <a:pt x="36314" y="21841"/>
                  <a:pt x="36240" y="19906"/>
                  <a:pt x="36165" y="17897"/>
                </a:cubicBezTo>
                <a:cubicBezTo>
                  <a:pt x="35793" y="8037"/>
                  <a:pt x="43830" y="-37"/>
                  <a:pt x="53690" y="-37"/>
                </a:cubicBezTo>
                <a:close/>
                <a:moveTo>
                  <a:pt x="37765" y="41672"/>
                </a:moveTo>
                <a:lnTo>
                  <a:pt x="18269" y="41672"/>
                </a:lnTo>
                <a:cubicBezTo>
                  <a:pt x="20575" y="73186"/>
                  <a:pt x="35049" y="88962"/>
                  <a:pt x="49969" y="97334"/>
                </a:cubicBezTo>
                <a:cubicBezTo>
                  <a:pt x="44611" y="83455"/>
                  <a:pt x="40184" y="65336"/>
                  <a:pt x="37765" y="41672"/>
                </a:cubicBezTo>
                <a:close/>
                <a:moveTo>
                  <a:pt x="141387" y="95548"/>
                </a:moveTo>
                <a:cubicBezTo>
                  <a:pt x="156456" y="86692"/>
                  <a:pt x="170073" y="70954"/>
                  <a:pt x="172380" y="41672"/>
                </a:cubicBezTo>
                <a:lnTo>
                  <a:pt x="152921" y="41672"/>
                </a:lnTo>
                <a:cubicBezTo>
                  <a:pt x="150614" y="64331"/>
                  <a:pt x="146447" y="81930"/>
                  <a:pt x="141387" y="9554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683375" y="4762500"/>
            <a:ext cx="3484563" cy="1143000"/>
          </a:xfrm>
          <a:custGeom>
            <a:avLst/>
            <a:gdLst/>
            <a:ahLst/>
            <a:cxnLst/>
            <a:rect l="l" t="t" r="r" b="b"/>
            <a:pathLst>
              <a:path w="3484563" h="1143000">
                <a:moveTo>
                  <a:pt x="31750" y="0"/>
                </a:moveTo>
                <a:lnTo>
                  <a:pt x="3389316" y="0"/>
                </a:lnTo>
                <a:cubicBezTo>
                  <a:pt x="3441919" y="0"/>
                  <a:pt x="3484563" y="42643"/>
                  <a:pt x="3484563" y="95246"/>
                </a:cubicBezTo>
                <a:lnTo>
                  <a:pt x="3484563" y="1047754"/>
                </a:lnTo>
                <a:cubicBezTo>
                  <a:pt x="3484563" y="1100357"/>
                  <a:pt x="3441919" y="1143000"/>
                  <a:pt x="3389316" y="1143000"/>
                </a:cubicBezTo>
                <a:lnTo>
                  <a:pt x="31750" y="1143000"/>
                </a:lnTo>
                <a:cubicBezTo>
                  <a:pt x="14227" y="1143000"/>
                  <a:pt x="0" y="1128773"/>
                  <a:pt x="0" y="1111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683375" y="4762500"/>
            <a:ext cx="31750" cy="1143000"/>
          </a:xfrm>
          <a:custGeom>
            <a:avLst/>
            <a:gdLst/>
            <a:ahLst/>
            <a:cxnLst/>
            <a:rect l="l" t="t" r="r" b="b"/>
            <a:pathLst>
              <a:path w="31750" h="1143000">
                <a:moveTo>
                  <a:pt x="31750" y="0"/>
                </a:moveTo>
                <a:lnTo>
                  <a:pt x="31750" y="0"/>
                </a:lnTo>
                <a:lnTo>
                  <a:pt x="31750" y="1143000"/>
                </a:lnTo>
                <a:lnTo>
                  <a:pt x="31750" y="1143000"/>
                </a:lnTo>
                <a:cubicBezTo>
                  <a:pt x="14227" y="1143000"/>
                  <a:pt x="0" y="1128773"/>
                  <a:pt x="0" y="1111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34" name="Text 32"/>
          <p:cNvSpPr/>
          <p:nvPr/>
        </p:nvSpPr>
        <p:spPr>
          <a:xfrm>
            <a:off x="6826250" y="4889500"/>
            <a:ext cx="33099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2011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26250" y="5175250"/>
            <a:ext cx="3286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Watson Wins Jeopardy!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26250" y="5429250"/>
            <a:ext cx="3278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IBM Watson demonstrates natural language understanding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826250" y="5619750"/>
            <a:ext cx="3270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Watson fiton në Jeopardy!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827733" y="5905500"/>
            <a:ext cx="3683000" cy="1143000"/>
          </a:xfrm>
          <a:custGeom>
            <a:avLst/>
            <a:gdLst/>
            <a:ahLst/>
            <a:cxnLst/>
            <a:rect l="l" t="t" r="r" b="b"/>
            <a:pathLst>
              <a:path w="3683000" h="1143000">
                <a:moveTo>
                  <a:pt x="95246" y="0"/>
                </a:moveTo>
                <a:lnTo>
                  <a:pt x="3651250" y="0"/>
                </a:lnTo>
                <a:cubicBezTo>
                  <a:pt x="3668773" y="0"/>
                  <a:pt x="3683000" y="14227"/>
                  <a:pt x="3683000" y="31750"/>
                </a:cubicBezTo>
                <a:lnTo>
                  <a:pt x="3683000" y="1111250"/>
                </a:lnTo>
                <a:cubicBezTo>
                  <a:pt x="3683000" y="1128773"/>
                  <a:pt x="3668773" y="1143000"/>
                  <a:pt x="3651250" y="1143000"/>
                </a:cubicBezTo>
                <a:lnTo>
                  <a:pt x="95246" y="1143000"/>
                </a:lnTo>
                <a:cubicBezTo>
                  <a:pt x="42643" y="1143000"/>
                  <a:pt x="0" y="1100357"/>
                  <a:pt x="0" y="1047754"/>
                </a:cubicBezTo>
                <a:lnTo>
                  <a:pt x="0" y="95246"/>
                </a:lnTo>
                <a:cubicBezTo>
                  <a:pt x="0" y="42643"/>
                  <a:pt x="42643" y="0"/>
                  <a:pt x="9524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510733" y="5905500"/>
            <a:ext cx="31750" cy="1143000"/>
          </a:xfrm>
          <a:custGeom>
            <a:avLst/>
            <a:gdLst/>
            <a:ahLst/>
            <a:cxnLst/>
            <a:rect l="l" t="t" r="r" b="b"/>
            <a:pathLst>
              <a:path w="31750" h="1143000">
                <a:moveTo>
                  <a:pt x="0" y="0"/>
                </a:moveTo>
                <a:lnTo>
                  <a:pt x="0" y="0"/>
                </a:lnTo>
                <a:cubicBezTo>
                  <a:pt x="17523" y="0"/>
                  <a:pt x="31750" y="14227"/>
                  <a:pt x="31750" y="31750"/>
                </a:cubicBezTo>
                <a:lnTo>
                  <a:pt x="31750" y="1111250"/>
                </a:lnTo>
                <a:cubicBezTo>
                  <a:pt x="31750" y="1128773"/>
                  <a:pt x="17523" y="1143000"/>
                  <a:pt x="0" y="1143000"/>
                </a:cubicBez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40" name="Text 38"/>
          <p:cNvSpPr/>
          <p:nvPr/>
        </p:nvSpPr>
        <p:spPr>
          <a:xfrm>
            <a:off x="1859483" y="6032500"/>
            <a:ext cx="3508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00" b="1" dirty="0">
                <a:solidFill>
                  <a:srgbClr val="4C8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2016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883296" y="6318250"/>
            <a:ext cx="3484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125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AlphaGo Triumph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891233" y="6572250"/>
            <a:ext cx="3476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0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DeepMind's AlphaGo defeats world champion Lee Sedol at Go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899171" y="6762750"/>
            <a:ext cx="3468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AlphaGo fiton kundër Lee Sedol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969000" y="6223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4C8A7A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03938" y="63817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66688" y="23812"/>
                </a:moveTo>
                <a:cubicBezTo>
                  <a:pt x="206127" y="23812"/>
                  <a:pt x="238125" y="55811"/>
                  <a:pt x="238125" y="95250"/>
                </a:cubicBezTo>
                <a:cubicBezTo>
                  <a:pt x="238125" y="134689"/>
                  <a:pt x="206127" y="166688"/>
                  <a:pt x="166688" y="166688"/>
                </a:cubicBezTo>
                <a:lnTo>
                  <a:pt x="71438" y="166688"/>
                </a:lnTo>
                <a:cubicBezTo>
                  <a:pt x="31998" y="166688"/>
                  <a:pt x="0" y="134689"/>
                  <a:pt x="0" y="95250"/>
                </a:cubicBezTo>
                <a:cubicBezTo>
                  <a:pt x="0" y="55811"/>
                  <a:pt x="31998" y="23812"/>
                  <a:pt x="71438" y="23812"/>
                </a:cubicBezTo>
                <a:lnTo>
                  <a:pt x="166688" y="23812"/>
                </a:lnTo>
                <a:close/>
                <a:moveTo>
                  <a:pt x="71438" y="65484"/>
                </a:moveTo>
                <a:cubicBezTo>
                  <a:pt x="66489" y="65484"/>
                  <a:pt x="62508" y="69466"/>
                  <a:pt x="62508" y="74414"/>
                </a:cubicBezTo>
                <a:lnTo>
                  <a:pt x="62508" y="86320"/>
                </a:lnTo>
                <a:lnTo>
                  <a:pt x="50602" y="86320"/>
                </a:lnTo>
                <a:cubicBezTo>
                  <a:pt x="45653" y="86320"/>
                  <a:pt x="41672" y="90301"/>
                  <a:pt x="41672" y="95250"/>
                </a:cubicBezTo>
                <a:cubicBezTo>
                  <a:pt x="41672" y="100199"/>
                  <a:pt x="45653" y="104180"/>
                  <a:pt x="50602" y="104180"/>
                </a:cubicBezTo>
                <a:lnTo>
                  <a:pt x="62508" y="104180"/>
                </a:lnTo>
                <a:lnTo>
                  <a:pt x="62508" y="116086"/>
                </a:lnTo>
                <a:cubicBezTo>
                  <a:pt x="62508" y="121034"/>
                  <a:pt x="66489" y="125016"/>
                  <a:pt x="71438" y="125016"/>
                </a:cubicBezTo>
                <a:cubicBezTo>
                  <a:pt x="76386" y="125016"/>
                  <a:pt x="80367" y="121034"/>
                  <a:pt x="80367" y="116086"/>
                </a:cubicBezTo>
                <a:lnTo>
                  <a:pt x="80367" y="104180"/>
                </a:lnTo>
                <a:lnTo>
                  <a:pt x="92273" y="104180"/>
                </a:lnTo>
                <a:cubicBezTo>
                  <a:pt x="97222" y="104180"/>
                  <a:pt x="101203" y="100199"/>
                  <a:pt x="101203" y="95250"/>
                </a:cubicBezTo>
                <a:cubicBezTo>
                  <a:pt x="101203" y="90301"/>
                  <a:pt x="97222" y="86320"/>
                  <a:pt x="92273" y="86320"/>
                </a:cubicBezTo>
                <a:lnTo>
                  <a:pt x="80367" y="86320"/>
                </a:lnTo>
                <a:lnTo>
                  <a:pt x="80367" y="74414"/>
                </a:lnTo>
                <a:cubicBezTo>
                  <a:pt x="80367" y="69466"/>
                  <a:pt x="76386" y="65484"/>
                  <a:pt x="71438" y="65484"/>
                </a:cubicBezTo>
                <a:close/>
                <a:moveTo>
                  <a:pt x="160734" y="101203"/>
                </a:moveTo>
                <a:cubicBezTo>
                  <a:pt x="154163" y="101203"/>
                  <a:pt x="148828" y="106538"/>
                  <a:pt x="148828" y="113109"/>
                </a:cubicBezTo>
                <a:cubicBezTo>
                  <a:pt x="148828" y="119681"/>
                  <a:pt x="154163" y="125016"/>
                  <a:pt x="160734" y="125016"/>
                </a:cubicBezTo>
                <a:cubicBezTo>
                  <a:pt x="167306" y="125016"/>
                  <a:pt x="172641" y="119681"/>
                  <a:pt x="172641" y="113109"/>
                </a:cubicBezTo>
                <a:cubicBezTo>
                  <a:pt x="172641" y="106538"/>
                  <a:pt x="167306" y="101203"/>
                  <a:pt x="160734" y="101203"/>
                </a:cubicBezTo>
                <a:close/>
                <a:moveTo>
                  <a:pt x="184547" y="65484"/>
                </a:moveTo>
                <a:cubicBezTo>
                  <a:pt x="177976" y="65484"/>
                  <a:pt x="172641" y="70819"/>
                  <a:pt x="172641" y="77391"/>
                </a:cubicBezTo>
                <a:cubicBezTo>
                  <a:pt x="172641" y="83962"/>
                  <a:pt x="177976" y="89297"/>
                  <a:pt x="184547" y="89297"/>
                </a:cubicBezTo>
                <a:cubicBezTo>
                  <a:pt x="191118" y="89297"/>
                  <a:pt x="196453" y="83962"/>
                  <a:pt x="196453" y="77391"/>
                </a:cubicBezTo>
                <a:cubicBezTo>
                  <a:pt x="196453" y="70819"/>
                  <a:pt x="191118" y="65484"/>
                  <a:pt x="184547" y="6548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6" name="Shape 44"/>
          <p:cNvSpPr/>
          <p:nvPr/>
        </p:nvSpPr>
        <p:spPr>
          <a:xfrm>
            <a:off x="5715000" y="7366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4C8A7A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873750" y="7524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8" name="Shape 46"/>
          <p:cNvSpPr/>
          <p:nvPr/>
        </p:nvSpPr>
        <p:spPr>
          <a:xfrm>
            <a:off x="6683375" y="7048500"/>
            <a:ext cx="3516313" cy="1143000"/>
          </a:xfrm>
          <a:custGeom>
            <a:avLst/>
            <a:gdLst/>
            <a:ahLst/>
            <a:cxnLst/>
            <a:rect l="l" t="t" r="r" b="b"/>
            <a:pathLst>
              <a:path w="3516313" h="1143000">
                <a:moveTo>
                  <a:pt x="31750" y="0"/>
                </a:moveTo>
                <a:lnTo>
                  <a:pt x="3421066" y="0"/>
                </a:lnTo>
                <a:cubicBezTo>
                  <a:pt x="3473669" y="0"/>
                  <a:pt x="3516313" y="42643"/>
                  <a:pt x="3516313" y="95246"/>
                </a:cubicBezTo>
                <a:lnTo>
                  <a:pt x="3516313" y="1047754"/>
                </a:lnTo>
                <a:cubicBezTo>
                  <a:pt x="3516313" y="1100357"/>
                  <a:pt x="3473669" y="1143000"/>
                  <a:pt x="3421066" y="1143000"/>
                </a:cubicBezTo>
                <a:lnTo>
                  <a:pt x="31750" y="1143000"/>
                </a:lnTo>
                <a:cubicBezTo>
                  <a:pt x="14227" y="1143000"/>
                  <a:pt x="0" y="1128773"/>
                  <a:pt x="0" y="1111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683375" y="7048500"/>
            <a:ext cx="31750" cy="1143000"/>
          </a:xfrm>
          <a:custGeom>
            <a:avLst/>
            <a:gdLst/>
            <a:ahLst/>
            <a:cxnLst/>
            <a:rect l="l" t="t" r="r" b="b"/>
            <a:pathLst>
              <a:path w="31750" h="1143000">
                <a:moveTo>
                  <a:pt x="31750" y="0"/>
                </a:moveTo>
                <a:lnTo>
                  <a:pt x="31750" y="0"/>
                </a:lnTo>
                <a:lnTo>
                  <a:pt x="31750" y="1143000"/>
                </a:lnTo>
                <a:lnTo>
                  <a:pt x="31750" y="1143000"/>
                </a:lnTo>
                <a:cubicBezTo>
                  <a:pt x="14227" y="1143000"/>
                  <a:pt x="0" y="1128773"/>
                  <a:pt x="0" y="1111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50" name="Text 48"/>
          <p:cNvSpPr/>
          <p:nvPr/>
        </p:nvSpPr>
        <p:spPr>
          <a:xfrm>
            <a:off x="6826250" y="7175500"/>
            <a:ext cx="3341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4C8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2022+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826250" y="7461250"/>
            <a:ext cx="3317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Generative AI Era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826250" y="7715250"/>
            <a:ext cx="3309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ChatGPT, DALL-E, Midjourney bring AI to mainstream users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826250" y="7905750"/>
            <a:ext cx="3302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Era e IA-së Gjeneruese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3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87c5bfa1218c7a5b7f37073a7b7cfac95f1835d7.jpg"/>
          <p:cNvPicPr>
            <a:picLocks noChangeAspect="1"/>
          </p:cNvPicPr>
          <p:nvPr/>
        </p:nvPicPr>
        <p:blipFill>
          <a:blip r:embed="rId3">
            <a:alphaModFix amt="25000"/>
          </a:blip>
          <a:srcRect t="9821" b="982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F3E3B">
                  <a:alpha val="98000"/>
                </a:srgbClr>
              </a:gs>
              <a:gs pos="50000">
                <a:srgbClr val="2F3E3B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171575"/>
            <a:ext cx="1962150" cy="533400"/>
          </a:xfrm>
          <a:custGeom>
            <a:avLst/>
            <a:gdLst/>
            <a:ahLst/>
            <a:cxnLst/>
            <a:rect l="l" t="t" r="r" b="b"/>
            <a:pathLst>
              <a:path w="1962150" h="533400">
                <a:moveTo>
                  <a:pt x="266700" y="0"/>
                </a:moveTo>
                <a:lnTo>
                  <a:pt x="1695450" y="0"/>
                </a:lnTo>
                <a:cubicBezTo>
                  <a:pt x="1842646" y="0"/>
                  <a:pt x="1962150" y="119504"/>
                  <a:pt x="1962150" y="266700"/>
                </a:cubicBezTo>
                <a:lnTo>
                  <a:pt x="1962150" y="266700"/>
                </a:lnTo>
                <a:cubicBezTo>
                  <a:pt x="1962150" y="413896"/>
                  <a:pt x="1842646" y="533400"/>
                  <a:pt x="169545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1285875"/>
            <a:ext cx="1619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kern="0" spc="18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009775"/>
            <a:ext cx="76581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Types of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AI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952875"/>
            <a:ext cx="7458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Llojet e IA-së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60057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4943475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Narrow to Superintelligence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Nga e Ngushta në Superinteligjencë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4C8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/ TYPES OF AI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Three Types of AI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Të Tre Llojet e IA-së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524000"/>
            <a:ext cx="3667125" cy="4953000"/>
          </a:xfrm>
          <a:custGeom>
            <a:avLst/>
            <a:gdLst/>
            <a:ahLst/>
            <a:cxnLst/>
            <a:rect l="l" t="t" r="r" b="b"/>
            <a:pathLst>
              <a:path w="3667125" h="4953000">
                <a:moveTo>
                  <a:pt x="152406" y="0"/>
                </a:moveTo>
                <a:lnTo>
                  <a:pt x="3514719" y="0"/>
                </a:lnTo>
                <a:cubicBezTo>
                  <a:pt x="3598834" y="0"/>
                  <a:pt x="3667125" y="68291"/>
                  <a:pt x="3667125" y="152406"/>
                </a:cubicBezTo>
                <a:lnTo>
                  <a:pt x="3667125" y="4800594"/>
                </a:lnTo>
                <a:cubicBezTo>
                  <a:pt x="3667125" y="4884709"/>
                  <a:pt x="3598834" y="4953000"/>
                  <a:pt x="3514719" y="4953000"/>
                </a:cubicBezTo>
                <a:lnTo>
                  <a:pt x="152406" y="4953000"/>
                </a:lnTo>
                <a:cubicBezTo>
                  <a:pt x="68291" y="4953000"/>
                  <a:pt x="0" y="4884709"/>
                  <a:pt x="0" y="480059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A7A"/>
              </a:gs>
              <a:gs pos="100000">
                <a:srgbClr val="2F3E3B"/>
              </a:gs>
            </a:gsLst>
            <a:lin ang="270000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9600" y="1752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73906" y="19145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50031" y="142875"/>
                </a:moveTo>
                <a:cubicBezTo>
                  <a:pt x="250031" y="83734"/>
                  <a:pt x="202016" y="35719"/>
                  <a:pt x="142875" y="35719"/>
                </a:cubicBezTo>
                <a:cubicBezTo>
                  <a:pt x="83734" y="35719"/>
                  <a:pt x="35719" y="83734"/>
                  <a:pt x="35719" y="142875"/>
                </a:cubicBezTo>
                <a:cubicBezTo>
                  <a:pt x="35719" y="202016"/>
                  <a:pt x="83734" y="250031"/>
                  <a:pt x="142875" y="250031"/>
                </a:cubicBezTo>
                <a:cubicBezTo>
                  <a:pt x="202016" y="250031"/>
                  <a:pt x="250031" y="202016"/>
                  <a:pt x="250031" y="142875"/>
                </a:cubicBezTo>
                <a:close/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42875" y="187523"/>
                </a:moveTo>
                <a:cubicBezTo>
                  <a:pt x="167517" y="187523"/>
                  <a:pt x="187523" y="167517"/>
                  <a:pt x="187523" y="142875"/>
                </a:cubicBezTo>
                <a:cubicBezTo>
                  <a:pt x="187523" y="118233"/>
                  <a:pt x="167517" y="98227"/>
                  <a:pt x="142875" y="98227"/>
                </a:cubicBezTo>
                <a:cubicBezTo>
                  <a:pt x="118233" y="98227"/>
                  <a:pt x="98227" y="118233"/>
                  <a:pt x="98227" y="142875"/>
                </a:cubicBezTo>
                <a:cubicBezTo>
                  <a:pt x="98227" y="167517"/>
                  <a:pt x="118233" y="187523"/>
                  <a:pt x="142875" y="187523"/>
                </a:cubicBezTo>
                <a:close/>
                <a:moveTo>
                  <a:pt x="142875" y="62508"/>
                </a:moveTo>
                <a:cubicBezTo>
                  <a:pt x="187231" y="62508"/>
                  <a:pt x="223242" y="98519"/>
                  <a:pt x="223242" y="142875"/>
                </a:cubicBezTo>
                <a:cubicBezTo>
                  <a:pt x="223242" y="187231"/>
                  <a:pt x="187231" y="223242"/>
                  <a:pt x="142875" y="223242"/>
                </a:cubicBezTo>
                <a:cubicBezTo>
                  <a:pt x="98519" y="223242"/>
                  <a:pt x="62508" y="187231"/>
                  <a:pt x="62508" y="142875"/>
                </a:cubicBezTo>
                <a:cubicBezTo>
                  <a:pt x="62508" y="98519"/>
                  <a:pt x="98519" y="62508"/>
                  <a:pt x="142875" y="62508"/>
                </a:cubicBezTo>
                <a:close/>
                <a:moveTo>
                  <a:pt x="125016" y="142875"/>
                </a:moveTo>
                <a:cubicBezTo>
                  <a:pt x="125016" y="133018"/>
                  <a:pt x="133018" y="125016"/>
                  <a:pt x="142875" y="125016"/>
                </a:cubicBezTo>
                <a:cubicBezTo>
                  <a:pt x="152732" y="125016"/>
                  <a:pt x="160734" y="133018"/>
                  <a:pt x="160734" y="142875"/>
                </a:cubicBezTo>
                <a:cubicBezTo>
                  <a:pt x="160734" y="152732"/>
                  <a:pt x="152732" y="160734"/>
                  <a:pt x="142875" y="160734"/>
                </a:cubicBezTo>
                <a:cubicBezTo>
                  <a:pt x="133018" y="160734"/>
                  <a:pt x="125016" y="152732"/>
                  <a:pt x="125016" y="1428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771650"/>
            <a:ext cx="1847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Narrow AI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076450"/>
            <a:ext cx="1819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IA e Ngushtë (Weak AI)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600" y="2514600"/>
            <a:ext cx="3209925" cy="876300"/>
          </a:xfrm>
          <a:custGeom>
            <a:avLst/>
            <a:gdLst/>
            <a:ahLst/>
            <a:cxnLst/>
            <a:rect l="l" t="t" r="r" b="b"/>
            <a:pathLst>
              <a:path w="3209925" h="876300">
                <a:moveTo>
                  <a:pt x="76203" y="0"/>
                </a:moveTo>
                <a:lnTo>
                  <a:pt x="3133722" y="0"/>
                </a:lnTo>
                <a:cubicBezTo>
                  <a:pt x="3175808" y="0"/>
                  <a:pt x="3209925" y="34117"/>
                  <a:pt x="3209925" y="76203"/>
                </a:cubicBezTo>
                <a:lnTo>
                  <a:pt x="3209925" y="800097"/>
                </a:lnTo>
                <a:cubicBezTo>
                  <a:pt x="3209925" y="842183"/>
                  <a:pt x="3175808" y="876300"/>
                  <a:pt x="313372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23900" y="2628900"/>
            <a:ext cx="3057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Task-Specific Intelligence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3900" y="2895600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Designed for one specific task (e.g., playing chess, recognizing faces)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9600" y="3505200"/>
            <a:ext cx="3209925" cy="685800"/>
          </a:xfrm>
          <a:custGeom>
            <a:avLst/>
            <a:gdLst/>
            <a:ahLst/>
            <a:cxnLst/>
            <a:rect l="l" t="t" r="r" b="b"/>
            <a:pathLst>
              <a:path w="3209925" h="685800">
                <a:moveTo>
                  <a:pt x="76199" y="0"/>
                </a:moveTo>
                <a:lnTo>
                  <a:pt x="3133726" y="0"/>
                </a:lnTo>
                <a:cubicBezTo>
                  <a:pt x="3175809" y="0"/>
                  <a:pt x="3209925" y="34116"/>
                  <a:pt x="3209925" y="76199"/>
                </a:cubicBezTo>
                <a:lnTo>
                  <a:pt x="3209925" y="609601"/>
                </a:lnTo>
                <a:cubicBezTo>
                  <a:pt x="3209925" y="651684"/>
                  <a:pt x="3175809" y="685800"/>
                  <a:pt x="313372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23900" y="3619500"/>
            <a:ext cx="3057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What We Have Today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3900" y="3886200"/>
            <a:ext cx="304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current AI systems fall into this category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9600" y="4305300"/>
            <a:ext cx="3209925" cy="876300"/>
          </a:xfrm>
          <a:custGeom>
            <a:avLst/>
            <a:gdLst/>
            <a:ahLst/>
            <a:cxnLst/>
            <a:rect l="l" t="t" r="r" b="b"/>
            <a:pathLst>
              <a:path w="3209925" h="876300">
                <a:moveTo>
                  <a:pt x="76203" y="0"/>
                </a:moveTo>
                <a:lnTo>
                  <a:pt x="3133722" y="0"/>
                </a:lnTo>
                <a:cubicBezTo>
                  <a:pt x="3175808" y="0"/>
                  <a:pt x="3209925" y="34117"/>
                  <a:pt x="3209925" y="76203"/>
                </a:cubicBezTo>
                <a:lnTo>
                  <a:pt x="3209925" y="800097"/>
                </a:lnTo>
                <a:cubicBezTo>
                  <a:pt x="3209925" y="842183"/>
                  <a:pt x="3175808" y="876300"/>
                  <a:pt x="313372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23900" y="4419600"/>
            <a:ext cx="3057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Examples: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3900" y="4686300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Chatbots, Recommendation systems, Image recognition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9600" y="5791200"/>
            <a:ext cx="3209925" cy="457200"/>
          </a:xfrm>
          <a:custGeom>
            <a:avLst/>
            <a:gdLst/>
            <a:ahLst/>
            <a:cxnLst/>
            <a:rect l="l" t="t" r="r" b="b"/>
            <a:pathLst>
              <a:path w="3209925" h="457200">
                <a:moveTo>
                  <a:pt x="76202" y="0"/>
                </a:moveTo>
                <a:lnTo>
                  <a:pt x="3133723" y="0"/>
                </a:lnTo>
                <a:cubicBezTo>
                  <a:pt x="3175808" y="0"/>
                  <a:pt x="3209925" y="34117"/>
                  <a:pt x="3209925" y="76202"/>
                </a:cubicBezTo>
                <a:lnTo>
                  <a:pt x="3209925" y="380998"/>
                </a:lnTo>
                <a:cubicBezTo>
                  <a:pt x="3209925" y="423083"/>
                  <a:pt x="3175808" y="457200"/>
                  <a:pt x="313372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5905500"/>
            <a:ext cx="3057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Status: ✅ CURRENT REALITY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51275" y="1533525"/>
            <a:ext cx="3686175" cy="4933950"/>
          </a:xfrm>
          <a:custGeom>
            <a:avLst/>
            <a:gdLst/>
            <a:ahLst/>
            <a:cxnLst/>
            <a:rect l="l" t="t" r="r" b="b"/>
            <a:pathLst>
              <a:path w="3686175" h="4933950">
                <a:moveTo>
                  <a:pt x="152386" y="0"/>
                </a:moveTo>
                <a:lnTo>
                  <a:pt x="3533789" y="0"/>
                </a:lnTo>
                <a:cubicBezTo>
                  <a:pt x="3617949" y="0"/>
                  <a:pt x="3686175" y="68226"/>
                  <a:pt x="3686175" y="152386"/>
                </a:cubicBezTo>
                <a:lnTo>
                  <a:pt x="3686175" y="4781564"/>
                </a:lnTo>
                <a:cubicBezTo>
                  <a:pt x="3686175" y="4865724"/>
                  <a:pt x="3617949" y="4933950"/>
                  <a:pt x="3533789" y="4933950"/>
                </a:cubicBezTo>
                <a:lnTo>
                  <a:pt x="152386" y="4933950"/>
                </a:lnTo>
                <a:cubicBezTo>
                  <a:pt x="68226" y="4933950"/>
                  <a:pt x="0" y="4865724"/>
                  <a:pt x="0" y="4781564"/>
                </a:cubicBezTo>
                <a:lnTo>
                  <a:pt x="0" y="152386"/>
                </a:lnTo>
                <a:cubicBezTo>
                  <a:pt x="0" y="68282"/>
                  <a:pt x="68282" y="0"/>
                  <a:pt x="152386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8FB7AC"/>
            </a:solidFill>
            <a:prstDash val="solid"/>
          </a:ln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89400" y="17716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8FB7AC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653707" y="19335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24" name="Text 22"/>
          <p:cNvSpPr/>
          <p:nvPr/>
        </p:nvSpPr>
        <p:spPr>
          <a:xfrm>
            <a:off x="5251400" y="1790700"/>
            <a:ext cx="2238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General AI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251400" y="2095500"/>
            <a:ext cx="2209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IA e Përgjithshme (Strong AI)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89400" y="2533650"/>
            <a:ext cx="3209925" cy="876300"/>
          </a:xfrm>
          <a:custGeom>
            <a:avLst/>
            <a:gdLst/>
            <a:ahLst/>
            <a:cxnLst/>
            <a:rect l="l" t="t" r="r" b="b"/>
            <a:pathLst>
              <a:path w="3209925" h="876300">
                <a:moveTo>
                  <a:pt x="76203" y="0"/>
                </a:moveTo>
                <a:lnTo>
                  <a:pt x="3133722" y="0"/>
                </a:lnTo>
                <a:cubicBezTo>
                  <a:pt x="3175808" y="0"/>
                  <a:pt x="3209925" y="34117"/>
                  <a:pt x="3209925" y="76203"/>
                </a:cubicBezTo>
                <a:lnTo>
                  <a:pt x="3209925" y="800097"/>
                </a:lnTo>
                <a:cubicBezTo>
                  <a:pt x="3209925" y="842183"/>
                  <a:pt x="3175808" y="876300"/>
                  <a:pt x="313372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27" name="Text 25"/>
          <p:cNvSpPr/>
          <p:nvPr/>
        </p:nvSpPr>
        <p:spPr>
          <a:xfrm>
            <a:off x="4603700" y="2647950"/>
            <a:ext cx="3057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🎯 Human-Level Intelligence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03700" y="2914650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learn and perform any intellectual task a human can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89400" y="3524250"/>
            <a:ext cx="3209925" cy="876300"/>
          </a:xfrm>
          <a:custGeom>
            <a:avLst/>
            <a:gdLst/>
            <a:ahLst/>
            <a:cxnLst/>
            <a:rect l="l" t="t" r="r" b="b"/>
            <a:pathLst>
              <a:path w="3209925" h="876300">
                <a:moveTo>
                  <a:pt x="76203" y="0"/>
                </a:moveTo>
                <a:lnTo>
                  <a:pt x="3133722" y="0"/>
                </a:lnTo>
                <a:cubicBezTo>
                  <a:pt x="3175808" y="0"/>
                  <a:pt x="3209925" y="34117"/>
                  <a:pt x="3209925" y="76203"/>
                </a:cubicBezTo>
                <a:lnTo>
                  <a:pt x="3209925" y="800097"/>
                </a:lnTo>
                <a:cubicBezTo>
                  <a:pt x="3209925" y="842183"/>
                  <a:pt x="3175808" y="876300"/>
                  <a:pt x="313372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30" name="Text 28"/>
          <p:cNvSpPr/>
          <p:nvPr/>
        </p:nvSpPr>
        <p:spPr>
          <a:xfrm>
            <a:off x="4603700" y="3638550"/>
            <a:ext cx="3057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🎯 Adaptable &amp; Flexible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603700" y="3905250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Transfers learning across different domains and tasks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89400" y="4514850"/>
            <a:ext cx="3209925" cy="685800"/>
          </a:xfrm>
          <a:custGeom>
            <a:avLst/>
            <a:gdLst/>
            <a:ahLst/>
            <a:cxnLst/>
            <a:rect l="l" t="t" r="r" b="b"/>
            <a:pathLst>
              <a:path w="3209925" h="685800">
                <a:moveTo>
                  <a:pt x="76199" y="0"/>
                </a:moveTo>
                <a:lnTo>
                  <a:pt x="3133726" y="0"/>
                </a:lnTo>
                <a:cubicBezTo>
                  <a:pt x="3175809" y="0"/>
                  <a:pt x="3209925" y="34116"/>
                  <a:pt x="3209925" y="76199"/>
                </a:cubicBezTo>
                <a:lnTo>
                  <a:pt x="3209925" y="609601"/>
                </a:lnTo>
                <a:cubicBezTo>
                  <a:pt x="3209925" y="651684"/>
                  <a:pt x="3175809" y="685800"/>
                  <a:pt x="313372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33" name="Text 31"/>
          <p:cNvSpPr/>
          <p:nvPr/>
        </p:nvSpPr>
        <p:spPr>
          <a:xfrm>
            <a:off x="4603700" y="4629150"/>
            <a:ext cx="3057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Prediction: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603700" y="4895850"/>
            <a:ext cx="304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Experts estimate 50% chance by 2040-2060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489400" y="5772150"/>
            <a:ext cx="3209925" cy="457200"/>
          </a:xfrm>
          <a:custGeom>
            <a:avLst/>
            <a:gdLst/>
            <a:ahLst/>
            <a:cxnLst/>
            <a:rect l="l" t="t" r="r" b="b"/>
            <a:pathLst>
              <a:path w="3209925" h="457200">
                <a:moveTo>
                  <a:pt x="76202" y="0"/>
                </a:moveTo>
                <a:lnTo>
                  <a:pt x="3133723" y="0"/>
                </a:lnTo>
                <a:cubicBezTo>
                  <a:pt x="3175808" y="0"/>
                  <a:pt x="3209925" y="34117"/>
                  <a:pt x="3209925" y="76202"/>
                </a:cubicBezTo>
                <a:lnTo>
                  <a:pt x="3209925" y="380998"/>
                </a:lnTo>
                <a:cubicBezTo>
                  <a:pt x="3209925" y="423083"/>
                  <a:pt x="3175808" y="457200"/>
                  <a:pt x="313372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FB7AC">
              <a:alpha val="1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565600" y="5886450"/>
            <a:ext cx="3057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Status: 🔬 RESEARCH PHASE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140750" y="1524000"/>
            <a:ext cx="3667125" cy="4953000"/>
          </a:xfrm>
          <a:custGeom>
            <a:avLst/>
            <a:gdLst/>
            <a:ahLst/>
            <a:cxnLst/>
            <a:rect l="l" t="t" r="r" b="b"/>
            <a:pathLst>
              <a:path w="3667125" h="4953000">
                <a:moveTo>
                  <a:pt x="152406" y="0"/>
                </a:moveTo>
                <a:lnTo>
                  <a:pt x="3514719" y="0"/>
                </a:lnTo>
                <a:cubicBezTo>
                  <a:pt x="3598834" y="0"/>
                  <a:pt x="3667125" y="68291"/>
                  <a:pt x="3667125" y="152406"/>
                </a:cubicBezTo>
                <a:lnTo>
                  <a:pt x="3667125" y="4800594"/>
                </a:lnTo>
                <a:cubicBezTo>
                  <a:pt x="3667125" y="4884709"/>
                  <a:pt x="3598834" y="4953000"/>
                  <a:pt x="3514719" y="4953000"/>
                </a:cubicBezTo>
                <a:lnTo>
                  <a:pt x="152406" y="4953000"/>
                </a:lnTo>
                <a:cubicBezTo>
                  <a:pt x="68291" y="4953000"/>
                  <a:pt x="0" y="4884709"/>
                  <a:pt x="0" y="480059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gradFill flip="none" rotWithShape="1">
            <a:gsLst>
              <a:gs pos="0">
                <a:srgbClr val="2F3E3B"/>
              </a:gs>
              <a:gs pos="100000">
                <a:srgbClr val="5F6F6B"/>
              </a:gs>
            </a:gsLst>
            <a:lin ang="270000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369350" y="1752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533656" y="19145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6779" y="127527"/>
                </a:moveTo>
                <a:cubicBezTo>
                  <a:pt x="44202" y="75623"/>
                  <a:pt x="88906" y="35719"/>
                  <a:pt x="142875" y="35719"/>
                </a:cubicBezTo>
                <a:cubicBezTo>
                  <a:pt x="172455" y="35719"/>
                  <a:pt x="199244" y="47718"/>
                  <a:pt x="218666" y="67084"/>
                </a:cubicBezTo>
                <a:cubicBezTo>
                  <a:pt x="218777" y="67196"/>
                  <a:pt x="218889" y="67308"/>
                  <a:pt x="219001" y="67419"/>
                </a:cubicBezTo>
                <a:lnTo>
                  <a:pt x="223242" y="71438"/>
                </a:lnTo>
                <a:lnTo>
                  <a:pt x="196509" y="71438"/>
                </a:lnTo>
                <a:cubicBezTo>
                  <a:pt x="186630" y="71438"/>
                  <a:pt x="178650" y="79418"/>
                  <a:pt x="178650" y="89297"/>
                </a:cubicBezTo>
                <a:cubicBezTo>
                  <a:pt x="178650" y="99175"/>
                  <a:pt x="186630" y="107156"/>
                  <a:pt x="196509" y="107156"/>
                </a:cubicBezTo>
                <a:lnTo>
                  <a:pt x="267946" y="107156"/>
                </a:lnTo>
                <a:cubicBezTo>
                  <a:pt x="277825" y="107156"/>
                  <a:pt x="285806" y="99175"/>
                  <a:pt x="285806" y="89297"/>
                </a:cubicBezTo>
                <a:lnTo>
                  <a:pt x="285806" y="17859"/>
                </a:lnTo>
                <a:cubicBezTo>
                  <a:pt x="285806" y="7981"/>
                  <a:pt x="277825" y="0"/>
                  <a:pt x="267946" y="0"/>
                </a:cubicBezTo>
                <a:cubicBezTo>
                  <a:pt x="258068" y="0"/>
                  <a:pt x="250087" y="7981"/>
                  <a:pt x="250087" y="17859"/>
                </a:cubicBezTo>
                <a:lnTo>
                  <a:pt x="250087" y="47662"/>
                </a:lnTo>
                <a:lnTo>
                  <a:pt x="243780" y="41690"/>
                </a:lnTo>
                <a:cubicBezTo>
                  <a:pt x="217940" y="15962"/>
                  <a:pt x="182221" y="0"/>
                  <a:pt x="142875" y="0"/>
                </a:cubicBezTo>
                <a:cubicBezTo>
                  <a:pt x="70879" y="0"/>
                  <a:pt x="11330" y="53243"/>
                  <a:pt x="1451" y="122504"/>
                </a:cubicBezTo>
                <a:cubicBezTo>
                  <a:pt x="56" y="132271"/>
                  <a:pt x="6809" y="141312"/>
                  <a:pt x="16576" y="142708"/>
                </a:cubicBezTo>
                <a:cubicBezTo>
                  <a:pt x="26343" y="144103"/>
                  <a:pt x="35384" y="137294"/>
                  <a:pt x="36779" y="127583"/>
                </a:cubicBezTo>
                <a:close/>
                <a:moveTo>
                  <a:pt x="284299" y="163246"/>
                </a:moveTo>
                <a:cubicBezTo>
                  <a:pt x="285694" y="153479"/>
                  <a:pt x="278885" y="144438"/>
                  <a:pt x="269174" y="143042"/>
                </a:cubicBezTo>
                <a:cubicBezTo>
                  <a:pt x="259463" y="141647"/>
                  <a:pt x="250366" y="148456"/>
                  <a:pt x="248971" y="158167"/>
                </a:cubicBezTo>
                <a:cubicBezTo>
                  <a:pt x="241548" y="210071"/>
                  <a:pt x="196844" y="249975"/>
                  <a:pt x="142875" y="249975"/>
                </a:cubicBezTo>
                <a:cubicBezTo>
                  <a:pt x="113295" y="249975"/>
                  <a:pt x="86506" y="237976"/>
                  <a:pt x="67084" y="218610"/>
                </a:cubicBezTo>
                <a:cubicBezTo>
                  <a:pt x="66973" y="218498"/>
                  <a:pt x="66861" y="218387"/>
                  <a:pt x="66749" y="218275"/>
                </a:cubicBezTo>
                <a:lnTo>
                  <a:pt x="62508" y="214257"/>
                </a:lnTo>
                <a:lnTo>
                  <a:pt x="89241" y="214257"/>
                </a:lnTo>
                <a:cubicBezTo>
                  <a:pt x="99120" y="214257"/>
                  <a:pt x="107100" y="206276"/>
                  <a:pt x="107100" y="196397"/>
                </a:cubicBezTo>
                <a:cubicBezTo>
                  <a:pt x="107100" y="186519"/>
                  <a:pt x="99120" y="178538"/>
                  <a:pt x="89241" y="178538"/>
                </a:cubicBezTo>
                <a:lnTo>
                  <a:pt x="17859" y="178594"/>
                </a:lnTo>
                <a:cubicBezTo>
                  <a:pt x="13115" y="178594"/>
                  <a:pt x="8539" y="180491"/>
                  <a:pt x="5190" y="183896"/>
                </a:cubicBezTo>
                <a:cubicBezTo>
                  <a:pt x="1842" y="187300"/>
                  <a:pt x="-56" y="191821"/>
                  <a:pt x="0" y="196621"/>
                </a:cubicBezTo>
                <a:lnTo>
                  <a:pt x="558" y="267500"/>
                </a:lnTo>
                <a:cubicBezTo>
                  <a:pt x="614" y="277378"/>
                  <a:pt x="8706" y="285304"/>
                  <a:pt x="18585" y="285192"/>
                </a:cubicBezTo>
                <a:cubicBezTo>
                  <a:pt x="28463" y="285080"/>
                  <a:pt x="36388" y="277044"/>
                  <a:pt x="36277" y="267165"/>
                </a:cubicBezTo>
                <a:lnTo>
                  <a:pt x="36054" y="238423"/>
                </a:lnTo>
                <a:lnTo>
                  <a:pt x="42025" y="244060"/>
                </a:lnTo>
                <a:cubicBezTo>
                  <a:pt x="67866" y="269788"/>
                  <a:pt x="103529" y="285750"/>
                  <a:pt x="142875" y="285750"/>
                </a:cubicBezTo>
                <a:cubicBezTo>
                  <a:pt x="214871" y="285750"/>
                  <a:pt x="274420" y="232507"/>
                  <a:pt x="284299" y="16324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9131350" y="1771650"/>
            <a:ext cx="1152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 AI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131350" y="2076450"/>
            <a:ext cx="112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 IA (ASI)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369350" y="2514600"/>
            <a:ext cx="3209925" cy="876300"/>
          </a:xfrm>
          <a:custGeom>
            <a:avLst/>
            <a:gdLst/>
            <a:ahLst/>
            <a:cxnLst/>
            <a:rect l="l" t="t" r="r" b="b"/>
            <a:pathLst>
              <a:path w="3209925" h="876300">
                <a:moveTo>
                  <a:pt x="76203" y="0"/>
                </a:moveTo>
                <a:lnTo>
                  <a:pt x="3133722" y="0"/>
                </a:lnTo>
                <a:cubicBezTo>
                  <a:pt x="3175808" y="0"/>
                  <a:pt x="3209925" y="34117"/>
                  <a:pt x="3209925" y="76203"/>
                </a:cubicBezTo>
                <a:lnTo>
                  <a:pt x="3209925" y="800097"/>
                </a:lnTo>
                <a:cubicBezTo>
                  <a:pt x="3209925" y="842183"/>
                  <a:pt x="3175808" y="876300"/>
                  <a:pt x="313372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8483650" y="2628900"/>
            <a:ext cx="3057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🚀 Beyond Human Intelligence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483650" y="2895600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Surpasses human cognition in creativity, strategy, and wisdom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369350" y="3505200"/>
            <a:ext cx="3209925" cy="876300"/>
          </a:xfrm>
          <a:custGeom>
            <a:avLst/>
            <a:gdLst/>
            <a:ahLst/>
            <a:cxnLst/>
            <a:rect l="l" t="t" r="r" b="b"/>
            <a:pathLst>
              <a:path w="3209925" h="876300">
                <a:moveTo>
                  <a:pt x="76203" y="0"/>
                </a:moveTo>
                <a:lnTo>
                  <a:pt x="3133722" y="0"/>
                </a:lnTo>
                <a:cubicBezTo>
                  <a:pt x="3175808" y="0"/>
                  <a:pt x="3209925" y="34117"/>
                  <a:pt x="3209925" y="76203"/>
                </a:cubicBezTo>
                <a:lnTo>
                  <a:pt x="3209925" y="800097"/>
                </a:lnTo>
                <a:cubicBezTo>
                  <a:pt x="3209925" y="842183"/>
                  <a:pt x="3175808" y="876300"/>
                  <a:pt x="313372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8483650" y="3619500"/>
            <a:ext cx="3057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🚀 Theoretical Future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483650" y="3886200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hypothetical level of AI that exceeds human performance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369350" y="4495800"/>
            <a:ext cx="3209925" cy="685800"/>
          </a:xfrm>
          <a:custGeom>
            <a:avLst/>
            <a:gdLst/>
            <a:ahLst/>
            <a:cxnLst/>
            <a:rect l="l" t="t" r="r" b="b"/>
            <a:pathLst>
              <a:path w="3209925" h="685800">
                <a:moveTo>
                  <a:pt x="76199" y="0"/>
                </a:moveTo>
                <a:lnTo>
                  <a:pt x="3133726" y="0"/>
                </a:lnTo>
                <a:cubicBezTo>
                  <a:pt x="3175809" y="0"/>
                  <a:pt x="3209925" y="34116"/>
                  <a:pt x="3209925" y="76199"/>
                </a:cubicBezTo>
                <a:lnTo>
                  <a:pt x="3209925" y="609601"/>
                </a:lnTo>
                <a:cubicBezTo>
                  <a:pt x="3209925" y="651684"/>
                  <a:pt x="3175809" y="685800"/>
                  <a:pt x="313372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8483650" y="4610100"/>
            <a:ext cx="3057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Timeline: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483650" y="4876800"/>
            <a:ext cx="304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Could follow AGI within decades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369350" y="5791200"/>
            <a:ext cx="3209925" cy="457200"/>
          </a:xfrm>
          <a:custGeom>
            <a:avLst/>
            <a:gdLst/>
            <a:ahLst/>
            <a:cxnLst/>
            <a:rect l="l" t="t" r="r" b="b"/>
            <a:pathLst>
              <a:path w="3209925" h="457200">
                <a:moveTo>
                  <a:pt x="76202" y="0"/>
                </a:moveTo>
                <a:lnTo>
                  <a:pt x="3133723" y="0"/>
                </a:lnTo>
                <a:cubicBezTo>
                  <a:pt x="3175808" y="0"/>
                  <a:pt x="3209925" y="34117"/>
                  <a:pt x="3209925" y="76202"/>
                </a:cubicBezTo>
                <a:lnTo>
                  <a:pt x="3209925" y="380998"/>
                </a:lnTo>
                <a:cubicBezTo>
                  <a:pt x="3209925" y="423083"/>
                  <a:pt x="3175808" y="457200"/>
                  <a:pt x="313372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8445550" y="5905500"/>
            <a:ext cx="3057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Status: 🔮 THEORETICAL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4C8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/ TYPES OF AI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8324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Narrow AI: What Powers Today's World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8248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IA e Ngushtë: Çfarë Fuqizon Botën e Sotme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524000"/>
            <a:ext cx="3981450" cy="1524000"/>
          </a:xfrm>
          <a:custGeom>
            <a:avLst/>
            <a:gdLst/>
            <a:ahLst/>
            <a:cxnLst/>
            <a:rect l="l" t="t" r="r" b="b"/>
            <a:pathLst>
              <a:path w="3981450" h="1524000">
                <a:moveTo>
                  <a:pt x="38100" y="0"/>
                </a:moveTo>
                <a:lnTo>
                  <a:pt x="3867150" y="0"/>
                </a:lnTo>
                <a:cubicBezTo>
                  <a:pt x="3930234" y="0"/>
                  <a:pt x="3981450" y="51216"/>
                  <a:pt x="3981450" y="114300"/>
                </a:cubicBezTo>
                <a:lnTo>
                  <a:pt x="3981450" y="1409700"/>
                </a:lnTo>
                <a:cubicBezTo>
                  <a:pt x="3981450" y="1472784"/>
                  <a:pt x="3930234" y="1524000"/>
                  <a:pt x="3867150" y="1524000"/>
                </a:cubicBez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1524000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3810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7" name="Shape 5"/>
          <p:cNvSpPr/>
          <p:nvPr/>
        </p:nvSpPr>
        <p:spPr>
          <a:xfrm>
            <a:off x="623888" y="17335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71450" y="64294"/>
                </a:moveTo>
                <a:cubicBezTo>
                  <a:pt x="171450" y="107692"/>
                  <a:pt x="133052" y="142875"/>
                  <a:pt x="85725" y="142875"/>
                </a:cubicBezTo>
                <a:cubicBezTo>
                  <a:pt x="73804" y="142875"/>
                  <a:pt x="62463" y="140643"/>
                  <a:pt x="52149" y="136624"/>
                </a:cubicBezTo>
                <a:lnTo>
                  <a:pt x="15716" y="155912"/>
                </a:lnTo>
                <a:cubicBezTo>
                  <a:pt x="11564" y="158100"/>
                  <a:pt x="6474" y="157341"/>
                  <a:pt x="3125" y="154037"/>
                </a:cubicBezTo>
                <a:cubicBezTo>
                  <a:pt x="-223" y="150733"/>
                  <a:pt x="-982" y="145599"/>
                  <a:pt x="1250" y="141446"/>
                </a:cubicBezTo>
                <a:lnTo>
                  <a:pt x="17145" y="111443"/>
                </a:lnTo>
                <a:cubicBezTo>
                  <a:pt x="6385" y="98316"/>
                  <a:pt x="0" y="81975"/>
                  <a:pt x="0" y="64294"/>
                </a:cubicBezTo>
                <a:cubicBezTo>
                  <a:pt x="0" y="20895"/>
                  <a:pt x="38398" y="-14287"/>
                  <a:pt x="85725" y="-14287"/>
                </a:cubicBezTo>
                <a:cubicBezTo>
                  <a:pt x="133052" y="-14287"/>
                  <a:pt x="171450" y="20895"/>
                  <a:pt x="171450" y="64294"/>
                </a:cubicBezTo>
                <a:close/>
                <a:moveTo>
                  <a:pt x="171450" y="228600"/>
                </a:moveTo>
                <a:cubicBezTo>
                  <a:pt x="129436" y="228600"/>
                  <a:pt x="94476" y="200873"/>
                  <a:pt x="87154" y="164306"/>
                </a:cubicBezTo>
                <a:cubicBezTo>
                  <a:pt x="140732" y="163637"/>
                  <a:pt x="187300" y="125507"/>
                  <a:pt x="192435" y="73804"/>
                </a:cubicBezTo>
                <a:cubicBezTo>
                  <a:pt x="229627" y="82376"/>
                  <a:pt x="257175" y="113228"/>
                  <a:pt x="257175" y="150019"/>
                </a:cubicBezTo>
                <a:cubicBezTo>
                  <a:pt x="257175" y="167700"/>
                  <a:pt x="250790" y="184041"/>
                  <a:pt x="240030" y="197168"/>
                </a:cubicBezTo>
                <a:lnTo>
                  <a:pt x="255925" y="227171"/>
                </a:lnTo>
                <a:cubicBezTo>
                  <a:pt x="258113" y="231324"/>
                  <a:pt x="257354" y="236413"/>
                  <a:pt x="254050" y="239762"/>
                </a:cubicBezTo>
                <a:cubicBezTo>
                  <a:pt x="250746" y="243111"/>
                  <a:pt x="245611" y="243870"/>
                  <a:pt x="241459" y="241637"/>
                </a:cubicBezTo>
                <a:lnTo>
                  <a:pt x="205026" y="222349"/>
                </a:lnTo>
                <a:cubicBezTo>
                  <a:pt x="194712" y="226368"/>
                  <a:pt x="183371" y="228600"/>
                  <a:pt x="171450" y="22860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8" name="Text 6"/>
          <p:cNvSpPr/>
          <p:nvPr/>
        </p:nvSpPr>
        <p:spPr>
          <a:xfrm>
            <a:off x="1009650" y="1714500"/>
            <a:ext cx="1352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Virtual Assistants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2095500"/>
            <a:ext cx="3657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Siri, Alexa, Google Assistant</a:t>
            </a:r>
            <a:r>
              <a:rPr lang="en-US" sz="120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understand voice commands and respond to queries.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2667000"/>
            <a:ext cx="3648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Asistentët virtualë kuptojnë komandat e zërit.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52950" y="1524000"/>
            <a:ext cx="3981450" cy="1524000"/>
          </a:xfrm>
          <a:custGeom>
            <a:avLst/>
            <a:gdLst/>
            <a:ahLst/>
            <a:cxnLst/>
            <a:rect l="l" t="t" r="r" b="b"/>
            <a:pathLst>
              <a:path w="3981450" h="1524000">
                <a:moveTo>
                  <a:pt x="38100" y="0"/>
                </a:moveTo>
                <a:lnTo>
                  <a:pt x="3867150" y="0"/>
                </a:lnTo>
                <a:cubicBezTo>
                  <a:pt x="3930234" y="0"/>
                  <a:pt x="3981450" y="51216"/>
                  <a:pt x="3981450" y="114300"/>
                </a:cubicBezTo>
                <a:lnTo>
                  <a:pt x="3981450" y="1409700"/>
                </a:lnTo>
                <a:cubicBezTo>
                  <a:pt x="3981450" y="1472784"/>
                  <a:pt x="3930234" y="1524000"/>
                  <a:pt x="3867150" y="1524000"/>
                </a:cubicBez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52950" y="1524000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3810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3" name="Shape 11"/>
          <p:cNvSpPr/>
          <p:nvPr/>
        </p:nvSpPr>
        <p:spPr>
          <a:xfrm>
            <a:off x="4805363" y="17335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57150" y="50006"/>
                </a:moveTo>
                <a:cubicBezTo>
                  <a:pt x="68978" y="50006"/>
                  <a:pt x="78581" y="59609"/>
                  <a:pt x="78581" y="71438"/>
                </a:cubicBezTo>
                <a:cubicBezTo>
                  <a:pt x="78581" y="83266"/>
                  <a:pt x="68978" y="92869"/>
                  <a:pt x="57150" y="92869"/>
                </a:cubicBezTo>
                <a:cubicBezTo>
                  <a:pt x="45322" y="92869"/>
                  <a:pt x="35719" y="83266"/>
                  <a:pt x="35719" y="71438"/>
                </a:cubicBezTo>
                <a:cubicBezTo>
                  <a:pt x="35719" y="59609"/>
                  <a:pt x="45322" y="50006"/>
                  <a:pt x="57150" y="50006"/>
                </a:cubicBezTo>
                <a:close/>
                <a:moveTo>
                  <a:pt x="121444" y="100013"/>
                </a:moveTo>
                <a:cubicBezTo>
                  <a:pt x="125194" y="100013"/>
                  <a:pt x="128632" y="101977"/>
                  <a:pt x="130597" y="105147"/>
                </a:cubicBezTo>
                <a:lnTo>
                  <a:pt x="169887" y="169441"/>
                </a:lnTo>
                <a:cubicBezTo>
                  <a:pt x="171896" y="172745"/>
                  <a:pt x="171986" y="176897"/>
                  <a:pt x="170111" y="180290"/>
                </a:cubicBezTo>
                <a:cubicBezTo>
                  <a:pt x="168235" y="183684"/>
                  <a:pt x="164619" y="185738"/>
                  <a:pt x="160734" y="185738"/>
                </a:cubicBezTo>
                <a:lnTo>
                  <a:pt x="39291" y="185738"/>
                </a:lnTo>
                <a:cubicBezTo>
                  <a:pt x="35317" y="185738"/>
                  <a:pt x="31611" y="183505"/>
                  <a:pt x="29781" y="179978"/>
                </a:cubicBezTo>
                <a:cubicBezTo>
                  <a:pt x="27950" y="176451"/>
                  <a:pt x="28218" y="172164"/>
                  <a:pt x="30495" y="168905"/>
                </a:cubicBezTo>
                <a:lnTo>
                  <a:pt x="55498" y="133186"/>
                </a:lnTo>
                <a:cubicBezTo>
                  <a:pt x="57507" y="130329"/>
                  <a:pt x="60767" y="128632"/>
                  <a:pt x="64294" y="128632"/>
                </a:cubicBezTo>
                <a:cubicBezTo>
                  <a:pt x="67821" y="128632"/>
                  <a:pt x="71080" y="130329"/>
                  <a:pt x="73089" y="133186"/>
                </a:cubicBezTo>
                <a:lnTo>
                  <a:pt x="84877" y="150063"/>
                </a:lnTo>
                <a:lnTo>
                  <a:pt x="112291" y="105192"/>
                </a:lnTo>
                <a:cubicBezTo>
                  <a:pt x="114255" y="102022"/>
                  <a:pt x="117693" y="100057"/>
                  <a:pt x="121444" y="100057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4" name="Text 12"/>
          <p:cNvSpPr/>
          <p:nvPr/>
        </p:nvSpPr>
        <p:spPr>
          <a:xfrm>
            <a:off x="5162550" y="1714500"/>
            <a:ext cx="1457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Recognition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62500" y="2095500"/>
            <a:ext cx="3657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Face ID, Google Photos</a:t>
            </a:r>
            <a:r>
              <a:rPr lang="en-US" sz="120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identify people, objects, and scenes in images.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62500" y="2667000"/>
            <a:ext cx="3648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Njohja e imazheve identifikon njerëzit dhe objektet.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3200400"/>
            <a:ext cx="3981450" cy="1524000"/>
          </a:xfrm>
          <a:custGeom>
            <a:avLst/>
            <a:gdLst/>
            <a:ahLst/>
            <a:cxnLst/>
            <a:rect l="l" t="t" r="r" b="b"/>
            <a:pathLst>
              <a:path w="3981450" h="1524000">
                <a:moveTo>
                  <a:pt x="38100" y="0"/>
                </a:moveTo>
                <a:lnTo>
                  <a:pt x="3867150" y="0"/>
                </a:lnTo>
                <a:cubicBezTo>
                  <a:pt x="3930234" y="0"/>
                  <a:pt x="3981450" y="51216"/>
                  <a:pt x="3981450" y="114300"/>
                </a:cubicBezTo>
                <a:lnTo>
                  <a:pt x="3981450" y="1409700"/>
                </a:lnTo>
                <a:cubicBezTo>
                  <a:pt x="3981450" y="1472784"/>
                  <a:pt x="3930234" y="1524000"/>
                  <a:pt x="3867150" y="1524000"/>
                </a:cubicBez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0050" y="3200400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3810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19" name="Shape 17"/>
          <p:cNvSpPr/>
          <p:nvPr/>
        </p:nvSpPr>
        <p:spPr>
          <a:xfrm>
            <a:off x="638175" y="34099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20" name="Text 18"/>
          <p:cNvSpPr/>
          <p:nvPr/>
        </p:nvSpPr>
        <p:spPr>
          <a:xfrm>
            <a:off x="1009650" y="3390900"/>
            <a:ext cx="126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Fraud Detection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9600" y="3771900"/>
            <a:ext cx="3657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Banks, Credit Cards</a:t>
            </a:r>
            <a:r>
              <a:rPr lang="en-US" sz="120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analyze transactions in real-time to spot suspicious activity.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9600" y="4343400"/>
            <a:ext cx="3648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Zbulimi i mashtrimit analizon transaksionet.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52950" y="3200400"/>
            <a:ext cx="3981450" cy="1524000"/>
          </a:xfrm>
          <a:custGeom>
            <a:avLst/>
            <a:gdLst/>
            <a:ahLst/>
            <a:cxnLst/>
            <a:rect l="l" t="t" r="r" b="b"/>
            <a:pathLst>
              <a:path w="3981450" h="1524000">
                <a:moveTo>
                  <a:pt x="38100" y="0"/>
                </a:moveTo>
                <a:lnTo>
                  <a:pt x="3867150" y="0"/>
                </a:lnTo>
                <a:cubicBezTo>
                  <a:pt x="3930234" y="0"/>
                  <a:pt x="3981450" y="51216"/>
                  <a:pt x="3981450" y="114300"/>
                </a:cubicBezTo>
                <a:lnTo>
                  <a:pt x="3981450" y="1409700"/>
                </a:lnTo>
                <a:cubicBezTo>
                  <a:pt x="3981450" y="1472784"/>
                  <a:pt x="3930234" y="1524000"/>
                  <a:pt x="3867150" y="1524000"/>
                </a:cubicBez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52950" y="3200400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3810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25" name="Shape 23"/>
          <p:cNvSpPr/>
          <p:nvPr/>
        </p:nvSpPr>
        <p:spPr>
          <a:xfrm>
            <a:off x="4776788" y="34099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71438" y="0"/>
                </a:moveTo>
                <a:cubicBezTo>
                  <a:pt x="79340" y="0"/>
                  <a:pt x="85725" y="6385"/>
                  <a:pt x="85725" y="14288"/>
                </a:cubicBezTo>
                <a:lnTo>
                  <a:pt x="85725" y="28575"/>
                </a:lnTo>
                <a:lnTo>
                  <a:pt x="142875" y="28575"/>
                </a:lnTo>
                <a:cubicBezTo>
                  <a:pt x="150778" y="28575"/>
                  <a:pt x="157163" y="34960"/>
                  <a:pt x="157163" y="42863"/>
                </a:cubicBezTo>
                <a:cubicBezTo>
                  <a:pt x="157163" y="50765"/>
                  <a:pt x="150778" y="57150"/>
                  <a:pt x="142875" y="57150"/>
                </a:cubicBezTo>
                <a:lnTo>
                  <a:pt x="138589" y="57150"/>
                </a:lnTo>
                <a:lnTo>
                  <a:pt x="134838" y="67464"/>
                </a:lnTo>
                <a:cubicBezTo>
                  <a:pt x="127516" y="87645"/>
                  <a:pt x="116488" y="106085"/>
                  <a:pt x="102602" y="121935"/>
                </a:cubicBezTo>
                <a:cubicBezTo>
                  <a:pt x="108942" y="125864"/>
                  <a:pt x="115550" y="129347"/>
                  <a:pt x="122426" y="132427"/>
                </a:cubicBezTo>
                <a:lnTo>
                  <a:pt x="144929" y="142429"/>
                </a:lnTo>
                <a:lnTo>
                  <a:pt x="172700" y="79921"/>
                </a:lnTo>
                <a:cubicBezTo>
                  <a:pt x="174977" y="74741"/>
                  <a:pt x="180112" y="71438"/>
                  <a:pt x="185737" y="71438"/>
                </a:cubicBezTo>
                <a:cubicBezTo>
                  <a:pt x="191363" y="71438"/>
                  <a:pt x="196498" y="74741"/>
                  <a:pt x="198775" y="79921"/>
                </a:cubicBezTo>
                <a:lnTo>
                  <a:pt x="255925" y="208508"/>
                </a:lnTo>
                <a:cubicBezTo>
                  <a:pt x="259140" y="215741"/>
                  <a:pt x="255880" y="224180"/>
                  <a:pt x="248692" y="227350"/>
                </a:cubicBezTo>
                <a:cubicBezTo>
                  <a:pt x="241503" y="230520"/>
                  <a:pt x="233020" y="227305"/>
                  <a:pt x="229850" y="220117"/>
                </a:cubicBezTo>
                <a:lnTo>
                  <a:pt x="220920" y="200025"/>
                </a:lnTo>
                <a:lnTo>
                  <a:pt x="150599" y="200025"/>
                </a:lnTo>
                <a:lnTo>
                  <a:pt x="141669" y="220117"/>
                </a:lnTo>
                <a:cubicBezTo>
                  <a:pt x="138455" y="227350"/>
                  <a:pt x="130016" y="230565"/>
                  <a:pt x="122828" y="227350"/>
                </a:cubicBezTo>
                <a:cubicBezTo>
                  <a:pt x="115639" y="224135"/>
                  <a:pt x="112380" y="215697"/>
                  <a:pt x="115595" y="208508"/>
                </a:cubicBezTo>
                <a:lnTo>
                  <a:pt x="133365" y="168548"/>
                </a:lnTo>
                <a:lnTo>
                  <a:pt x="110862" y="158547"/>
                </a:lnTo>
                <a:cubicBezTo>
                  <a:pt x="100593" y="153992"/>
                  <a:pt x="90770" y="148545"/>
                  <a:pt x="81483" y="142295"/>
                </a:cubicBezTo>
                <a:cubicBezTo>
                  <a:pt x="71973" y="149974"/>
                  <a:pt x="61570" y="156671"/>
                  <a:pt x="50453" y="162252"/>
                </a:cubicBezTo>
                <a:lnTo>
                  <a:pt x="34960" y="169932"/>
                </a:lnTo>
                <a:cubicBezTo>
                  <a:pt x="27905" y="173459"/>
                  <a:pt x="19333" y="170602"/>
                  <a:pt x="15806" y="163547"/>
                </a:cubicBezTo>
                <a:cubicBezTo>
                  <a:pt x="12278" y="156493"/>
                  <a:pt x="15136" y="147920"/>
                  <a:pt x="22190" y="144393"/>
                </a:cubicBezTo>
                <a:lnTo>
                  <a:pt x="37594" y="136669"/>
                </a:lnTo>
                <a:cubicBezTo>
                  <a:pt x="44872" y="133008"/>
                  <a:pt x="51792" y="128766"/>
                  <a:pt x="58311" y="124033"/>
                </a:cubicBezTo>
                <a:cubicBezTo>
                  <a:pt x="52149" y="118363"/>
                  <a:pt x="46345" y="112246"/>
                  <a:pt x="40943" y="105772"/>
                </a:cubicBezTo>
                <a:lnTo>
                  <a:pt x="36433" y="100325"/>
                </a:lnTo>
                <a:cubicBezTo>
                  <a:pt x="31388" y="94253"/>
                  <a:pt x="32192" y="85234"/>
                  <a:pt x="38264" y="80189"/>
                </a:cubicBezTo>
                <a:cubicBezTo>
                  <a:pt x="44336" y="75143"/>
                  <a:pt x="53355" y="75947"/>
                  <a:pt x="58400" y="82019"/>
                </a:cubicBezTo>
                <a:lnTo>
                  <a:pt x="62954" y="87466"/>
                </a:lnTo>
                <a:cubicBezTo>
                  <a:pt x="68089" y="93672"/>
                  <a:pt x="73715" y="99432"/>
                  <a:pt x="79653" y="104745"/>
                </a:cubicBezTo>
                <a:cubicBezTo>
                  <a:pt x="91931" y="91172"/>
                  <a:pt x="101620" y="75233"/>
                  <a:pt x="108005" y="57686"/>
                </a:cubicBezTo>
                <a:lnTo>
                  <a:pt x="108228" y="57150"/>
                </a:lnTo>
                <a:lnTo>
                  <a:pt x="14332" y="57150"/>
                </a:lnTo>
                <a:cubicBezTo>
                  <a:pt x="6385" y="57150"/>
                  <a:pt x="0" y="50765"/>
                  <a:pt x="0" y="42863"/>
                </a:cubicBezTo>
                <a:cubicBezTo>
                  <a:pt x="0" y="34960"/>
                  <a:pt x="6385" y="28575"/>
                  <a:pt x="14288" y="28575"/>
                </a:cubicBezTo>
                <a:lnTo>
                  <a:pt x="57150" y="28575"/>
                </a:lnTo>
                <a:lnTo>
                  <a:pt x="57150" y="14288"/>
                </a:lnTo>
                <a:cubicBezTo>
                  <a:pt x="57150" y="6385"/>
                  <a:pt x="63535" y="0"/>
                  <a:pt x="71438" y="0"/>
                </a:cubicBezTo>
                <a:close/>
                <a:moveTo>
                  <a:pt x="185738" y="120908"/>
                </a:moveTo>
                <a:lnTo>
                  <a:pt x="163279" y="171450"/>
                </a:lnTo>
                <a:lnTo>
                  <a:pt x="208196" y="171450"/>
                </a:lnTo>
                <a:lnTo>
                  <a:pt x="185738" y="120908"/>
                </a:ln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26" name="Text 24"/>
          <p:cNvSpPr/>
          <p:nvPr/>
        </p:nvSpPr>
        <p:spPr>
          <a:xfrm>
            <a:off x="5162550" y="3390900"/>
            <a:ext cx="1647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Language Translation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762500" y="3771900"/>
            <a:ext cx="3657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Translate, DeepL</a:t>
            </a:r>
            <a:r>
              <a:rPr lang="en-US" sz="120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translate text and speech between languages instantly.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62500" y="4343400"/>
            <a:ext cx="3648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Përkthimi i gjuhës bën të mundur komunikimin global.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00050" y="4876800"/>
            <a:ext cx="3981450" cy="1714500"/>
          </a:xfrm>
          <a:custGeom>
            <a:avLst/>
            <a:gdLst/>
            <a:ahLst/>
            <a:cxnLst/>
            <a:rect l="l" t="t" r="r" b="b"/>
            <a:pathLst>
              <a:path w="3981450" h="1714500">
                <a:moveTo>
                  <a:pt x="38100" y="0"/>
                </a:moveTo>
                <a:lnTo>
                  <a:pt x="3867144" y="0"/>
                </a:lnTo>
                <a:cubicBezTo>
                  <a:pt x="3930274" y="0"/>
                  <a:pt x="3981450" y="51176"/>
                  <a:pt x="3981450" y="114306"/>
                </a:cubicBezTo>
                <a:lnTo>
                  <a:pt x="3981450" y="1600194"/>
                </a:lnTo>
                <a:cubicBezTo>
                  <a:pt x="3981450" y="1663324"/>
                  <a:pt x="3930274" y="1714500"/>
                  <a:pt x="3867144" y="1714500"/>
                </a:cubicBezTo>
                <a:lnTo>
                  <a:pt x="38100" y="1714500"/>
                </a:lnTo>
                <a:cubicBezTo>
                  <a:pt x="17072" y="1714500"/>
                  <a:pt x="0" y="1697428"/>
                  <a:pt x="0" y="1676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00050" y="4876800"/>
            <a:ext cx="38100" cy="1714500"/>
          </a:xfrm>
          <a:custGeom>
            <a:avLst/>
            <a:gdLst/>
            <a:ahLst/>
            <a:cxnLst/>
            <a:rect l="l" t="t" r="r" b="b"/>
            <a:pathLst>
              <a:path w="38100" h="1714500">
                <a:moveTo>
                  <a:pt x="38100" y="0"/>
                </a:moveTo>
                <a:lnTo>
                  <a:pt x="38100" y="0"/>
                </a:lnTo>
                <a:lnTo>
                  <a:pt x="38100" y="1714500"/>
                </a:lnTo>
                <a:lnTo>
                  <a:pt x="38100" y="1714500"/>
                </a:lnTo>
                <a:cubicBezTo>
                  <a:pt x="17072" y="1714500"/>
                  <a:pt x="0" y="1697428"/>
                  <a:pt x="0" y="1676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31" name="Shape 29"/>
          <p:cNvSpPr/>
          <p:nvPr/>
        </p:nvSpPr>
        <p:spPr>
          <a:xfrm>
            <a:off x="638175" y="50863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0365" y="52417"/>
                </a:moveTo>
                <a:lnTo>
                  <a:pt x="48711" y="85725"/>
                </a:lnTo>
                <a:lnTo>
                  <a:pt x="179889" y="85725"/>
                </a:lnTo>
                <a:lnTo>
                  <a:pt x="168235" y="52417"/>
                </a:lnTo>
                <a:cubicBezTo>
                  <a:pt x="166226" y="46702"/>
                  <a:pt x="160824" y="42863"/>
                  <a:pt x="154751" y="42863"/>
                </a:cubicBezTo>
                <a:lnTo>
                  <a:pt x="73849" y="42863"/>
                </a:lnTo>
                <a:cubicBezTo>
                  <a:pt x="67776" y="42863"/>
                  <a:pt x="62374" y="46702"/>
                  <a:pt x="60365" y="52417"/>
                </a:cubicBezTo>
                <a:close/>
                <a:moveTo>
                  <a:pt x="17681" y="87868"/>
                </a:moveTo>
                <a:lnTo>
                  <a:pt x="33397" y="42996"/>
                </a:lnTo>
                <a:cubicBezTo>
                  <a:pt x="39425" y="25807"/>
                  <a:pt x="55632" y="14288"/>
                  <a:pt x="73849" y="14288"/>
                </a:cubicBezTo>
                <a:lnTo>
                  <a:pt x="154751" y="14288"/>
                </a:lnTo>
                <a:cubicBezTo>
                  <a:pt x="172968" y="14288"/>
                  <a:pt x="189175" y="25807"/>
                  <a:pt x="195203" y="42996"/>
                </a:cubicBezTo>
                <a:lnTo>
                  <a:pt x="210919" y="87868"/>
                </a:lnTo>
                <a:cubicBezTo>
                  <a:pt x="221278" y="92154"/>
                  <a:pt x="228600" y="102379"/>
                  <a:pt x="228600" y="114300"/>
                </a:cubicBezTo>
                <a:lnTo>
                  <a:pt x="228600" y="200025"/>
                </a:lnTo>
                <a:cubicBezTo>
                  <a:pt x="228600" y="207928"/>
                  <a:pt x="222215" y="214313"/>
                  <a:pt x="214313" y="214313"/>
                </a:cubicBezTo>
                <a:lnTo>
                  <a:pt x="200025" y="214313"/>
                </a:lnTo>
                <a:cubicBezTo>
                  <a:pt x="192122" y="214313"/>
                  <a:pt x="185738" y="207928"/>
                  <a:pt x="185738" y="200025"/>
                </a:cubicBezTo>
                <a:lnTo>
                  <a:pt x="185738" y="185738"/>
                </a:lnTo>
                <a:lnTo>
                  <a:pt x="42863" y="185738"/>
                </a:lnTo>
                <a:lnTo>
                  <a:pt x="42863" y="200025"/>
                </a:lnTo>
                <a:cubicBezTo>
                  <a:pt x="42863" y="207928"/>
                  <a:pt x="36478" y="214313"/>
                  <a:pt x="28575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14300"/>
                </a:lnTo>
                <a:cubicBezTo>
                  <a:pt x="0" y="102379"/>
                  <a:pt x="7322" y="92154"/>
                  <a:pt x="17681" y="87868"/>
                </a:cubicBezTo>
                <a:close/>
                <a:moveTo>
                  <a:pt x="57150" y="135731"/>
                </a:moveTo>
                <a:cubicBezTo>
                  <a:pt x="57150" y="127846"/>
                  <a:pt x="50748" y="121444"/>
                  <a:pt x="42863" y="121444"/>
                </a:cubicBezTo>
                <a:cubicBezTo>
                  <a:pt x="34977" y="121444"/>
                  <a:pt x="28575" y="127846"/>
                  <a:pt x="28575" y="135731"/>
                </a:cubicBezTo>
                <a:cubicBezTo>
                  <a:pt x="28575" y="143617"/>
                  <a:pt x="34977" y="150019"/>
                  <a:pt x="42863" y="150019"/>
                </a:cubicBezTo>
                <a:cubicBezTo>
                  <a:pt x="50748" y="150019"/>
                  <a:pt x="57150" y="143617"/>
                  <a:pt x="57150" y="135731"/>
                </a:cubicBezTo>
                <a:close/>
                <a:moveTo>
                  <a:pt x="185738" y="150019"/>
                </a:moveTo>
                <a:cubicBezTo>
                  <a:pt x="193623" y="150019"/>
                  <a:pt x="200025" y="143617"/>
                  <a:pt x="200025" y="135731"/>
                </a:cubicBezTo>
                <a:cubicBezTo>
                  <a:pt x="200025" y="127846"/>
                  <a:pt x="193623" y="121444"/>
                  <a:pt x="185738" y="121444"/>
                </a:cubicBezTo>
                <a:cubicBezTo>
                  <a:pt x="177852" y="121444"/>
                  <a:pt x="171450" y="127846"/>
                  <a:pt x="171450" y="135731"/>
                </a:cubicBezTo>
                <a:cubicBezTo>
                  <a:pt x="171450" y="143617"/>
                  <a:pt x="177852" y="150019"/>
                  <a:pt x="185738" y="150019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32" name="Text 30"/>
          <p:cNvSpPr/>
          <p:nvPr/>
        </p:nvSpPr>
        <p:spPr>
          <a:xfrm>
            <a:off x="1009650" y="5067300"/>
            <a:ext cx="160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Autonomous Driving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09600" y="5448300"/>
            <a:ext cx="3657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Tesla Autopilot, Waymo</a:t>
            </a:r>
            <a:r>
              <a:rPr lang="en-US" sz="120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enable vehicles to navigate roads with minimal human input.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09600" y="6019800"/>
            <a:ext cx="3648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Vozitja autonome mundëson navigimin pa ndërhyrje njerëzore.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552950" y="4876800"/>
            <a:ext cx="3981450" cy="1714500"/>
          </a:xfrm>
          <a:custGeom>
            <a:avLst/>
            <a:gdLst/>
            <a:ahLst/>
            <a:cxnLst/>
            <a:rect l="l" t="t" r="r" b="b"/>
            <a:pathLst>
              <a:path w="3981450" h="1714500">
                <a:moveTo>
                  <a:pt x="38100" y="0"/>
                </a:moveTo>
                <a:lnTo>
                  <a:pt x="3867144" y="0"/>
                </a:lnTo>
                <a:cubicBezTo>
                  <a:pt x="3930274" y="0"/>
                  <a:pt x="3981450" y="51176"/>
                  <a:pt x="3981450" y="114306"/>
                </a:cubicBezTo>
                <a:lnTo>
                  <a:pt x="3981450" y="1600194"/>
                </a:lnTo>
                <a:cubicBezTo>
                  <a:pt x="3981450" y="1663324"/>
                  <a:pt x="3930274" y="1714500"/>
                  <a:pt x="3867144" y="1714500"/>
                </a:cubicBezTo>
                <a:lnTo>
                  <a:pt x="38100" y="1714500"/>
                </a:lnTo>
                <a:cubicBezTo>
                  <a:pt x="17072" y="1714500"/>
                  <a:pt x="0" y="1697428"/>
                  <a:pt x="0" y="1676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52950" y="4876800"/>
            <a:ext cx="38100" cy="1714500"/>
          </a:xfrm>
          <a:custGeom>
            <a:avLst/>
            <a:gdLst/>
            <a:ahLst/>
            <a:cxnLst/>
            <a:rect l="l" t="t" r="r" b="b"/>
            <a:pathLst>
              <a:path w="38100" h="1714500">
                <a:moveTo>
                  <a:pt x="38100" y="0"/>
                </a:moveTo>
                <a:lnTo>
                  <a:pt x="38100" y="0"/>
                </a:lnTo>
                <a:lnTo>
                  <a:pt x="38100" y="1714500"/>
                </a:lnTo>
                <a:lnTo>
                  <a:pt x="38100" y="1714500"/>
                </a:lnTo>
                <a:cubicBezTo>
                  <a:pt x="17072" y="1714500"/>
                  <a:pt x="0" y="1697428"/>
                  <a:pt x="0" y="1676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37" name="Shape 35"/>
          <p:cNvSpPr/>
          <p:nvPr/>
        </p:nvSpPr>
        <p:spPr>
          <a:xfrm>
            <a:off x="4791075" y="50863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5719" y="71438"/>
                </a:moveTo>
                <a:cubicBezTo>
                  <a:pt x="43622" y="71438"/>
                  <a:pt x="50006" y="77822"/>
                  <a:pt x="50006" y="85725"/>
                </a:cubicBezTo>
                <a:lnTo>
                  <a:pt x="50006" y="200025"/>
                </a:lnTo>
                <a:cubicBezTo>
                  <a:pt x="50006" y="207928"/>
                  <a:pt x="43622" y="214313"/>
                  <a:pt x="35719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85725"/>
                </a:lnTo>
                <a:cubicBezTo>
                  <a:pt x="0" y="77822"/>
                  <a:pt x="6385" y="71438"/>
                  <a:pt x="14288" y="71438"/>
                </a:cubicBezTo>
                <a:lnTo>
                  <a:pt x="35719" y="71438"/>
                </a:lnTo>
                <a:close/>
                <a:moveTo>
                  <a:pt x="120819" y="7144"/>
                </a:moveTo>
                <a:cubicBezTo>
                  <a:pt x="133008" y="7144"/>
                  <a:pt x="142875" y="17011"/>
                  <a:pt x="142875" y="29200"/>
                </a:cubicBezTo>
                <a:lnTo>
                  <a:pt x="142875" y="31075"/>
                </a:lnTo>
                <a:cubicBezTo>
                  <a:pt x="142875" y="34111"/>
                  <a:pt x="142295" y="37148"/>
                  <a:pt x="141178" y="39960"/>
                </a:cubicBezTo>
                <a:lnTo>
                  <a:pt x="128588" y="71438"/>
                </a:lnTo>
                <a:lnTo>
                  <a:pt x="200025" y="71438"/>
                </a:lnTo>
                <a:cubicBezTo>
                  <a:pt x="211857" y="71438"/>
                  <a:pt x="221456" y="81037"/>
                  <a:pt x="221456" y="92869"/>
                </a:cubicBezTo>
                <a:cubicBezTo>
                  <a:pt x="221456" y="101664"/>
                  <a:pt x="216143" y="109210"/>
                  <a:pt x="208553" y="112514"/>
                </a:cubicBezTo>
                <a:cubicBezTo>
                  <a:pt x="216143" y="115818"/>
                  <a:pt x="221456" y="123364"/>
                  <a:pt x="221456" y="132159"/>
                </a:cubicBezTo>
                <a:cubicBezTo>
                  <a:pt x="221456" y="142607"/>
                  <a:pt x="213955" y="151314"/>
                  <a:pt x="204043" y="153189"/>
                </a:cubicBezTo>
                <a:cubicBezTo>
                  <a:pt x="206008" y="156448"/>
                  <a:pt x="207169" y="160243"/>
                  <a:pt x="207169" y="164306"/>
                </a:cubicBezTo>
                <a:cubicBezTo>
                  <a:pt x="207169" y="174218"/>
                  <a:pt x="200471" y="182523"/>
                  <a:pt x="191363" y="184978"/>
                </a:cubicBezTo>
                <a:cubicBezTo>
                  <a:pt x="192345" y="187434"/>
                  <a:pt x="192881" y="190113"/>
                  <a:pt x="192881" y="192881"/>
                </a:cubicBezTo>
                <a:cubicBezTo>
                  <a:pt x="192881" y="204713"/>
                  <a:pt x="183282" y="214313"/>
                  <a:pt x="171450" y="214313"/>
                </a:cubicBezTo>
                <a:lnTo>
                  <a:pt x="132204" y="214313"/>
                </a:lnTo>
                <a:cubicBezTo>
                  <a:pt x="115997" y="214313"/>
                  <a:pt x="100236" y="208776"/>
                  <a:pt x="87600" y="198641"/>
                </a:cubicBezTo>
                <a:lnTo>
                  <a:pt x="82153" y="194310"/>
                </a:lnTo>
                <a:cubicBezTo>
                  <a:pt x="75367" y="188908"/>
                  <a:pt x="71438" y="180692"/>
                  <a:pt x="71438" y="171986"/>
                </a:cubicBezTo>
                <a:lnTo>
                  <a:pt x="71438" y="88672"/>
                </a:lnTo>
                <a:cubicBezTo>
                  <a:pt x="71438" y="82019"/>
                  <a:pt x="73000" y="75456"/>
                  <a:pt x="75947" y="69518"/>
                </a:cubicBezTo>
                <a:lnTo>
                  <a:pt x="101039" y="19333"/>
                </a:lnTo>
                <a:cubicBezTo>
                  <a:pt x="104790" y="11876"/>
                  <a:pt x="112425" y="7144"/>
                  <a:pt x="120819" y="7144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38" name="Text 36"/>
          <p:cNvSpPr/>
          <p:nvPr/>
        </p:nvSpPr>
        <p:spPr>
          <a:xfrm>
            <a:off x="5162550" y="5067300"/>
            <a:ext cx="2009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Recommendation Engines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762500" y="5448300"/>
            <a:ext cx="3657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Netflix, Amazon, Spotify</a:t>
            </a:r>
            <a:r>
              <a:rPr lang="en-US" sz="120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suggest content based on your preferences and behavior.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762500" y="6019800"/>
            <a:ext cx="3648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Motorët e rekomandimit sugjerojnë përmbajtje.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763000" y="381000"/>
            <a:ext cx="3048000" cy="2133600"/>
          </a:xfrm>
          <a:custGeom>
            <a:avLst/>
            <a:gdLst/>
            <a:ahLst/>
            <a:cxnLst/>
            <a:rect l="l" t="t" r="r" b="b"/>
            <a:pathLst>
              <a:path w="3048000" h="2133600">
                <a:moveTo>
                  <a:pt x="114297" y="0"/>
                </a:moveTo>
                <a:lnTo>
                  <a:pt x="2933703" y="0"/>
                </a:lnTo>
                <a:cubicBezTo>
                  <a:pt x="2996828" y="0"/>
                  <a:pt x="3048000" y="51172"/>
                  <a:pt x="3048000" y="114297"/>
                </a:cubicBezTo>
                <a:lnTo>
                  <a:pt x="3048000" y="2019303"/>
                </a:lnTo>
                <a:cubicBezTo>
                  <a:pt x="3048000" y="2082428"/>
                  <a:pt x="2996828" y="2133600"/>
                  <a:pt x="2933703" y="2133600"/>
                </a:cubicBezTo>
                <a:lnTo>
                  <a:pt x="114297" y="2133600"/>
                </a:lnTo>
                <a:cubicBezTo>
                  <a:pt x="51172" y="2133600"/>
                  <a:pt x="0" y="2082428"/>
                  <a:pt x="0" y="20193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A7A"/>
              </a:gs>
              <a:gs pos="100000">
                <a:srgbClr val="2F3E3B"/>
              </a:gs>
            </a:gsLst>
            <a:lin ang="2700000" scaled="1"/>
          </a:gradFill>
          <a:ln/>
        </p:spPr>
      </p:sp>
      <p:sp>
        <p:nvSpPr>
          <p:cNvPr id="42" name="Text 40"/>
          <p:cNvSpPr/>
          <p:nvPr/>
        </p:nvSpPr>
        <p:spPr>
          <a:xfrm>
            <a:off x="8943975" y="609600"/>
            <a:ext cx="2686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Characteristics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015413" y="10668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44" name="Text 42"/>
          <p:cNvSpPr/>
          <p:nvPr/>
        </p:nvSpPr>
        <p:spPr>
          <a:xfrm>
            <a:off x="9320213" y="1028700"/>
            <a:ext cx="161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Specialized for one task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015413" y="14097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46" name="Text 44"/>
          <p:cNvSpPr/>
          <p:nvPr/>
        </p:nvSpPr>
        <p:spPr>
          <a:xfrm>
            <a:off x="9320213" y="1371600"/>
            <a:ext cx="1657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Cannot transfer learning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015413" y="17526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48" name="Text 46"/>
          <p:cNvSpPr/>
          <p:nvPr/>
        </p:nvSpPr>
        <p:spPr>
          <a:xfrm>
            <a:off x="9320213" y="1714500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Requires human training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015413" y="20955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50" name="Text 48"/>
          <p:cNvSpPr/>
          <p:nvPr/>
        </p:nvSpPr>
        <p:spPr>
          <a:xfrm>
            <a:off x="9320213" y="2057400"/>
            <a:ext cx="158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Millions of applications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763000" y="2667000"/>
            <a:ext cx="3048000" cy="3810000"/>
          </a:xfrm>
          <a:custGeom>
            <a:avLst/>
            <a:gdLst/>
            <a:ahLst/>
            <a:cxnLst/>
            <a:rect l="l" t="t" r="r" b="b"/>
            <a:pathLst>
              <a:path w="3048000" h="3810000">
                <a:moveTo>
                  <a:pt x="114300" y="0"/>
                </a:moveTo>
                <a:lnTo>
                  <a:pt x="2933700" y="0"/>
                </a:lnTo>
                <a:cubicBezTo>
                  <a:pt x="2996784" y="0"/>
                  <a:pt x="3048000" y="51216"/>
                  <a:pt x="3048000" y="114300"/>
                </a:cubicBezTo>
                <a:lnTo>
                  <a:pt x="3048000" y="3695700"/>
                </a:lnTo>
                <a:cubicBezTo>
                  <a:pt x="3048000" y="3758784"/>
                  <a:pt x="2996784" y="3810000"/>
                  <a:pt x="2933700" y="3810000"/>
                </a:cubicBezTo>
                <a:lnTo>
                  <a:pt x="114300" y="3810000"/>
                </a:lnTo>
                <a:cubicBezTo>
                  <a:pt x="51216" y="3810000"/>
                  <a:pt x="0" y="3758784"/>
                  <a:pt x="0" y="3695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10158413" y="3571875"/>
            <a:ext cx="257175" cy="342900"/>
          </a:xfrm>
          <a:custGeom>
            <a:avLst/>
            <a:gdLst/>
            <a:ahLst/>
            <a:cxnLst/>
            <a:rect l="l" t="t" r="r" b="b"/>
            <a:pathLst>
              <a:path w="257175" h="342900">
                <a:moveTo>
                  <a:pt x="196163" y="257175"/>
                </a:moveTo>
                <a:cubicBezTo>
                  <a:pt x="201052" y="242240"/>
                  <a:pt x="210830" y="228712"/>
                  <a:pt x="221880" y="217058"/>
                </a:cubicBezTo>
                <a:cubicBezTo>
                  <a:pt x="243780" y="194020"/>
                  <a:pt x="257175" y="162878"/>
                  <a:pt x="257175" y="128588"/>
                </a:cubicBezTo>
                <a:cubicBezTo>
                  <a:pt x="257175" y="57596"/>
                  <a:pt x="199579" y="0"/>
                  <a:pt x="128587" y="0"/>
                </a:cubicBezTo>
                <a:cubicBezTo>
                  <a:pt x="57596" y="0"/>
                  <a:pt x="0" y="57596"/>
                  <a:pt x="0" y="128588"/>
                </a:cubicBezTo>
                <a:cubicBezTo>
                  <a:pt x="0" y="162878"/>
                  <a:pt x="13395" y="194020"/>
                  <a:pt x="35295" y="217058"/>
                </a:cubicBezTo>
                <a:cubicBezTo>
                  <a:pt x="46345" y="228712"/>
                  <a:pt x="56190" y="242240"/>
                  <a:pt x="61012" y="257175"/>
                </a:cubicBezTo>
                <a:lnTo>
                  <a:pt x="196096" y="257175"/>
                </a:lnTo>
                <a:close/>
                <a:moveTo>
                  <a:pt x="192881" y="289322"/>
                </a:moveTo>
                <a:lnTo>
                  <a:pt x="64294" y="289322"/>
                </a:lnTo>
                <a:lnTo>
                  <a:pt x="64294" y="300038"/>
                </a:lnTo>
                <a:cubicBezTo>
                  <a:pt x="64294" y="329639"/>
                  <a:pt x="88270" y="353616"/>
                  <a:pt x="117872" y="353616"/>
                </a:cubicBezTo>
                <a:lnTo>
                  <a:pt x="139303" y="353616"/>
                </a:lnTo>
                <a:cubicBezTo>
                  <a:pt x="168905" y="353616"/>
                  <a:pt x="192881" y="329639"/>
                  <a:pt x="192881" y="300038"/>
                </a:cubicBezTo>
                <a:lnTo>
                  <a:pt x="192881" y="289322"/>
                </a:lnTo>
                <a:close/>
                <a:moveTo>
                  <a:pt x="123230" y="75009"/>
                </a:moveTo>
                <a:cubicBezTo>
                  <a:pt x="96575" y="75009"/>
                  <a:pt x="75009" y="96575"/>
                  <a:pt x="75009" y="123230"/>
                </a:cubicBezTo>
                <a:cubicBezTo>
                  <a:pt x="75009" y="132137"/>
                  <a:pt x="67843" y="139303"/>
                  <a:pt x="58936" y="139303"/>
                </a:cubicBezTo>
                <a:cubicBezTo>
                  <a:pt x="50029" y="139303"/>
                  <a:pt x="42863" y="132137"/>
                  <a:pt x="42863" y="123230"/>
                </a:cubicBezTo>
                <a:cubicBezTo>
                  <a:pt x="42863" y="78827"/>
                  <a:pt x="78827" y="42863"/>
                  <a:pt x="123230" y="42863"/>
                </a:cubicBezTo>
                <a:cubicBezTo>
                  <a:pt x="132137" y="42863"/>
                  <a:pt x="139303" y="50029"/>
                  <a:pt x="139303" y="58936"/>
                </a:cubicBezTo>
                <a:cubicBezTo>
                  <a:pt x="139303" y="67843"/>
                  <a:pt x="132137" y="75009"/>
                  <a:pt x="123230" y="75009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53" name="Text 51"/>
          <p:cNvSpPr/>
          <p:nvPr/>
        </p:nvSpPr>
        <p:spPr>
          <a:xfrm>
            <a:off x="8910638" y="4029075"/>
            <a:ext cx="2752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Did You Know?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915400" y="4371975"/>
            <a:ext cx="27432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Narrow AI powers over 90% of all AI applications</a:t>
            </a:r>
            <a:r>
              <a:rPr lang="en-US" sz="120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used by billions of people every day!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920163" y="5191125"/>
            <a:ext cx="2733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IA e ngushtë fuqizon mbi 90% të aplikacioneve të IA-së!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54" y="342954"/>
            <a:ext cx="11574684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kern="0" spc="54" dirty="0">
                <a:solidFill>
                  <a:srgbClr val="4C8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/ TYPES OF AI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2954" y="617316"/>
            <a:ext cx="11660422" cy="34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3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General AI &amp; Super AI: The Future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2954" y="994565"/>
            <a:ext cx="11591831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IA e Përgjithshme &amp; Super IA: E Ardhmja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1527" y="1380388"/>
            <a:ext cx="5650160" cy="5470110"/>
          </a:xfrm>
          <a:custGeom>
            <a:avLst/>
            <a:gdLst/>
            <a:ahLst/>
            <a:cxnLst/>
            <a:rect l="l" t="t" r="r" b="b"/>
            <a:pathLst>
              <a:path w="5650160" h="5470110">
                <a:moveTo>
                  <a:pt x="137190" y="0"/>
                </a:moveTo>
                <a:lnTo>
                  <a:pt x="5512970" y="0"/>
                </a:lnTo>
                <a:cubicBezTo>
                  <a:pt x="5588738" y="0"/>
                  <a:pt x="5650160" y="61422"/>
                  <a:pt x="5650160" y="137190"/>
                </a:cubicBezTo>
                <a:lnTo>
                  <a:pt x="5650160" y="5332919"/>
                </a:lnTo>
                <a:cubicBezTo>
                  <a:pt x="5650160" y="5408687"/>
                  <a:pt x="5588738" y="5470110"/>
                  <a:pt x="5512970" y="5470110"/>
                </a:cubicBezTo>
                <a:lnTo>
                  <a:pt x="137190" y="5470110"/>
                </a:lnTo>
                <a:cubicBezTo>
                  <a:pt x="61422" y="5470110"/>
                  <a:pt x="0" y="5408687"/>
                  <a:pt x="0" y="5332919"/>
                </a:cubicBezTo>
                <a:lnTo>
                  <a:pt x="0" y="137190"/>
                </a:lnTo>
                <a:cubicBezTo>
                  <a:pt x="0" y="61473"/>
                  <a:pt x="61473" y="0"/>
                  <a:pt x="137190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8FB7AC"/>
            </a:solidFill>
            <a:prstDash val="solid"/>
          </a:ln>
          <a:effectLst>
            <a:outerShdw blurRad="128608" dist="857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5873" y="1594734"/>
            <a:ext cx="548726" cy="548726"/>
          </a:xfrm>
          <a:custGeom>
            <a:avLst/>
            <a:gdLst/>
            <a:ahLst/>
            <a:cxnLst/>
            <a:rect l="l" t="t" r="r" b="b"/>
            <a:pathLst>
              <a:path w="548726" h="548726">
                <a:moveTo>
                  <a:pt x="274363" y="0"/>
                </a:moveTo>
                <a:lnTo>
                  <a:pt x="274363" y="0"/>
                </a:lnTo>
                <a:cubicBezTo>
                  <a:pt x="425889" y="0"/>
                  <a:pt x="548726" y="122836"/>
                  <a:pt x="548726" y="274363"/>
                </a:cubicBezTo>
                <a:lnTo>
                  <a:pt x="548726" y="274363"/>
                </a:lnTo>
                <a:cubicBezTo>
                  <a:pt x="548726" y="425889"/>
                  <a:pt x="425889" y="548726"/>
                  <a:pt x="274363" y="548726"/>
                </a:cubicBezTo>
                <a:lnTo>
                  <a:pt x="274363" y="548726"/>
                </a:lnTo>
                <a:cubicBezTo>
                  <a:pt x="122836" y="548726"/>
                  <a:pt x="0" y="425889"/>
                  <a:pt x="0" y="274363"/>
                </a:cubicBezTo>
                <a:lnTo>
                  <a:pt x="0" y="274363"/>
                </a:lnTo>
                <a:cubicBezTo>
                  <a:pt x="0" y="122836"/>
                  <a:pt x="122836" y="0"/>
                  <a:pt x="274363" y="0"/>
                </a:cubicBezTo>
                <a:close/>
              </a:path>
            </a:pathLst>
          </a:custGeom>
          <a:solidFill>
            <a:srgbClr val="8FB7AC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13772" y="1740489"/>
            <a:ext cx="257215" cy="257215"/>
          </a:xfrm>
          <a:custGeom>
            <a:avLst/>
            <a:gdLst/>
            <a:ahLst/>
            <a:cxnLst/>
            <a:rect l="l" t="t" r="r" b="b"/>
            <a:pathLst>
              <a:path w="257215" h="257215">
                <a:moveTo>
                  <a:pt x="60285" y="28133"/>
                </a:moveTo>
                <a:cubicBezTo>
                  <a:pt x="60285" y="12610"/>
                  <a:pt x="72894" y="0"/>
                  <a:pt x="88418" y="0"/>
                </a:cubicBezTo>
                <a:lnTo>
                  <a:pt x="100475" y="0"/>
                </a:lnTo>
                <a:cubicBezTo>
                  <a:pt x="109367" y="0"/>
                  <a:pt x="116551" y="7184"/>
                  <a:pt x="116551" y="16076"/>
                </a:cubicBezTo>
                <a:lnTo>
                  <a:pt x="116551" y="241139"/>
                </a:lnTo>
                <a:cubicBezTo>
                  <a:pt x="116551" y="250031"/>
                  <a:pt x="109367" y="257215"/>
                  <a:pt x="100475" y="257215"/>
                </a:cubicBezTo>
                <a:lnTo>
                  <a:pt x="84399" y="257215"/>
                </a:lnTo>
                <a:cubicBezTo>
                  <a:pt x="69428" y="257215"/>
                  <a:pt x="56818" y="246967"/>
                  <a:pt x="53252" y="233101"/>
                </a:cubicBezTo>
                <a:cubicBezTo>
                  <a:pt x="52900" y="233101"/>
                  <a:pt x="52598" y="233101"/>
                  <a:pt x="52247" y="233101"/>
                </a:cubicBezTo>
                <a:cubicBezTo>
                  <a:pt x="30042" y="233101"/>
                  <a:pt x="12057" y="215116"/>
                  <a:pt x="12057" y="192911"/>
                </a:cubicBezTo>
                <a:cubicBezTo>
                  <a:pt x="12057" y="183869"/>
                  <a:pt x="15071" y="175529"/>
                  <a:pt x="20095" y="168797"/>
                </a:cubicBezTo>
                <a:cubicBezTo>
                  <a:pt x="10349" y="161463"/>
                  <a:pt x="4019" y="149808"/>
                  <a:pt x="4019" y="136646"/>
                </a:cubicBezTo>
                <a:cubicBezTo>
                  <a:pt x="4019" y="121122"/>
                  <a:pt x="12861" y="107608"/>
                  <a:pt x="25722" y="100927"/>
                </a:cubicBezTo>
                <a:cubicBezTo>
                  <a:pt x="22155" y="94898"/>
                  <a:pt x="20095" y="87865"/>
                  <a:pt x="20095" y="80380"/>
                </a:cubicBezTo>
                <a:cubicBezTo>
                  <a:pt x="20095" y="58175"/>
                  <a:pt x="38080" y="40190"/>
                  <a:pt x="60285" y="40190"/>
                </a:cubicBezTo>
                <a:lnTo>
                  <a:pt x="60285" y="28133"/>
                </a:lnTo>
                <a:close/>
                <a:moveTo>
                  <a:pt x="196930" y="28133"/>
                </a:moveTo>
                <a:lnTo>
                  <a:pt x="196930" y="40190"/>
                </a:lnTo>
                <a:cubicBezTo>
                  <a:pt x="219135" y="40190"/>
                  <a:pt x="237120" y="58175"/>
                  <a:pt x="237120" y="80380"/>
                </a:cubicBezTo>
                <a:cubicBezTo>
                  <a:pt x="237120" y="87915"/>
                  <a:pt x="235061" y="94949"/>
                  <a:pt x="231494" y="100927"/>
                </a:cubicBezTo>
                <a:cubicBezTo>
                  <a:pt x="244405" y="107608"/>
                  <a:pt x="253196" y="121072"/>
                  <a:pt x="253196" y="136646"/>
                </a:cubicBezTo>
                <a:cubicBezTo>
                  <a:pt x="253196" y="149808"/>
                  <a:pt x="246866" y="161463"/>
                  <a:pt x="237120" y="168797"/>
                </a:cubicBezTo>
                <a:cubicBezTo>
                  <a:pt x="242144" y="175529"/>
                  <a:pt x="245158" y="183869"/>
                  <a:pt x="245158" y="192911"/>
                </a:cubicBezTo>
                <a:cubicBezTo>
                  <a:pt x="245158" y="215116"/>
                  <a:pt x="227173" y="233101"/>
                  <a:pt x="204968" y="233101"/>
                </a:cubicBezTo>
                <a:cubicBezTo>
                  <a:pt x="204617" y="233101"/>
                  <a:pt x="204315" y="233101"/>
                  <a:pt x="203964" y="233101"/>
                </a:cubicBezTo>
                <a:cubicBezTo>
                  <a:pt x="200397" y="246967"/>
                  <a:pt x="187787" y="257215"/>
                  <a:pt x="172816" y="257215"/>
                </a:cubicBezTo>
                <a:lnTo>
                  <a:pt x="156741" y="257215"/>
                </a:lnTo>
                <a:cubicBezTo>
                  <a:pt x="147848" y="257215"/>
                  <a:pt x="140665" y="250031"/>
                  <a:pt x="140665" y="241139"/>
                </a:cubicBezTo>
                <a:lnTo>
                  <a:pt x="140665" y="16076"/>
                </a:lnTo>
                <a:cubicBezTo>
                  <a:pt x="140665" y="7184"/>
                  <a:pt x="147848" y="0"/>
                  <a:pt x="156741" y="0"/>
                </a:cubicBezTo>
                <a:lnTo>
                  <a:pt x="168797" y="0"/>
                </a:lnTo>
                <a:cubicBezTo>
                  <a:pt x="184321" y="0"/>
                  <a:pt x="196930" y="12610"/>
                  <a:pt x="196930" y="28133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8" name="Text 6"/>
          <p:cNvSpPr/>
          <p:nvPr/>
        </p:nvSpPr>
        <p:spPr>
          <a:xfrm>
            <a:off x="1251781" y="1611882"/>
            <a:ext cx="2632169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Artificial General Intelligence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51781" y="1886245"/>
            <a:ext cx="2606447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Inteligjenca Artificiale e Përgjithshme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5873" y="2280641"/>
            <a:ext cx="5221468" cy="1268928"/>
          </a:xfrm>
          <a:custGeom>
            <a:avLst/>
            <a:gdLst/>
            <a:ahLst/>
            <a:cxnLst/>
            <a:rect l="l" t="t" r="r" b="b"/>
            <a:pathLst>
              <a:path w="5221468" h="1268928">
                <a:moveTo>
                  <a:pt x="68586" y="0"/>
                </a:moveTo>
                <a:lnTo>
                  <a:pt x="5152883" y="0"/>
                </a:lnTo>
                <a:cubicBezTo>
                  <a:pt x="5190762" y="0"/>
                  <a:pt x="5221468" y="30707"/>
                  <a:pt x="5221468" y="68586"/>
                </a:cubicBezTo>
                <a:lnTo>
                  <a:pt x="5221468" y="1200343"/>
                </a:lnTo>
                <a:cubicBezTo>
                  <a:pt x="5221468" y="1238221"/>
                  <a:pt x="5190762" y="1268928"/>
                  <a:pt x="5152883" y="1268928"/>
                </a:cubicBezTo>
                <a:lnTo>
                  <a:pt x="68586" y="1268928"/>
                </a:lnTo>
                <a:cubicBezTo>
                  <a:pt x="30707" y="1268928"/>
                  <a:pt x="0" y="1238221"/>
                  <a:pt x="0" y="1200343"/>
                </a:cubicBezTo>
                <a:lnTo>
                  <a:pt x="0" y="68586"/>
                </a:lnTo>
                <a:cubicBezTo>
                  <a:pt x="0" y="30732"/>
                  <a:pt x="30732" y="0"/>
                  <a:pt x="68586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11" name="Shape 9"/>
          <p:cNvSpPr/>
          <p:nvPr/>
        </p:nvSpPr>
        <p:spPr>
          <a:xfrm>
            <a:off x="714844" y="2460692"/>
            <a:ext cx="173620" cy="154329"/>
          </a:xfrm>
          <a:custGeom>
            <a:avLst/>
            <a:gdLst/>
            <a:ahLst/>
            <a:cxnLst/>
            <a:rect l="l" t="t" r="r" b="b"/>
            <a:pathLst>
              <a:path w="173620" h="154329">
                <a:moveTo>
                  <a:pt x="93291" y="-5697"/>
                </a:moveTo>
                <a:cubicBezTo>
                  <a:pt x="92055" y="-8108"/>
                  <a:pt x="89553" y="-9646"/>
                  <a:pt x="86840" y="-9646"/>
                </a:cubicBezTo>
                <a:cubicBezTo>
                  <a:pt x="84127" y="-9646"/>
                  <a:pt x="81626" y="-8108"/>
                  <a:pt x="80390" y="-5697"/>
                </a:cubicBezTo>
                <a:lnTo>
                  <a:pt x="58205" y="37768"/>
                </a:lnTo>
                <a:lnTo>
                  <a:pt x="10007" y="45425"/>
                </a:lnTo>
                <a:cubicBezTo>
                  <a:pt x="7325" y="45847"/>
                  <a:pt x="5094" y="47746"/>
                  <a:pt x="4250" y="50338"/>
                </a:cubicBezTo>
                <a:cubicBezTo>
                  <a:pt x="3406" y="52930"/>
                  <a:pt x="4099" y="55763"/>
                  <a:pt x="5998" y="57693"/>
                </a:cubicBezTo>
                <a:lnTo>
                  <a:pt x="40481" y="92206"/>
                </a:lnTo>
                <a:lnTo>
                  <a:pt x="32885" y="140403"/>
                </a:lnTo>
                <a:cubicBezTo>
                  <a:pt x="32463" y="143086"/>
                  <a:pt x="33579" y="145799"/>
                  <a:pt x="35779" y="147396"/>
                </a:cubicBezTo>
                <a:cubicBezTo>
                  <a:pt x="37979" y="148994"/>
                  <a:pt x="40873" y="149235"/>
                  <a:pt x="43315" y="147999"/>
                </a:cubicBezTo>
                <a:lnTo>
                  <a:pt x="86840" y="125875"/>
                </a:lnTo>
                <a:lnTo>
                  <a:pt x="130336" y="147999"/>
                </a:lnTo>
                <a:cubicBezTo>
                  <a:pt x="132747" y="149235"/>
                  <a:pt x="135671" y="148994"/>
                  <a:pt x="137871" y="147396"/>
                </a:cubicBezTo>
                <a:cubicBezTo>
                  <a:pt x="140072" y="145799"/>
                  <a:pt x="141187" y="143116"/>
                  <a:pt x="140765" y="140403"/>
                </a:cubicBezTo>
                <a:lnTo>
                  <a:pt x="133139" y="92206"/>
                </a:lnTo>
                <a:lnTo>
                  <a:pt x="167622" y="57693"/>
                </a:lnTo>
                <a:cubicBezTo>
                  <a:pt x="169551" y="55763"/>
                  <a:pt x="170214" y="52930"/>
                  <a:pt x="169370" y="50338"/>
                </a:cubicBezTo>
                <a:cubicBezTo>
                  <a:pt x="168526" y="47746"/>
                  <a:pt x="166326" y="45847"/>
                  <a:pt x="163613" y="45425"/>
                </a:cubicBezTo>
                <a:lnTo>
                  <a:pt x="115445" y="37768"/>
                </a:lnTo>
                <a:lnTo>
                  <a:pt x="93291" y="-5697"/>
                </a:ln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12" name="Text 10"/>
          <p:cNvSpPr/>
          <p:nvPr/>
        </p:nvSpPr>
        <p:spPr>
          <a:xfrm>
            <a:off x="900253" y="2417823"/>
            <a:ext cx="4827072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5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is AGI?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3055" y="2726481"/>
            <a:ext cx="5015696" cy="44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AGI refers to AI systems with </a:t>
            </a:r>
            <a:r>
              <a:rPr lang="en-US" sz="1080" b="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human-level intelligence</a:t>
            </a:r>
            <a:r>
              <a:rPr lang="en-US" sz="108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can understand, learn, and apply knowledge across any domain.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3055" y="3240911"/>
            <a:ext cx="5007122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AGI i referohet sistemeve IA me inteligjencë njerëzore.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5873" y="3652456"/>
            <a:ext cx="5221468" cy="1063156"/>
          </a:xfrm>
          <a:custGeom>
            <a:avLst/>
            <a:gdLst/>
            <a:ahLst/>
            <a:cxnLst/>
            <a:rect l="l" t="t" r="r" b="b"/>
            <a:pathLst>
              <a:path w="5221468" h="1063156">
                <a:moveTo>
                  <a:pt x="68595" y="0"/>
                </a:moveTo>
                <a:lnTo>
                  <a:pt x="5152874" y="0"/>
                </a:lnTo>
                <a:cubicBezTo>
                  <a:pt x="5190757" y="0"/>
                  <a:pt x="5221468" y="30711"/>
                  <a:pt x="5221468" y="68595"/>
                </a:cubicBezTo>
                <a:lnTo>
                  <a:pt x="5221468" y="994561"/>
                </a:lnTo>
                <a:cubicBezTo>
                  <a:pt x="5221468" y="1032445"/>
                  <a:pt x="5190757" y="1063156"/>
                  <a:pt x="5152874" y="1063156"/>
                </a:cubicBezTo>
                <a:lnTo>
                  <a:pt x="68595" y="1063156"/>
                </a:lnTo>
                <a:cubicBezTo>
                  <a:pt x="30711" y="1063156"/>
                  <a:pt x="0" y="1032445"/>
                  <a:pt x="0" y="994561"/>
                </a:cubicBezTo>
                <a:lnTo>
                  <a:pt x="0" y="68595"/>
                </a:lnTo>
                <a:cubicBezTo>
                  <a:pt x="0" y="30736"/>
                  <a:pt x="30736" y="0"/>
                  <a:pt x="68595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16" name="Shape 14"/>
          <p:cNvSpPr/>
          <p:nvPr/>
        </p:nvSpPr>
        <p:spPr>
          <a:xfrm>
            <a:off x="705198" y="3832506"/>
            <a:ext cx="192911" cy="154329"/>
          </a:xfrm>
          <a:custGeom>
            <a:avLst/>
            <a:gdLst/>
            <a:ahLst/>
            <a:cxnLst/>
            <a:rect l="l" t="t" r="r" b="b"/>
            <a:pathLst>
              <a:path w="192911" h="154329">
                <a:moveTo>
                  <a:pt x="125362" y="63450"/>
                </a:moveTo>
                <a:cubicBezTo>
                  <a:pt x="129040" y="62455"/>
                  <a:pt x="132898" y="64203"/>
                  <a:pt x="134556" y="67609"/>
                </a:cubicBezTo>
                <a:lnTo>
                  <a:pt x="140162" y="78943"/>
                </a:lnTo>
                <a:cubicBezTo>
                  <a:pt x="143267" y="79365"/>
                  <a:pt x="146311" y="80209"/>
                  <a:pt x="149175" y="81384"/>
                </a:cubicBezTo>
                <a:lnTo>
                  <a:pt x="159725" y="74361"/>
                </a:lnTo>
                <a:cubicBezTo>
                  <a:pt x="162890" y="72251"/>
                  <a:pt x="167079" y="72673"/>
                  <a:pt x="169762" y="75356"/>
                </a:cubicBezTo>
                <a:lnTo>
                  <a:pt x="175549" y="81143"/>
                </a:lnTo>
                <a:cubicBezTo>
                  <a:pt x="178232" y="83826"/>
                  <a:pt x="178654" y="88046"/>
                  <a:pt x="176544" y="91181"/>
                </a:cubicBezTo>
                <a:lnTo>
                  <a:pt x="169521" y="101700"/>
                </a:lnTo>
                <a:cubicBezTo>
                  <a:pt x="170094" y="103117"/>
                  <a:pt x="170606" y="104594"/>
                  <a:pt x="171028" y="106131"/>
                </a:cubicBezTo>
                <a:cubicBezTo>
                  <a:pt x="171450" y="107669"/>
                  <a:pt x="171721" y="109176"/>
                  <a:pt x="171932" y="110713"/>
                </a:cubicBezTo>
                <a:lnTo>
                  <a:pt x="183296" y="116320"/>
                </a:lnTo>
                <a:cubicBezTo>
                  <a:pt x="186702" y="118008"/>
                  <a:pt x="188450" y="121866"/>
                  <a:pt x="187456" y="125513"/>
                </a:cubicBezTo>
                <a:lnTo>
                  <a:pt x="185346" y="133410"/>
                </a:lnTo>
                <a:cubicBezTo>
                  <a:pt x="184351" y="137058"/>
                  <a:pt x="180945" y="139529"/>
                  <a:pt x="177147" y="139288"/>
                </a:cubicBezTo>
                <a:lnTo>
                  <a:pt x="164487" y="138474"/>
                </a:lnTo>
                <a:cubicBezTo>
                  <a:pt x="162588" y="140916"/>
                  <a:pt x="160388" y="143176"/>
                  <a:pt x="157886" y="145106"/>
                </a:cubicBezTo>
                <a:lnTo>
                  <a:pt x="158700" y="157735"/>
                </a:lnTo>
                <a:cubicBezTo>
                  <a:pt x="158941" y="161533"/>
                  <a:pt x="156469" y="164969"/>
                  <a:pt x="152822" y="165934"/>
                </a:cubicBezTo>
                <a:lnTo>
                  <a:pt x="144925" y="168044"/>
                </a:lnTo>
                <a:cubicBezTo>
                  <a:pt x="141247" y="169039"/>
                  <a:pt x="137419" y="167290"/>
                  <a:pt x="135731" y="163884"/>
                </a:cubicBezTo>
                <a:lnTo>
                  <a:pt x="130125" y="152551"/>
                </a:lnTo>
                <a:cubicBezTo>
                  <a:pt x="127020" y="152129"/>
                  <a:pt x="123976" y="151285"/>
                  <a:pt x="121112" y="150109"/>
                </a:cubicBezTo>
                <a:lnTo>
                  <a:pt x="110562" y="157132"/>
                </a:lnTo>
                <a:cubicBezTo>
                  <a:pt x="107397" y="159242"/>
                  <a:pt x="103208" y="158820"/>
                  <a:pt x="100525" y="156138"/>
                </a:cubicBezTo>
                <a:lnTo>
                  <a:pt x="94738" y="150350"/>
                </a:lnTo>
                <a:cubicBezTo>
                  <a:pt x="92055" y="147668"/>
                  <a:pt x="91633" y="143478"/>
                  <a:pt x="93743" y="140313"/>
                </a:cubicBezTo>
                <a:lnTo>
                  <a:pt x="100766" y="129763"/>
                </a:lnTo>
                <a:cubicBezTo>
                  <a:pt x="100193" y="128346"/>
                  <a:pt x="99681" y="126869"/>
                  <a:pt x="99259" y="125332"/>
                </a:cubicBezTo>
                <a:cubicBezTo>
                  <a:pt x="98837" y="123795"/>
                  <a:pt x="98566" y="122258"/>
                  <a:pt x="98355" y="120750"/>
                </a:cubicBezTo>
                <a:lnTo>
                  <a:pt x="86991" y="115144"/>
                </a:lnTo>
                <a:cubicBezTo>
                  <a:pt x="83585" y="113456"/>
                  <a:pt x="81867" y="109598"/>
                  <a:pt x="82831" y="105951"/>
                </a:cubicBezTo>
                <a:lnTo>
                  <a:pt x="84941" y="98053"/>
                </a:lnTo>
                <a:cubicBezTo>
                  <a:pt x="85936" y="94406"/>
                  <a:pt x="89342" y="91934"/>
                  <a:pt x="93140" y="92175"/>
                </a:cubicBezTo>
                <a:lnTo>
                  <a:pt x="105770" y="92989"/>
                </a:lnTo>
                <a:cubicBezTo>
                  <a:pt x="107669" y="90548"/>
                  <a:pt x="109869" y="88287"/>
                  <a:pt x="112371" y="86358"/>
                </a:cubicBezTo>
                <a:lnTo>
                  <a:pt x="111557" y="73758"/>
                </a:lnTo>
                <a:cubicBezTo>
                  <a:pt x="111316" y="69961"/>
                  <a:pt x="113788" y="66524"/>
                  <a:pt x="117435" y="65560"/>
                </a:cubicBezTo>
                <a:lnTo>
                  <a:pt x="125332" y="63450"/>
                </a:lnTo>
                <a:close/>
                <a:moveTo>
                  <a:pt x="135159" y="102484"/>
                </a:moveTo>
                <a:cubicBezTo>
                  <a:pt x="127839" y="102492"/>
                  <a:pt x="121903" y="108442"/>
                  <a:pt x="121911" y="115762"/>
                </a:cubicBezTo>
                <a:cubicBezTo>
                  <a:pt x="121919" y="123082"/>
                  <a:pt x="127869" y="129018"/>
                  <a:pt x="135189" y="129009"/>
                </a:cubicBezTo>
                <a:cubicBezTo>
                  <a:pt x="142509" y="129001"/>
                  <a:pt x="148445" y="123052"/>
                  <a:pt x="148436" y="115732"/>
                </a:cubicBezTo>
                <a:cubicBezTo>
                  <a:pt x="148428" y="108412"/>
                  <a:pt x="142478" y="102476"/>
                  <a:pt x="135159" y="102484"/>
                </a:cubicBezTo>
                <a:close/>
                <a:moveTo>
                  <a:pt x="67790" y="-13715"/>
                </a:moveTo>
                <a:lnTo>
                  <a:pt x="75688" y="-11605"/>
                </a:lnTo>
                <a:cubicBezTo>
                  <a:pt x="79335" y="-10610"/>
                  <a:pt x="81806" y="-7174"/>
                  <a:pt x="81565" y="-3406"/>
                </a:cubicBezTo>
                <a:lnTo>
                  <a:pt x="80752" y="9193"/>
                </a:lnTo>
                <a:cubicBezTo>
                  <a:pt x="83253" y="11123"/>
                  <a:pt x="85454" y="13353"/>
                  <a:pt x="87353" y="15825"/>
                </a:cubicBezTo>
                <a:lnTo>
                  <a:pt x="100013" y="15011"/>
                </a:lnTo>
                <a:cubicBezTo>
                  <a:pt x="103780" y="14770"/>
                  <a:pt x="107217" y="17241"/>
                  <a:pt x="108211" y="20889"/>
                </a:cubicBezTo>
                <a:lnTo>
                  <a:pt x="110321" y="28786"/>
                </a:lnTo>
                <a:cubicBezTo>
                  <a:pt x="111286" y="32433"/>
                  <a:pt x="109568" y="36291"/>
                  <a:pt x="106162" y="37979"/>
                </a:cubicBezTo>
                <a:lnTo>
                  <a:pt x="94798" y="43586"/>
                </a:lnTo>
                <a:cubicBezTo>
                  <a:pt x="94587" y="45123"/>
                  <a:pt x="94285" y="46660"/>
                  <a:pt x="93894" y="48168"/>
                </a:cubicBezTo>
                <a:cubicBezTo>
                  <a:pt x="93502" y="49675"/>
                  <a:pt x="92959" y="51182"/>
                  <a:pt x="92386" y="52598"/>
                </a:cubicBezTo>
                <a:lnTo>
                  <a:pt x="99410" y="63148"/>
                </a:lnTo>
                <a:cubicBezTo>
                  <a:pt x="101520" y="66313"/>
                  <a:pt x="101098" y="70503"/>
                  <a:pt x="98415" y="73186"/>
                </a:cubicBezTo>
                <a:lnTo>
                  <a:pt x="92628" y="78973"/>
                </a:lnTo>
                <a:cubicBezTo>
                  <a:pt x="89945" y="81656"/>
                  <a:pt x="85755" y="82078"/>
                  <a:pt x="82590" y="79968"/>
                </a:cubicBezTo>
                <a:lnTo>
                  <a:pt x="72040" y="72945"/>
                </a:lnTo>
                <a:cubicBezTo>
                  <a:pt x="69177" y="74120"/>
                  <a:pt x="66132" y="74964"/>
                  <a:pt x="63028" y="75386"/>
                </a:cubicBezTo>
                <a:lnTo>
                  <a:pt x="57421" y="86720"/>
                </a:lnTo>
                <a:cubicBezTo>
                  <a:pt x="55733" y="90126"/>
                  <a:pt x="51875" y="91844"/>
                  <a:pt x="48228" y="90879"/>
                </a:cubicBezTo>
                <a:lnTo>
                  <a:pt x="40331" y="88769"/>
                </a:lnTo>
                <a:cubicBezTo>
                  <a:pt x="36653" y="87775"/>
                  <a:pt x="34212" y="84338"/>
                  <a:pt x="34453" y="80571"/>
                </a:cubicBezTo>
                <a:lnTo>
                  <a:pt x="35267" y="67941"/>
                </a:lnTo>
                <a:cubicBezTo>
                  <a:pt x="32765" y="66012"/>
                  <a:pt x="30564" y="63781"/>
                  <a:pt x="28665" y="61310"/>
                </a:cubicBezTo>
                <a:lnTo>
                  <a:pt x="16006" y="62123"/>
                </a:lnTo>
                <a:cubicBezTo>
                  <a:pt x="12238" y="62365"/>
                  <a:pt x="8802" y="59893"/>
                  <a:pt x="7807" y="56246"/>
                </a:cubicBezTo>
                <a:lnTo>
                  <a:pt x="5697" y="48348"/>
                </a:lnTo>
                <a:cubicBezTo>
                  <a:pt x="4732" y="44701"/>
                  <a:pt x="6450" y="40843"/>
                  <a:pt x="9857" y="39155"/>
                </a:cubicBezTo>
                <a:lnTo>
                  <a:pt x="21220" y="33548"/>
                </a:lnTo>
                <a:cubicBezTo>
                  <a:pt x="21431" y="32011"/>
                  <a:pt x="21733" y="30504"/>
                  <a:pt x="22125" y="28967"/>
                </a:cubicBezTo>
                <a:cubicBezTo>
                  <a:pt x="22547" y="27430"/>
                  <a:pt x="23029" y="25953"/>
                  <a:pt x="23632" y="24536"/>
                </a:cubicBezTo>
                <a:lnTo>
                  <a:pt x="16608" y="14016"/>
                </a:lnTo>
                <a:cubicBezTo>
                  <a:pt x="14498" y="10851"/>
                  <a:pt x="14920" y="6661"/>
                  <a:pt x="17603" y="3979"/>
                </a:cubicBezTo>
                <a:lnTo>
                  <a:pt x="23391" y="-1809"/>
                </a:lnTo>
                <a:cubicBezTo>
                  <a:pt x="26073" y="-4491"/>
                  <a:pt x="30263" y="-4913"/>
                  <a:pt x="33428" y="-2803"/>
                </a:cubicBezTo>
                <a:lnTo>
                  <a:pt x="43978" y="4220"/>
                </a:lnTo>
                <a:cubicBezTo>
                  <a:pt x="46841" y="3044"/>
                  <a:pt x="49886" y="2200"/>
                  <a:pt x="52990" y="1778"/>
                </a:cubicBezTo>
                <a:lnTo>
                  <a:pt x="58597" y="-9555"/>
                </a:lnTo>
                <a:cubicBezTo>
                  <a:pt x="60285" y="-12961"/>
                  <a:pt x="64113" y="-14679"/>
                  <a:pt x="67790" y="-13715"/>
                </a:cubicBezTo>
                <a:close/>
                <a:moveTo>
                  <a:pt x="57994" y="25320"/>
                </a:moveTo>
                <a:cubicBezTo>
                  <a:pt x="50674" y="25320"/>
                  <a:pt x="44731" y="31262"/>
                  <a:pt x="44731" y="38582"/>
                </a:cubicBezTo>
                <a:cubicBezTo>
                  <a:pt x="44731" y="45902"/>
                  <a:pt x="50674" y="51845"/>
                  <a:pt x="57994" y="51845"/>
                </a:cubicBezTo>
                <a:cubicBezTo>
                  <a:pt x="65314" y="51845"/>
                  <a:pt x="71257" y="45902"/>
                  <a:pt x="71257" y="38582"/>
                </a:cubicBezTo>
                <a:cubicBezTo>
                  <a:pt x="71257" y="31262"/>
                  <a:pt x="65314" y="25320"/>
                  <a:pt x="57994" y="2532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17" name="Text 15"/>
          <p:cNvSpPr/>
          <p:nvPr/>
        </p:nvSpPr>
        <p:spPr>
          <a:xfrm>
            <a:off x="900253" y="3789637"/>
            <a:ext cx="4827072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5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Capabilities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27705" y="4141165"/>
            <a:ext cx="105030" cy="120034"/>
          </a:xfrm>
          <a:custGeom>
            <a:avLst/>
            <a:gdLst/>
            <a:ahLst/>
            <a:cxnLst/>
            <a:rect l="l" t="t" r="r" b="b"/>
            <a:pathLst>
              <a:path w="105030" h="120034">
                <a:moveTo>
                  <a:pt x="101935" y="16434"/>
                </a:moveTo>
                <a:cubicBezTo>
                  <a:pt x="105287" y="18872"/>
                  <a:pt x="106038" y="23561"/>
                  <a:pt x="103599" y="26914"/>
                </a:cubicBezTo>
                <a:lnTo>
                  <a:pt x="43583" y="109437"/>
                </a:lnTo>
                <a:cubicBezTo>
                  <a:pt x="42293" y="111219"/>
                  <a:pt x="40300" y="112321"/>
                  <a:pt x="38097" y="112508"/>
                </a:cubicBezTo>
                <a:cubicBezTo>
                  <a:pt x="35893" y="112696"/>
                  <a:pt x="33759" y="111875"/>
                  <a:pt x="32212" y="110328"/>
                </a:cubicBezTo>
                <a:lnTo>
                  <a:pt x="2204" y="80319"/>
                </a:lnTo>
                <a:cubicBezTo>
                  <a:pt x="-727" y="77389"/>
                  <a:pt x="-727" y="72630"/>
                  <a:pt x="2204" y="69699"/>
                </a:cubicBezTo>
                <a:cubicBezTo>
                  <a:pt x="5134" y="66769"/>
                  <a:pt x="9893" y="66769"/>
                  <a:pt x="12824" y="69699"/>
                </a:cubicBezTo>
                <a:lnTo>
                  <a:pt x="36620" y="93495"/>
                </a:lnTo>
                <a:lnTo>
                  <a:pt x="91479" y="18075"/>
                </a:lnTo>
                <a:cubicBezTo>
                  <a:pt x="93917" y="14723"/>
                  <a:pt x="98606" y="13973"/>
                  <a:pt x="101958" y="16411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19" name="Text 17"/>
          <p:cNvSpPr/>
          <p:nvPr/>
        </p:nvSpPr>
        <p:spPr>
          <a:xfrm>
            <a:off x="921688" y="4098295"/>
            <a:ext cx="1114599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Reason abstractly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35955" y="4141165"/>
            <a:ext cx="105030" cy="120034"/>
          </a:xfrm>
          <a:custGeom>
            <a:avLst/>
            <a:gdLst/>
            <a:ahLst/>
            <a:cxnLst/>
            <a:rect l="l" t="t" r="r" b="b"/>
            <a:pathLst>
              <a:path w="105030" h="120034">
                <a:moveTo>
                  <a:pt x="101935" y="16434"/>
                </a:moveTo>
                <a:cubicBezTo>
                  <a:pt x="105287" y="18872"/>
                  <a:pt x="106038" y="23561"/>
                  <a:pt x="103599" y="26914"/>
                </a:cubicBezTo>
                <a:lnTo>
                  <a:pt x="43583" y="109437"/>
                </a:lnTo>
                <a:cubicBezTo>
                  <a:pt x="42293" y="111219"/>
                  <a:pt x="40300" y="112321"/>
                  <a:pt x="38097" y="112508"/>
                </a:cubicBezTo>
                <a:cubicBezTo>
                  <a:pt x="35893" y="112696"/>
                  <a:pt x="33759" y="111875"/>
                  <a:pt x="32212" y="110328"/>
                </a:cubicBezTo>
                <a:lnTo>
                  <a:pt x="2204" y="80319"/>
                </a:lnTo>
                <a:cubicBezTo>
                  <a:pt x="-727" y="77389"/>
                  <a:pt x="-727" y="72630"/>
                  <a:pt x="2204" y="69699"/>
                </a:cubicBezTo>
                <a:cubicBezTo>
                  <a:pt x="5134" y="66769"/>
                  <a:pt x="9893" y="66769"/>
                  <a:pt x="12824" y="69699"/>
                </a:cubicBezTo>
                <a:lnTo>
                  <a:pt x="36620" y="93495"/>
                </a:lnTo>
                <a:lnTo>
                  <a:pt x="91479" y="18075"/>
                </a:lnTo>
                <a:cubicBezTo>
                  <a:pt x="93917" y="14723"/>
                  <a:pt x="98606" y="13973"/>
                  <a:pt x="101958" y="16411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21" name="Text 19"/>
          <p:cNvSpPr/>
          <p:nvPr/>
        </p:nvSpPr>
        <p:spPr>
          <a:xfrm>
            <a:off x="3429938" y="4098295"/>
            <a:ext cx="1063156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Transfer learning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27705" y="4415527"/>
            <a:ext cx="105030" cy="120034"/>
          </a:xfrm>
          <a:custGeom>
            <a:avLst/>
            <a:gdLst/>
            <a:ahLst/>
            <a:cxnLst/>
            <a:rect l="l" t="t" r="r" b="b"/>
            <a:pathLst>
              <a:path w="105030" h="120034">
                <a:moveTo>
                  <a:pt x="101935" y="16434"/>
                </a:moveTo>
                <a:cubicBezTo>
                  <a:pt x="105287" y="18872"/>
                  <a:pt x="106038" y="23561"/>
                  <a:pt x="103599" y="26914"/>
                </a:cubicBezTo>
                <a:lnTo>
                  <a:pt x="43583" y="109437"/>
                </a:lnTo>
                <a:cubicBezTo>
                  <a:pt x="42293" y="111219"/>
                  <a:pt x="40300" y="112321"/>
                  <a:pt x="38097" y="112508"/>
                </a:cubicBezTo>
                <a:cubicBezTo>
                  <a:pt x="35893" y="112696"/>
                  <a:pt x="33759" y="111875"/>
                  <a:pt x="32212" y="110328"/>
                </a:cubicBezTo>
                <a:lnTo>
                  <a:pt x="2204" y="80319"/>
                </a:lnTo>
                <a:cubicBezTo>
                  <a:pt x="-727" y="77389"/>
                  <a:pt x="-727" y="72630"/>
                  <a:pt x="2204" y="69699"/>
                </a:cubicBezTo>
                <a:cubicBezTo>
                  <a:pt x="5134" y="66769"/>
                  <a:pt x="9893" y="66769"/>
                  <a:pt x="12824" y="69699"/>
                </a:cubicBezTo>
                <a:lnTo>
                  <a:pt x="36620" y="93495"/>
                </a:lnTo>
                <a:lnTo>
                  <a:pt x="91479" y="18075"/>
                </a:lnTo>
                <a:cubicBezTo>
                  <a:pt x="93917" y="14723"/>
                  <a:pt x="98606" y="13973"/>
                  <a:pt x="101958" y="16411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23" name="Text 21"/>
          <p:cNvSpPr/>
          <p:nvPr/>
        </p:nvSpPr>
        <p:spPr>
          <a:xfrm>
            <a:off x="921688" y="4372658"/>
            <a:ext cx="1354667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Solve novel problems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235955" y="4415527"/>
            <a:ext cx="105030" cy="120034"/>
          </a:xfrm>
          <a:custGeom>
            <a:avLst/>
            <a:gdLst/>
            <a:ahLst/>
            <a:cxnLst/>
            <a:rect l="l" t="t" r="r" b="b"/>
            <a:pathLst>
              <a:path w="105030" h="120034">
                <a:moveTo>
                  <a:pt x="101935" y="16434"/>
                </a:moveTo>
                <a:cubicBezTo>
                  <a:pt x="105287" y="18872"/>
                  <a:pt x="106038" y="23561"/>
                  <a:pt x="103599" y="26914"/>
                </a:cubicBezTo>
                <a:lnTo>
                  <a:pt x="43583" y="109437"/>
                </a:lnTo>
                <a:cubicBezTo>
                  <a:pt x="42293" y="111219"/>
                  <a:pt x="40300" y="112321"/>
                  <a:pt x="38097" y="112508"/>
                </a:cubicBezTo>
                <a:cubicBezTo>
                  <a:pt x="35893" y="112696"/>
                  <a:pt x="33759" y="111875"/>
                  <a:pt x="32212" y="110328"/>
                </a:cubicBezTo>
                <a:lnTo>
                  <a:pt x="2204" y="80319"/>
                </a:lnTo>
                <a:cubicBezTo>
                  <a:pt x="-727" y="77389"/>
                  <a:pt x="-727" y="72630"/>
                  <a:pt x="2204" y="69699"/>
                </a:cubicBezTo>
                <a:cubicBezTo>
                  <a:pt x="5134" y="66769"/>
                  <a:pt x="9893" y="66769"/>
                  <a:pt x="12824" y="69699"/>
                </a:cubicBezTo>
                <a:lnTo>
                  <a:pt x="36620" y="93495"/>
                </a:lnTo>
                <a:lnTo>
                  <a:pt x="91479" y="18075"/>
                </a:lnTo>
                <a:cubicBezTo>
                  <a:pt x="93917" y="14723"/>
                  <a:pt x="98606" y="13973"/>
                  <a:pt x="101958" y="16411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25" name="Text 23"/>
          <p:cNvSpPr/>
          <p:nvPr/>
        </p:nvSpPr>
        <p:spPr>
          <a:xfrm>
            <a:off x="3429938" y="4372658"/>
            <a:ext cx="1063156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Creative thinking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65873" y="4818498"/>
            <a:ext cx="5221468" cy="1611882"/>
          </a:xfrm>
          <a:custGeom>
            <a:avLst/>
            <a:gdLst/>
            <a:ahLst/>
            <a:cxnLst/>
            <a:rect l="l" t="t" r="r" b="b"/>
            <a:pathLst>
              <a:path w="5221468" h="1611882">
                <a:moveTo>
                  <a:pt x="68586" y="0"/>
                </a:moveTo>
                <a:lnTo>
                  <a:pt x="5152883" y="0"/>
                </a:lnTo>
                <a:cubicBezTo>
                  <a:pt x="5190762" y="0"/>
                  <a:pt x="5221468" y="30707"/>
                  <a:pt x="5221468" y="68586"/>
                </a:cubicBezTo>
                <a:lnTo>
                  <a:pt x="5221468" y="1543296"/>
                </a:lnTo>
                <a:cubicBezTo>
                  <a:pt x="5221468" y="1581175"/>
                  <a:pt x="5190762" y="1611882"/>
                  <a:pt x="5152883" y="1611882"/>
                </a:cubicBezTo>
                <a:lnTo>
                  <a:pt x="68586" y="1611882"/>
                </a:lnTo>
                <a:cubicBezTo>
                  <a:pt x="30707" y="1611882"/>
                  <a:pt x="0" y="1581175"/>
                  <a:pt x="0" y="1543296"/>
                </a:cubicBezTo>
                <a:lnTo>
                  <a:pt x="0" y="68586"/>
                </a:lnTo>
                <a:cubicBezTo>
                  <a:pt x="0" y="30732"/>
                  <a:pt x="30732" y="0"/>
                  <a:pt x="68586" y="0"/>
                </a:cubicBezTo>
                <a:close/>
              </a:path>
            </a:pathLst>
          </a:custGeom>
          <a:solidFill>
            <a:srgbClr val="8FB7AC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24489" y="4998549"/>
            <a:ext cx="154329" cy="154329"/>
          </a:xfrm>
          <a:custGeom>
            <a:avLst/>
            <a:gdLst/>
            <a:ahLst/>
            <a:cxnLst/>
            <a:rect l="l" t="t" r="r" b="b"/>
            <a:pathLst>
              <a:path w="154329" h="154329">
                <a:moveTo>
                  <a:pt x="77165" y="0"/>
                </a:moveTo>
                <a:cubicBezTo>
                  <a:pt x="119753" y="0"/>
                  <a:pt x="154329" y="34576"/>
                  <a:pt x="154329" y="77165"/>
                </a:cubicBezTo>
                <a:cubicBezTo>
                  <a:pt x="154329" y="119753"/>
                  <a:pt x="119753" y="154329"/>
                  <a:pt x="77165" y="154329"/>
                </a:cubicBezTo>
                <a:cubicBezTo>
                  <a:pt x="34576" y="154329"/>
                  <a:pt x="0" y="119753"/>
                  <a:pt x="0" y="77165"/>
                </a:cubicBezTo>
                <a:cubicBezTo>
                  <a:pt x="0" y="34576"/>
                  <a:pt x="34576" y="0"/>
                  <a:pt x="77165" y="0"/>
                </a:cubicBezTo>
                <a:close/>
                <a:moveTo>
                  <a:pt x="69930" y="36171"/>
                </a:moveTo>
                <a:lnTo>
                  <a:pt x="69930" y="77165"/>
                </a:lnTo>
                <a:cubicBezTo>
                  <a:pt x="69930" y="79576"/>
                  <a:pt x="71136" y="81837"/>
                  <a:pt x="73156" y="83193"/>
                </a:cubicBezTo>
                <a:lnTo>
                  <a:pt x="102092" y="102484"/>
                </a:lnTo>
                <a:cubicBezTo>
                  <a:pt x="105408" y="104715"/>
                  <a:pt x="109899" y="103810"/>
                  <a:pt x="112130" y="100465"/>
                </a:cubicBezTo>
                <a:cubicBezTo>
                  <a:pt x="114360" y="97119"/>
                  <a:pt x="113456" y="92658"/>
                  <a:pt x="110110" y="90427"/>
                </a:cubicBezTo>
                <a:lnTo>
                  <a:pt x="84399" y="73306"/>
                </a:lnTo>
                <a:lnTo>
                  <a:pt x="84399" y="36171"/>
                </a:lnTo>
                <a:cubicBezTo>
                  <a:pt x="84399" y="32162"/>
                  <a:pt x="81173" y="28937"/>
                  <a:pt x="77165" y="28937"/>
                </a:cubicBezTo>
                <a:cubicBezTo>
                  <a:pt x="73156" y="28937"/>
                  <a:pt x="69930" y="32162"/>
                  <a:pt x="69930" y="36171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28" name="Text 26"/>
          <p:cNvSpPr/>
          <p:nvPr/>
        </p:nvSpPr>
        <p:spPr>
          <a:xfrm>
            <a:off x="900253" y="4955679"/>
            <a:ext cx="4827072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5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Expert Predictions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3055" y="5264338"/>
            <a:ext cx="1483274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DeepMind (Shane Legg)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853463" y="5264338"/>
            <a:ext cx="865958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50% by 2028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3055" y="5538700"/>
            <a:ext cx="1594734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Anthropic (Dario Amodei)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178197" y="5538700"/>
            <a:ext cx="540152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2027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3055" y="5813063"/>
            <a:ext cx="831662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Ray Kurzweil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165069" y="5813063"/>
            <a:ext cx="557300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2029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03055" y="6087426"/>
            <a:ext cx="1363241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OpenAI (Sam Altman)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163461" y="6087426"/>
            <a:ext cx="557300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2035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16972" y="1371814"/>
            <a:ext cx="5633013" cy="5487257"/>
          </a:xfrm>
          <a:custGeom>
            <a:avLst/>
            <a:gdLst/>
            <a:ahLst/>
            <a:cxnLst/>
            <a:rect l="l" t="t" r="r" b="b"/>
            <a:pathLst>
              <a:path w="5633013" h="5487257">
                <a:moveTo>
                  <a:pt x="137181" y="0"/>
                </a:moveTo>
                <a:lnTo>
                  <a:pt x="5495831" y="0"/>
                </a:lnTo>
                <a:cubicBezTo>
                  <a:pt x="5571594" y="0"/>
                  <a:pt x="5633013" y="61418"/>
                  <a:pt x="5633013" y="137181"/>
                </a:cubicBezTo>
                <a:lnTo>
                  <a:pt x="5633013" y="5350076"/>
                </a:lnTo>
                <a:cubicBezTo>
                  <a:pt x="5633013" y="5425839"/>
                  <a:pt x="5571594" y="5487257"/>
                  <a:pt x="5495831" y="5487257"/>
                </a:cubicBezTo>
                <a:lnTo>
                  <a:pt x="137181" y="5487257"/>
                </a:lnTo>
                <a:cubicBezTo>
                  <a:pt x="61418" y="5487257"/>
                  <a:pt x="0" y="5425839"/>
                  <a:pt x="0" y="5350076"/>
                </a:cubicBezTo>
                <a:lnTo>
                  <a:pt x="0" y="137181"/>
                </a:lnTo>
                <a:cubicBezTo>
                  <a:pt x="0" y="61469"/>
                  <a:pt x="61469" y="0"/>
                  <a:pt x="137181" y="0"/>
                </a:cubicBezTo>
                <a:close/>
              </a:path>
            </a:pathLst>
          </a:custGeom>
          <a:gradFill flip="none" rotWithShape="1">
            <a:gsLst>
              <a:gs pos="0">
                <a:srgbClr val="2F3E3B"/>
              </a:gs>
              <a:gs pos="100000">
                <a:srgbClr val="5F6F6B"/>
              </a:gs>
            </a:gsLst>
            <a:lin ang="2700000" scaled="1"/>
          </a:gradFill>
          <a:ln/>
          <a:effectLst>
            <a:outerShdw blurRad="128608" dist="857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422744" y="1577586"/>
            <a:ext cx="548726" cy="548726"/>
          </a:xfrm>
          <a:custGeom>
            <a:avLst/>
            <a:gdLst/>
            <a:ahLst/>
            <a:cxnLst/>
            <a:rect l="l" t="t" r="r" b="b"/>
            <a:pathLst>
              <a:path w="548726" h="548726">
                <a:moveTo>
                  <a:pt x="274363" y="0"/>
                </a:moveTo>
                <a:lnTo>
                  <a:pt x="274363" y="0"/>
                </a:lnTo>
                <a:cubicBezTo>
                  <a:pt x="425889" y="0"/>
                  <a:pt x="548726" y="122836"/>
                  <a:pt x="548726" y="274363"/>
                </a:cubicBezTo>
                <a:lnTo>
                  <a:pt x="548726" y="274363"/>
                </a:lnTo>
                <a:cubicBezTo>
                  <a:pt x="548726" y="425889"/>
                  <a:pt x="425889" y="548726"/>
                  <a:pt x="274363" y="548726"/>
                </a:cubicBezTo>
                <a:lnTo>
                  <a:pt x="274363" y="548726"/>
                </a:lnTo>
                <a:cubicBezTo>
                  <a:pt x="122836" y="548726"/>
                  <a:pt x="0" y="425889"/>
                  <a:pt x="0" y="274363"/>
                </a:cubicBezTo>
                <a:lnTo>
                  <a:pt x="0" y="274363"/>
                </a:lnTo>
                <a:cubicBezTo>
                  <a:pt x="0" y="122836"/>
                  <a:pt x="122836" y="0"/>
                  <a:pt x="27436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570642" y="1723342"/>
            <a:ext cx="257215" cy="257215"/>
          </a:xfrm>
          <a:custGeom>
            <a:avLst/>
            <a:gdLst/>
            <a:ahLst/>
            <a:cxnLst/>
            <a:rect l="l" t="t" r="r" b="b"/>
            <a:pathLst>
              <a:path w="257215" h="257215">
                <a:moveTo>
                  <a:pt x="33106" y="114792"/>
                </a:moveTo>
                <a:cubicBezTo>
                  <a:pt x="39788" y="68072"/>
                  <a:pt x="80028" y="32152"/>
                  <a:pt x="128608" y="32152"/>
                </a:cubicBezTo>
                <a:cubicBezTo>
                  <a:pt x="155233" y="32152"/>
                  <a:pt x="179347" y="42953"/>
                  <a:pt x="196830" y="60385"/>
                </a:cubicBezTo>
                <a:cubicBezTo>
                  <a:pt x="196930" y="60486"/>
                  <a:pt x="197031" y="60586"/>
                  <a:pt x="197131" y="60687"/>
                </a:cubicBezTo>
                <a:lnTo>
                  <a:pt x="200949" y="64304"/>
                </a:lnTo>
                <a:lnTo>
                  <a:pt x="176886" y="64304"/>
                </a:lnTo>
                <a:cubicBezTo>
                  <a:pt x="167994" y="64304"/>
                  <a:pt x="160810" y="71488"/>
                  <a:pt x="160810" y="80380"/>
                </a:cubicBezTo>
                <a:cubicBezTo>
                  <a:pt x="160810" y="89272"/>
                  <a:pt x="167994" y="96456"/>
                  <a:pt x="176886" y="96456"/>
                </a:cubicBezTo>
                <a:lnTo>
                  <a:pt x="241189" y="96456"/>
                </a:lnTo>
                <a:cubicBezTo>
                  <a:pt x="250081" y="96456"/>
                  <a:pt x="257265" y="89272"/>
                  <a:pt x="257265" y="80380"/>
                </a:cubicBezTo>
                <a:lnTo>
                  <a:pt x="257265" y="16076"/>
                </a:lnTo>
                <a:cubicBezTo>
                  <a:pt x="257265" y="7184"/>
                  <a:pt x="250081" y="0"/>
                  <a:pt x="241189" y="0"/>
                </a:cubicBezTo>
                <a:cubicBezTo>
                  <a:pt x="232297" y="0"/>
                  <a:pt x="225114" y="7184"/>
                  <a:pt x="225114" y="16076"/>
                </a:cubicBezTo>
                <a:lnTo>
                  <a:pt x="225114" y="42903"/>
                </a:lnTo>
                <a:lnTo>
                  <a:pt x="219437" y="37527"/>
                </a:lnTo>
                <a:cubicBezTo>
                  <a:pt x="196177" y="14368"/>
                  <a:pt x="164025" y="0"/>
                  <a:pt x="128608" y="0"/>
                </a:cubicBezTo>
                <a:cubicBezTo>
                  <a:pt x="63801" y="0"/>
                  <a:pt x="10198" y="47926"/>
                  <a:pt x="1306" y="110271"/>
                </a:cubicBezTo>
                <a:cubicBezTo>
                  <a:pt x="50" y="119063"/>
                  <a:pt x="6129" y="127201"/>
                  <a:pt x="14920" y="128457"/>
                </a:cubicBezTo>
                <a:cubicBezTo>
                  <a:pt x="23712" y="129713"/>
                  <a:pt x="31850" y="123584"/>
                  <a:pt x="33106" y="114843"/>
                </a:cubicBezTo>
                <a:close/>
                <a:moveTo>
                  <a:pt x="255909" y="146944"/>
                </a:moveTo>
                <a:cubicBezTo>
                  <a:pt x="257165" y="138153"/>
                  <a:pt x="251036" y="130014"/>
                  <a:pt x="242295" y="128758"/>
                </a:cubicBezTo>
                <a:cubicBezTo>
                  <a:pt x="233553" y="127502"/>
                  <a:pt x="225365" y="133631"/>
                  <a:pt x="224109" y="142373"/>
                </a:cubicBezTo>
                <a:cubicBezTo>
                  <a:pt x="217427" y="189093"/>
                  <a:pt x="177187" y="225013"/>
                  <a:pt x="128608" y="225013"/>
                </a:cubicBezTo>
                <a:cubicBezTo>
                  <a:pt x="101982" y="225013"/>
                  <a:pt x="77868" y="214212"/>
                  <a:pt x="60385" y="196780"/>
                </a:cubicBezTo>
                <a:cubicBezTo>
                  <a:pt x="60285" y="196679"/>
                  <a:pt x="60184" y="196579"/>
                  <a:pt x="60084" y="196478"/>
                </a:cubicBezTo>
                <a:lnTo>
                  <a:pt x="56266" y="192861"/>
                </a:lnTo>
                <a:lnTo>
                  <a:pt x="80330" y="192861"/>
                </a:lnTo>
                <a:cubicBezTo>
                  <a:pt x="89222" y="192861"/>
                  <a:pt x="96405" y="185677"/>
                  <a:pt x="96405" y="176785"/>
                </a:cubicBezTo>
                <a:cubicBezTo>
                  <a:pt x="96405" y="167893"/>
                  <a:pt x="89222" y="160709"/>
                  <a:pt x="80330" y="160709"/>
                </a:cubicBezTo>
                <a:lnTo>
                  <a:pt x="16076" y="160759"/>
                </a:lnTo>
                <a:cubicBezTo>
                  <a:pt x="11806" y="160759"/>
                  <a:pt x="7686" y="162468"/>
                  <a:pt x="4672" y="165532"/>
                </a:cubicBezTo>
                <a:cubicBezTo>
                  <a:pt x="1658" y="168597"/>
                  <a:pt x="-50" y="172666"/>
                  <a:pt x="0" y="176986"/>
                </a:cubicBezTo>
                <a:lnTo>
                  <a:pt x="502" y="240788"/>
                </a:lnTo>
                <a:cubicBezTo>
                  <a:pt x="553" y="249680"/>
                  <a:pt x="7837" y="256813"/>
                  <a:pt x="16729" y="256713"/>
                </a:cubicBezTo>
                <a:cubicBezTo>
                  <a:pt x="25621" y="256612"/>
                  <a:pt x="32755" y="249378"/>
                  <a:pt x="32654" y="240486"/>
                </a:cubicBezTo>
                <a:lnTo>
                  <a:pt x="32453" y="214614"/>
                </a:lnTo>
                <a:lnTo>
                  <a:pt x="37829" y="219688"/>
                </a:lnTo>
                <a:cubicBezTo>
                  <a:pt x="61089" y="242847"/>
                  <a:pt x="93190" y="257215"/>
                  <a:pt x="128608" y="257215"/>
                </a:cubicBezTo>
                <a:cubicBezTo>
                  <a:pt x="193414" y="257215"/>
                  <a:pt x="247017" y="209289"/>
                  <a:pt x="255909" y="14694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7108651" y="1594734"/>
            <a:ext cx="2409249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Artificial Superintelligence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108651" y="1869097"/>
            <a:ext cx="2383527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5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Superinteligjenca Artificiale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22744" y="2263494"/>
            <a:ext cx="5221468" cy="1268928"/>
          </a:xfrm>
          <a:custGeom>
            <a:avLst/>
            <a:gdLst/>
            <a:ahLst/>
            <a:cxnLst/>
            <a:rect l="l" t="t" r="r" b="b"/>
            <a:pathLst>
              <a:path w="5221468" h="1268928">
                <a:moveTo>
                  <a:pt x="68586" y="0"/>
                </a:moveTo>
                <a:lnTo>
                  <a:pt x="5152883" y="0"/>
                </a:lnTo>
                <a:cubicBezTo>
                  <a:pt x="5190762" y="0"/>
                  <a:pt x="5221468" y="30707"/>
                  <a:pt x="5221468" y="68586"/>
                </a:cubicBezTo>
                <a:lnTo>
                  <a:pt x="5221468" y="1200343"/>
                </a:lnTo>
                <a:cubicBezTo>
                  <a:pt x="5221468" y="1238221"/>
                  <a:pt x="5190762" y="1268928"/>
                  <a:pt x="5152883" y="1268928"/>
                </a:cubicBezTo>
                <a:lnTo>
                  <a:pt x="68586" y="1268928"/>
                </a:lnTo>
                <a:cubicBezTo>
                  <a:pt x="30707" y="1268928"/>
                  <a:pt x="0" y="1238221"/>
                  <a:pt x="0" y="1200343"/>
                </a:cubicBezTo>
                <a:lnTo>
                  <a:pt x="0" y="68586"/>
                </a:lnTo>
                <a:cubicBezTo>
                  <a:pt x="0" y="30732"/>
                  <a:pt x="30732" y="0"/>
                  <a:pt x="6858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581360" y="2443544"/>
            <a:ext cx="154329" cy="154329"/>
          </a:xfrm>
          <a:custGeom>
            <a:avLst/>
            <a:gdLst/>
            <a:ahLst/>
            <a:cxnLst/>
            <a:rect l="l" t="t" r="r" b="b"/>
            <a:pathLst>
              <a:path w="154329" h="154329">
                <a:moveTo>
                  <a:pt x="38582" y="96456"/>
                </a:moveTo>
                <a:lnTo>
                  <a:pt x="7385" y="96456"/>
                </a:lnTo>
                <a:cubicBezTo>
                  <a:pt x="-121" y="96456"/>
                  <a:pt x="-4732" y="88287"/>
                  <a:pt x="-874" y="81837"/>
                </a:cubicBezTo>
                <a:lnTo>
                  <a:pt x="15071" y="55251"/>
                </a:lnTo>
                <a:cubicBezTo>
                  <a:pt x="17694" y="50880"/>
                  <a:pt x="22396" y="48228"/>
                  <a:pt x="27490" y="48228"/>
                </a:cubicBezTo>
                <a:lnTo>
                  <a:pt x="56125" y="48228"/>
                </a:lnTo>
                <a:cubicBezTo>
                  <a:pt x="79064" y="9374"/>
                  <a:pt x="113275" y="7415"/>
                  <a:pt x="136153" y="10761"/>
                </a:cubicBezTo>
                <a:cubicBezTo>
                  <a:pt x="140011" y="11334"/>
                  <a:pt x="143026" y="14348"/>
                  <a:pt x="143568" y="18176"/>
                </a:cubicBezTo>
                <a:cubicBezTo>
                  <a:pt x="146914" y="41054"/>
                  <a:pt x="144955" y="75266"/>
                  <a:pt x="106101" y="98204"/>
                </a:cubicBezTo>
                <a:lnTo>
                  <a:pt x="106101" y="126839"/>
                </a:lnTo>
                <a:cubicBezTo>
                  <a:pt x="106101" y="131933"/>
                  <a:pt x="103449" y="136636"/>
                  <a:pt x="99078" y="139258"/>
                </a:cubicBezTo>
                <a:lnTo>
                  <a:pt x="72492" y="155203"/>
                </a:lnTo>
                <a:cubicBezTo>
                  <a:pt x="66072" y="159061"/>
                  <a:pt x="57873" y="154420"/>
                  <a:pt x="57873" y="146944"/>
                </a:cubicBezTo>
                <a:lnTo>
                  <a:pt x="57873" y="115747"/>
                </a:lnTo>
                <a:cubicBezTo>
                  <a:pt x="57873" y="105107"/>
                  <a:pt x="49223" y="96456"/>
                  <a:pt x="38582" y="96456"/>
                </a:cubicBezTo>
                <a:lnTo>
                  <a:pt x="38552" y="96456"/>
                </a:lnTo>
                <a:close/>
                <a:moveTo>
                  <a:pt x="120570" y="48228"/>
                </a:moveTo>
                <a:cubicBezTo>
                  <a:pt x="120570" y="40243"/>
                  <a:pt x="114087" y="33759"/>
                  <a:pt x="106101" y="33759"/>
                </a:cubicBezTo>
                <a:cubicBezTo>
                  <a:pt x="98116" y="33759"/>
                  <a:pt x="91633" y="40243"/>
                  <a:pt x="91633" y="48228"/>
                </a:cubicBezTo>
                <a:cubicBezTo>
                  <a:pt x="91633" y="56213"/>
                  <a:pt x="98116" y="62696"/>
                  <a:pt x="106101" y="62696"/>
                </a:cubicBezTo>
                <a:cubicBezTo>
                  <a:pt x="114087" y="62696"/>
                  <a:pt x="120570" y="56213"/>
                  <a:pt x="120570" y="4822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6757123" y="2400675"/>
            <a:ext cx="4827072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Beyond Human Limits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559925" y="2709333"/>
            <a:ext cx="5015696" cy="44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ASI would </a:t>
            </a:r>
            <a:r>
              <a:rPr lang="en-US" sz="108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surpass human intelligence</a:t>
            </a:r>
            <a:r>
              <a:rPr lang="en-US" sz="108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every field—scientific creativity, general wisdom, and social skills.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559925" y="3223764"/>
            <a:ext cx="5007122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ASI do te kalonte inteligjencën njerëzore.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422744" y="3635308"/>
            <a:ext cx="5221468" cy="1063156"/>
          </a:xfrm>
          <a:custGeom>
            <a:avLst/>
            <a:gdLst/>
            <a:ahLst/>
            <a:cxnLst/>
            <a:rect l="l" t="t" r="r" b="b"/>
            <a:pathLst>
              <a:path w="5221468" h="1063156">
                <a:moveTo>
                  <a:pt x="68595" y="0"/>
                </a:moveTo>
                <a:lnTo>
                  <a:pt x="5152874" y="0"/>
                </a:lnTo>
                <a:cubicBezTo>
                  <a:pt x="5190757" y="0"/>
                  <a:pt x="5221468" y="30711"/>
                  <a:pt x="5221468" y="68595"/>
                </a:cubicBezTo>
                <a:lnTo>
                  <a:pt x="5221468" y="994561"/>
                </a:lnTo>
                <a:cubicBezTo>
                  <a:pt x="5221468" y="1032445"/>
                  <a:pt x="5190757" y="1063156"/>
                  <a:pt x="5152874" y="1063156"/>
                </a:cubicBezTo>
                <a:lnTo>
                  <a:pt x="68595" y="1063156"/>
                </a:lnTo>
                <a:cubicBezTo>
                  <a:pt x="30711" y="1063156"/>
                  <a:pt x="0" y="1032445"/>
                  <a:pt x="0" y="994561"/>
                </a:cubicBezTo>
                <a:lnTo>
                  <a:pt x="0" y="68595"/>
                </a:lnTo>
                <a:cubicBezTo>
                  <a:pt x="0" y="30736"/>
                  <a:pt x="30736" y="0"/>
                  <a:pt x="6859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591005" y="3815359"/>
            <a:ext cx="135038" cy="154329"/>
          </a:xfrm>
          <a:custGeom>
            <a:avLst/>
            <a:gdLst/>
            <a:ahLst/>
            <a:cxnLst/>
            <a:rect l="l" t="t" r="r" b="b"/>
            <a:pathLst>
              <a:path w="135038" h="154329">
                <a:moveTo>
                  <a:pt x="102122" y="-2984"/>
                </a:moveTo>
                <a:cubicBezTo>
                  <a:pt x="105709" y="-392"/>
                  <a:pt x="107036" y="4310"/>
                  <a:pt x="105408" y="8410"/>
                </a:cubicBezTo>
                <a:lnTo>
                  <a:pt x="81776" y="67519"/>
                </a:lnTo>
                <a:lnTo>
                  <a:pt x="125392" y="67519"/>
                </a:lnTo>
                <a:cubicBezTo>
                  <a:pt x="129462" y="67519"/>
                  <a:pt x="133079" y="70051"/>
                  <a:pt x="134465" y="73879"/>
                </a:cubicBezTo>
                <a:cubicBezTo>
                  <a:pt x="135852" y="77707"/>
                  <a:pt x="134676" y="81987"/>
                  <a:pt x="131572" y="84580"/>
                </a:cubicBezTo>
                <a:lnTo>
                  <a:pt x="44761" y="156921"/>
                </a:lnTo>
                <a:cubicBezTo>
                  <a:pt x="41355" y="159755"/>
                  <a:pt x="36502" y="159905"/>
                  <a:pt x="32916" y="157313"/>
                </a:cubicBezTo>
                <a:cubicBezTo>
                  <a:pt x="29329" y="154721"/>
                  <a:pt x="28002" y="150019"/>
                  <a:pt x="29630" y="145919"/>
                </a:cubicBezTo>
                <a:lnTo>
                  <a:pt x="53262" y="86810"/>
                </a:lnTo>
                <a:lnTo>
                  <a:pt x="9646" y="86810"/>
                </a:lnTo>
                <a:cubicBezTo>
                  <a:pt x="5576" y="86810"/>
                  <a:pt x="1959" y="84278"/>
                  <a:pt x="573" y="80450"/>
                </a:cubicBezTo>
                <a:cubicBezTo>
                  <a:pt x="-814" y="76622"/>
                  <a:pt x="362" y="72342"/>
                  <a:pt x="3466" y="69750"/>
                </a:cubicBezTo>
                <a:lnTo>
                  <a:pt x="90277" y="-2592"/>
                </a:lnTo>
                <a:cubicBezTo>
                  <a:pt x="93683" y="-5426"/>
                  <a:pt x="98536" y="-5576"/>
                  <a:pt x="102122" y="-298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6757123" y="3772489"/>
            <a:ext cx="4827072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Potential Capabilities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584575" y="4124017"/>
            <a:ext cx="105030" cy="120034"/>
          </a:xfrm>
          <a:custGeom>
            <a:avLst/>
            <a:gdLst/>
            <a:ahLst/>
            <a:cxnLst/>
            <a:rect l="l" t="t" r="r" b="b"/>
            <a:pathLst>
              <a:path w="105030" h="120034">
                <a:moveTo>
                  <a:pt x="52515" y="93495"/>
                </a:moveTo>
                <a:cubicBezTo>
                  <a:pt x="49748" y="94691"/>
                  <a:pt x="47029" y="95769"/>
                  <a:pt x="44333" y="96660"/>
                </a:cubicBezTo>
                <a:cubicBezTo>
                  <a:pt x="48248" y="104584"/>
                  <a:pt x="51600" y="105030"/>
                  <a:pt x="52515" y="105030"/>
                </a:cubicBezTo>
                <a:cubicBezTo>
                  <a:pt x="53429" y="105030"/>
                  <a:pt x="56758" y="104584"/>
                  <a:pt x="60697" y="96660"/>
                </a:cubicBezTo>
                <a:cubicBezTo>
                  <a:pt x="58024" y="95746"/>
                  <a:pt x="55281" y="94691"/>
                  <a:pt x="52515" y="93495"/>
                </a:cubicBezTo>
                <a:close/>
                <a:moveTo>
                  <a:pt x="97059" y="60017"/>
                </a:moveTo>
                <a:cubicBezTo>
                  <a:pt x="104795" y="70614"/>
                  <a:pt x="107444" y="81328"/>
                  <a:pt x="102591" y="90025"/>
                </a:cubicBezTo>
                <a:cubicBezTo>
                  <a:pt x="97856" y="98536"/>
                  <a:pt x="87939" y="101583"/>
                  <a:pt x="75584" y="100153"/>
                </a:cubicBezTo>
                <a:cubicBezTo>
                  <a:pt x="70426" y="112368"/>
                  <a:pt x="62525" y="120034"/>
                  <a:pt x="52515" y="120034"/>
                </a:cubicBezTo>
                <a:cubicBezTo>
                  <a:pt x="42504" y="120034"/>
                  <a:pt x="34603" y="112368"/>
                  <a:pt x="29446" y="100153"/>
                </a:cubicBezTo>
                <a:cubicBezTo>
                  <a:pt x="17091" y="101583"/>
                  <a:pt x="7174" y="98536"/>
                  <a:pt x="2438" y="90025"/>
                </a:cubicBezTo>
                <a:cubicBezTo>
                  <a:pt x="-2415" y="81328"/>
                  <a:pt x="234" y="70614"/>
                  <a:pt x="7971" y="60017"/>
                </a:cubicBezTo>
                <a:cubicBezTo>
                  <a:pt x="234" y="49420"/>
                  <a:pt x="-2415" y="38706"/>
                  <a:pt x="2438" y="30008"/>
                </a:cubicBezTo>
                <a:cubicBezTo>
                  <a:pt x="7174" y="21498"/>
                  <a:pt x="17091" y="18451"/>
                  <a:pt x="29446" y="19881"/>
                </a:cubicBezTo>
                <a:cubicBezTo>
                  <a:pt x="34603" y="7666"/>
                  <a:pt x="42481" y="0"/>
                  <a:pt x="52515" y="0"/>
                </a:cubicBezTo>
                <a:cubicBezTo>
                  <a:pt x="62549" y="0"/>
                  <a:pt x="70426" y="7666"/>
                  <a:pt x="75584" y="19881"/>
                </a:cubicBezTo>
                <a:cubicBezTo>
                  <a:pt x="87939" y="18451"/>
                  <a:pt x="97856" y="21475"/>
                  <a:pt x="102591" y="30008"/>
                </a:cubicBezTo>
                <a:cubicBezTo>
                  <a:pt x="107444" y="38706"/>
                  <a:pt x="104795" y="49420"/>
                  <a:pt x="97059" y="60017"/>
                </a:cubicBezTo>
                <a:close/>
                <a:moveTo>
                  <a:pt x="81632" y="75818"/>
                </a:moveTo>
                <a:cubicBezTo>
                  <a:pt x="81234" y="79147"/>
                  <a:pt x="80718" y="82383"/>
                  <a:pt x="80062" y="85477"/>
                </a:cubicBezTo>
                <a:cubicBezTo>
                  <a:pt x="87517" y="85805"/>
                  <a:pt x="89111" y="83438"/>
                  <a:pt x="89486" y="82734"/>
                </a:cubicBezTo>
                <a:cubicBezTo>
                  <a:pt x="90025" y="81750"/>
                  <a:pt x="91127" y="78538"/>
                  <a:pt x="86696" y="71458"/>
                </a:cubicBezTo>
                <a:cubicBezTo>
                  <a:pt x="85102" y="72935"/>
                  <a:pt x="83414" y="74388"/>
                  <a:pt x="81632" y="75818"/>
                </a:cubicBezTo>
                <a:close/>
                <a:moveTo>
                  <a:pt x="80062" y="34580"/>
                </a:moveTo>
                <a:cubicBezTo>
                  <a:pt x="80718" y="37651"/>
                  <a:pt x="81234" y="40886"/>
                  <a:pt x="81632" y="44239"/>
                </a:cubicBezTo>
                <a:cubicBezTo>
                  <a:pt x="83414" y="45669"/>
                  <a:pt x="85102" y="47123"/>
                  <a:pt x="86696" y="48600"/>
                </a:cubicBezTo>
                <a:cubicBezTo>
                  <a:pt x="91127" y="41519"/>
                  <a:pt x="90025" y="38284"/>
                  <a:pt x="89486" y="37323"/>
                </a:cubicBezTo>
                <a:cubicBezTo>
                  <a:pt x="89111" y="36643"/>
                  <a:pt x="87517" y="34275"/>
                  <a:pt x="80062" y="34580"/>
                </a:cubicBezTo>
                <a:close/>
                <a:moveTo>
                  <a:pt x="60697" y="23374"/>
                </a:moveTo>
                <a:cubicBezTo>
                  <a:pt x="56758" y="15450"/>
                  <a:pt x="53429" y="15004"/>
                  <a:pt x="52515" y="15004"/>
                </a:cubicBezTo>
                <a:cubicBezTo>
                  <a:pt x="51600" y="15004"/>
                  <a:pt x="48271" y="15450"/>
                  <a:pt x="44333" y="23374"/>
                </a:cubicBezTo>
                <a:cubicBezTo>
                  <a:pt x="47005" y="24288"/>
                  <a:pt x="49748" y="25343"/>
                  <a:pt x="52515" y="26539"/>
                </a:cubicBezTo>
                <a:cubicBezTo>
                  <a:pt x="55281" y="25343"/>
                  <a:pt x="58001" y="24265"/>
                  <a:pt x="60697" y="23374"/>
                </a:cubicBezTo>
                <a:close/>
                <a:moveTo>
                  <a:pt x="23421" y="44216"/>
                </a:moveTo>
                <a:cubicBezTo>
                  <a:pt x="23819" y="40863"/>
                  <a:pt x="24335" y="37651"/>
                  <a:pt x="24991" y="34557"/>
                </a:cubicBezTo>
                <a:cubicBezTo>
                  <a:pt x="17536" y="34228"/>
                  <a:pt x="15942" y="36596"/>
                  <a:pt x="15567" y="37300"/>
                </a:cubicBezTo>
                <a:cubicBezTo>
                  <a:pt x="15028" y="38284"/>
                  <a:pt x="13926" y="41496"/>
                  <a:pt x="18357" y="48576"/>
                </a:cubicBezTo>
                <a:cubicBezTo>
                  <a:pt x="19951" y="47099"/>
                  <a:pt x="21639" y="45646"/>
                  <a:pt x="23421" y="44216"/>
                </a:cubicBezTo>
                <a:close/>
                <a:moveTo>
                  <a:pt x="18333" y="71458"/>
                </a:moveTo>
                <a:cubicBezTo>
                  <a:pt x="13902" y="78538"/>
                  <a:pt x="15004" y="81773"/>
                  <a:pt x="15543" y="82734"/>
                </a:cubicBezTo>
                <a:cubicBezTo>
                  <a:pt x="15919" y="83414"/>
                  <a:pt x="17513" y="85782"/>
                  <a:pt x="24968" y="85477"/>
                </a:cubicBezTo>
                <a:cubicBezTo>
                  <a:pt x="24312" y="82406"/>
                  <a:pt x="23796" y="79171"/>
                  <a:pt x="23397" y="75818"/>
                </a:cubicBezTo>
                <a:cubicBezTo>
                  <a:pt x="21615" y="74388"/>
                  <a:pt x="19927" y="72935"/>
                  <a:pt x="18333" y="71458"/>
                </a:cubicBezTo>
                <a:close/>
                <a:moveTo>
                  <a:pt x="71270" y="60017"/>
                </a:moveTo>
                <a:cubicBezTo>
                  <a:pt x="71270" y="49666"/>
                  <a:pt x="62866" y="41262"/>
                  <a:pt x="52515" y="41262"/>
                </a:cubicBezTo>
                <a:cubicBezTo>
                  <a:pt x="42163" y="41262"/>
                  <a:pt x="33759" y="49666"/>
                  <a:pt x="33759" y="60017"/>
                </a:cubicBezTo>
                <a:cubicBezTo>
                  <a:pt x="33759" y="70368"/>
                  <a:pt x="42163" y="78772"/>
                  <a:pt x="52515" y="78772"/>
                </a:cubicBezTo>
                <a:cubicBezTo>
                  <a:pt x="62866" y="78772"/>
                  <a:pt x="71270" y="70368"/>
                  <a:pt x="71270" y="60017"/>
                </a:cubicBezTo>
                <a:close/>
                <a:moveTo>
                  <a:pt x="52515" y="52515"/>
                </a:moveTo>
                <a:cubicBezTo>
                  <a:pt x="56655" y="52515"/>
                  <a:pt x="60017" y="55876"/>
                  <a:pt x="60017" y="60017"/>
                </a:cubicBezTo>
                <a:cubicBezTo>
                  <a:pt x="60017" y="64157"/>
                  <a:pt x="56655" y="67519"/>
                  <a:pt x="52515" y="67519"/>
                </a:cubicBezTo>
                <a:cubicBezTo>
                  <a:pt x="48374" y="67519"/>
                  <a:pt x="45013" y="64157"/>
                  <a:pt x="45013" y="60017"/>
                </a:cubicBezTo>
                <a:cubicBezTo>
                  <a:pt x="45013" y="55876"/>
                  <a:pt x="48374" y="52515"/>
                  <a:pt x="52515" y="52515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51" name="Text 49"/>
          <p:cNvSpPr/>
          <p:nvPr/>
        </p:nvSpPr>
        <p:spPr>
          <a:xfrm>
            <a:off x="6778558" y="4081148"/>
            <a:ext cx="1491848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Scientific breakthroughs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9085323" y="4124017"/>
            <a:ext cx="120034" cy="120034"/>
          </a:xfrm>
          <a:custGeom>
            <a:avLst/>
            <a:gdLst/>
            <a:ahLst/>
            <a:cxnLst/>
            <a:rect l="l" t="t" r="r" b="b"/>
            <a:pathLst>
              <a:path w="120034" h="120034">
                <a:moveTo>
                  <a:pt x="120034" y="60017"/>
                </a:moveTo>
                <a:cubicBezTo>
                  <a:pt x="120034" y="60228"/>
                  <a:pt x="120034" y="60439"/>
                  <a:pt x="120034" y="60650"/>
                </a:cubicBezTo>
                <a:cubicBezTo>
                  <a:pt x="119940" y="69207"/>
                  <a:pt x="112157" y="75021"/>
                  <a:pt x="103599" y="75021"/>
                </a:cubicBezTo>
                <a:lnTo>
                  <a:pt x="80648" y="75021"/>
                </a:lnTo>
                <a:cubicBezTo>
                  <a:pt x="74435" y="75021"/>
                  <a:pt x="69395" y="80062"/>
                  <a:pt x="69395" y="86274"/>
                </a:cubicBezTo>
                <a:cubicBezTo>
                  <a:pt x="69395" y="87071"/>
                  <a:pt x="69488" y="87845"/>
                  <a:pt x="69629" y="88595"/>
                </a:cubicBezTo>
                <a:cubicBezTo>
                  <a:pt x="70121" y="90987"/>
                  <a:pt x="71153" y="93284"/>
                  <a:pt x="72161" y="95605"/>
                </a:cubicBezTo>
                <a:cubicBezTo>
                  <a:pt x="73591" y="98840"/>
                  <a:pt x="74998" y="102052"/>
                  <a:pt x="74998" y="105452"/>
                </a:cubicBezTo>
                <a:cubicBezTo>
                  <a:pt x="74998" y="112907"/>
                  <a:pt x="69934" y="119682"/>
                  <a:pt x="62479" y="119987"/>
                </a:cubicBezTo>
                <a:cubicBezTo>
                  <a:pt x="61658" y="120010"/>
                  <a:pt x="60837" y="120034"/>
                  <a:pt x="59993" y="120034"/>
                </a:cubicBezTo>
                <a:cubicBezTo>
                  <a:pt x="26843" y="120034"/>
                  <a:pt x="-23" y="93167"/>
                  <a:pt x="-23" y="60017"/>
                </a:cubicBezTo>
                <a:cubicBezTo>
                  <a:pt x="-23" y="26867"/>
                  <a:pt x="26867" y="0"/>
                  <a:pt x="60017" y="0"/>
                </a:cubicBezTo>
                <a:cubicBezTo>
                  <a:pt x="93167" y="0"/>
                  <a:pt x="120034" y="26867"/>
                  <a:pt x="120034" y="60017"/>
                </a:cubicBezTo>
                <a:close/>
                <a:moveTo>
                  <a:pt x="30008" y="67519"/>
                </a:moveTo>
                <a:cubicBezTo>
                  <a:pt x="30008" y="63378"/>
                  <a:pt x="26647" y="60017"/>
                  <a:pt x="22506" y="60017"/>
                </a:cubicBezTo>
                <a:cubicBezTo>
                  <a:pt x="18366" y="60017"/>
                  <a:pt x="15004" y="63378"/>
                  <a:pt x="15004" y="67519"/>
                </a:cubicBezTo>
                <a:cubicBezTo>
                  <a:pt x="15004" y="71660"/>
                  <a:pt x="18366" y="75021"/>
                  <a:pt x="22506" y="75021"/>
                </a:cubicBezTo>
                <a:cubicBezTo>
                  <a:pt x="26647" y="75021"/>
                  <a:pt x="30008" y="71660"/>
                  <a:pt x="30008" y="67519"/>
                </a:cubicBezTo>
                <a:close/>
                <a:moveTo>
                  <a:pt x="30008" y="45013"/>
                </a:moveTo>
                <a:cubicBezTo>
                  <a:pt x="34149" y="45013"/>
                  <a:pt x="37511" y="41651"/>
                  <a:pt x="37511" y="37511"/>
                </a:cubicBezTo>
                <a:cubicBezTo>
                  <a:pt x="37511" y="33370"/>
                  <a:pt x="34149" y="30008"/>
                  <a:pt x="30008" y="30008"/>
                </a:cubicBezTo>
                <a:cubicBezTo>
                  <a:pt x="25868" y="30008"/>
                  <a:pt x="22506" y="33370"/>
                  <a:pt x="22506" y="37511"/>
                </a:cubicBezTo>
                <a:cubicBezTo>
                  <a:pt x="22506" y="41651"/>
                  <a:pt x="25868" y="45013"/>
                  <a:pt x="30008" y="45013"/>
                </a:cubicBezTo>
                <a:close/>
                <a:moveTo>
                  <a:pt x="67519" y="22506"/>
                </a:moveTo>
                <a:cubicBezTo>
                  <a:pt x="67519" y="18366"/>
                  <a:pt x="64157" y="15004"/>
                  <a:pt x="60017" y="15004"/>
                </a:cubicBezTo>
                <a:cubicBezTo>
                  <a:pt x="55876" y="15004"/>
                  <a:pt x="52515" y="18366"/>
                  <a:pt x="52515" y="22506"/>
                </a:cubicBezTo>
                <a:cubicBezTo>
                  <a:pt x="52515" y="26647"/>
                  <a:pt x="55876" y="30008"/>
                  <a:pt x="60017" y="30008"/>
                </a:cubicBezTo>
                <a:cubicBezTo>
                  <a:pt x="64157" y="30008"/>
                  <a:pt x="67519" y="26647"/>
                  <a:pt x="67519" y="22506"/>
                </a:cubicBezTo>
                <a:close/>
                <a:moveTo>
                  <a:pt x="90025" y="45013"/>
                </a:moveTo>
                <a:cubicBezTo>
                  <a:pt x="94166" y="45013"/>
                  <a:pt x="97527" y="41651"/>
                  <a:pt x="97527" y="37511"/>
                </a:cubicBezTo>
                <a:cubicBezTo>
                  <a:pt x="97527" y="33370"/>
                  <a:pt x="94166" y="30008"/>
                  <a:pt x="90025" y="30008"/>
                </a:cubicBezTo>
                <a:cubicBezTo>
                  <a:pt x="85885" y="30008"/>
                  <a:pt x="82523" y="33370"/>
                  <a:pt x="82523" y="37511"/>
                </a:cubicBezTo>
                <a:cubicBezTo>
                  <a:pt x="82523" y="41651"/>
                  <a:pt x="85885" y="45013"/>
                  <a:pt x="90025" y="45013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53" name="Text 51"/>
          <p:cNvSpPr/>
          <p:nvPr/>
        </p:nvSpPr>
        <p:spPr>
          <a:xfrm>
            <a:off x="9286808" y="4081148"/>
            <a:ext cx="994565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Artistic mastery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584575" y="4398380"/>
            <a:ext cx="105030" cy="120034"/>
          </a:xfrm>
          <a:custGeom>
            <a:avLst/>
            <a:gdLst/>
            <a:ahLst/>
            <a:cxnLst/>
            <a:rect l="l" t="t" r="r" b="b"/>
            <a:pathLst>
              <a:path w="105030" h="120034">
                <a:moveTo>
                  <a:pt x="52515" y="-7502"/>
                </a:moveTo>
                <a:cubicBezTo>
                  <a:pt x="56664" y="-7502"/>
                  <a:pt x="60017" y="-4150"/>
                  <a:pt x="60017" y="0"/>
                </a:cubicBezTo>
                <a:lnTo>
                  <a:pt x="60017" y="7502"/>
                </a:lnTo>
                <a:lnTo>
                  <a:pt x="67519" y="7502"/>
                </a:lnTo>
                <a:cubicBezTo>
                  <a:pt x="71669" y="7502"/>
                  <a:pt x="75021" y="10855"/>
                  <a:pt x="75021" y="15004"/>
                </a:cubicBezTo>
                <a:cubicBezTo>
                  <a:pt x="75021" y="19154"/>
                  <a:pt x="71669" y="22506"/>
                  <a:pt x="67519" y="22506"/>
                </a:cubicBezTo>
                <a:lnTo>
                  <a:pt x="60017" y="22506"/>
                </a:lnTo>
                <a:lnTo>
                  <a:pt x="60017" y="37511"/>
                </a:lnTo>
                <a:lnTo>
                  <a:pt x="96074" y="37511"/>
                </a:lnTo>
                <a:cubicBezTo>
                  <a:pt x="101021" y="37511"/>
                  <a:pt x="105030" y="41519"/>
                  <a:pt x="105030" y="46466"/>
                </a:cubicBezTo>
                <a:cubicBezTo>
                  <a:pt x="105030" y="47967"/>
                  <a:pt x="104654" y="49444"/>
                  <a:pt x="103928" y="50756"/>
                </a:cubicBezTo>
                <a:lnTo>
                  <a:pt x="82523" y="90025"/>
                </a:lnTo>
                <a:lnTo>
                  <a:pt x="95699" y="106507"/>
                </a:lnTo>
                <a:cubicBezTo>
                  <a:pt x="96871" y="107983"/>
                  <a:pt x="97527" y="109812"/>
                  <a:pt x="97527" y="111711"/>
                </a:cubicBezTo>
                <a:cubicBezTo>
                  <a:pt x="97527" y="116306"/>
                  <a:pt x="93800" y="120034"/>
                  <a:pt x="89205" y="120034"/>
                </a:cubicBezTo>
                <a:lnTo>
                  <a:pt x="15825" y="120034"/>
                </a:lnTo>
                <a:cubicBezTo>
                  <a:pt x="11230" y="120034"/>
                  <a:pt x="7502" y="116306"/>
                  <a:pt x="7502" y="111711"/>
                </a:cubicBezTo>
                <a:cubicBezTo>
                  <a:pt x="7502" y="109812"/>
                  <a:pt x="8135" y="107983"/>
                  <a:pt x="9331" y="106507"/>
                </a:cubicBezTo>
                <a:lnTo>
                  <a:pt x="22506" y="90025"/>
                </a:lnTo>
                <a:lnTo>
                  <a:pt x="1102" y="50780"/>
                </a:lnTo>
                <a:cubicBezTo>
                  <a:pt x="375" y="49444"/>
                  <a:pt x="0" y="47967"/>
                  <a:pt x="0" y="46466"/>
                </a:cubicBezTo>
                <a:cubicBezTo>
                  <a:pt x="0" y="41519"/>
                  <a:pt x="4009" y="37511"/>
                  <a:pt x="8956" y="37511"/>
                </a:cubicBezTo>
                <a:lnTo>
                  <a:pt x="45013" y="37511"/>
                </a:lnTo>
                <a:lnTo>
                  <a:pt x="45013" y="22506"/>
                </a:lnTo>
                <a:lnTo>
                  <a:pt x="37511" y="22506"/>
                </a:lnTo>
                <a:cubicBezTo>
                  <a:pt x="33361" y="22506"/>
                  <a:pt x="30008" y="19154"/>
                  <a:pt x="30008" y="15004"/>
                </a:cubicBezTo>
                <a:cubicBezTo>
                  <a:pt x="30008" y="10855"/>
                  <a:pt x="33361" y="7502"/>
                  <a:pt x="37511" y="7502"/>
                </a:cubicBezTo>
                <a:lnTo>
                  <a:pt x="45013" y="7502"/>
                </a:lnTo>
                <a:lnTo>
                  <a:pt x="45013" y="0"/>
                </a:lnTo>
                <a:cubicBezTo>
                  <a:pt x="45013" y="-4150"/>
                  <a:pt x="48365" y="-7502"/>
                  <a:pt x="52515" y="-7502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55" name="Text 53"/>
          <p:cNvSpPr/>
          <p:nvPr/>
        </p:nvSpPr>
        <p:spPr>
          <a:xfrm>
            <a:off x="6778558" y="4355511"/>
            <a:ext cx="1123173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planning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070319" y="4398380"/>
            <a:ext cx="150042" cy="120034"/>
          </a:xfrm>
          <a:custGeom>
            <a:avLst/>
            <a:gdLst/>
            <a:ahLst/>
            <a:cxnLst/>
            <a:rect l="l" t="t" r="r" b="b"/>
            <a:pathLst>
              <a:path w="150042" h="120034">
                <a:moveTo>
                  <a:pt x="0" y="60017"/>
                </a:moveTo>
                <a:cubicBezTo>
                  <a:pt x="0" y="39292"/>
                  <a:pt x="16786" y="22506"/>
                  <a:pt x="37511" y="22506"/>
                </a:cubicBezTo>
                <a:cubicBezTo>
                  <a:pt x="49326" y="22506"/>
                  <a:pt x="60439" y="28063"/>
                  <a:pt x="67519" y="37511"/>
                </a:cubicBezTo>
                <a:lnTo>
                  <a:pt x="75021" y="47521"/>
                </a:lnTo>
                <a:lnTo>
                  <a:pt x="82523" y="37511"/>
                </a:lnTo>
                <a:cubicBezTo>
                  <a:pt x="89603" y="28063"/>
                  <a:pt x="100716" y="22506"/>
                  <a:pt x="112532" y="22506"/>
                </a:cubicBezTo>
                <a:cubicBezTo>
                  <a:pt x="133256" y="22506"/>
                  <a:pt x="150042" y="39292"/>
                  <a:pt x="150042" y="60017"/>
                </a:cubicBezTo>
                <a:cubicBezTo>
                  <a:pt x="150042" y="80741"/>
                  <a:pt x="133256" y="97527"/>
                  <a:pt x="112532" y="97527"/>
                </a:cubicBezTo>
                <a:cubicBezTo>
                  <a:pt x="100716" y="97527"/>
                  <a:pt x="89603" y="91971"/>
                  <a:pt x="82523" y="82523"/>
                </a:cubicBezTo>
                <a:lnTo>
                  <a:pt x="75021" y="72513"/>
                </a:lnTo>
                <a:lnTo>
                  <a:pt x="67519" y="82523"/>
                </a:lnTo>
                <a:cubicBezTo>
                  <a:pt x="60439" y="91971"/>
                  <a:pt x="49326" y="97527"/>
                  <a:pt x="37511" y="97527"/>
                </a:cubicBezTo>
                <a:cubicBezTo>
                  <a:pt x="16786" y="97527"/>
                  <a:pt x="0" y="80741"/>
                  <a:pt x="0" y="60017"/>
                </a:cubicBezTo>
                <a:close/>
                <a:moveTo>
                  <a:pt x="65643" y="60017"/>
                </a:moveTo>
                <a:lnTo>
                  <a:pt x="55516" y="46513"/>
                </a:lnTo>
                <a:cubicBezTo>
                  <a:pt x="51272" y="40840"/>
                  <a:pt x="44591" y="37511"/>
                  <a:pt x="37511" y="37511"/>
                </a:cubicBezTo>
                <a:cubicBezTo>
                  <a:pt x="25085" y="37511"/>
                  <a:pt x="15004" y="47592"/>
                  <a:pt x="15004" y="60017"/>
                </a:cubicBezTo>
                <a:cubicBezTo>
                  <a:pt x="15004" y="72442"/>
                  <a:pt x="25085" y="82523"/>
                  <a:pt x="37511" y="82523"/>
                </a:cubicBezTo>
                <a:cubicBezTo>
                  <a:pt x="44591" y="82523"/>
                  <a:pt x="51272" y="79194"/>
                  <a:pt x="55516" y="73521"/>
                </a:cubicBezTo>
                <a:lnTo>
                  <a:pt x="65643" y="60017"/>
                </a:lnTo>
                <a:close/>
                <a:moveTo>
                  <a:pt x="84399" y="60017"/>
                </a:moveTo>
                <a:lnTo>
                  <a:pt x="94527" y="73521"/>
                </a:lnTo>
                <a:cubicBezTo>
                  <a:pt x="98770" y="79194"/>
                  <a:pt x="105452" y="82523"/>
                  <a:pt x="112532" y="82523"/>
                </a:cubicBezTo>
                <a:cubicBezTo>
                  <a:pt x="124957" y="82523"/>
                  <a:pt x="135038" y="72442"/>
                  <a:pt x="135038" y="60017"/>
                </a:cubicBezTo>
                <a:cubicBezTo>
                  <a:pt x="135038" y="47592"/>
                  <a:pt x="124957" y="37511"/>
                  <a:pt x="112532" y="37511"/>
                </a:cubicBezTo>
                <a:cubicBezTo>
                  <a:pt x="105452" y="37511"/>
                  <a:pt x="98770" y="40840"/>
                  <a:pt x="94527" y="46513"/>
                </a:cubicBezTo>
                <a:lnTo>
                  <a:pt x="84399" y="60017"/>
                </a:ln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57" name="Text 55"/>
          <p:cNvSpPr/>
          <p:nvPr/>
        </p:nvSpPr>
        <p:spPr>
          <a:xfrm>
            <a:off x="9286808" y="4355511"/>
            <a:ext cx="1157468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Self-improvement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422744" y="4801350"/>
            <a:ext cx="5221468" cy="1337519"/>
          </a:xfrm>
          <a:custGeom>
            <a:avLst/>
            <a:gdLst/>
            <a:ahLst/>
            <a:cxnLst/>
            <a:rect l="l" t="t" r="r" b="b"/>
            <a:pathLst>
              <a:path w="5221468" h="1337519">
                <a:moveTo>
                  <a:pt x="68588" y="0"/>
                </a:moveTo>
                <a:lnTo>
                  <a:pt x="5152880" y="0"/>
                </a:lnTo>
                <a:cubicBezTo>
                  <a:pt x="5190760" y="0"/>
                  <a:pt x="5221468" y="30708"/>
                  <a:pt x="5221468" y="68588"/>
                </a:cubicBezTo>
                <a:lnTo>
                  <a:pt x="5221468" y="1268931"/>
                </a:lnTo>
                <a:cubicBezTo>
                  <a:pt x="5221468" y="1306811"/>
                  <a:pt x="5190760" y="1337519"/>
                  <a:pt x="5152880" y="1337519"/>
                </a:cubicBezTo>
                <a:lnTo>
                  <a:pt x="68588" y="1337519"/>
                </a:lnTo>
                <a:cubicBezTo>
                  <a:pt x="30733" y="1337519"/>
                  <a:pt x="0" y="1306786"/>
                  <a:pt x="0" y="1268931"/>
                </a:cubicBezTo>
                <a:lnTo>
                  <a:pt x="0" y="68588"/>
                </a:lnTo>
                <a:cubicBezTo>
                  <a:pt x="0" y="30733"/>
                  <a:pt x="30733" y="0"/>
                  <a:pt x="6858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581360" y="4981401"/>
            <a:ext cx="154329" cy="154329"/>
          </a:xfrm>
          <a:custGeom>
            <a:avLst/>
            <a:gdLst/>
            <a:ahLst/>
            <a:cxnLst/>
            <a:rect l="l" t="t" r="r" b="b"/>
            <a:pathLst>
              <a:path w="154329" h="154329">
                <a:moveTo>
                  <a:pt x="77165" y="0"/>
                </a:moveTo>
                <a:cubicBezTo>
                  <a:pt x="81595" y="0"/>
                  <a:pt x="85665" y="2442"/>
                  <a:pt x="87775" y="6330"/>
                </a:cubicBezTo>
                <a:lnTo>
                  <a:pt x="152882" y="126900"/>
                </a:lnTo>
                <a:cubicBezTo>
                  <a:pt x="154902" y="130637"/>
                  <a:pt x="154811" y="135159"/>
                  <a:pt x="152641" y="138806"/>
                </a:cubicBezTo>
                <a:cubicBezTo>
                  <a:pt x="150471" y="142453"/>
                  <a:pt x="146522" y="144684"/>
                  <a:pt x="142272" y="144684"/>
                </a:cubicBezTo>
                <a:lnTo>
                  <a:pt x="12057" y="144684"/>
                </a:lnTo>
                <a:cubicBezTo>
                  <a:pt x="7807" y="144684"/>
                  <a:pt x="3888" y="142453"/>
                  <a:pt x="1688" y="138806"/>
                </a:cubicBezTo>
                <a:cubicBezTo>
                  <a:pt x="-512" y="135159"/>
                  <a:pt x="-573" y="130637"/>
                  <a:pt x="1447" y="126900"/>
                </a:cubicBezTo>
                <a:lnTo>
                  <a:pt x="66554" y="6330"/>
                </a:lnTo>
                <a:cubicBezTo>
                  <a:pt x="68664" y="2442"/>
                  <a:pt x="72734" y="0"/>
                  <a:pt x="77165" y="0"/>
                </a:cubicBezTo>
                <a:close/>
                <a:moveTo>
                  <a:pt x="77165" y="50639"/>
                </a:moveTo>
                <a:cubicBezTo>
                  <a:pt x="73156" y="50639"/>
                  <a:pt x="69930" y="53864"/>
                  <a:pt x="69930" y="57873"/>
                </a:cubicBezTo>
                <a:lnTo>
                  <a:pt x="69930" y="91633"/>
                </a:lnTo>
                <a:cubicBezTo>
                  <a:pt x="69930" y="95642"/>
                  <a:pt x="73156" y="98867"/>
                  <a:pt x="77165" y="98867"/>
                </a:cubicBezTo>
                <a:cubicBezTo>
                  <a:pt x="81173" y="98867"/>
                  <a:pt x="84399" y="95642"/>
                  <a:pt x="84399" y="91633"/>
                </a:cubicBezTo>
                <a:lnTo>
                  <a:pt x="84399" y="57873"/>
                </a:lnTo>
                <a:cubicBezTo>
                  <a:pt x="84399" y="53864"/>
                  <a:pt x="81173" y="50639"/>
                  <a:pt x="77165" y="50639"/>
                </a:cubicBezTo>
                <a:close/>
                <a:moveTo>
                  <a:pt x="85213" y="115747"/>
                </a:moveTo>
                <a:cubicBezTo>
                  <a:pt x="85396" y="112760"/>
                  <a:pt x="83906" y="109917"/>
                  <a:pt x="81345" y="108368"/>
                </a:cubicBezTo>
                <a:cubicBezTo>
                  <a:pt x="78784" y="106819"/>
                  <a:pt x="75575" y="106819"/>
                  <a:pt x="73014" y="108368"/>
                </a:cubicBezTo>
                <a:cubicBezTo>
                  <a:pt x="70453" y="109917"/>
                  <a:pt x="68964" y="112760"/>
                  <a:pt x="69147" y="115747"/>
                </a:cubicBezTo>
                <a:cubicBezTo>
                  <a:pt x="68964" y="118734"/>
                  <a:pt x="70453" y="121576"/>
                  <a:pt x="73014" y="123125"/>
                </a:cubicBezTo>
                <a:cubicBezTo>
                  <a:pt x="75575" y="124674"/>
                  <a:pt x="78784" y="124674"/>
                  <a:pt x="81345" y="123125"/>
                </a:cubicBezTo>
                <a:cubicBezTo>
                  <a:pt x="83906" y="121576"/>
                  <a:pt x="85396" y="118734"/>
                  <a:pt x="85213" y="11574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6757123" y="4938532"/>
            <a:ext cx="4827072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Important Considerations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577073" y="5281485"/>
            <a:ext cx="120034" cy="120034"/>
          </a:xfrm>
          <a:custGeom>
            <a:avLst/>
            <a:gdLst/>
            <a:ahLst/>
            <a:cxnLst/>
            <a:rect l="l" t="t" r="r" b="b"/>
            <a:pathLst>
              <a:path w="120034" h="120034">
                <a:moveTo>
                  <a:pt x="117830" y="65315"/>
                </a:moveTo>
                <a:cubicBezTo>
                  <a:pt x="120761" y="62385"/>
                  <a:pt x="120761" y="57626"/>
                  <a:pt x="117830" y="54695"/>
                </a:cubicBezTo>
                <a:lnTo>
                  <a:pt x="80319" y="17185"/>
                </a:lnTo>
                <a:cubicBezTo>
                  <a:pt x="77389" y="14254"/>
                  <a:pt x="72630" y="14254"/>
                  <a:pt x="69699" y="17185"/>
                </a:cubicBezTo>
                <a:cubicBezTo>
                  <a:pt x="66769" y="20115"/>
                  <a:pt x="66769" y="24874"/>
                  <a:pt x="69699" y="27805"/>
                </a:cubicBezTo>
                <a:lnTo>
                  <a:pt x="94409" y="52515"/>
                </a:lnTo>
                <a:lnTo>
                  <a:pt x="7502" y="52515"/>
                </a:lnTo>
                <a:cubicBezTo>
                  <a:pt x="3353" y="52515"/>
                  <a:pt x="0" y="55867"/>
                  <a:pt x="0" y="60017"/>
                </a:cubicBezTo>
                <a:cubicBezTo>
                  <a:pt x="0" y="64166"/>
                  <a:pt x="3353" y="67519"/>
                  <a:pt x="7502" y="67519"/>
                </a:cubicBezTo>
                <a:lnTo>
                  <a:pt x="94409" y="67519"/>
                </a:lnTo>
                <a:lnTo>
                  <a:pt x="69699" y="92229"/>
                </a:lnTo>
                <a:cubicBezTo>
                  <a:pt x="66769" y="95160"/>
                  <a:pt x="66769" y="99919"/>
                  <a:pt x="69699" y="102849"/>
                </a:cubicBezTo>
                <a:cubicBezTo>
                  <a:pt x="72630" y="105780"/>
                  <a:pt x="77389" y="105780"/>
                  <a:pt x="80319" y="102849"/>
                </a:cubicBezTo>
                <a:lnTo>
                  <a:pt x="117830" y="65339"/>
                </a:ln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62" name="Text 60"/>
          <p:cNvSpPr/>
          <p:nvPr/>
        </p:nvSpPr>
        <p:spPr>
          <a:xfrm>
            <a:off x="6778558" y="5247190"/>
            <a:ext cx="2606447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Could solve humanity's greatest challenges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577073" y="5555848"/>
            <a:ext cx="120034" cy="120034"/>
          </a:xfrm>
          <a:custGeom>
            <a:avLst/>
            <a:gdLst/>
            <a:ahLst/>
            <a:cxnLst/>
            <a:rect l="l" t="t" r="r" b="b"/>
            <a:pathLst>
              <a:path w="120034" h="120034">
                <a:moveTo>
                  <a:pt x="117830" y="65315"/>
                </a:moveTo>
                <a:cubicBezTo>
                  <a:pt x="120761" y="62385"/>
                  <a:pt x="120761" y="57626"/>
                  <a:pt x="117830" y="54695"/>
                </a:cubicBezTo>
                <a:lnTo>
                  <a:pt x="80319" y="17185"/>
                </a:lnTo>
                <a:cubicBezTo>
                  <a:pt x="77389" y="14254"/>
                  <a:pt x="72630" y="14254"/>
                  <a:pt x="69699" y="17185"/>
                </a:cubicBezTo>
                <a:cubicBezTo>
                  <a:pt x="66769" y="20115"/>
                  <a:pt x="66769" y="24874"/>
                  <a:pt x="69699" y="27805"/>
                </a:cubicBezTo>
                <a:lnTo>
                  <a:pt x="94409" y="52515"/>
                </a:lnTo>
                <a:lnTo>
                  <a:pt x="7502" y="52515"/>
                </a:lnTo>
                <a:cubicBezTo>
                  <a:pt x="3353" y="52515"/>
                  <a:pt x="0" y="55867"/>
                  <a:pt x="0" y="60017"/>
                </a:cubicBezTo>
                <a:cubicBezTo>
                  <a:pt x="0" y="64166"/>
                  <a:pt x="3353" y="67519"/>
                  <a:pt x="7502" y="67519"/>
                </a:cubicBezTo>
                <a:lnTo>
                  <a:pt x="94409" y="67519"/>
                </a:lnTo>
                <a:lnTo>
                  <a:pt x="69699" y="92229"/>
                </a:lnTo>
                <a:cubicBezTo>
                  <a:pt x="66769" y="95160"/>
                  <a:pt x="66769" y="99919"/>
                  <a:pt x="69699" y="102849"/>
                </a:cubicBezTo>
                <a:cubicBezTo>
                  <a:pt x="72630" y="105780"/>
                  <a:pt x="77389" y="105780"/>
                  <a:pt x="80319" y="102849"/>
                </a:cubicBezTo>
                <a:lnTo>
                  <a:pt x="117830" y="65339"/>
                </a:ln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64" name="Text 62"/>
          <p:cNvSpPr/>
          <p:nvPr/>
        </p:nvSpPr>
        <p:spPr>
          <a:xfrm>
            <a:off x="6778558" y="5521553"/>
            <a:ext cx="2795072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Requires careful alignment with human values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577073" y="5830211"/>
            <a:ext cx="120034" cy="120034"/>
          </a:xfrm>
          <a:custGeom>
            <a:avLst/>
            <a:gdLst/>
            <a:ahLst/>
            <a:cxnLst/>
            <a:rect l="l" t="t" r="r" b="b"/>
            <a:pathLst>
              <a:path w="120034" h="120034">
                <a:moveTo>
                  <a:pt x="117830" y="65315"/>
                </a:moveTo>
                <a:cubicBezTo>
                  <a:pt x="120761" y="62385"/>
                  <a:pt x="120761" y="57626"/>
                  <a:pt x="117830" y="54695"/>
                </a:cubicBezTo>
                <a:lnTo>
                  <a:pt x="80319" y="17185"/>
                </a:lnTo>
                <a:cubicBezTo>
                  <a:pt x="77389" y="14254"/>
                  <a:pt x="72630" y="14254"/>
                  <a:pt x="69699" y="17185"/>
                </a:cubicBezTo>
                <a:cubicBezTo>
                  <a:pt x="66769" y="20115"/>
                  <a:pt x="66769" y="24874"/>
                  <a:pt x="69699" y="27805"/>
                </a:cubicBezTo>
                <a:lnTo>
                  <a:pt x="94409" y="52515"/>
                </a:lnTo>
                <a:lnTo>
                  <a:pt x="7502" y="52515"/>
                </a:lnTo>
                <a:cubicBezTo>
                  <a:pt x="3353" y="52515"/>
                  <a:pt x="0" y="55867"/>
                  <a:pt x="0" y="60017"/>
                </a:cubicBezTo>
                <a:cubicBezTo>
                  <a:pt x="0" y="64166"/>
                  <a:pt x="3353" y="67519"/>
                  <a:pt x="7502" y="67519"/>
                </a:cubicBezTo>
                <a:lnTo>
                  <a:pt x="94409" y="67519"/>
                </a:lnTo>
                <a:lnTo>
                  <a:pt x="69699" y="92229"/>
                </a:lnTo>
                <a:cubicBezTo>
                  <a:pt x="66769" y="95160"/>
                  <a:pt x="66769" y="99919"/>
                  <a:pt x="69699" y="102849"/>
                </a:cubicBezTo>
                <a:cubicBezTo>
                  <a:pt x="72630" y="105780"/>
                  <a:pt x="77389" y="105780"/>
                  <a:pt x="80319" y="102849"/>
                </a:cubicBezTo>
                <a:lnTo>
                  <a:pt x="117830" y="65339"/>
                </a:ln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66" name="Text 64"/>
          <p:cNvSpPr/>
          <p:nvPr/>
        </p:nvSpPr>
        <p:spPr>
          <a:xfrm>
            <a:off x="6778558" y="5795916"/>
            <a:ext cx="2503561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Timeline highly uncertain—decades away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422744" y="6241755"/>
            <a:ext cx="5221468" cy="411544"/>
          </a:xfrm>
          <a:custGeom>
            <a:avLst/>
            <a:gdLst/>
            <a:ahLst/>
            <a:cxnLst/>
            <a:rect l="l" t="t" r="r" b="b"/>
            <a:pathLst>
              <a:path w="5221468" h="411544">
                <a:moveTo>
                  <a:pt x="68592" y="0"/>
                </a:moveTo>
                <a:lnTo>
                  <a:pt x="5152876" y="0"/>
                </a:lnTo>
                <a:cubicBezTo>
                  <a:pt x="5190759" y="0"/>
                  <a:pt x="5221468" y="30710"/>
                  <a:pt x="5221468" y="68592"/>
                </a:cubicBezTo>
                <a:lnTo>
                  <a:pt x="5221468" y="342952"/>
                </a:lnTo>
                <a:cubicBezTo>
                  <a:pt x="5221468" y="380835"/>
                  <a:pt x="5190759" y="411544"/>
                  <a:pt x="5152876" y="411544"/>
                </a:cubicBezTo>
                <a:lnTo>
                  <a:pt x="68592" y="411544"/>
                </a:lnTo>
                <a:cubicBezTo>
                  <a:pt x="30710" y="411544"/>
                  <a:pt x="0" y="380835"/>
                  <a:pt x="0" y="342952"/>
                </a:cubicBezTo>
                <a:lnTo>
                  <a:pt x="0" y="68592"/>
                </a:lnTo>
                <a:cubicBezTo>
                  <a:pt x="0" y="30735"/>
                  <a:pt x="30735" y="0"/>
                  <a:pt x="6859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6491334" y="6344641"/>
            <a:ext cx="5084287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🔮 Still Theoretical • Ende Teorike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F3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png.pngtree.com/ae089dc039581acf47b8e5a5fcd106eaa12c2e95.webp"/>
          <p:cNvPicPr>
            <a:picLocks noChangeAspect="1"/>
          </p:cNvPicPr>
          <p:nvPr/>
        </p:nvPicPr>
        <p:blipFill>
          <a:blip r:embed="rId3">
            <a:alphaModFix amt="30000"/>
          </a:blip>
          <a:srcRect l="1481" r="14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F3E3B">
                  <a:alpha val="98000"/>
                </a:srgbClr>
              </a:gs>
              <a:gs pos="50000">
                <a:srgbClr val="2F3E3B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171575"/>
            <a:ext cx="1962150" cy="533400"/>
          </a:xfrm>
          <a:custGeom>
            <a:avLst/>
            <a:gdLst/>
            <a:ahLst/>
            <a:cxnLst/>
            <a:rect l="l" t="t" r="r" b="b"/>
            <a:pathLst>
              <a:path w="1962150" h="533400">
                <a:moveTo>
                  <a:pt x="266700" y="0"/>
                </a:moveTo>
                <a:lnTo>
                  <a:pt x="1695450" y="0"/>
                </a:lnTo>
                <a:cubicBezTo>
                  <a:pt x="1842646" y="0"/>
                  <a:pt x="1962150" y="119504"/>
                  <a:pt x="1962150" y="266700"/>
                </a:cubicBezTo>
                <a:lnTo>
                  <a:pt x="1962150" y="266700"/>
                </a:lnTo>
                <a:cubicBezTo>
                  <a:pt x="1962150" y="413896"/>
                  <a:pt x="1842646" y="533400"/>
                  <a:pt x="169545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1285875"/>
            <a:ext cx="1619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kern="0" spc="18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009775"/>
            <a:ext cx="76581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How AI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Works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952875"/>
            <a:ext cx="7458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 Funksionon IA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60057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4943475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Magic Behind the Machine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Magjia pas Makinës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4255" y="324255"/>
            <a:ext cx="11608340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kern="0" spc="51" dirty="0">
                <a:solidFill>
                  <a:srgbClr val="4C8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/ HOW AI WORKS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4255" y="583660"/>
            <a:ext cx="11689404" cy="324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98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Machine Learning: Teaching Computers to Learn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4255" y="940340"/>
            <a:ext cx="11624553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7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Learning: Mësimi i Kompjuterëve për të Mësuar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0468" y="1297021"/>
            <a:ext cx="8219872" cy="1118681"/>
          </a:xfrm>
          <a:custGeom>
            <a:avLst/>
            <a:gdLst/>
            <a:ahLst/>
            <a:cxnLst/>
            <a:rect l="l" t="t" r="r" b="b"/>
            <a:pathLst>
              <a:path w="8219872" h="1118681">
                <a:moveTo>
                  <a:pt x="32426" y="0"/>
                </a:moveTo>
                <a:lnTo>
                  <a:pt x="8122592" y="0"/>
                </a:lnTo>
                <a:cubicBezTo>
                  <a:pt x="8176318" y="0"/>
                  <a:pt x="8219872" y="43554"/>
                  <a:pt x="8219872" y="97280"/>
                </a:cubicBezTo>
                <a:lnTo>
                  <a:pt x="8219872" y="1021400"/>
                </a:lnTo>
                <a:cubicBezTo>
                  <a:pt x="8219872" y="1075127"/>
                  <a:pt x="8176318" y="1118681"/>
                  <a:pt x="8122592" y="1118681"/>
                </a:cubicBezTo>
                <a:lnTo>
                  <a:pt x="32426" y="1118681"/>
                </a:lnTo>
                <a:cubicBezTo>
                  <a:pt x="14517" y="1118681"/>
                  <a:pt x="0" y="1104163"/>
                  <a:pt x="0" y="1086255"/>
                </a:cubicBezTo>
                <a:lnTo>
                  <a:pt x="0" y="32426"/>
                </a:lnTo>
                <a:cubicBezTo>
                  <a:pt x="0" y="14529"/>
                  <a:pt x="14529" y="0"/>
                  <a:pt x="3242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4319" dist="810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0468" y="1297021"/>
            <a:ext cx="32426" cy="1118681"/>
          </a:xfrm>
          <a:custGeom>
            <a:avLst/>
            <a:gdLst/>
            <a:ahLst/>
            <a:cxnLst/>
            <a:rect l="l" t="t" r="r" b="b"/>
            <a:pathLst>
              <a:path w="32426" h="1118681">
                <a:moveTo>
                  <a:pt x="32426" y="0"/>
                </a:moveTo>
                <a:lnTo>
                  <a:pt x="32426" y="0"/>
                </a:lnTo>
                <a:lnTo>
                  <a:pt x="32426" y="1118681"/>
                </a:lnTo>
                <a:lnTo>
                  <a:pt x="32426" y="1118681"/>
                </a:lnTo>
                <a:cubicBezTo>
                  <a:pt x="14517" y="1118681"/>
                  <a:pt x="0" y="1104163"/>
                  <a:pt x="0" y="1086255"/>
                </a:cubicBezTo>
                <a:lnTo>
                  <a:pt x="0" y="32426"/>
                </a:lnTo>
                <a:cubicBezTo>
                  <a:pt x="0" y="14517"/>
                  <a:pt x="14517" y="0"/>
                  <a:pt x="32426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7" name="Shape 5"/>
          <p:cNvSpPr/>
          <p:nvPr/>
        </p:nvSpPr>
        <p:spPr>
          <a:xfrm>
            <a:off x="551234" y="1491574"/>
            <a:ext cx="453957" cy="453957"/>
          </a:xfrm>
          <a:custGeom>
            <a:avLst/>
            <a:gdLst/>
            <a:ahLst/>
            <a:cxnLst/>
            <a:rect l="l" t="t" r="r" b="b"/>
            <a:pathLst>
              <a:path w="453957" h="453957">
                <a:moveTo>
                  <a:pt x="226979" y="0"/>
                </a:moveTo>
                <a:lnTo>
                  <a:pt x="226979" y="0"/>
                </a:lnTo>
                <a:cubicBezTo>
                  <a:pt x="352252" y="0"/>
                  <a:pt x="453957" y="101706"/>
                  <a:pt x="453957" y="226979"/>
                </a:cubicBezTo>
                <a:lnTo>
                  <a:pt x="453957" y="226979"/>
                </a:lnTo>
                <a:cubicBezTo>
                  <a:pt x="453957" y="352252"/>
                  <a:pt x="352252" y="453957"/>
                  <a:pt x="226979" y="453957"/>
                </a:cubicBezTo>
                <a:lnTo>
                  <a:pt x="226979" y="453957"/>
                </a:lnTo>
                <a:cubicBezTo>
                  <a:pt x="101706" y="453957"/>
                  <a:pt x="0" y="352252"/>
                  <a:pt x="0" y="226979"/>
                </a:cubicBezTo>
                <a:lnTo>
                  <a:pt x="0" y="226979"/>
                </a:lnTo>
                <a:cubicBezTo>
                  <a:pt x="0" y="101706"/>
                  <a:pt x="101706" y="0"/>
                  <a:pt x="226979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8777" y="1621277"/>
            <a:ext cx="218872" cy="194553"/>
          </a:xfrm>
          <a:custGeom>
            <a:avLst/>
            <a:gdLst/>
            <a:ahLst/>
            <a:cxnLst/>
            <a:rect l="l" t="t" r="r" b="b"/>
            <a:pathLst>
              <a:path w="218872" h="194553">
                <a:moveTo>
                  <a:pt x="18239" y="74401"/>
                </a:moveTo>
                <a:lnTo>
                  <a:pt x="97733" y="107118"/>
                </a:lnTo>
                <a:cubicBezTo>
                  <a:pt x="101456" y="108638"/>
                  <a:pt x="105408" y="109436"/>
                  <a:pt x="109436" y="109436"/>
                </a:cubicBezTo>
                <a:cubicBezTo>
                  <a:pt x="113464" y="109436"/>
                  <a:pt x="117416" y="108638"/>
                  <a:pt x="121140" y="107118"/>
                </a:cubicBezTo>
                <a:lnTo>
                  <a:pt x="213249" y="69196"/>
                </a:lnTo>
                <a:cubicBezTo>
                  <a:pt x="216668" y="67790"/>
                  <a:pt x="218872" y="64484"/>
                  <a:pt x="218872" y="60798"/>
                </a:cubicBezTo>
                <a:cubicBezTo>
                  <a:pt x="218872" y="57112"/>
                  <a:pt x="216668" y="53806"/>
                  <a:pt x="213249" y="52400"/>
                </a:cubicBezTo>
                <a:lnTo>
                  <a:pt x="121140" y="14477"/>
                </a:lnTo>
                <a:cubicBezTo>
                  <a:pt x="117416" y="12958"/>
                  <a:pt x="113464" y="12160"/>
                  <a:pt x="109436" y="12160"/>
                </a:cubicBezTo>
                <a:cubicBezTo>
                  <a:pt x="105408" y="12160"/>
                  <a:pt x="101456" y="12958"/>
                  <a:pt x="97733" y="14477"/>
                </a:cubicBezTo>
                <a:lnTo>
                  <a:pt x="5624" y="52400"/>
                </a:lnTo>
                <a:cubicBezTo>
                  <a:pt x="2204" y="53806"/>
                  <a:pt x="0" y="57112"/>
                  <a:pt x="0" y="60798"/>
                </a:cubicBezTo>
                <a:lnTo>
                  <a:pt x="0" y="173274"/>
                </a:lnTo>
                <a:cubicBezTo>
                  <a:pt x="0" y="178328"/>
                  <a:pt x="4066" y="182394"/>
                  <a:pt x="9120" y="182394"/>
                </a:cubicBezTo>
                <a:cubicBezTo>
                  <a:pt x="14174" y="182394"/>
                  <a:pt x="18239" y="178328"/>
                  <a:pt x="18239" y="173274"/>
                </a:cubicBezTo>
                <a:lnTo>
                  <a:pt x="18239" y="74401"/>
                </a:lnTo>
                <a:close/>
                <a:moveTo>
                  <a:pt x="36479" y="101646"/>
                </a:moveTo>
                <a:lnTo>
                  <a:pt x="36479" y="145915"/>
                </a:lnTo>
                <a:cubicBezTo>
                  <a:pt x="36479" y="166054"/>
                  <a:pt x="69158" y="182394"/>
                  <a:pt x="109436" y="182394"/>
                </a:cubicBezTo>
                <a:cubicBezTo>
                  <a:pt x="149715" y="182394"/>
                  <a:pt x="182394" y="166054"/>
                  <a:pt x="182394" y="145915"/>
                </a:cubicBezTo>
                <a:lnTo>
                  <a:pt x="182394" y="101608"/>
                </a:lnTo>
                <a:lnTo>
                  <a:pt x="128094" y="123990"/>
                </a:lnTo>
                <a:cubicBezTo>
                  <a:pt x="122166" y="126422"/>
                  <a:pt x="115858" y="127676"/>
                  <a:pt x="109436" y="127676"/>
                </a:cubicBezTo>
                <a:cubicBezTo>
                  <a:pt x="103014" y="127676"/>
                  <a:pt x="96707" y="126422"/>
                  <a:pt x="90779" y="123990"/>
                </a:cubicBezTo>
                <a:lnTo>
                  <a:pt x="36479" y="101608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9" name="Text 7"/>
          <p:cNvSpPr/>
          <p:nvPr/>
        </p:nvSpPr>
        <p:spPr>
          <a:xfrm>
            <a:off x="1134894" y="1491574"/>
            <a:ext cx="7149830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7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is Machine Learning?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34894" y="1783404"/>
            <a:ext cx="7133617" cy="210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1" b="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 (ML) enables computers to learn patterns from data</a:t>
            </a:r>
            <a:r>
              <a:rPr lang="en-US" sz="102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without being explicitly programmed for every scenario.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34894" y="2059021"/>
            <a:ext cx="7125511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mundëson kompjuterët të mësojnë modele nga të dhënat.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4255" y="2545404"/>
            <a:ext cx="8236085" cy="4101830"/>
          </a:xfrm>
          <a:custGeom>
            <a:avLst/>
            <a:gdLst/>
            <a:ahLst/>
            <a:cxnLst/>
            <a:rect l="l" t="t" r="r" b="b"/>
            <a:pathLst>
              <a:path w="8236085" h="4101830">
                <a:moveTo>
                  <a:pt x="97295" y="0"/>
                </a:moveTo>
                <a:lnTo>
                  <a:pt x="8138790" y="0"/>
                </a:lnTo>
                <a:cubicBezTo>
                  <a:pt x="8192524" y="0"/>
                  <a:pt x="8236085" y="43561"/>
                  <a:pt x="8236085" y="97295"/>
                </a:cubicBezTo>
                <a:lnTo>
                  <a:pt x="8236085" y="4004534"/>
                </a:lnTo>
                <a:cubicBezTo>
                  <a:pt x="8236085" y="4058269"/>
                  <a:pt x="8192524" y="4101830"/>
                  <a:pt x="8138790" y="4101830"/>
                </a:cubicBezTo>
                <a:lnTo>
                  <a:pt x="97295" y="4101830"/>
                </a:lnTo>
                <a:cubicBezTo>
                  <a:pt x="43561" y="4101830"/>
                  <a:pt x="0" y="4058269"/>
                  <a:pt x="0" y="4004534"/>
                </a:cubicBezTo>
                <a:lnTo>
                  <a:pt x="0" y="97295"/>
                </a:lnTo>
                <a:cubicBezTo>
                  <a:pt x="0" y="43597"/>
                  <a:pt x="43597" y="0"/>
                  <a:pt x="972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4319" dist="810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9074" y="2772383"/>
            <a:ext cx="162128" cy="162128"/>
          </a:xfrm>
          <a:custGeom>
            <a:avLst/>
            <a:gdLst/>
            <a:ahLst/>
            <a:cxnLst/>
            <a:rect l="l" t="t" r="r" b="b"/>
            <a:pathLst>
              <a:path w="162128" h="162128">
                <a:moveTo>
                  <a:pt x="73622" y="1647"/>
                </a:moveTo>
                <a:cubicBezTo>
                  <a:pt x="78341" y="-538"/>
                  <a:pt x="83787" y="-538"/>
                  <a:pt x="88505" y="1647"/>
                </a:cubicBezTo>
                <a:lnTo>
                  <a:pt x="157726" y="33629"/>
                </a:lnTo>
                <a:cubicBezTo>
                  <a:pt x="160418" y="34864"/>
                  <a:pt x="162128" y="37555"/>
                  <a:pt x="162128" y="40532"/>
                </a:cubicBezTo>
                <a:cubicBezTo>
                  <a:pt x="162128" y="43508"/>
                  <a:pt x="160418" y="46200"/>
                  <a:pt x="157726" y="47435"/>
                </a:cubicBezTo>
                <a:lnTo>
                  <a:pt x="88505" y="79417"/>
                </a:lnTo>
                <a:cubicBezTo>
                  <a:pt x="83787" y="81602"/>
                  <a:pt x="78341" y="81602"/>
                  <a:pt x="73622" y="79417"/>
                </a:cubicBezTo>
                <a:lnTo>
                  <a:pt x="4402" y="47435"/>
                </a:lnTo>
                <a:cubicBezTo>
                  <a:pt x="1710" y="46168"/>
                  <a:pt x="0" y="43477"/>
                  <a:pt x="0" y="40532"/>
                </a:cubicBezTo>
                <a:cubicBezTo>
                  <a:pt x="0" y="37587"/>
                  <a:pt x="1710" y="34864"/>
                  <a:pt x="4402" y="33629"/>
                </a:cubicBezTo>
                <a:lnTo>
                  <a:pt x="73622" y="1647"/>
                </a:lnTo>
                <a:close/>
                <a:moveTo>
                  <a:pt x="15231" y="69158"/>
                </a:moveTo>
                <a:lnTo>
                  <a:pt x="67258" y="93192"/>
                </a:lnTo>
                <a:cubicBezTo>
                  <a:pt x="76029" y="97245"/>
                  <a:pt x="86130" y="97245"/>
                  <a:pt x="94902" y="93192"/>
                </a:cubicBezTo>
                <a:lnTo>
                  <a:pt x="146928" y="69158"/>
                </a:lnTo>
                <a:lnTo>
                  <a:pt x="157726" y="74161"/>
                </a:lnTo>
                <a:cubicBezTo>
                  <a:pt x="160418" y="75396"/>
                  <a:pt x="162128" y="78087"/>
                  <a:pt x="162128" y="81064"/>
                </a:cubicBezTo>
                <a:cubicBezTo>
                  <a:pt x="162128" y="84040"/>
                  <a:pt x="160418" y="86732"/>
                  <a:pt x="157726" y="87967"/>
                </a:cubicBezTo>
                <a:lnTo>
                  <a:pt x="88505" y="119949"/>
                </a:lnTo>
                <a:cubicBezTo>
                  <a:pt x="83787" y="122134"/>
                  <a:pt x="78341" y="122134"/>
                  <a:pt x="73622" y="119949"/>
                </a:cubicBezTo>
                <a:lnTo>
                  <a:pt x="4402" y="87967"/>
                </a:lnTo>
                <a:cubicBezTo>
                  <a:pt x="1710" y="86700"/>
                  <a:pt x="0" y="84009"/>
                  <a:pt x="0" y="81064"/>
                </a:cubicBezTo>
                <a:cubicBezTo>
                  <a:pt x="0" y="78119"/>
                  <a:pt x="1710" y="75396"/>
                  <a:pt x="4402" y="74161"/>
                </a:cubicBezTo>
                <a:lnTo>
                  <a:pt x="15199" y="69158"/>
                </a:lnTo>
                <a:close/>
                <a:moveTo>
                  <a:pt x="4402" y="114693"/>
                </a:moveTo>
                <a:lnTo>
                  <a:pt x="15199" y="109689"/>
                </a:lnTo>
                <a:lnTo>
                  <a:pt x="67226" y="133724"/>
                </a:lnTo>
                <a:cubicBezTo>
                  <a:pt x="75997" y="137777"/>
                  <a:pt x="86099" y="137777"/>
                  <a:pt x="94870" y="133724"/>
                </a:cubicBezTo>
                <a:lnTo>
                  <a:pt x="146897" y="109689"/>
                </a:lnTo>
                <a:lnTo>
                  <a:pt x="157694" y="114693"/>
                </a:lnTo>
                <a:cubicBezTo>
                  <a:pt x="160386" y="115928"/>
                  <a:pt x="162096" y="118619"/>
                  <a:pt x="162096" y="121596"/>
                </a:cubicBezTo>
                <a:cubicBezTo>
                  <a:pt x="162096" y="124572"/>
                  <a:pt x="160386" y="127264"/>
                  <a:pt x="157694" y="128499"/>
                </a:cubicBezTo>
                <a:lnTo>
                  <a:pt x="88474" y="160481"/>
                </a:lnTo>
                <a:cubicBezTo>
                  <a:pt x="83755" y="162666"/>
                  <a:pt x="78309" y="162666"/>
                  <a:pt x="73591" y="160481"/>
                </a:cubicBezTo>
                <a:lnTo>
                  <a:pt x="4402" y="128499"/>
                </a:lnTo>
                <a:cubicBezTo>
                  <a:pt x="1710" y="127232"/>
                  <a:pt x="0" y="124541"/>
                  <a:pt x="0" y="121596"/>
                </a:cubicBezTo>
                <a:cubicBezTo>
                  <a:pt x="0" y="118651"/>
                  <a:pt x="1710" y="115928"/>
                  <a:pt x="4402" y="114693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4" name="Text 12"/>
          <p:cNvSpPr/>
          <p:nvPr/>
        </p:nvSpPr>
        <p:spPr>
          <a:xfrm>
            <a:off x="721468" y="2739957"/>
            <a:ext cx="7725383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7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Types of Machine Learning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5021" y="3096638"/>
            <a:ext cx="7830766" cy="1053830"/>
          </a:xfrm>
          <a:custGeom>
            <a:avLst/>
            <a:gdLst/>
            <a:ahLst/>
            <a:cxnLst/>
            <a:rect l="l" t="t" r="r" b="b"/>
            <a:pathLst>
              <a:path w="7830766" h="1053830">
                <a:moveTo>
                  <a:pt x="32426" y="0"/>
                </a:moveTo>
                <a:lnTo>
                  <a:pt x="7765913" y="0"/>
                </a:lnTo>
                <a:cubicBezTo>
                  <a:pt x="7801730" y="0"/>
                  <a:pt x="7830766" y="29036"/>
                  <a:pt x="7830766" y="64853"/>
                </a:cubicBezTo>
                <a:lnTo>
                  <a:pt x="7830766" y="988977"/>
                </a:lnTo>
                <a:cubicBezTo>
                  <a:pt x="7830766" y="1024794"/>
                  <a:pt x="7801730" y="1053830"/>
                  <a:pt x="7765913" y="1053830"/>
                </a:cubicBezTo>
                <a:lnTo>
                  <a:pt x="32426" y="1053830"/>
                </a:lnTo>
                <a:cubicBezTo>
                  <a:pt x="14517" y="1053830"/>
                  <a:pt x="0" y="1039312"/>
                  <a:pt x="0" y="1021404"/>
                </a:cubicBezTo>
                <a:lnTo>
                  <a:pt x="0" y="32426"/>
                </a:lnTo>
                <a:cubicBezTo>
                  <a:pt x="0" y="14517"/>
                  <a:pt x="14517" y="0"/>
                  <a:pt x="32426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16" name="Shape 14"/>
          <p:cNvSpPr/>
          <p:nvPr/>
        </p:nvSpPr>
        <p:spPr>
          <a:xfrm>
            <a:off x="535021" y="3096638"/>
            <a:ext cx="32426" cy="1053830"/>
          </a:xfrm>
          <a:custGeom>
            <a:avLst/>
            <a:gdLst/>
            <a:ahLst/>
            <a:cxnLst/>
            <a:rect l="l" t="t" r="r" b="b"/>
            <a:pathLst>
              <a:path w="32426" h="1053830">
                <a:moveTo>
                  <a:pt x="32426" y="0"/>
                </a:moveTo>
                <a:lnTo>
                  <a:pt x="32426" y="0"/>
                </a:lnTo>
                <a:lnTo>
                  <a:pt x="32426" y="1053830"/>
                </a:lnTo>
                <a:lnTo>
                  <a:pt x="32426" y="1053830"/>
                </a:lnTo>
                <a:cubicBezTo>
                  <a:pt x="14517" y="1053830"/>
                  <a:pt x="0" y="1039312"/>
                  <a:pt x="0" y="1021404"/>
                </a:cubicBezTo>
                <a:lnTo>
                  <a:pt x="0" y="32426"/>
                </a:lnTo>
                <a:cubicBezTo>
                  <a:pt x="0" y="14517"/>
                  <a:pt x="14517" y="0"/>
                  <a:pt x="32426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7" name="Shape 15"/>
          <p:cNvSpPr/>
          <p:nvPr/>
        </p:nvSpPr>
        <p:spPr>
          <a:xfrm>
            <a:off x="680936" y="3226340"/>
            <a:ext cx="324255" cy="324255"/>
          </a:xfrm>
          <a:custGeom>
            <a:avLst/>
            <a:gdLst/>
            <a:ahLst/>
            <a:cxnLst/>
            <a:rect l="l" t="t" r="r" b="b"/>
            <a:pathLst>
              <a:path w="324255" h="324255">
                <a:moveTo>
                  <a:pt x="162128" y="0"/>
                </a:moveTo>
                <a:lnTo>
                  <a:pt x="162128" y="0"/>
                </a:lnTo>
                <a:cubicBezTo>
                  <a:pt x="251668" y="0"/>
                  <a:pt x="324255" y="72587"/>
                  <a:pt x="324255" y="162128"/>
                </a:cubicBezTo>
                <a:lnTo>
                  <a:pt x="324255" y="162128"/>
                </a:lnTo>
                <a:cubicBezTo>
                  <a:pt x="324255" y="251668"/>
                  <a:pt x="251668" y="324255"/>
                  <a:pt x="162128" y="324255"/>
                </a:cubicBezTo>
                <a:lnTo>
                  <a:pt x="162128" y="324255"/>
                </a:lnTo>
                <a:cubicBezTo>
                  <a:pt x="72587" y="324255"/>
                  <a:pt x="0" y="251668"/>
                  <a:pt x="0" y="162128"/>
                </a:cubicBezTo>
                <a:lnTo>
                  <a:pt x="0" y="162128"/>
                </a:lnTo>
                <a:cubicBezTo>
                  <a:pt x="0" y="72587"/>
                  <a:pt x="72587" y="0"/>
                  <a:pt x="162128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8" name="Text 16"/>
          <p:cNvSpPr/>
          <p:nvPr/>
        </p:nvSpPr>
        <p:spPr>
          <a:xfrm>
            <a:off x="648511" y="3226340"/>
            <a:ext cx="389106" cy="324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02468" y="3274979"/>
            <a:ext cx="1353766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Supervised Learning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0936" y="3615447"/>
            <a:ext cx="7620000" cy="210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learns from </a:t>
            </a:r>
            <a:r>
              <a:rPr lang="en-US" sz="1021" b="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labeled data</a:t>
            </a:r>
            <a:r>
              <a:rPr lang="en-US" sz="102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(input-output pairs). Like a student learning with an answer key.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0936" y="3858638"/>
            <a:ext cx="7611894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Modeli mëson nga të dhëna të etikuara.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35021" y="4247745"/>
            <a:ext cx="7830766" cy="1053830"/>
          </a:xfrm>
          <a:custGeom>
            <a:avLst/>
            <a:gdLst/>
            <a:ahLst/>
            <a:cxnLst/>
            <a:rect l="l" t="t" r="r" b="b"/>
            <a:pathLst>
              <a:path w="7830766" h="1053830">
                <a:moveTo>
                  <a:pt x="32426" y="0"/>
                </a:moveTo>
                <a:lnTo>
                  <a:pt x="7765913" y="0"/>
                </a:lnTo>
                <a:cubicBezTo>
                  <a:pt x="7801730" y="0"/>
                  <a:pt x="7830766" y="29036"/>
                  <a:pt x="7830766" y="64853"/>
                </a:cubicBezTo>
                <a:lnTo>
                  <a:pt x="7830766" y="988977"/>
                </a:lnTo>
                <a:cubicBezTo>
                  <a:pt x="7830766" y="1024794"/>
                  <a:pt x="7801730" y="1053830"/>
                  <a:pt x="7765913" y="1053830"/>
                </a:cubicBezTo>
                <a:lnTo>
                  <a:pt x="32426" y="1053830"/>
                </a:lnTo>
                <a:cubicBezTo>
                  <a:pt x="14517" y="1053830"/>
                  <a:pt x="0" y="1039312"/>
                  <a:pt x="0" y="1021404"/>
                </a:cubicBezTo>
                <a:lnTo>
                  <a:pt x="0" y="32426"/>
                </a:lnTo>
                <a:cubicBezTo>
                  <a:pt x="0" y="14517"/>
                  <a:pt x="14517" y="0"/>
                  <a:pt x="32426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23" name="Shape 21"/>
          <p:cNvSpPr/>
          <p:nvPr/>
        </p:nvSpPr>
        <p:spPr>
          <a:xfrm>
            <a:off x="535021" y="4247745"/>
            <a:ext cx="32426" cy="1053830"/>
          </a:xfrm>
          <a:custGeom>
            <a:avLst/>
            <a:gdLst/>
            <a:ahLst/>
            <a:cxnLst/>
            <a:rect l="l" t="t" r="r" b="b"/>
            <a:pathLst>
              <a:path w="32426" h="1053830">
                <a:moveTo>
                  <a:pt x="32426" y="0"/>
                </a:moveTo>
                <a:lnTo>
                  <a:pt x="32426" y="0"/>
                </a:lnTo>
                <a:lnTo>
                  <a:pt x="32426" y="1053830"/>
                </a:lnTo>
                <a:lnTo>
                  <a:pt x="32426" y="1053830"/>
                </a:lnTo>
                <a:cubicBezTo>
                  <a:pt x="14517" y="1053830"/>
                  <a:pt x="0" y="1039312"/>
                  <a:pt x="0" y="1021404"/>
                </a:cubicBezTo>
                <a:lnTo>
                  <a:pt x="0" y="32426"/>
                </a:lnTo>
                <a:cubicBezTo>
                  <a:pt x="0" y="14517"/>
                  <a:pt x="14517" y="0"/>
                  <a:pt x="32426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24" name="Shape 22"/>
          <p:cNvSpPr/>
          <p:nvPr/>
        </p:nvSpPr>
        <p:spPr>
          <a:xfrm>
            <a:off x="680936" y="4377447"/>
            <a:ext cx="324255" cy="324255"/>
          </a:xfrm>
          <a:custGeom>
            <a:avLst/>
            <a:gdLst/>
            <a:ahLst/>
            <a:cxnLst/>
            <a:rect l="l" t="t" r="r" b="b"/>
            <a:pathLst>
              <a:path w="324255" h="324255">
                <a:moveTo>
                  <a:pt x="162128" y="0"/>
                </a:moveTo>
                <a:lnTo>
                  <a:pt x="162128" y="0"/>
                </a:lnTo>
                <a:cubicBezTo>
                  <a:pt x="251668" y="0"/>
                  <a:pt x="324255" y="72587"/>
                  <a:pt x="324255" y="162128"/>
                </a:cubicBezTo>
                <a:lnTo>
                  <a:pt x="324255" y="162128"/>
                </a:lnTo>
                <a:cubicBezTo>
                  <a:pt x="324255" y="251668"/>
                  <a:pt x="251668" y="324255"/>
                  <a:pt x="162128" y="324255"/>
                </a:cubicBezTo>
                <a:lnTo>
                  <a:pt x="162128" y="324255"/>
                </a:lnTo>
                <a:cubicBezTo>
                  <a:pt x="72587" y="324255"/>
                  <a:pt x="0" y="251668"/>
                  <a:pt x="0" y="162128"/>
                </a:cubicBezTo>
                <a:lnTo>
                  <a:pt x="0" y="162128"/>
                </a:lnTo>
                <a:cubicBezTo>
                  <a:pt x="0" y="72587"/>
                  <a:pt x="72587" y="0"/>
                  <a:pt x="162128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25" name="Text 23"/>
          <p:cNvSpPr/>
          <p:nvPr/>
        </p:nvSpPr>
        <p:spPr>
          <a:xfrm>
            <a:off x="648511" y="4377447"/>
            <a:ext cx="389106" cy="324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02468" y="4426085"/>
            <a:ext cx="1515894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Unsupervised Learning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0936" y="4766553"/>
            <a:ext cx="7620000" cy="210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finds </a:t>
            </a:r>
            <a:r>
              <a:rPr lang="en-US" sz="1021" b="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hidden patterns</a:t>
            </a:r>
            <a:r>
              <a:rPr lang="en-US" sz="102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unlabeled data. Like discovering groups in a crowd.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0936" y="5009745"/>
            <a:ext cx="7611894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Modeli gjen modele të fshehura.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35021" y="5398851"/>
            <a:ext cx="7830766" cy="1053830"/>
          </a:xfrm>
          <a:custGeom>
            <a:avLst/>
            <a:gdLst/>
            <a:ahLst/>
            <a:cxnLst/>
            <a:rect l="l" t="t" r="r" b="b"/>
            <a:pathLst>
              <a:path w="7830766" h="1053830">
                <a:moveTo>
                  <a:pt x="32426" y="0"/>
                </a:moveTo>
                <a:lnTo>
                  <a:pt x="7765913" y="0"/>
                </a:lnTo>
                <a:cubicBezTo>
                  <a:pt x="7801730" y="0"/>
                  <a:pt x="7830766" y="29036"/>
                  <a:pt x="7830766" y="64853"/>
                </a:cubicBezTo>
                <a:lnTo>
                  <a:pt x="7830766" y="988977"/>
                </a:lnTo>
                <a:cubicBezTo>
                  <a:pt x="7830766" y="1024794"/>
                  <a:pt x="7801730" y="1053830"/>
                  <a:pt x="7765913" y="1053830"/>
                </a:cubicBezTo>
                <a:lnTo>
                  <a:pt x="32426" y="1053830"/>
                </a:lnTo>
                <a:cubicBezTo>
                  <a:pt x="14517" y="1053830"/>
                  <a:pt x="0" y="1039312"/>
                  <a:pt x="0" y="1021404"/>
                </a:cubicBezTo>
                <a:lnTo>
                  <a:pt x="0" y="32426"/>
                </a:lnTo>
                <a:cubicBezTo>
                  <a:pt x="0" y="14517"/>
                  <a:pt x="14517" y="0"/>
                  <a:pt x="32426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30" name="Shape 28"/>
          <p:cNvSpPr/>
          <p:nvPr/>
        </p:nvSpPr>
        <p:spPr>
          <a:xfrm>
            <a:off x="535021" y="5398851"/>
            <a:ext cx="32426" cy="1053830"/>
          </a:xfrm>
          <a:custGeom>
            <a:avLst/>
            <a:gdLst/>
            <a:ahLst/>
            <a:cxnLst/>
            <a:rect l="l" t="t" r="r" b="b"/>
            <a:pathLst>
              <a:path w="32426" h="1053830">
                <a:moveTo>
                  <a:pt x="32426" y="0"/>
                </a:moveTo>
                <a:lnTo>
                  <a:pt x="32426" y="0"/>
                </a:lnTo>
                <a:lnTo>
                  <a:pt x="32426" y="1053830"/>
                </a:lnTo>
                <a:lnTo>
                  <a:pt x="32426" y="1053830"/>
                </a:lnTo>
                <a:cubicBezTo>
                  <a:pt x="14517" y="1053830"/>
                  <a:pt x="0" y="1039312"/>
                  <a:pt x="0" y="1021404"/>
                </a:cubicBezTo>
                <a:lnTo>
                  <a:pt x="0" y="32426"/>
                </a:lnTo>
                <a:cubicBezTo>
                  <a:pt x="0" y="14517"/>
                  <a:pt x="14517" y="0"/>
                  <a:pt x="32426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31" name="Shape 29"/>
          <p:cNvSpPr/>
          <p:nvPr/>
        </p:nvSpPr>
        <p:spPr>
          <a:xfrm>
            <a:off x="680936" y="5528553"/>
            <a:ext cx="324255" cy="324255"/>
          </a:xfrm>
          <a:custGeom>
            <a:avLst/>
            <a:gdLst/>
            <a:ahLst/>
            <a:cxnLst/>
            <a:rect l="l" t="t" r="r" b="b"/>
            <a:pathLst>
              <a:path w="324255" h="324255">
                <a:moveTo>
                  <a:pt x="162128" y="0"/>
                </a:moveTo>
                <a:lnTo>
                  <a:pt x="162128" y="0"/>
                </a:lnTo>
                <a:cubicBezTo>
                  <a:pt x="251668" y="0"/>
                  <a:pt x="324255" y="72587"/>
                  <a:pt x="324255" y="162128"/>
                </a:cubicBezTo>
                <a:lnTo>
                  <a:pt x="324255" y="162128"/>
                </a:lnTo>
                <a:cubicBezTo>
                  <a:pt x="324255" y="251668"/>
                  <a:pt x="251668" y="324255"/>
                  <a:pt x="162128" y="324255"/>
                </a:cubicBezTo>
                <a:lnTo>
                  <a:pt x="162128" y="324255"/>
                </a:lnTo>
                <a:cubicBezTo>
                  <a:pt x="72587" y="324255"/>
                  <a:pt x="0" y="251668"/>
                  <a:pt x="0" y="162128"/>
                </a:cubicBezTo>
                <a:lnTo>
                  <a:pt x="0" y="162128"/>
                </a:lnTo>
                <a:cubicBezTo>
                  <a:pt x="0" y="72587"/>
                  <a:pt x="72587" y="0"/>
                  <a:pt x="162128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32" name="Text 30"/>
          <p:cNvSpPr/>
          <p:nvPr/>
        </p:nvSpPr>
        <p:spPr>
          <a:xfrm>
            <a:off x="648511" y="5528553"/>
            <a:ext cx="389106" cy="324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02468" y="5577191"/>
            <a:ext cx="1572638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Reinforcement Learning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0936" y="5917660"/>
            <a:ext cx="7620000" cy="210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learns through </a:t>
            </a:r>
            <a:r>
              <a:rPr lang="en-US" sz="1021" b="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trial and error</a:t>
            </a:r>
            <a:r>
              <a:rPr lang="en-US" sz="102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receiving rewards or penalties. Like training a pet.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0936" y="6160851"/>
            <a:ext cx="7611894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Modeli mëson përmes provës dhe gabimit.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754894" y="1297021"/>
            <a:ext cx="3112851" cy="3145277"/>
          </a:xfrm>
          <a:custGeom>
            <a:avLst/>
            <a:gdLst/>
            <a:ahLst/>
            <a:cxnLst/>
            <a:rect l="l" t="t" r="r" b="b"/>
            <a:pathLst>
              <a:path w="3112851" h="3145277">
                <a:moveTo>
                  <a:pt x="97277" y="0"/>
                </a:moveTo>
                <a:lnTo>
                  <a:pt x="3015574" y="0"/>
                </a:lnTo>
                <a:cubicBezTo>
                  <a:pt x="3069299" y="0"/>
                  <a:pt x="3112851" y="43552"/>
                  <a:pt x="3112851" y="97277"/>
                </a:cubicBezTo>
                <a:lnTo>
                  <a:pt x="3112851" y="3048000"/>
                </a:lnTo>
                <a:cubicBezTo>
                  <a:pt x="3112851" y="3101724"/>
                  <a:pt x="3069299" y="3145277"/>
                  <a:pt x="3015574" y="3145277"/>
                </a:cubicBezTo>
                <a:lnTo>
                  <a:pt x="97277" y="3145277"/>
                </a:lnTo>
                <a:cubicBezTo>
                  <a:pt x="43552" y="3145277"/>
                  <a:pt x="0" y="3101724"/>
                  <a:pt x="0" y="3048000"/>
                </a:cubicBezTo>
                <a:lnTo>
                  <a:pt x="0" y="97277"/>
                </a:lnTo>
                <a:cubicBezTo>
                  <a:pt x="0" y="43588"/>
                  <a:pt x="43588" y="0"/>
                  <a:pt x="97277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A7A"/>
              </a:gs>
              <a:gs pos="100000">
                <a:srgbClr val="2F3E3B"/>
              </a:gs>
            </a:gsLst>
            <a:lin ang="2700000" scaled="1"/>
          </a:gradFill>
          <a:ln/>
        </p:spPr>
      </p:sp>
      <p:sp>
        <p:nvSpPr>
          <p:cNvPr id="37" name="Text 35"/>
          <p:cNvSpPr/>
          <p:nvPr/>
        </p:nvSpPr>
        <p:spPr>
          <a:xfrm>
            <a:off x="8908915" y="1491574"/>
            <a:ext cx="2804809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7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Learning Process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949447" y="1896894"/>
            <a:ext cx="259404" cy="259404"/>
          </a:xfrm>
          <a:custGeom>
            <a:avLst/>
            <a:gdLst/>
            <a:ahLst/>
            <a:cxnLst/>
            <a:rect l="l" t="t" r="r" b="b"/>
            <a:pathLst>
              <a:path w="259404" h="259404">
                <a:moveTo>
                  <a:pt x="129702" y="0"/>
                </a:moveTo>
                <a:lnTo>
                  <a:pt x="129702" y="0"/>
                </a:lnTo>
                <a:cubicBezTo>
                  <a:pt x="201335" y="0"/>
                  <a:pt x="259404" y="58070"/>
                  <a:pt x="259404" y="129702"/>
                </a:cubicBezTo>
                <a:lnTo>
                  <a:pt x="259404" y="129702"/>
                </a:lnTo>
                <a:cubicBezTo>
                  <a:pt x="259404" y="201335"/>
                  <a:pt x="201335" y="259404"/>
                  <a:pt x="129702" y="259404"/>
                </a:cubicBezTo>
                <a:lnTo>
                  <a:pt x="129702" y="259404"/>
                </a:lnTo>
                <a:cubicBezTo>
                  <a:pt x="58070" y="259404"/>
                  <a:pt x="0" y="201335"/>
                  <a:pt x="0" y="129702"/>
                </a:cubicBezTo>
                <a:lnTo>
                  <a:pt x="0" y="129702"/>
                </a:lnTo>
                <a:cubicBezTo>
                  <a:pt x="0" y="58070"/>
                  <a:pt x="58070" y="0"/>
                  <a:pt x="1297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8921074" y="1896894"/>
            <a:ext cx="316149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306128" y="1848255"/>
            <a:ext cx="762000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Feed Data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306128" y="2042809"/>
            <a:ext cx="753894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Jepni të dhëna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262681" y="2302213"/>
            <a:ext cx="97277" cy="129702"/>
          </a:xfrm>
          <a:custGeom>
            <a:avLst/>
            <a:gdLst/>
            <a:ahLst/>
            <a:cxnLst/>
            <a:rect l="l" t="t" r="r" b="b"/>
            <a:pathLst>
              <a:path w="97277" h="129702">
                <a:moveTo>
                  <a:pt x="42913" y="127321"/>
                </a:moveTo>
                <a:cubicBezTo>
                  <a:pt x="46080" y="130487"/>
                  <a:pt x="51222" y="130487"/>
                  <a:pt x="54389" y="127321"/>
                </a:cubicBezTo>
                <a:lnTo>
                  <a:pt x="94921" y="86789"/>
                </a:lnTo>
                <a:cubicBezTo>
                  <a:pt x="98087" y="83622"/>
                  <a:pt x="98087" y="78480"/>
                  <a:pt x="94921" y="75313"/>
                </a:cubicBezTo>
                <a:cubicBezTo>
                  <a:pt x="91754" y="72147"/>
                  <a:pt x="86612" y="72147"/>
                  <a:pt x="83445" y="75313"/>
                </a:cubicBezTo>
                <a:lnTo>
                  <a:pt x="56745" y="102014"/>
                </a:lnTo>
                <a:lnTo>
                  <a:pt x="56745" y="8106"/>
                </a:lnTo>
                <a:cubicBezTo>
                  <a:pt x="56745" y="3623"/>
                  <a:pt x="53122" y="0"/>
                  <a:pt x="48638" y="0"/>
                </a:cubicBezTo>
                <a:cubicBezTo>
                  <a:pt x="44154" y="0"/>
                  <a:pt x="40532" y="3623"/>
                  <a:pt x="40532" y="8106"/>
                </a:cubicBezTo>
                <a:lnTo>
                  <a:pt x="40532" y="102014"/>
                </a:lnTo>
                <a:lnTo>
                  <a:pt x="13832" y="75313"/>
                </a:lnTo>
                <a:cubicBezTo>
                  <a:pt x="10665" y="72147"/>
                  <a:pt x="5522" y="72147"/>
                  <a:pt x="2356" y="75313"/>
                </a:cubicBezTo>
                <a:cubicBezTo>
                  <a:pt x="-811" y="78480"/>
                  <a:pt x="-811" y="83622"/>
                  <a:pt x="2356" y="86789"/>
                </a:cubicBezTo>
                <a:lnTo>
                  <a:pt x="42888" y="127321"/>
                </a:ln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43" name="Shape 41"/>
          <p:cNvSpPr/>
          <p:nvPr/>
        </p:nvSpPr>
        <p:spPr>
          <a:xfrm>
            <a:off x="8949447" y="2577830"/>
            <a:ext cx="259404" cy="259404"/>
          </a:xfrm>
          <a:custGeom>
            <a:avLst/>
            <a:gdLst/>
            <a:ahLst/>
            <a:cxnLst/>
            <a:rect l="l" t="t" r="r" b="b"/>
            <a:pathLst>
              <a:path w="259404" h="259404">
                <a:moveTo>
                  <a:pt x="129702" y="0"/>
                </a:moveTo>
                <a:lnTo>
                  <a:pt x="129702" y="0"/>
                </a:lnTo>
                <a:cubicBezTo>
                  <a:pt x="201335" y="0"/>
                  <a:pt x="259404" y="58070"/>
                  <a:pt x="259404" y="129702"/>
                </a:cubicBezTo>
                <a:lnTo>
                  <a:pt x="259404" y="129702"/>
                </a:lnTo>
                <a:cubicBezTo>
                  <a:pt x="259404" y="201335"/>
                  <a:pt x="201335" y="259404"/>
                  <a:pt x="129702" y="259404"/>
                </a:cubicBezTo>
                <a:lnTo>
                  <a:pt x="129702" y="259404"/>
                </a:lnTo>
                <a:cubicBezTo>
                  <a:pt x="58070" y="259404"/>
                  <a:pt x="0" y="201335"/>
                  <a:pt x="0" y="129702"/>
                </a:cubicBezTo>
                <a:lnTo>
                  <a:pt x="0" y="129702"/>
                </a:lnTo>
                <a:cubicBezTo>
                  <a:pt x="0" y="58070"/>
                  <a:pt x="58070" y="0"/>
                  <a:pt x="1297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8921074" y="2577830"/>
            <a:ext cx="316149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306128" y="2529191"/>
            <a:ext cx="899809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 Model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306128" y="2723745"/>
            <a:ext cx="891702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Stërvitni modelin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0262681" y="2983149"/>
            <a:ext cx="97277" cy="129702"/>
          </a:xfrm>
          <a:custGeom>
            <a:avLst/>
            <a:gdLst/>
            <a:ahLst/>
            <a:cxnLst/>
            <a:rect l="l" t="t" r="r" b="b"/>
            <a:pathLst>
              <a:path w="97277" h="129702">
                <a:moveTo>
                  <a:pt x="42913" y="127321"/>
                </a:moveTo>
                <a:cubicBezTo>
                  <a:pt x="46080" y="130487"/>
                  <a:pt x="51222" y="130487"/>
                  <a:pt x="54389" y="127321"/>
                </a:cubicBezTo>
                <a:lnTo>
                  <a:pt x="94921" y="86789"/>
                </a:lnTo>
                <a:cubicBezTo>
                  <a:pt x="98087" y="83622"/>
                  <a:pt x="98087" y="78480"/>
                  <a:pt x="94921" y="75313"/>
                </a:cubicBezTo>
                <a:cubicBezTo>
                  <a:pt x="91754" y="72147"/>
                  <a:pt x="86612" y="72147"/>
                  <a:pt x="83445" y="75313"/>
                </a:cubicBezTo>
                <a:lnTo>
                  <a:pt x="56745" y="102014"/>
                </a:lnTo>
                <a:lnTo>
                  <a:pt x="56745" y="8106"/>
                </a:lnTo>
                <a:cubicBezTo>
                  <a:pt x="56745" y="3623"/>
                  <a:pt x="53122" y="0"/>
                  <a:pt x="48638" y="0"/>
                </a:cubicBezTo>
                <a:cubicBezTo>
                  <a:pt x="44154" y="0"/>
                  <a:pt x="40532" y="3623"/>
                  <a:pt x="40532" y="8106"/>
                </a:cubicBezTo>
                <a:lnTo>
                  <a:pt x="40532" y="102014"/>
                </a:lnTo>
                <a:lnTo>
                  <a:pt x="13832" y="75313"/>
                </a:lnTo>
                <a:cubicBezTo>
                  <a:pt x="10665" y="72147"/>
                  <a:pt x="5522" y="72147"/>
                  <a:pt x="2356" y="75313"/>
                </a:cubicBezTo>
                <a:cubicBezTo>
                  <a:pt x="-811" y="78480"/>
                  <a:pt x="-811" y="83622"/>
                  <a:pt x="2356" y="86789"/>
                </a:cubicBezTo>
                <a:lnTo>
                  <a:pt x="42888" y="127321"/>
                </a:ln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48" name="Shape 46"/>
          <p:cNvSpPr/>
          <p:nvPr/>
        </p:nvSpPr>
        <p:spPr>
          <a:xfrm>
            <a:off x="8949447" y="3258766"/>
            <a:ext cx="259404" cy="259404"/>
          </a:xfrm>
          <a:custGeom>
            <a:avLst/>
            <a:gdLst/>
            <a:ahLst/>
            <a:cxnLst/>
            <a:rect l="l" t="t" r="r" b="b"/>
            <a:pathLst>
              <a:path w="259404" h="259404">
                <a:moveTo>
                  <a:pt x="129702" y="0"/>
                </a:moveTo>
                <a:lnTo>
                  <a:pt x="129702" y="0"/>
                </a:lnTo>
                <a:cubicBezTo>
                  <a:pt x="201335" y="0"/>
                  <a:pt x="259404" y="58070"/>
                  <a:pt x="259404" y="129702"/>
                </a:cubicBezTo>
                <a:lnTo>
                  <a:pt x="259404" y="129702"/>
                </a:lnTo>
                <a:cubicBezTo>
                  <a:pt x="259404" y="201335"/>
                  <a:pt x="201335" y="259404"/>
                  <a:pt x="129702" y="259404"/>
                </a:cubicBezTo>
                <a:lnTo>
                  <a:pt x="129702" y="259404"/>
                </a:lnTo>
                <a:cubicBezTo>
                  <a:pt x="58070" y="259404"/>
                  <a:pt x="0" y="201335"/>
                  <a:pt x="0" y="129702"/>
                </a:cubicBezTo>
                <a:lnTo>
                  <a:pt x="0" y="129702"/>
                </a:lnTo>
                <a:cubicBezTo>
                  <a:pt x="0" y="58070"/>
                  <a:pt x="58070" y="0"/>
                  <a:pt x="1297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8921074" y="3258766"/>
            <a:ext cx="316149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306128" y="3210128"/>
            <a:ext cx="1013298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&amp; Evaluate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306128" y="3404681"/>
            <a:ext cx="1005191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Testoni &amp; Vlerësoni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0262681" y="3664085"/>
            <a:ext cx="97277" cy="129702"/>
          </a:xfrm>
          <a:custGeom>
            <a:avLst/>
            <a:gdLst/>
            <a:ahLst/>
            <a:cxnLst/>
            <a:rect l="l" t="t" r="r" b="b"/>
            <a:pathLst>
              <a:path w="97277" h="129702">
                <a:moveTo>
                  <a:pt x="42913" y="127321"/>
                </a:moveTo>
                <a:cubicBezTo>
                  <a:pt x="46080" y="130487"/>
                  <a:pt x="51222" y="130487"/>
                  <a:pt x="54389" y="127321"/>
                </a:cubicBezTo>
                <a:lnTo>
                  <a:pt x="94921" y="86789"/>
                </a:lnTo>
                <a:cubicBezTo>
                  <a:pt x="98087" y="83622"/>
                  <a:pt x="98087" y="78480"/>
                  <a:pt x="94921" y="75313"/>
                </a:cubicBezTo>
                <a:cubicBezTo>
                  <a:pt x="91754" y="72147"/>
                  <a:pt x="86612" y="72147"/>
                  <a:pt x="83445" y="75313"/>
                </a:cubicBezTo>
                <a:lnTo>
                  <a:pt x="56745" y="102014"/>
                </a:lnTo>
                <a:lnTo>
                  <a:pt x="56745" y="8106"/>
                </a:lnTo>
                <a:cubicBezTo>
                  <a:pt x="56745" y="3623"/>
                  <a:pt x="53122" y="0"/>
                  <a:pt x="48638" y="0"/>
                </a:cubicBezTo>
                <a:cubicBezTo>
                  <a:pt x="44154" y="0"/>
                  <a:pt x="40532" y="3623"/>
                  <a:pt x="40532" y="8106"/>
                </a:cubicBezTo>
                <a:lnTo>
                  <a:pt x="40532" y="102014"/>
                </a:lnTo>
                <a:lnTo>
                  <a:pt x="13832" y="75313"/>
                </a:lnTo>
                <a:cubicBezTo>
                  <a:pt x="10665" y="72147"/>
                  <a:pt x="5522" y="72147"/>
                  <a:pt x="2356" y="75313"/>
                </a:cubicBezTo>
                <a:cubicBezTo>
                  <a:pt x="-811" y="78480"/>
                  <a:pt x="-811" y="83622"/>
                  <a:pt x="2356" y="86789"/>
                </a:cubicBezTo>
                <a:lnTo>
                  <a:pt x="42888" y="127321"/>
                </a:ln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53" name="Shape 51"/>
          <p:cNvSpPr/>
          <p:nvPr/>
        </p:nvSpPr>
        <p:spPr>
          <a:xfrm>
            <a:off x="8949447" y="3939702"/>
            <a:ext cx="259404" cy="259404"/>
          </a:xfrm>
          <a:custGeom>
            <a:avLst/>
            <a:gdLst/>
            <a:ahLst/>
            <a:cxnLst/>
            <a:rect l="l" t="t" r="r" b="b"/>
            <a:pathLst>
              <a:path w="259404" h="259404">
                <a:moveTo>
                  <a:pt x="129702" y="0"/>
                </a:moveTo>
                <a:lnTo>
                  <a:pt x="129702" y="0"/>
                </a:lnTo>
                <a:cubicBezTo>
                  <a:pt x="201335" y="0"/>
                  <a:pt x="259404" y="58070"/>
                  <a:pt x="259404" y="129702"/>
                </a:cubicBezTo>
                <a:lnTo>
                  <a:pt x="259404" y="129702"/>
                </a:lnTo>
                <a:cubicBezTo>
                  <a:pt x="259404" y="201335"/>
                  <a:pt x="201335" y="259404"/>
                  <a:pt x="129702" y="259404"/>
                </a:cubicBezTo>
                <a:lnTo>
                  <a:pt x="129702" y="259404"/>
                </a:lnTo>
                <a:cubicBezTo>
                  <a:pt x="58070" y="259404"/>
                  <a:pt x="0" y="201335"/>
                  <a:pt x="0" y="129702"/>
                </a:cubicBezTo>
                <a:lnTo>
                  <a:pt x="0" y="129702"/>
                </a:lnTo>
                <a:cubicBezTo>
                  <a:pt x="0" y="58070"/>
                  <a:pt x="58070" y="0"/>
                  <a:pt x="1297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8921074" y="3939702"/>
            <a:ext cx="316149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9306128" y="3891064"/>
            <a:ext cx="834957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 &amp; Use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9306128" y="4085617"/>
            <a:ext cx="826851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Përdorni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754894" y="4572000"/>
            <a:ext cx="3112851" cy="2075234"/>
          </a:xfrm>
          <a:custGeom>
            <a:avLst/>
            <a:gdLst/>
            <a:ahLst/>
            <a:cxnLst/>
            <a:rect l="l" t="t" r="r" b="b"/>
            <a:pathLst>
              <a:path w="3112851" h="2075234">
                <a:moveTo>
                  <a:pt x="97287" y="0"/>
                </a:moveTo>
                <a:lnTo>
                  <a:pt x="3015564" y="0"/>
                </a:lnTo>
                <a:cubicBezTo>
                  <a:pt x="3069294" y="0"/>
                  <a:pt x="3112851" y="43557"/>
                  <a:pt x="3112851" y="97287"/>
                </a:cubicBezTo>
                <a:lnTo>
                  <a:pt x="3112851" y="1977947"/>
                </a:lnTo>
                <a:cubicBezTo>
                  <a:pt x="3112851" y="2031677"/>
                  <a:pt x="3069294" y="2075234"/>
                  <a:pt x="3015564" y="2075234"/>
                </a:cubicBezTo>
                <a:lnTo>
                  <a:pt x="97287" y="2075234"/>
                </a:lnTo>
                <a:cubicBezTo>
                  <a:pt x="43557" y="2075234"/>
                  <a:pt x="0" y="2031677"/>
                  <a:pt x="0" y="1977947"/>
                </a:cubicBezTo>
                <a:lnTo>
                  <a:pt x="0" y="97287"/>
                </a:lnTo>
                <a:cubicBezTo>
                  <a:pt x="0" y="43593"/>
                  <a:pt x="43593" y="0"/>
                  <a:pt x="9728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4319" dist="810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10201883" y="4758447"/>
            <a:ext cx="218872" cy="291830"/>
          </a:xfrm>
          <a:custGeom>
            <a:avLst/>
            <a:gdLst/>
            <a:ahLst/>
            <a:cxnLst/>
            <a:rect l="l" t="t" r="r" b="b"/>
            <a:pathLst>
              <a:path w="218872" h="291830">
                <a:moveTo>
                  <a:pt x="166947" y="218872"/>
                </a:moveTo>
                <a:cubicBezTo>
                  <a:pt x="171108" y="206162"/>
                  <a:pt x="179430" y="194648"/>
                  <a:pt x="188834" y="184731"/>
                </a:cubicBezTo>
                <a:cubicBezTo>
                  <a:pt x="207473" y="165123"/>
                  <a:pt x="218872" y="138619"/>
                  <a:pt x="218872" y="109436"/>
                </a:cubicBezTo>
                <a:cubicBezTo>
                  <a:pt x="218872" y="49018"/>
                  <a:pt x="169854" y="0"/>
                  <a:pt x="109436" y="0"/>
                </a:cubicBezTo>
                <a:cubicBezTo>
                  <a:pt x="49018" y="0"/>
                  <a:pt x="0" y="49018"/>
                  <a:pt x="0" y="109436"/>
                </a:cubicBezTo>
                <a:cubicBezTo>
                  <a:pt x="0" y="138619"/>
                  <a:pt x="11400" y="165123"/>
                  <a:pt x="30038" y="184731"/>
                </a:cubicBezTo>
                <a:cubicBezTo>
                  <a:pt x="39443" y="194648"/>
                  <a:pt x="47821" y="206162"/>
                  <a:pt x="51925" y="218872"/>
                </a:cubicBezTo>
                <a:lnTo>
                  <a:pt x="166890" y="218872"/>
                </a:lnTo>
                <a:close/>
                <a:moveTo>
                  <a:pt x="164154" y="246231"/>
                </a:moveTo>
                <a:lnTo>
                  <a:pt x="54718" y="246231"/>
                </a:lnTo>
                <a:lnTo>
                  <a:pt x="54718" y="255351"/>
                </a:lnTo>
                <a:cubicBezTo>
                  <a:pt x="54718" y="280544"/>
                  <a:pt x="75123" y="300949"/>
                  <a:pt x="100316" y="300949"/>
                </a:cubicBezTo>
                <a:lnTo>
                  <a:pt x="118556" y="300949"/>
                </a:lnTo>
                <a:cubicBezTo>
                  <a:pt x="143749" y="300949"/>
                  <a:pt x="164154" y="280544"/>
                  <a:pt x="164154" y="255351"/>
                </a:cubicBezTo>
                <a:lnTo>
                  <a:pt x="164154" y="246231"/>
                </a:lnTo>
                <a:close/>
                <a:moveTo>
                  <a:pt x="104876" y="63838"/>
                </a:moveTo>
                <a:cubicBezTo>
                  <a:pt x="82191" y="63838"/>
                  <a:pt x="63838" y="82191"/>
                  <a:pt x="63838" y="104876"/>
                </a:cubicBezTo>
                <a:cubicBezTo>
                  <a:pt x="63838" y="112457"/>
                  <a:pt x="57739" y="118556"/>
                  <a:pt x="50158" y="118556"/>
                </a:cubicBezTo>
                <a:cubicBezTo>
                  <a:pt x="42578" y="118556"/>
                  <a:pt x="36479" y="112457"/>
                  <a:pt x="36479" y="104876"/>
                </a:cubicBezTo>
                <a:cubicBezTo>
                  <a:pt x="36479" y="67087"/>
                  <a:pt x="67087" y="36479"/>
                  <a:pt x="104876" y="36479"/>
                </a:cubicBezTo>
                <a:cubicBezTo>
                  <a:pt x="112457" y="36479"/>
                  <a:pt x="118556" y="42578"/>
                  <a:pt x="118556" y="50158"/>
                </a:cubicBezTo>
                <a:cubicBezTo>
                  <a:pt x="118556" y="57739"/>
                  <a:pt x="112457" y="63838"/>
                  <a:pt x="104876" y="63838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59" name="Text 57"/>
          <p:cNvSpPr/>
          <p:nvPr/>
        </p:nvSpPr>
        <p:spPr>
          <a:xfrm>
            <a:off x="8880543" y="5147553"/>
            <a:ext cx="2861553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9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 Analogy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884596" y="5439383"/>
            <a:ext cx="2853447" cy="632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02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Think of ML like </a:t>
            </a:r>
            <a:r>
              <a:rPr lang="en-US" sz="1021" b="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teaching a child to recognize animals</a:t>
            </a:r>
            <a:r>
              <a:rPr lang="en-US" sz="102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—show many examples, and they learn to identify new ones!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888649" y="6136532"/>
            <a:ext cx="2845340" cy="324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4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Mendoni ML si mësimin e një fëmije për të njohur kafshët.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9735" y="369735"/>
            <a:ext cx="7755184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kern="0" spc="58" dirty="0">
                <a:solidFill>
                  <a:srgbClr val="4C8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/ HOW AI WORKS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9735" y="665522"/>
            <a:ext cx="7847618" cy="415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2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Deep Learning &amp; Neural Networks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9735" y="1118447"/>
            <a:ext cx="7773671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6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Learning &amp; Rrjetet Neuronale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8221" y="1525155"/>
            <a:ext cx="7662751" cy="1515912"/>
          </a:xfrm>
          <a:custGeom>
            <a:avLst/>
            <a:gdLst/>
            <a:ahLst/>
            <a:cxnLst/>
            <a:rect l="l" t="t" r="r" b="b"/>
            <a:pathLst>
              <a:path w="7662751" h="1515912">
                <a:moveTo>
                  <a:pt x="36973" y="0"/>
                </a:moveTo>
                <a:lnTo>
                  <a:pt x="7551831" y="0"/>
                </a:lnTo>
                <a:cubicBezTo>
                  <a:pt x="7613090" y="0"/>
                  <a:pt x="7662751" y="49660"/>
                  <a:pt x="7662751" y="110919"/>
                </a:cubicBezTo>
                <a:lnTo>
                  <a:pt x="7662751" y="1404993"/>
                </a:lnTo>
                <a:cubicBezTo>
                  <a:pt x="7662751" y="1466252"/>
                  <a:pt x="7613090" y="1515912"/>
                  <a:pt x="7551831" y="1515912"/>
                </a:cubicBezTo>
                <a:lnTo>
                  <a:pt x="36973" y="1515912"/>
                </a:lnTo>
                <a:cubicBezTo>
                  <a:pt x="16554" y="1515912"/>
                  <a:pt x="0" y="1499358"/>
                  <a:pt x="0" y="1478939"/>
                </a:cubicBezTo>
                <a:lnTo>
                  <a:pt x="0" y="36973"/>
                </a:lnTo>
                <a:cubicBezTo>
                  <a:pt x="0" y="16567"/>
                  <a:pt x="16567" y="0"/>
                  <a:pt x="3697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730" dist="924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8221" y="1525155"/>
            <a:ext cx="36973" cy="1515912"/>
          </a:xfrm>
          <a:custGeom>
            <a:avLst/>
            <a:gdLst/>
            <a:ahLst/>
            <a:cxnLst/>
            <a:rect l="l" t="t" r="r" b="b"/>
            <a:pathLst>
              <a:path w="36973" h="1515912">
                <a:moveTo>
                  <a:pt x="36973" y="0"/>
                </a:moveTo>
                <a:lnTo>
                  <a:pt x="36973" y="0"/>
                </a:lnTo>
                <a:lnTo>
                  <a:pt x="36973" y="1515912"/>
                </a:lnTo>
                <a:lnTo>
                  <a:pt x="36973" y="1515912"/>
                </a:lnTo>
                <a:cubicBezTo>
                  <a:pt x="16554" y="1515912"/>
                  <a:pt x="0" y="1499358"/>
                  <a:pt x="0" y="1478939"/>
                </a:cubicBezTo>
                <a:lnTo>
                  <a:pt x="0" y="36973"/>
                </a:lnTo>
                <a:cubicBezTo>
                  <a:pt x="0" y="16567"/>
                  <a:pt x="16567" y="0"/>
                  <a:pt x="36973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7" name="Shape 5"/>
          <p:cNvSpPr/>
          <p:nvPr/>
        </p:nvSpPr>
        <p:spPr>
          <a:xfrm>
            <a:off x="628549" y="1746996"/>
            <a:ext cx="517629" cy="517629"/>
          </a:xfrm>
          <a:custGeom>
            <a:avLst/>
            <a:gdLst/>
            <a:ahLst/>
            <a:cxnLst/>
            <a:rect l="l" t="t" r="r" b="b"/>
            <a:pathLst>
              <a:path w="517629" h="517629">
                <a:moveTo>
                  <a:pt x="258814" y="0"/>
                </a:moveTo>
                <a:lnTo>
                  <a:pt x="258814" y="0"/>
                </a:lnTo>
                <a:cubicBezTo>
                  <a:pt x="401658" y="0"/>
                  <a:pt x="517629" y="115971"/>
                  <a:pt x="517629" y="258814"/>
                </a:cubicBezTo>
                <a:lnTo>
                  <a:pt x="517629" y="258814"/>
                </a:lnTo>
                <a:cubicBezTo>
                  <a:pt x="517629" y="401658"/>
                  <a:pt x="401658" y="517629"/>
                  <a:pt x="258814" y="517629"/>
                </a:cubicBezTo>
                <a:lnTo>
                  <a:pt x="258814" y="517629"/>
                </a:lnTo>
                <a:cubicBezTo>
                  <a:pt x="115971" y="517629"/>
                  <a:pt x="0" y="401658"/>
                  <a:pt x="0" y="258814"/>
                </a:cubicBezTo>
                <a:lnTo>
                  <a:pt x="0" y="258814"/>
                </a:lnTo>
                <a:cubicBezTo>
                  <a:pt x="0" y="115971"/>
                  <a:pt x="115971" y="0"/>
                  <a:pt x="258814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62578" y="1894890"/>
            <a:ext cx="249571" cy="221841"/>
          </a:xfrm>
          <a:custGeom>
            <a:avLst/>
            <a:gdLst/>
            <a:ahLst/>
            <a:cxnLst/>
            <a:rect l="l" t="t" r="r" b="b"/>
            <a:pathLst>
              <a:path w="249571" h="221841">
                <a:moveTo>
                  <a:pt x="107454" y="38129"/>
                </a:moveTo>
                <a:lnTo>
                  <a:pt x="142117" y="38129"/>
                </a:lnTo>
                <a:lnTo>
                  <a:pt x="142117" y="58926"/>
                </a:lnTo>
                <a:lnTo>
                  <a:pt x="107454" y="58926"/>
                </a:lnTo>
                <a:lnTo>
                  <a:pt x="107454" y="38129"/>
                </a:lnTo>
                <a:close/>
                <a:moveTo>
                  <a:pt x="103988" y="13865"/>
                </a:moveTo>
                <a:cubicBezTo>
                  <a:pt x="92506" y="13865"/>
                  <a:pt x="83190" y="23181"/>
                  <a:pt x="83190" y="34663"/>
                </a:cubicBezTo>
                <a:lnTo>
                  <a:pt x="83190" y="62393"/>
                </a:lnTo>
                <a:cubicBezTo>
                  <a:pt x="83190" y="73875"/>
                  <a:pt x="92506" y="83190"/>
                  <a:pt x="103988" y="83190"/>
                </a:cubicBezTo>
                <a:lnTo>
                  <a:pt x="110920" y="83190"/>
                </a:lnTo>
                <a:lnTo>
                  <a:pt x="110920" y="97055"/>
                </a:lnTo>
                <a:lnTo>
                  <a:pt x="13865" y="97055"/>
                </a:lnTo>
                <a:cubicBezTo>
                  <a:pt x="6196" y="97055"/>
                  <a:pt x="0" y="103251"/>
                  <a:pt x="0" y="110920"/>
                </a:cubicBezTo>
                <a:cubicBezTo>
                  <a:pt x="0" y="118589"/>
                  <a:pt x="6196" y="124785"/>
                  <a:pt x="13865" y="124785"/>
                </a:cubicBezTo>
                <a:lnTo>
                  <a:pt x="55460" y="124785"/>
                </a:lnTo>
                <a:lnTo>
                  <a:pt x="55460" y="138650"/>
                </a:lnTo>
                <a:lnTo>
                  <a:pt x="48528" y="138650"/>
                </a:lnTo>
                <a:cubicBezTo>
                  <a:pt x="37046" y="138650"/>
                  <a:pt x="27730" y="147966"/>
                  <a:pt x="27730" y="159448"/>
                </a:cubicBezTo>
                <a:lnTo>
                  <a:pt x="27730" y="187178"/>
                </a:lnTo>
                <a:cubicBezTo>
                  <a:pt x="27730" y="198660"/>
                  <a:pt x="37046" y="207976"/>
                  <a:pt x="48528" y="207976"/>
                </a:cubicBezTo>
                <a:lnTo>
                  <a:pt x="90123" y="207976"/>
                </a:lnTo>
                <a:cubicBezTo>
                  <a:pt x="101605" y="207976"/>
                  <a:pt x="110920" y="198660"/>
                  <a:pt x="110920" y="187178"/>
                </a:cubicBezTo>
                <a:lnTo>
                  <a:pt x="110920" y="159448"/>
                </a:lnTo>
                <a:cubicBezTo>
                  <a:pt x="110920" y="147966"/>
                  <a:pt x="101605" y="138650"/>
                  <a:pt x="90123" y="138650"/>
                </a:cubicBezTo>
                <a:lnTo>
                  <a:pt x="83190" y="138650"/>
                </a:lnTo>
                <a:lnTo>
                  <a:pt x="83190" y="124785"/>
                </a:lnTo>
                <a:lnTo>
                  <a:pt x="166381" y="124785"/>
                </a:lnTo>
                <a:lnTo>
                  <a:pt x="166381" y="138650"/>
                </a:lnTo>
                <a:lnTo>
                  <a:pt x="159448" y="138650"/>
                </a:lnTo>
                <a:cubicBezTo>
                  <a:pt x="147966" y="138650"/>
                  <a:pt x="138650" y="147966"/>
                  <a:pt x="138650" y="159448"/>
                </a:cubicBezTo>
                <a:lnTo>
                  <a:pt x="138650" y="187178"/>
                </a:lnTo>
                <a:cubicBezTo>
                  <a:pt x="138650" y="198660"/>
                  <a:pt x="147966" y="207976"/>
                  <a:pt x="159448" y="207976"/>
                </a:cubicBezTo>
                <a:lnTo>
                  <a:pt x="201043" y="207976"/>
                </a:lnTo>
                <a:cubicBezTo>
                  <a:pt x="212525" y="207976"/>
                  <a:pt x="221841" y="198660"/>
                  <a:pt x="221841" y="187178"/>
                </a:cubicBezTo>
                <a:lnTo>
                  <a:pt x="221841" y="159448"/>
                </a:lnTo>
                <a:cubicBezTo>
                  <a:pt x="221841" y="147966"/>
                  <a:pt x="212525" y="138650"/>
                  <a:pt x="201043" y="138650"/>
                </a:cubicBezTo>
                <a:lnTo>
                  <a:pt x="194111" y="138650"/>
                </a:lnTo>
                <a:lnTo>
                  <a:pt x="194111" y="124785"/>
                </a:lnTo>
                <a:lnTo>
                  <a:pt x="235706" y="124785"/>
                </a:lnTo>
                <a:cubicBezTo>
                  <a:pt x="243375" y="124785"/>
                  <a:pt x="249571" y="118589"/>
                  <a:pt x="249571" y="110920"/>
                </a:cubicBezTo>
                <a:cubicBezTo>
                  <a:pt x="249571" y="103251"/>
                  <a:pt x="243375" y="97055"/>
                  <a:pt x="235706" y="97055"/>
                </a:cubicBezTo>
                <a:lnTo>
                  <a:pt x="138650" y="97055"/>
                </a:lnTo>
                <a:lnTo>
                  <a:pt x="138650" y="83190"/>
                </a:lnTo>
                <a:lnTo>
                  <a:pt x="145583" y="83190"/>
                </a:lnTo>
                <a:cubicBezTo>
                  <a:pt x="157065" y="83190"/>
                  <a:pt x="166381" y="73875"/>
                  <a:pt x="166381" y="62393"/>
                </a:cubicBezTo>
                <a:lnTo>
                  <a:pt x="166381" y="34663"/>
                </a:lnTo>
                <a:cubicBezTo>
                  <a:pt x="166381" y="23181"/>
                  <a:pt x="157065" y="13865"/>
                  <a:pt x="145583" y="13865"/>
                </a:cubicBezTo>
                <a:lnTo>
                  <a:pt x="103988" y="13865"/>
                </a:lnTo>
                <a:close/>
                <a:moveTo>
                  <a:pt x="194111" y="162914"/>
                </a:moveTo>
                <a:lnTo>
                  <a:pt x="197577" y="162914"/>
                </a:lnTo>
                <a:lnTo>
                  <a:pt x="197577" y="183712"/>
                </a:lnTo>
                <a:lnTo>
                  <a:pt x="162914" y="183712"/>
                </a:lnTo>
                <a:lnTo>
                  <a:pt x="162914" y="162914"/>
                </a:lnTo>
                <a:lnTo>
                  <a:pt x="194111" y="162914"/>
                </a:lnTo>
                <a:close/>
                <a:moveTo>
                  <a:pt x="83190" y="162914"/>
                </a:moveTo>
                <a:lnTo>
                  <a:pt x="86657" y="162914"/>
                </a:lnTo>
                <a:lnTo>
                  <a:pt x="86657" y="183712"/>
                </a:lnTo>
                <a:lnTo>
                  <a:pt x="51994" y="183712"/>
                </a:lnTo>
                <a:lnTo>
                  <a:pt x="51994" y="162914"/>
                </a:lnTo>
                <a:lnTo>
                  <a:pt x="83190" y="162914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9" name="Text 7"/>
          <p:cNvSpPr/>
          <p:nvPr/>
        </p:nvSpPr>
        <p:spPr>
          <a:xfrm>
            <a:off x="1294071" y="1746996"/>
            <a:ext cx="6627494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6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is Deep Learning?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4071" y="2079757"/>
            <a:ext cx="6609007" cy="480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b="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Learning uses artificial neural networks with multiple layers</a:t>
            </a:r>
            <a:r>
              <a:rPr lang="en-US" sz="1165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learn complex patterns from data—mimicking how the human brain works.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94071" y="2634359"/>
            <a:ext cx="6599763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Learning përdor rrjete neuronale artificiale me shumë shtresa.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9735" y="3188961"/>
            <a:ext cx="7681237" cy="3512479"/>
          </a:xfrm>
          <a:custGeom>
            <a:avLst/>
            <a:gdLst/>
            <a:ahLst/>
            <a:cxnLst/>
            <a:rect l="l" t="t" r="r" b="b"/>
            <a:pathLst>
              <a:path w="7681237" h="3512479">
                <a:moveTo>
                  <a:pt x="110924" y="0"/>
                </a:moveTo>
                <a:lnTo>
                  <a:pt x="7570313" y="0"/>
                </a:lnTo>
                <a:cubicBezTo>
                  <a:pt x="7631575" y="0"/>
                  <a:pt x="7681237" y="49662"/>
                  <a:pt x="7681237" y="110924"/>
                </a:cubicBezTo>
                <a:lnTo>
                  <a:pt x="7681237" y="3401555"/>
                </a:lnTo>
                <a:cubicBezTo>
                  <a:pt x="7681237" y="3462817"/>
                  <a:pt x="7631575" y="3512479"/>
                  <a:pt x="7570313" y="3512479"/>
                </a:cubicBezTo>
                <a:lnTo>
                  <a:pt x="110924" y="3512479"/>
                </a:lnTo>
                <a:cubicBezTo>
                  <a:pt x="49662" y="3512479"/>
                  <a:pt x="0" y="3462817"/>
                  <a:pt x="0" y="3401555"/>
                </a:cubicBezTo>
                <a:lnTo>
                  <a:pt x="0" y="110924"/>
                </a:lnTo>
                <a:cubicBezTo>
                  <a:pt x="0" y="49662"/>
                  <a:pt x="49662" y="0"/>
                  <a:pt x="11092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730" dist="924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4684" y="3447776"/>
            <a:ext cx="184867" cy="184867"/>
          </a:xfrm>
          <a:custGeom>
            <a:avLst/>
            <a:gdLst/>
            <a:ahLst/>
            <a:cxnLst/>
            <a:rect l="l" t="t" r="r" b="b"/>
            <a:pathLst>
              <a:path w="184867" h="184867">
                <a:moveTo>
                  <a:pt x="0" y="28886"/>
                </a:moveTo>
                <a:cubicBezTo>
                  <a:pt x="0" y="19317"/>
                  <a:pt x="7763" y="11554"/>
                  <a:pt x="17331" y="11554"/>
                </a:cubicBezTo>
                <a:lnTo>
                  <a:pt x="51994" y="11554"/>
                </a:lnTo>
                <a:cubicBezTo>
                  <a:pt x="61562" y="11554"/>
                  <a:pt x="69325" y="19317"/>
                  <a:pt x="69325" y="28886"/>
                </a:cubicBezTo>
                <a:lnTo>
                  <a:pt x="69325" y="34663"/>
                </a:lnTo>
                <a:lnTo>
                  <a:pt x="115542" y="34663"/>
                </a:lnTo>
                <a:lnTo>
                  <a:pt x="115542" y="28886"/>
                </a:lnTo>
                <a:cubicBezTo>
                  <a:pt x="115542" y="19317"/>
                  <a:pt x="123305" y="11554"/>
                  <a:pt x="132873" y="11554"/>
                </a:cubicBezTo>
                <a:lnTo>
                  <a:pt x="167536" y="11554"/>
                </a:lnTo>
                <a:cubicBezTo>
                  <a:pt x="177104" y="11554"/>
                  <a:pt x="184867" y="19317"/>
                  <a:pt x="184867" y="28886"/>
                </a:cubicBezTo>
                <a:lnTo>
                  <a:pt x="184867" y="63548"/>
                </a:lnTo>
                <a:cubicBezTo>
                  <a:pt x="184867" y="73116"/>
                  <a:pt x="177104" y="80879"/>
                  <a:pt x="167536" y="80879"/>
                </a:cubicBezTo>
                <a:lnTo>
                  <a:pt x="132873" y="80879"/>
                </a:lnTo>
                <a:cubicBezTo>
                  <a:pt x="123305" y="80879"/>
                  <a:pt x="115542" y="73116"/>
                  <a:pt x="115542" y="63548"/>
                </a:cubicBezTo>
                <a:lnTo>
                  <a:pt x="115542" y="57771"/>
                </a:lnTo>
                <a:lnTo>
                  <a:pt x="69325" y="57771"/>
                </a:lnTo>
                <a:lnTo>
                  <a:pt x="69325" y="63548"/>
                </a:lnTo>
                <a:cubicBezTo>
                  <a:pt x="69325" y="66184"/>
                  <a:pt x="68711" y="68711"/>
                  <a:pt x="67664" y="70950"/>
                </a:cubicBezTo>
                <a:lnTo>
                  <a:pt x="92434" y="103988"/>
                </a:lnTo>
                <a:lnTo>
                  <a:pt x="121319" y="103988"/>
                </a:lnTo>
                <a:cubicBezTo>
                  <a:pt x="130888" y="103988"/>
                  <a:pt x="138650" y="111751"/>
                  <a:pt x="138650" y="121319"/>
                </a:cubicBezTo>
                <a:lnTo>
                  <a:pt x="138650" y="155982"/>
                </a:lnTo>
                <a:cubicBezTo>
                  <a:pt x="138650" y="165550"/>
                  <a:pt x="130888" y="173313"/>
                  <a:pt x="121319" y="173313"/>
                </a:cubicBezTo>
                <a:lnTo>
                  <a:pt x="86657" y="173313"/>
                </a:lnTo>
                <a:cubicBezTo>
                  <a:pt x="77088" y="173313"/>
                  <a:pt x="69325" y="165550"/>
                  <a:pt x="69325" y="155982"/>
                </a:cubicBezTo>
                <a:lnTo>
                  <a:pt x="69325" y="121319"/>
                </a:lnTo>
                <a:cubicBezTo>
                  <a:pt x="69325" y="118683"/>
                  <a:pt x="69939" y="116156"/>
                  <a:pt x="70986" y="113917"/>
                </a:cubicBezTo>
                <a:lnTo>
                  <a:pt x="46217" y="80879"/>
                </a:lnTo>
                <a:lnTo>
                  <a:pt x="17331" y="80879"/>
                </a:lnTo>
                <a:cubicBezTo>
                  <a:pt x="7763" y="80879"/>
                  <a:pt x="0" y="73116"/>
                  <a:pt x="0" y="63548"/>
                </a:cubicBezTo>
                <a:lnTo>
                  <a:pt x="0" y="28886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660" y="3410802"/>
            <a:ext cx="7098905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6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Neural Networks Work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1575" y="3817510"/>
            <a:ext cx="3549453" cy="1312558"/>
          </a:xfrm>
          <a:custGeom>
            <a:avLst/>
            <a:gdLst/>
            <a:ahLst/>
            <a:cxnLst/>
            <a:rect l="l" t="t" r="r" b="b"/>
            <a:pathLst>
              <a:path w="3549453" h="1312558">
                <a:moveTo>
                  <a:pt x="73950" y="0"/>
                </a:moveTo>
                <a:lnTo>
                  <a:pt x="3475503" y="0"/>
                </a:lnTo>
                <a:cubicBezTo>
                  <a:pt x="3516344" y="0"/>
                  <a:pt x="3549453" y="33108"/>
                  <a:pt x="3549453" y="73950"/>
                </a:cubicBezTo>
                <a:lnTo>
                  <a:pt x="3549453" y="1238608"/>
                </a:lnTo>
                <a:cubicBezTo>
                  <a:pt x="3549453" y="1279450"/>
                  <a:pt x="3516344" y="1312558"/>
                  <a:pt x="3475503" y="1312558"/>
                </a:cubicBezTo>
                <a:lnTo>
                  <a:pt x="73950" y="1312558"/>
                </a:lnTo>
                <a:cubicBezTo>
                  <a:pt x="33108" y="1312558"/>
                  <a:pt x="0" y="1279450"/>
                  <a:pt x="0" y="1238608"/>
                </a:cubicBezTo>
                <a:lnTo>
                  <a:pt x="0" y="73950"/>
                </a:lnTo>
                <a:cubicBezTo>
                  <a:pt x="0" y="33136"/>
                  <a:pt x="33136" y="0"/>
                  <a:pt x="73950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16" name="Shape 14"/>
          <p:cNvSpPr/>
          <p:nvPr/>
        </p:nvSpPr>
        <p:spPr>
          <a:xfrm>
            <a:off x="739469" y="3993134"/>
            <a:ext cx="369735" cy="369735"/>
          </a:xfrm>
          <a:custGeom>
            <a:avLst/>
            <a:gdLst/>
            <a:ahLst/>
            <a:cxnLst/>
            <a:rect l="l" t="t" r="r" b="b"/>
            <a:pathLst>
              <a:path w="369735" h="369735">
                <a:moveTo>
                  <a:pt x="184867" y="0"/>
                </a:moveTo>
                <a:lnTo>
                  <a:pt x="184867" y="0"/>
                </a:lnTo>
                <a:cubicBezTo>
                  <a:pt x="286898" y="0"/>
                  <a:pt x="369735" y="82836"/>
                  <a:pt x="369735" y="184867"/>
                </a:cubicBezTo>
                <a:lnTo>
                  <a:pt x="369735" y="184867"/>
                </a:lnTo>
                <a:cubicBezTo>
                  <a:pt x="369735" y="286898"/>
                  <a:pt x="286898" y="369735"/>
                  <a:pt x="184867" y="369735"/>
                </a:cubicBezTo>
                <a:lnTo>
                  <a:pt x="184867" y="369735"/>
                </a:lnTo>
                <a:cubicBezTo>
                  <a:pt x="82836" y="369735"/>
                  <a:pt x="0" y="286898"/>
                  <a:pt x="0" y="184867"/>
                </a:cubicBezTo>
                <a:lnTo>
                  <a:pt x="0" y="184867"/>
                </a:lnTo>
                <a:cubicBezTo>
                  <a:pt x="0" y="82836"/>
                  <a:pt x="82836" y="0"/>
                  <a:pt x="184867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7" name="Text 15"/>
          <p:cNvSpPr/>
          <p:nvPr/>
        </p:nvSpPr>
        <p:spPr>
          <a:xfrm>
            <a:off x="702496" y="3993134"/>
            <a:ext cx="443682" cy="369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20124" y="4048594"/>
            <a:ext cx="896607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Layer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9469" y="4473789"/>
            <a:ext cx="3327612" cy="480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Receives raw data (images, text, numbers) and passes it to the next layer.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84734" y="3817510"/>
            <a:ext cx="3549453" cy="1312558"/>
          </a:xfrm>
          <a:custGeom>
            <a:avLst/>
            <a:gdLst/>
            <a:ahLst/>
            <a:cxnLst/>
            <a:rect l="l" t="t" r="r" b="b"/>
            <a:pathLst>
              <a:path w="3549453" h="1312558">
                <a:moveTo>
                  <a:pt x="73950" y="0"/>
                </a:moveTo>
                <a:lnTo>
                  <a:pt x="3475503" y="0"/>
                </a:lnTo>
                <a:cubicBezTo>
                  <a:pt x="3516344" y="0"/>
                  <a:pt x="3549453" y="33108"/>
                  <a:pt x="3549453" y="73950"/>
                </a:cubicBezTo>
                <a:lnTo>
                  <a:pt x="3549453" y="1238608"/>
                </a:lnTo>
                <a:cubicBezTo>
                  <a:pt x="3549453" y="1279450"/>
                  <a:pt x="3516344" y="1312558"/>
                  <a:pt x="3475503" y="1312558"/>
                </a:cubicBezTo>
                <a:lnTo>
                  <a:pt x="73950" y="1312558"/>
                </a:lnTo>
                <a:cubicBezTo>
                  <a:pt x="33108" y="1312558"/>
                  <a:pt x="0" y="1279450"/>
                  <a:pt x="0" y="1238608"/>
                </a:cubicBezTo>
                <a:lnTo>
                  <a:pt x="0" y="73950"/>
                </a:lnTo>
                <a:cubicBezTo>
                  <a:pt x="0" y="33136"/>
                  <a:pt x="33136" y="0"/>
                  <a:pt x="73950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21" name="Shape 19"/>
          <p:cNvSpPr/>
          <p:nvPr/>
        </p:nvSpPr>
        <p:spPr>
          <a:xfrm>
            <a:off x="4432627" y="3993134"/>
            <a:ext cx="369735" cy="369735"/>
          </a:xfrm>
          <a:custGeom>
            <a:avLst/>
            <a:gdLst/>
            <a:ahLst/>
            <a:cxnLst/>
            <a:rect l="l" t="t" r="r" b="b"/>
            <a:pathLst>
              <a:path w="369735" h="369735">
                <a:moveTo>
                  <a:pt x="184867" y="0"/>
                </a:moveTo>
                <a:lnTo>
                  <a:pt x="184867" y="0"/>
                </a:lnTo>
                <a:cubicBezTo>
                  <a:pt x="286898" y="0"/>
                  <a:pt x="369735" y="82836"/>
                  <a:pt x="369735" y="184867"/>
                </a:cubicBezTo>
                <a:lnTo>
                  <a:pt x="369735" y="184867"/>
                </a:lnTo>
                <a:cubicBezTo>
                  <a:pt x="369735" y="286898"/>
                  <a:pt x="286898" y="369735"/>
                  <a:pt x="184867" y="369735"/>
                </a:cubicBezTo>
                <a:lnTo>
                  <a:pt x="184867" y="369735"/>
                </a:lnTo>
                <a:cubicBezTo>
                  <a:pt x="82836" y="369735"/>
                  <a:pt x="0" y="286898"/>
                  <a:pt x="0" y="184867"/>
                </a:cubicBezTo>
                <a:lnTo>
                  <a:pt x="0" y="184867"/>
                </a:lnTo>
                <a:cubicBezTo>
                  <a:pt x="0" y="82836"/>
                  <a:pt x="82836" y="0"/>
                  <a:pt x="184867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22" name="Text 20"/>
          <p:cNvSpPr/>
          <p:nvPr/>
        </p:nvSpPr>
        <p:spPr>
          <a:xfrm>
            <a:off x="4395654" y="3993134"/>
            <a:ext cx="443682" cy="369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13282" y="4048594"/>
            <a:ext cx="1118447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Hidden Layers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32627" y="4473789"/>
            <a:ext cx="3327612" cy="480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information through multiple layers, extracting features and patterns.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1575" y="5277962"/>
            <a:ext cx="3549453" cy="1312558"/>
          </a:xfrm>
          <a:custGeom>
            <a:avLst/>
            <a:gdLst/>
            <a:ahLst/>
            <a:cxnLst/>
            <a:rect l="l" t="t" r="r" b="b"/>
            <a:pathLst>
              <a:path w="3549453" h="1312558">
                <a:moveTo>
                  <a:pt x="73950" y="0"/>
                </a:moveTo>
                <a:lnTo>
                  <a:pt x="3475503" y="0"/>
                </a:lnTo>
                <a:cubicBezTo>
                  <a:pt x="3516344" y="0"/>
                  <a:pt x="3549453" y="33108"/>
                  <a:pt x="3549453" y="73950"/>
                </a:cubicBezTo>
                <a:lnTo>
                  <a:pt x="3549453" y="1238608"/>
                </a:lnTo>
                <a:cubicBezTo>
                  <a:pt x="3549453" y="1279450"/>
                  <a:pt x="3516344" y="1312558"/>
                  <a:pt x="3475503" y="1312558"/>
                </a:cubicBezTo>
                <a:lnTo>
                  <a:pt x="73950" y="1312558"/>
                </a:lnTo>
                <a:cubicBezTo>
                  <a:pt x="33108" y="1312558"/>
                  <a:pt x="0" y="1279450"/>
                  <a:pt x="0" y="1238608"/>
                </a:cubicBezTo>
                <a:lnTo>
                  <a:pt x="0" y="73950"/>
                </a:lnTo>
                <a:cubicBezTo>
                  <a:pt x="0" y="33136"/>
                  <a:pt x="33136" y="0"/>
                  <a:pt x="73950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26" name="Shape 24"/>
          <p:cNvSpPr/>
          <p:nvPr/>
        </p:nvSpPr>
        <p:spPr>
          <a:xfrm>
            <a:off x="739469" y="5453586"/>
            <a:ext cx="369735" cy="369735"/>
          </a:xfrm>
          <a:custGeom>
            <a:avLst/>
            <a:gdLst/>
            <a:ahLst/>
            <a:cxnLst/>
            <a:rect l="l" t="t" r="r" b="b"/>
            <a:pathLst>
              <a:path w="369735" h="369735">
                <a:moveTo>
                  <a:pt x="184867" y="0"/>
                </a:moveTo>
                <a:lnTo>
                  <a:pt x="184867" y="0"/>
                </a:lnTo>
                <a:cubicBezTo>
                  <a:pt x="286898" y="0"/>
                  <a:pt x="369735" y="82836"/>
                  <a:pt x="369735" y="184867"/>
                </a:cubicBezTo>
                <a:lnTo>
                  <a:pt x="369735" y="184867"/>
                </a:lnTo>
                <a:cubicBezTo>
                  <a:pt x="369735" y="286898"/>
                  <a:pt x="286898" y="369735"/>
                  <a:pt x="184867" y="369735"/>
                </a:cubicBezTo>
                <a:lnTo>
                  <a:pt x="184867" y="369735"/>
                </a:lnTo>
                <a:cubicBezTo>
                  <a:pt x="82836" y="369735"/>
                  <a:pt x="0" y="286898"/>
                  <a:pt x="0" y="184867"/>
                </a:cubicBezTo>
                <a:lnTo>
                  <a:pt x="0" y="184867"/>
                </a:lnTo>
                <a:cubicBezTo>
                  <a:pt x="0" y="82836"/>
                  <a:pt x="82836" y="0"/>
                  <a:pt x="184867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27" name="Text 25"/>
          <p:cNvSpPr/>
          <p:nvPr/>
        </p:nvSpPr>
        <p:spPr>
          <a:xfrm>
            <a:off x="702496" y="5453586"/>
            <a:ext cx="443682" cy="369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20124" y="5509046"/>
            <a:ext cx="1026014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 Layer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39469" y="5934241"/>
            <a:ext cx="3327612" cy="480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Produces the final result (classification, prediction, decision).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284734" y="5277962"/>
            <a:ext cx="3549453" cy="1312558"/>
          </a:xfrm>
          <a:custGeom>
            <a:avLst/>
            <a:gdLst/>
            <a:ahLst/>
            <a:cxnLst/>
            <a:rect l="l" t="t" r="r" b="b"/>
            <a:pathLst>
              <a:path w="3549453" h="1312558">
                <a:moveTo>
                  <a:pt x="73950" y="0"/>
                </a:moveTo>
                <a:lnTo>
                  <a:pt x="3475503" y="0"/>
                </a:lnTo>
                <a:cubicBezTo>
                  <a:pt x="3516344" y="0"/>
                  <a:pt x="3549453" y="33108"/>
                  <a:pt x="3549453" y="73950"/>
                </a:cubicBezTo>
                <a:lnTo>
                  <a:pt x="3549453" y="1238608"/>
                </a:lnTo>
                <a:cubicBezTo>
                  <a:pt x="3549453" y="1279450"/>
                  <a:pt x="3516344" y="1312558"/>
                  <a:pt x="3475503" y="1312558"/>
                </a:cubicBezTo>
                <a:lnTo>
                  <a:pt x="73950" y="1312558"/>
                </a:lnTo>
                <a:cubicBezTo>
                  <a:pt x="33108" y="1312558"/>
                  <a:pt x="0" y="1279450"/>
                  <a:pt x="0" y="1238608"/>
                </a:cubicBezTo>
                <a:lnTo>
                  <a:pt x="0" y="73950"/>
                </a:lnTo>
                <a:cubicBezTo>
                  <a:pt x="0" y="33136"/>
                  <a:pt x="33136" y="0"/>
                  <a:pt x="73950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31" name="Shape 29"/>
          <p:cNvSpPr/>
          <p:nvPr/>
        </p:nvSpPr>
        <p:spPr>
          <a:xfrm>
            <a:off x="4432627" y="5453586"/>
            <a:ext cx="369735" cy="369735"/>
          </a:xfrm>
          <a:custGeom>
            <a:avLst/>
            <a:gdLst/>
            <a:ahLst/>
            <a:cxnLst/>
            <a:rect l="l" t="t" r="r" b="b"/>
            <a:pathLst>
              <a:path w="369735" h="369735">
                <a:moveTo>
                  <a:pt x="184867" y="0"/>
                </a:moveTo>
                <a:lnTo>
                  <a:pt x="184867" y="0"/>
                </a:lnTo>
                <a:cubicBezTo>
                  <a:pt x="286898" y="0"/>
                  <a:pt x="369735" y="82836"/>
                  <a:pt x="369735" y="184867"/>
                </a:cubicBezTo>
                <a:lnTo>
                  <a:pt x="369735" y="184867"/>
                </a:lnTo>
                <a:cubicBezTo>
                  <a:pt x="369735" y="286898"/>
                  <a:pt x="286898" y="369735"/>
                  <a:pt x="184867" y="369735"/>
                </a:cubicBezTo>
                <a:lnTo>
                  <a:pt x="184867" y="369735"/>
                </a:lnTo>
                <a:cubicBezTo>
                  <a:pt x="82836" y="369735"/>
                  <a:pt x="0" y="286898"/>
                  <a:pt x="0" y="184867"/>
                </a:cubicBezTo>
                <a:lnTo>
                  <a:pt x="0" y="184867"/>
                </a:lnTo>
                <a:cubicBezTo>
                  <a:pt x="0" y="82836"/>
                  <a:pt x="82836" y="0"/>
                  <a:pt x="184867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32" name="Text 30"/>
          <p:cNvSpPr/>
          <p:nvPr/>
        </p:nvSpPr>
        <p:spPr>
          <a:xfrm>
            <a:off x="4395654" y="5453586"/>
            <a:ext cx="443682" cy="369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913282" y="5509046"/>
            <a:ext cx="1294071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Learning Process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432627" y="5934241"/>
            <a:ext cx="3327612" cy="480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Adjusts connections (weights) through forward and backward propagation.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273824" y="369735"/>
            <a:ext cx="3549453" cy="4030108"/>
          </a:xfrm>
          <a:custGeom>
            <a:avLst/>
            <a:gdLst/>
            <a:ahLst/>
            <a:cxnLst/>
            <a:rect l="l" t="t" r="r" b="b"/>
            <a:pathLst>
              <a:path w="3549453" h="4030108">
                <a:moveTo>
                  <a:pt x="110920" y="0"/>
                </a:moveTo>
                <a:lnTo>
                  <a:pt x="3438532" y="0"/>
                </a:lnTo>
                <a:cubicBezTo>
                  <a:pt x="3499792" y="0"/>
                  <a:pt x="3549453" y="49661"/>
                  <a:pt x="3549453" y="110920"/>
                </a:cubicBezTo>
                <a:lnTo>
                  <a:pt x="3549453" y="3919187"/>
                </a:lnTo>
                <a:cubicBezTo>
                  <a:pt x="3549453" y="3980447"/>
                  <a:pt x="3499792" y="4030108"/>
                  <a:pt x="3438532" y="4030108"/>
                </a:cubicBezTo>
                <a:lnTo>
                  <a:pt x="110920" y="4030108"/>
                </a:lnTo>
                <a:cubicBezTo>
                  <a:pt x="49661" y="4030108"/>
                  <a:pt x="0" y="3980447"/>
                  <a:pt x="0" y="3919187"/>
                </a:cubicBezTo>
                <a:lnTo>
                  <a:pt x="0" y="110920"/>
                </a:lnTo>
                <a:cubicBezTo>
                  <a:pt x="0" y="49661"/>
                  <a:pt x="49661" y="0"/>
                  <a:pt x="110920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A7A"/>
              </a:gs>
              <a:gs pos="100000">
                <a:srgbClr val="2F3E3B"/>
              </a:gs>
            </a:gsLst>
            <a:lin ang="2700000" scaled="1"/>
          </a:gradFill>
          <a:ln/>
        </p:spPr>
      </p:sp>
      <p:sp>
        <p:nvSpPr>
          <p:cNvPr id="36" name="Text 34"/>
          <p:cNvSpPr/>
          <p:nvPr/>
        </p:nvSpPr>
        <p:spPr>
          <a:xfrm>
            <a:off x="8449448" y="591575"/>
            <a:ext cx="3198205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Concepts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495665" y="998284"/>
            <a:ext cx="3105771" cy="850390"/>
          </a:xfrm>
          <a:custGeom>
            <a:avLst/>
            <a:gdLst/>
            <a:ahLst/>
            <a:cxnLst/>
            <a:rect l="l" t="t" r="r" b="b"/>
            <a:pathLst>
              <a:path w="3105771" h="850390">
                <a:moveTo>
                  <a:pt x="73950" y="0"/>
                </a:moveTo>
                <a:lnTo>
                  <a:pt x="3031821" y="0"/>
                </a:lnTo>
                <a:cubicBezTo>
                  <a:pt x="3072663" y="0"/>
                  <a:pt x="3105771" y="33108"/>
                  <a:pt x="3105771" y="73950"/>
                </a:cubicBezTo>
                <a:lnTo>
                  <a:pt x="3105771" y="776440"/>
                </a:lnTo>
                <a:cubicBezTo>
                  <a:pt x="3105771" y="817281"/>
                  <a:pt x="3072663" y="850390"/>
                  <a:pt x="3031821" y="850390"/>
                </a:cubicBezTo>
                <a:lnTo>
                  <a:pt x="73950" y="850390"/>
                </a:lnTo>
                <a:cubicBezTo>
                  <a:pt x="33108" y="850390"/>
                  <a:pt x="0" y="817281"/>
                  <a:pt x="0" y="776440"/>
                </a:cubicBezTo>
                <a:lnTo>
                  <a:pt x="0" y="73950"/>
                </a:lnTo>
                <a:cubicBezTo>
                  <a:pt x="0" y="33108"/>
                  <a:pt x="33108" y="0"/>
                  <a:pt x="7395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8606585" y="1109204"/>
            <a:ext cx="2957877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🧠 Neurons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606585" y="1368018"/>
            <a:ext cx="2948634" cy="369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Processing units that receive, process, and transmit information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495665" y="1959594"/>
            <a:ext cx="3105771" cy="665522"/>
          </a:xfrm>
          <a:custGeom>
            <a:avLst/>
            <a:gdLst/>
            <a:ahLst/>
            <a:cxnLst/>
            <a:rect l="l" t="t" r="r" b="b"/>
            <a:pathLst>
              <a:path w="3105771" h="665522">
                <a:moveTo>
                  <a:pt x="73946" y="0"/>
                </a:moveTo>
                <a:lnTo>
                  <a:pt x="3031825" y="0"/>
                </a:lnTo>
                <a:cubicBezTo>
                  <a:pt x="3072664" y="0"/>
                  <a:pt x="3105771" y="33107"/>
                  <a:pt x="3105771" y="73946"/>
                </a:cubicBezTo>
                <a:lnTo>
                  <a:pt x="3105771" y="591576"/>
                </a:lnTo>
                <a:cubicBezTo>
                  <a:pt x="3105771" y="632416"/>
                  <a:pt x="3072664" y="665522"/>
                  <a:pt x="3031825" y="665522"/>
                </a:cubicBezTo>
                <a:lnTo>
                  <a:pt x="73946" y="665522"/>
                </a:lnTo>
                <a:cubicBezTo>
                  <a:pt x="33134" y="665522"/>
                  <a:pt x="0" y="632388"/>
                  <a:pt x="0" y="591576"/>
                </a:cubicBezTo>
                <a:lnTo>
                  <a:pt x="0" y="73946"/>
                </a:lnTo>
                <a:cubicBezTo>
                  <a:pt x="0" y="33134"/>
                  <a:pt x="33134" y="0"/>
                  <a:pt x="7394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8606585" y="2070514"/>
            <a:ext cx="2957877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⚖️ Weights &amp; Biases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606585" y="2329328"/>
            <a:ext cx="2948634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Parameters that determine connection strength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495665" y="2736036"/>
            <a:ext cx="3105771" cy="665522"/>
          </a:xfrm>
          <a:custGeom>
            <a:avLst/>
            <a:gdLst/>
            <a:ahLst/>
            <a:cxnLst/>
            <a:rect l="l" t="t" r="r" b="b"/>
            <a:pathLst>
              <a:path w="3105771" h="665522">
                <a:moveTo>
                  <a:pt x="73946" y="0"/>
                </a:moveTo>
                <a:lnTo>
                  <a:pt x="3031825" y="0"/>
                </a:lnTo>
                <a:cubicBezTo>
                  <a:pt x="3072664" y="0"/>
                  <a:pt x="3105771" y="33107"/>
                  <a:pt x="3105771" y="73946"/>
                </a:cubicBezTo>
                <a:lnTo>
                  <a:pt x="3105771" y="591576"/>
                </a:lnTo>
                <a:cubicBezTo>
                  <a:pt x="3105771" y="632416"/>
                  <a:pt x="3072664" y="665522"/>
                  <a:pt x="3031825" y="665522"/>
                </a:cubicBezTo>
                <a:lnTo>
                  <a:pt x="73946" y="665522"/>
                </a:lnTo>
                <a:cubicBezTo>
                  <a:pt x="33134" y="665522"/>
                  <a:pt x="0" y="632388"/>
                  <a:pt x="0" y="591576"/>
                </a:cubicBezTo>
                <a:lnTo>
                  <a:pt x="0" y="73946"/>
                </a:lnTo>
                <a:cubicBezTo>
                  <a:pt x="0" y="33134"/>
                  <a:pt x="33134" y="0"/>
                  <a:pt x="7394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8606585" y="2846957"/>
            <a:ext cx="2957877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🔄 Activation Functions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606585" y="3105771"/>
            <a:ext cx="2948634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Decide whether a neuron should be activated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495665" y="3512479"/>
            <a:ext cx="3105771" cy="665522"/>
          </a:xfrm>
          <a:custGeom>
            <a:avLst/>
            <a:gdLst/>
            <a:ahLst/>
            <a:cxnLst/>
            <a:rect l="l" t="t" r="r" b="b"/>
            <a:pathLst>
              <a:path w="3105771" h="665522">
                <a:moveTo>
                  <a:pt x="73946" y="0"/>
                </a:moveTo>
                <a:lnTo>
                  <a:pt x="3031825" y="0"/>
                </a:lnTo>
                <a:cubicBezTo>
                  <a:pt x="3072664" y="0"/>
                  <a:pt x="3105771" y="33107"/>
                  <a:pt x="3105771" y="73946"/>
                </a:cubicBezTo>
                <a:lnTo>
                  <a:pt x="3105771" y="591576"/>
                </a:lnTo>
                <a:cubicBezTo>
                  <a:pt x="3105771" y="632416"/>
                  <a:pt x="3072664" y="665522"/>
                  <a:pt x="3031825" y="665522"/>
                </a:cubicBezTo>
                <a:lnTo>
                  <a:pt x="73946" y="665522"/>
                </a:lnTo>
                <a:cubicBezTo>
                  <a:pt x="33134" y="665522"/>
                  <a:pt x="0" y="632388"/>
                  <a:pt x="0" y="591576"/>
                </a:cubicBezTo>
                <a:lnTo>
                  <a:pt x="0" y="73946"/>
                </a:lnTo>
                <a:cubicBezTo>
                  <a:pt x="0" y="33134"/>
                  <a:pt x="33134" y="0"/>
                  <a:pt x="7394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8606585" y="3623400"/>
            <a:ext cx="2957877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📉 Loss Function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606585" y="3882214"/>
            <a:ext cx="2948634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Measures how wrong the prediction is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273824" y="4547736"/>
            <a:ext cx="3549453" cy="2310842"/>
          </a:xfrm>
          <a:custGeom>
            <a:avLst/>
            <a:gdLst/>
            <a:ahLst/>
            <a:cxnLst/>
            <a:rect l="l" t="t" r="r" b="b"/>
            <a:pathLst>
              <a:path w="3549453" h="2310842">
                <a:moveTo>
                  <a:pt x="110920" y="0"/>
                </a:moveTo>
                <a:lnTo>
                  <a:pt x="3438532" y="0"/>
                </a:lnTo>
                <a:cubicBezTo>
                  <a:pt x="3499792" y="0"/>
                  <a:pt x="3549453" y="49661"/>
                  <a:pt x="3549453" y="110920"/>
                </a:cubicBezTo>
                <a:lnTo>
                  <a:pt x="3549453" y="2199921"/>
                </a:lnTo>
                <a:cubicBezTo>
                  <a:pt x="3549453" y="2261181"/>
                  <a:pt x="3499792" y="2310842"/>
                  <a:pt x="3438532" y="2310842"/>
                </a:cubicBezTo>
                <a:lnTo>
                  <a:pt x="110920" y="2310842"/>
                </a:lnTo>
                <a:cubicBezTo>
                  <a:pt x="49661" y="2310842"/>
                  <a:pt x="0" y="2261181"/>
                  <a:pt x="0" y="2199921"/>
                </a:cubicBezTo>
                <a:lnTo>
                  <a:pt x="0" y="110920"/>
                </a:lnTo>
                <a:cubicBezTo>
                  <a:pt x="0" y="49661"/>
                  <a:pt x="49661" y="0"/>
                  <a:pt x="11092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730" dist="924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9882169" y="4732603"/>
            <a:ext cx="332761" cy="332761"/>
          </a:xfrm>
          <a:custGeom>
            <a:avLst/>
            <a:gdLst/>
            <a:ahLst/>
            <a:cxnLst/>
            <a:rect l="l" t="t" r="r" b="b"/>
            <a:pathLst>
              <a:path w="332761" h="332761">
                <a:moveTo>
                  <a:pt x="77991" y="36396"/>
                </a:moveTo>
                <a:cubicBezTo>
                  <a:pt x="77991" y="16313"/>
                  <a:pt x="94304" y="0"/>
                  <a:pt x="114387" y="0"/>
                </a:cubicBezTo>
                <a:lnTo>
                  <a:pt x="129985" y="0"/>
                </a:lnTo>
                <a:cubicBezTo>
                  <a:pt x="141488" y="0"/>
                  <a:pt x="150782" y="9294"/>
                  <a:pt x="150782" y="20798"/>
                </a:cubicBezTo>
                <a:lnTo>
                  <a:pt x="150782" y="311964"/>
                </a:lnTo>
                <a:cubicBezTo>
                  <a:pt x="150782" y="323467"/>
                  <a:pt x="141488" y="332761"/>
                  <a:pt x="129985" y="332761"/>
                </a:cubicBezTo>
                <a:lnTo>
                  <a:pt x="109187" y="332761"/>
                </a:lnTo>
                <a:cubicBezTo>
                  <a:pt x="89820" y="332761"/>
                  <a:pt x="73506" y="319503"/>
                  <a:pt x="68892" y="301565"/>
                </a:cubicBezTo>
                <a:cubicBezTo>
                  <a:pt x="68437" y="301565"/>
                  <a:pt x="68047" y="301565"/>
                  <a:pt x="67592" y="301565"/>
                </a:cubicBezTo>
                <a:cubicBezTo>
                  <a:pt x="38865" y="301565"/>
                  <a:pt x="15598" y="278298"/>
                  <a:pt x="15598" y="249571"/>
                </a:cubicBezTo>
                <a:cubicBezTo>
                  <a:pt x="15598" y="237872"/>
                  <a:pt x="19498" y="227084"/>
                  <a:pt x="25997" y="218375"/>
                </a:cubicBezTo>
                <a:cubicBezTo>
                  <a:pt x="13388" y="208886"/>
                  <a:pt x="5199" y="193807"/>
                  <a:pt x="5199" y="176779"/>
                </a:cubicBezTo>
                <a:cubicBezTo>
                  <a:pt x="5199" y="156697"/>
                  <a:pt x="16638" y="139214"/>
                  <a:pt x="33276" y="130570"/>
                </a:cubicBezTo>
                <a:cubicBezTo>
                  <a:pt x="28662" y="122771"/>
                  <a:pt x="25997" y="113672"/>
                  <a:pt x="25997" y="103988"/>
                </a:cubicBezTo>
                <a:cubicBezTo>
                  <a:pt x="25997" y="75261"/>
                  <a:pt x="49264" y="51994"/>
                  <a:pt x="77991" y="51994"/>
                </a:cubicBezTo>
                <a:lnTo>
                  <a:pt x="77991" y="36396"/>
                </a:lnTo>
                <a:close/>
                <a:moveTo>
                  <a:pt x="254770" y="36396"/>
                </a:moveTo>
                <a:lnTo>
                  <a:pt x="254770" y="51994"/>
                </a:lnTo>
                <a:cubicBezTo>
                  <a:pt x="283497" y="51994"/>
                  <a:pt x="306764" y="75261"/>
                  <a:pt x="306764" y="103988"/>
                </a:cubicBezTo>
                <a:cubicBezTo>
                  <a:pt x="306764" y="113737"/>
                  <a:pt x="304100" y="122836"/>
                  <a:pt x="299485" y="130570"/>
                </a:cubicBezTo>
                <a:cubicBezTo>
                  <a:pt x="316188" y="139214"/>
                  <a:pt x="327562" y="156632"/>
                  <a:pt x="327562" y="176779"/>
                </a:cubicBezTo>
                <a:cubicBezTo>
                  <a:pt x="327562" y="193807"/>
                  <a:pt x="319373" y="208886"/>
                  <a:pt x="306764" y="218375"/>
                </a:cubicBezTo>
                <a:cubicBezTo>
                  <a:pt x="313263" y="227084"/>
                  <a:pt x="317163" y="237872"/>
                  <a:pt x="317163" y="249571"/>
                </a:cubicBezTo>
                <a:cubicBezTo>
                  <a:pt x="317163" y="278298"/>
                  <a:pt x="293896" y="301565"/>
                  <a:pt x="265169" y="301565"/>
                </a:cubicBezTo>
                <a:cubicBezTo>
                  <a:pt x="264714" y="301565"/>
                  <a:pt x="264324" y="301565"/>
                  <a:pt x="263869" y="301565"/>
                </a:cubicBezTo>
                <a:cubicBezTo>
                  <a:pt x="259255" y="319503"/>
                  <a:pt x="242942" y="332761"/>
                  <a:pt x="223574" y="332761"/>
                </a:cubicBezTo>
                <a:lnTo>
                  <a:pt x="202776" y="332761"/>
                </a:lnTo>
                <a:cubicBezTo>
                  <a:pt x="191273" y="332761"/>
                  <a:pt x="181979" y="323467"/>
                  <a:pt x="181979" y="311964"/>
                </a:cubicBezTo>
                <a:lnTo>
                  <a:pt x="181979" y="20798"/>
                </a:lnTo>
                <a:cubicBezTo>
                  <a:pt x="181979" y="9294"/>
                  <a:pt x="191273" y="0"/>
                  <a:pt x="202776" y="0"/>
                </a:cubicBezTo>
                <a:lnTo>
                  <a:pt x="218375" y="0"/>
                </a:lnTo>
                <a:cubicBezTo>
                  <a:pt x="238457" y="0"/>
                  <a:pt x="254770" y="16313"/>
                  <a:pt x="254770" y="36396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51" name="Text 49"/>
          <p:cNvSpPr/>
          <p:nvPr/>
        </p:nvSpPr>
        <p:spPr>
          <a:xfrm>
            <a:off x="8417096" y="5176285"/>
            <a:ext cx="3262908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Brain Analogy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421718" y="5509046"/>
            <a:ext cx="3253665" cy="720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65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Neural networks are inspired by the </a:t>
            </a:r>
            <a:r>
              <a:rPr lang="en-US" sz="1165" b="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 brain's structure</a:t>
            </a:r>
            <a:r>
              <a:rPr lang="en-US" sz="1165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—billions of interconnected neurons working together!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426339" y="6303976"/>
            <a:ext cx="3244422" cy="369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9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Rrjetet neuronale janë të frymëzuara nga struktura e trurit njerëzor.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4C8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/ HOW AI WORKS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Machine Learning vs Deep Learning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 vs Deep Learning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524000"/>
            <a:ext cx="11430000" cy="4953000"/>
          </a:xfrm>
          <a:custGeom>
            <a:avLst/>
            <a:gdLst/>
            <a:ahLst/>
            <a:cxnLst/>
            <a:rect l="l" t="t" r="r" b="b"/>
            <a:pathLst>
              <a:path w="11430000" h="4953000">
                <a:moveTo>
                  <a:pt x="152404" y="0"/>
                </a:moveTo>
                <a:lnTo>
                  <a:pt x="11277596" y="0"/>
                </a:lnTo>
                <a:cubicBezTo>
                  <a:pt x="11361766" y="0"/>
                  <a:pt x="11430000" y="68234"/>
                  <a:pt x="11430000" y="152404"/>
                </a:cubicBezTo>
                <a:lnTo>
                  <a:pt x="11430000" y="4800596"/>
                </a:lnTo>
                <a:cubicBezTo>
                  <a:pt x="11430000" y="4884766"/>
                  <a:pt x="11361766" y="4953000"/>
                  <a:pt x="11277596" y="4953000"/>
                </a:cubicBezTo>
                <a:lnTo>
                  <a:pt x="152404" y="4953000"/>
                </a:lnTo>
                <a:cubicBezTo>
                  <a:pt x="68234" y="4953000"/>
                  <a:pt x="0" y="4884766"/>
                  <a:pt x="0" y="4800596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1524000"/>
          <a:ext cx="11430000" cy="676275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5344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AspectAspekti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Machine LearningMachine Learning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Deep LearningDeep Learning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5344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2F3E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DefinitionPërkufizimi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F2A2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Algorithms that learn from data and improve with experience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F2A2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Subset of ML using multi-layered neural networks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5344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2F3E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Data RequirementKërkesa për të Dhëna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F2A2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Small to MediumHundreds to thousands of examples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F2A2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Large DatasetsMillions of examples needed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5344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2F3E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Feature ExtractionEkstraktimi i Veçorive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F2A2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Manual—experts must identify and select relevant features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F2A2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Automatic—learns features directly from raw data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5344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2F3E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Training TimeKoha e Stërvitjes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F2A2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FastSeconds to hours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F2A2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SlowHours to days/weeks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5344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2F3E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Hardware NeedsNevojat Hardware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F2A2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Can run on standard CPUs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F2A2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Requires GPUs or TPUs for training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45344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2F3E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InterpretabilityInterpretueshmëria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F2A2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EasyCan explain decisions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F2A2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Difficult"Black box" problem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45344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2F3E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Best ForMë i MiRi Për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F2A2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Structured data, smaller datasets, when interpretability matters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F2A2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Unstructured data (images, text, audio), complex pattern recognition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3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F3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9a60cf9fd03d4acb94c66a2c3a1d5b9ac10faf6b.jpeg"/>
          <p:cNvPicPr>
            <a:picLocks noChangeAspect="1"/>
          </p:cNvPicPr>
          <p:nvPr/>
        </p:nvPicPr>
        <p:blipFill>
          <a:blip r:embed="rId3">
            <a:alphaModFix amt="25000"/>
          </a:blip>
          <a:srcRect l="194" r="19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F3E3B">
                  <a:alpha val="98000"/>
                </a:srgbClr>
              </a:gs>
              <a:gs pos="50000">
                <a:srgbClr val="2F3E3B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171575"/>
            <a:ext cx="1962150" cy="533400"/>
          </a:xfrm>
          <a:custGeom>
            <a:avLst/>
            <a:gdLst/>
            <a:ahLst/>
            <a:cxnLst/>
            <a:rect l="l" t="t" r="r" b="b"/>
            <a:pathLst>
              <a:path w="1962150" h="533400">
                <a:moveTo>
                  <a:pt x="266700" y="0"/>
                </a:moveTo>
                <a:lnTo>
                  <a:pt x="1695450" y="0"/>
                </a:lnTo>
                <a:cubicBezTo>
                  <a:pt x="1842646" y="0"/>
                  <a:pt x="1962150" y="119504"/>
                  <a:pt x="1962150" y="266700"/>
                </a:cubicBezTo>
                <a:lnTo>
                  <a:pt x="1962150" y="266700"/>
                </a:lnTo>
                <a:cubicBezTo>
                  <a:pt x="1962150" y="413896"/>
                  <a:pt x="1842646" y="533400"/>
                  <a:pt x="169545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1285875"/>
            <a:ext cx="1619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kern="0" spc="18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009775"/>
            <a:ext cx="76581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Key AI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Technologies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952875"/>
            <a:ext cx="7458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Teknologjitë Kryesore të IA-së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60057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4943475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Building Blocks of Intelligence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Bllokët Ndërtues të Inteligjencës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4C8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/ KEY TECHNOLOGIES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7715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Natural Language Processing (NLP)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52525"/>
            <a:ext cx="7639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Përpunimi i Gjuhës Natyrore (NLP)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571625"/>
            <a:ext cx="7524750" cy="1562100"/>
          </a:xfrm>
          <a:custGeom>
            <a:avLst/>
            <a:gdLst/>
            <a:ahLst/>
            <a:cxnLst/>
            <a:rect l="l" t="t" r="r" b="b"/>
            <a:pathLst>
              <a:path w="7524750" h="1562100">
                <a:moveTo>
                  <a:pt x="38100" y="0"/>
                </a:moveTo>
                <a:lnTo>
                  <a:pt x="7410451" y="0"/>
                </a:lnTo>
                <a:cubicBezTo>
                  <a:pt x="7473577" y="0"/>
                  <a:pt x="7524750" y="51173"/>
                  <a:pt x="7524750" y="114299"/>
                </a:cubicBezTo>
                <a:lnTo>
                  <a:pt x="7524750" y="1447801"/>
                </a:lnTo>
                <a:cubicBezTo>
                  <a:pt x="7524750" y="1510927"/>
                  <a:pt x="7473577" y="1562100"/>
                  <a:pt x="7410451" y="1562100"/>
                </a:cubicBez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1571625"/>
            <a:ext cx="38100" cy="1562100"/>
          </a:xfrm>
          <a:custGeom>
            <a:avLst/>
            <a:gdLst/>
            <a:ahLst/>
            <a:cxnLst/>
            <a:rect l="l" t="t" r="r" b="b"/>
            <a:pathLst>
              <a:path w="38100" h="1562100">
                <a:moveTo>
                  <a:pt x="38100" y="0"/>
                </a:moveTo>
                <a:lnTo>
                  <a:pt x="38100" y="0"/>
                </a:lnTo>
                <a:lnTo>
                  <a:pt x="38100" y="1562100"/>
                </a:ln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7" name="Shape 5"/>
          <p:cNvSpPr/>
          <p:nvPr/>
        </p:nvSpPr>
        <p:spPr>
          <a:xfrm>
            <a:off x="647700" y="18002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85813" y="195262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71450" y="64294"/>
                </a:moveTo>
                <a:cubicBezTo>
                  <a:pt x="171450" y="107692"/>
                  <a:pt x="133052" y="142875"/>
                  <a:pt x="85725" y="142875"/>
                </a:cubicBezTo>
                <a:cubicBezTo>
                  <a:pt x="73804" y="142875"/>
                  <a:pt x="62463" y="140643"/>
                  <a:pt x="52149" y="136624"/>
                </a:cubicBezTo>
                <a:lnTo>
                  <a:pt x="15716" y="155912"/>
                </a:lnTo>
                <a:cubicBezTo>
                  <a:pt x="11564" y="158100"/>
                  <a:pt x="6474" y="157341"/>
                  <a:pt x="3125" y="154037"/>
                </a:cubicBezTo>
                <a:cubicBezTo>
                  <a:pt x="-223" y="150733"/>
                  <a:pt x="-982" y="145599"/>
                  <a:pt x="1250" y="141446"/>
                </a:cubicBezTo>
                <a:lnTo>
                  <a:pt x="17145" y="111443"/>
                </a:lnTo>
                <a:cubicBezTo>
                  <a:pt x="6385" y="98316"/>
                  <a:pt x="0" y="81975"/>
                  <a:pt x="0" y="64294"/>
                </a:cubicBezTo>
                <a:cubicBezTo>
                  <a:pt x="0" y="20895"/>
                  <a:pt x="38398" y="-14287"/>
                  <a:pt x="85725" y="-14287"/>
                </a:cubicBezTo>
                <a:cubicBezTo>
                  <a:pt x="133052" y="-14287"/>
                  <a:pt x="171450" y="20895"/>
                  <a:pt x="171450" y="64294"/>
                </a:cubicBezTo>
                <a:close/>
                <a:moveTo>
                  <a:pt x="171450" y="228600"/>
                </a:moveTo>
                <a:cubicBezTo>
                  <a:pt x="129436" y="228600"/>
                  <a:pt x="94476" y="200873"/>
                  <a:pt x="87154" y="164306"/>
                </a:cubicBezTo>
                <a:cubicBezTo>
                  <a:pt x="140732" y="163637"/>
                  <a:pt x="187300" y="125507"/>
                  <a:pt x="192435" y="73804"/>
                </a:cubicBezTo>
                <a:cubicBezTo>
                  <a:pt x="229627" y="82376"/>
                  <a:pt x="257175" y="113228"/>
                  <a:pt x="257175" y="150019"/>
                </a:cubicBezTo>
                <a:cubicBezTo>
                  <a:pt x="257175" y="167700"/>
                  <a:pt x="250790" y="184041"/>
                  <a:pt x="240030" y="197168"/>
                </a:cubicBezTo>
                <a:lnTo>
                  <a:pt x="255925" y="227171"/>
                </a:lnTo>
                <a:cubicBezTo>
                  <a:pt x="258113" y="231324"/>
                  <a:pt x="257354" y="236413"/>
                  <a:pt x="254050" y="239762"/>
                </a:cubicBezTo>
                <a:cubicBezTo>
                  <a:pt x="250746" y="243111"/>
                  <a:pt x="245611" y="243870"/>
                  <a:pt x="241459" y="241637"/>
                </a:cubicBezTo>
                <a:lnTo>
                  <a:pt x="205026" y="222349"/>
                </a:lnTo>
                <a:cubicBezTo>
                  <a:pt x="194712" y="226368"/>
                  <a:pt x="183371" y="228600"/>
                  <a:pt x="171450" y="22860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1800225"/>
            <a:ext cx="6457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is NLP?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33500" y="2143125"/>
            <a:ext cx="6438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NLP enables computers to understand, interpret, and generate human language.</a:t>
            </a:r>
            <a:r>
              <a:rPr lang="en-US" sz="120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It bridges the gap between human communication and computer understanding.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33500" y="2714625"/>
            <a:ext cx="642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NLP mundëson kompjuterët të kuptojnë dhe gjenerojnë gjuhën njerëzore.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1000" y="3286125"/>
            <a:ext cx="7543800" cy="3190875"/>
          </a:xfrm>
          <a:custGeom>
            <a:avLst/>
            <a:gdLst/>
            <a:ahLst/>
            <a:cxnLst/>
            <a:rect l="l" t="t" r="r" b="b"/>
            <a:pathLst>
              <a:path w="7543800" h="3190875">
                <a:moveTo>
                  <a:pt x="114297" y="0"/>
                </a:moveTo>
                <a:lnTo>
                  <a:pt x="7429503" y="0"/>
                </a:lnTo>
                <a:cubicBezTo>
                  <a:pt x="7492585" y="0"/>
                  <a:pt x="7543800" y="51215"/>
                  <a:pt x="7543800" y="114297"/>
                </a:cubicBezTo>
                <a:lnTo>
                  <a:pt x="7543800" y="3076578"/>
                </a:lnTo>
                <a:cubicBezTo>
                  <a:pt x="7543800" y="3139660"/>
                  <a:pt x="7492585" y="3190875"/>
                  <a:pt x="7429503" y="3190875"/>
                </a:cubicBezTo>
                <a:lnTo>
                  <a:pt x="114297" y="3190875"/>
                </a:lnTo>
                <a:cubicBezTo>
                  <a:pt x="51215" y="3190875"/>
                  <a:pt x="0" y="3139660"/>
                  <a:pt x="0" y="3076578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3413" y="35528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9783" y="13506"/>
                </a:moveTo>
                <a:cubicBezTo>
                  <a:pt x="53839" y="16334"/>
                  <a:pt x="54806" y="21915"/>
                  <a:pt x="51978" y="25933"/>
                </a:cubicBezTo>
                <a:lnTo>
                  <a:pt x="31142" y="55699"/>
                </a:lnTo>
                <a:cubicBezTo>
                  <a:pt x="29617" y="57857"/>
                  <a:pt x="27236" y="59234"/>
                  <a:pt x="24594" y="59457"/>
                </a:cubicBezTo>
                <a:cubicBezTo>
                  <a:pt x="21952" y="59680"/>
                  <a:pt x="19348" y="58787"/>
                  <a:pt x="17487" y="56927"/>
                </a:cubicBezTo>
                <a:lnTo>
                  <a:pt x="2604" y="42044"/>
                </a:lnTo>
                <a:cubicBezTo>
                  <a:pt x="-856" y="38546"/>
                  <a:pt x="-856" y="32891"/>
                  <a:pt x="2604" y="29394"/>
                </a:cubicBezTo>
                <a:cubicBezTo>
                  <a:pt x="6065" y="25896"/>
                  <a:pt x="11757" y="25933"/>
                  <a:pt x="15255" y="29394"/>
                </a:cubicBezTo>
                <a:lnTo>
                  <a:pt x="22622" y="36761"/>
                </a:lnTo>
                <a:lnTo>
                  <a:pt x="37356" y="15701"/>
                </a:lnTo>
                <a:cubicBezTo>
                  <a:pt x="40184" y="11646"/>
                  <a:pt x="45765" y="10678"/>
                  <a:pt x="49783" y="13506"/>
                </a:cubicBezTo>
                <a:close/>
                <a:moveTo>
                  <a:pt x="49783" y="73037"/>
                </a:moveTo>
                <a:cubicBezTo>
                  <a:pt x="53839" y="75865"/>
                  <a:pt x="54806" y="81446"/>
                  <a:pt x="51978" y="85465"/>
                </a:cubicBezTo>
                <a:lnTo>
                  <a:pt x="31142" y="115230"/>
                </a:lnTo>
                <a:cubicBezTo>
                  <a:pt x="29617" y="117388"/>
                  <a:pt x="27236" y="118765"/>
                  <a:pt x="24594" y="118988"/>
                </a:cubicBezTo>
                <a:cubicBezTo>
                  <a:pt x="21952" y="119211"/>
                  <a:pt x="19348" y="118318"/>
                  <a:pt x="17487" y="116458"/>
                </a:cubicBezTo>
                <a:lnTo>
                  <a:pt x="2604" y="101575"/>
                </a:lnTo>
                <a:cubicBezTo>
                  <a:pt x="-893" y="98078"/>
                  <a:pt x="-893" y="92422"/>
                  <a:pt x="2604" y="88962"/>
                </a:cubicBezTo>
                <a:cubicBezTo>
                  <a:pt x="6102" y="85502"/>
                  <a:pt x="11757" y="85465"/>
                  <a:pt x="15218" y="88962"/>
                </a:cubicBezTo>
                <a:lnTo>
                  <a:pt x="22585" y="96329"/>
                </a:lnTo>
                <a:lnTo>
                  <a:pt x="37319" y="75270"/>
                </a:lnTo>
                <a:cubicBezTo>
                  <a:pt x="40146" y="71214"/>
                  <a:pt x="45727" y="70247"/>
                  <a:pt x="49746" y="73075"/>
                </a:cubicBezTo>
                <a:close/>
                <a:moveTo>
                  <a:pt x="83344" y="35719"/>
                </a:moveTo>
                <a:cubicBezTo>
                  <a:pt x="83344" y="29133"/>
                  <a:pt x="88664" y="23812"/>
                  <a:pt x="95250" y="23812"/>
                </a:cubicBez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95250" y="47625"/>
                </a:lnTo>
                <a:cubicBezTo>
                  <a:pt x="88664" y="47625"/>
                  <a:pt x="83344" y="42304"/>
                  <a:pt x="83344" y="35719"/>
                </a:cubicBezTo>
                <a:close/>
                <a:moveTo>
                  <a:pt x="83344" y="95250"/>
                </a:moveTo>
                <a:cubicBezTo>
                  <a:pt x="83344" y="88664"/>
                  <a:pt x="88664" y="83344"/>
                  <a:pt x="95250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95250" y="107156"/>
                </a:lnTo>
                <a:cubicBezTo>
                  <a:pt x="88664" y="107156"/>
                  <a:pt x="83344" y="101836"/>
                  <a:pt x="83344" y="95250"/>
                </a:cubicBezTo>
                <a:close/>
                <a:moveTo>
                  <a:pt x="59531" y="154781"/>
                </a:moveTo>
                <a:cubicBezTo>
                  <a:pt x="59531" y="148196"/>
                  <a:pt x="64852" y="142875"/>
                  <a:pt x="71438" y="142875"/>
                </a:cubicBez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71438" y="166688"/>
                </a:lnTo>
                <a:cubicBezTo>
                  <a:pt x="64852" y="166688"/>
                  <a:pt x="59531" y="161367"/>
                  <a:pt x="59531" y="154781"/>
                </a:cubicBezTo>
                <a:close/>
                <a:moveTo>
                  <a:pt x="23812" y="139898"/>
                </a:moveTo>
                <a:cubicBezTo>
                  <a:pt x="32027" y="139898"/>
                  <a:pt x="38695" y="146567"/>
                  <a:pt x="38695" y="154781"/>
                </a:cubicBezTo>
                <a:cubicBezTo>
                  <a:pt x="38695" y="162995"/>
                  <a:pt x="32027" y="169664"/>
                  <a:pt x="23812" y="169664"/>
                </a:cubicBezTo>
                <a:cubicBezTo>
                  <a:pt x="15598" y="169664"/>
                  <a:pt x="8930" y="162995"/>
                  <a:pt x="8930" y="154781"/>
                </a:cubicBezTo>
                <a:cubicBezTo>
                  <a:pt x="8930" y="146567"/>
                  <a:pt x="15598" y="139898"/>
                  <a:pt x="23812" y="139898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4" name="Text 12"/>
          <p:cNvSpPr/>
          <p:nvPr/>
        </p:nvSpPr>
        <p:spPr>
          <a:xfrm>
            <a:off x="847725" y="3514725"/>
            <a:ext cx="6943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NLP Tasks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8650" y="3933825"/>
            <a:ext cx="3467100" cy="685800"/>
          </a:xfrm>
          <a:custGeom>
            <a:avLst/>
            <a:gdLst/>
            <a:ahLst/>
            <a:cxnLst/>
            <a:rect l="l" t="t" r="r" b="b"/>
            <a:pathLst>
              <a:path w="3467100" h="685800">
                <a:moveTo>
                  <a:pt x="38100" y="0"/>
                </a:moveTo>
                <a:lnTo>
                  <a:pt x="3390901" y="0"/>
                </a:lnTo>
                <a:cubicBezTo>
                  <a:pt x="3432984" y="0"/>
                  <a:pt x="3467100" y="34116"/>
                  <a:pt x="3467100" y="76199"/>
                </a:cubicBezTo>
                <a:lnTo>
                  <a:pt x="3467100" y="609601"/>
                </a:lnTo>
                <a:cubicBezTo>
                  <a:pt x="3467100" y="651684"/>
                  <a:pt x="3432984" y="685800"/>
                  <a:pt x="339090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16" name="Shape 14"/>
          <p:cNvSpPr/>
          <p:nvPr/>
        </p:nvSpPr>
        <p:spPr>
          <a:xfrm>
            <a:off x="628650" y="3933825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4048125"/>
            <a:ext cx="3295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📝 Sentiment Analysis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4314825"/>
            <a:ext cx="3286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Determines emotional tone (positive, negative, neutral)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29100" y="3933825"/>
            <a:ext cx="3467100" cy="685800"/>
          </a:xfrm>
          <a:custGeom>
            <a:avLst/>
            <a:gdLst/>
            <a:ahLst/>
            <a:cxnLst/>
            <a:rect l="l" t="t" r="r" b="b"/>
            <a:pathLst>
              <a:path w="3467100" h="685800">
                <a:moveTo>
                  <a:pt x="38100" y="0"/>
                </a:moveTo>
                <a:lnTo>
                  <a:pt x="3390901" y="0"/>
                </a:lnTo>
                <a:cubicBezTo>
                  <a:pt x="3432984" y="0"/>
                  <a:pt x="3467100" y="34116"/>
                  <a:pt x="3467100" y="76199"/>
                </a:cubicBezTo>
                <a:lnTo>
                  <a:pt x="3467100" y="609601"/>
                </a:lnTo>
                <a:cubicBezTo>
                  <a:pt x="3467100" y="651684"/>
                  <a:pt x="3432984" y="685800"/>
                  <a:pt x="339090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20" name="Shape 18"/>
          <p:cNvSpPr/>
          <p:nvPr/>
        </p:nvSpPr>
        <p:spPr>
          <a:xfrm>
            <a:off x="4229100" y="3933825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21" name="Text 19"/>
          <p:cNvSpPr/>
          <p:nvPr/>
        </p:nvSpPr>
        <p:spPr>
          <a:xfrm>
            <a:off x="4362450" y="4048125"/>
            <a:ext cx="3295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🏷️ Named Entity Recognition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62450" y="4314825"/>
            <a:ext cx="3286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Identifies names, places, organizations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8650" y="4733925"/>
            <a:ext cx="3467100" cy="685800"/>
          </a:xfrm>
          <a:custGeom>
            <a:avLst/>
            <a:gdLst/>
            <a:ahLst/>
            <a:cxnLst/>
            <a:rect l="l" t="t" r="r" b="b"/>
            <a:pathLst>
              <a:path w="3467100" h="685800">
                <a:moveTo>
                  <a:pt x="38100" y="0"/>
                </a:moveTo>
                <a:lnTo>
                  <a:pt x="3390901" y="0"/>
                </a:lnTo>
                <a:cubicBezTo>
                  <a:pt x="3432984" y="0"/>
                  <a:pt x="3467100" y="34116"/>
                  <a:pt x="3467100" y="76199"/>
                </a:cubicBezTo>
                <a:lnTo>
                  <a:pt x="3467100" y="609601"/>
                </a:lnTo>
                <a:cubicBezTo>
                  <a:pt x="3467100" y="651684"/>
                  <a:pt x="3432984" y="685800"/>
                  <a:pt x="339090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24" name="Shape 22"/>
          <p:cNvSpPr/>
          <p:nvPr/>
        </p:nvSpPr>
        <p:spPr>
          <a:xfrm>
            <a:off x="628650" y="4733925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25" name="Text 23"/>
          <p:cNvSpPr/>
          <p:nvPr/>
        </p:nvSpPr>
        <p:spPr>
          <a:xfrm>
            <a:off x="762000" y="4848225"/>
            <a:ext cx="3295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🌐 Machine Translation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5114925"/>
            <a:ext cx="3286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Translates text between languages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229100" y="4733925"/>
            <a:ext cx="3467100" cy="685800"/>
          </a:xfrm>
          <a:custGeom>
            <a:avLst/>
            <a:gdLst/>
            <a:ahLst/>
            <a:cxnLst/>
            <a:rect l="l" t="t" r="r" b="b"/>
            <a:pathLst>
              <a:path w="3467100" h="685800">
                <a:moveTo>
                  <a:pt x="38100" y="0"/>
                </a:moveTo>
                <a:lnTo>
                  <a:pt x="3390901" y="0"/>
                </a:lnTo>
                <a:cubicBezTo>
                  <a:pt x="3432984" y="0"/>
                  <a:pt x="3467100" y="34116"/>
                  <a:pt x="3467100" y="76199"/>
                </a:cubicBezTo>
                <a:lnTo>
                  <a:pt x="3467100" y="609601"/>
                </a:lnTo>
                <a:cubicBezTo>
                  <a:pt x="3467100" y="651684"/>
                  <a:pt x="3432984" y="685800"/>
                  <a:pt x="339090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28" name="Shape 26"/>
          <p:cNvSpPr/>
          <p:nvPr/>
        </p:nvSpPr>
        <p:spPr>
          <a:xfrm>
            <a:off x="4229100" y="4733925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29" name="Text 27"/>
          <p:cNvSpPr/>
          <p:nvPr/>
        </p:nvSpPr>
        <p:spPr>
          <a:xfrm>
            <a:off x="4362450" y="4848225"/>
            <a:ext cx="3295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💬 Chatbots &amp; Assistants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362450" y="5114925"/>
            <a:ext cx="3286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Conversational AI systems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8650" y="5534025"/>
            <a:ext cx="3467100" cy="685800"/>
          </a:xfrm>
          <a:custGeom>
            <a:avLst/>
            <a:gdLst/>
            <a:ahLst/>
            <a:cxnLst/>
            <a:rect l="l" t="t" r="r" b="b"/>
            <a:pathLst>
              <a:path w="3467100" h="685800">
                <a:moveTo>
                  <a:pt x="38100" y="0"/>
                </a:moveTo>
                <a:lnTo>
                  <a:pt x="3390901" y="0"/>
                </a:lnTo>
                <a:cubicBezTo>
                  <a:pt x="3432984" y="0"/>
                  <a:pt x="3467100" y="34116"/>
                  <a:pt x="3467100" y="76199"/>
                </a:cubicBezTo>
                <a:lnTo>
                  <a:pt x="3467100" y="609601"/>
                </a:lnTo>
                <a:cubicBezTo>
                  <a:pt x="3467100" y="651684"/>
                  <a:pt x="3432984" y="685800"/>
                  <a:pt x="339090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32" name="Shape 30"/>
          <p:cNvSpPr/>
          <p:nvPr/>
        </p:nvSpPr>
        <p:spPr>
          <a:xfrm>
            <a:off x="628650" y="5534025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33" name="Text 31"/>
          <p:cNvSpPr/>
          <p:nvPr/>
        </p:nvSpPr>
        <p:spPr>
          <a:xfrm>
            <a:off x="762000" y="5648325"/>
            <a:ext cx="3295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🎙️ Speech Recognition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62000" y="5915025"/>
            <a:ext cx="3286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Converts spoken language to text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229100" y="5534025"/>
            <a:ext cx="3467100" cy="685800"/>
          </a:xfrm>
          <a:custGeom>
            <a:avLst/>
            <a:gdLst/>
            <a:ahLst/>
            <a:cxnLst/>
            <a:rect l="l" t="t" r="r" b="b"/>
            <a:pathLst>
              <a:path w="3467100" h="685800">
                <a:moveTo>
                  <a:pt x="38100" y="0"/>
                </a:moveTo>
                <a:lnTo>
                  <a:pt x="3390901" y="0"/>
                </a:lnTo>
                <a:cubicBezTo>
                  <a:pt x="3432984" y="0"/>
                  <a:pt x="3467100" y="34116"/>
                  <a:pt x="3467100" y="76199"/>
                </a:cubicBezTo>
                <a:lnTo>
                  <a:pt x="3467100" y="609601"/>
                </a:lnTo>
                <a:cubicBezTo>
                  <a:pt x="3467100" y="651684"/>
                  <a:pt x="3432984" y="685800"/>
                  <a:pt x="339090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36" name="Shape 34"/>
          <p:cNvSpPr/>
          <p:nvPr/>
        </p:nvSpPr>
        <p:spPr>
          <a:xfrm>
            <a:off x="4229100" y="5534025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37" name="Text 35"/>
          <p:cNvSpPr/>
          <p:nvPr/>
        </p:nvSpPr>
        <p:spPr>
          <a:xfrm>
            <a:off x="4362450" y="5648325"/>
            <a:ext cx="3295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📄 Text Summarization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362450" y="5915025"/>
            <a:ext cx="3286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Creates concise summaries of documents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153400" y="381000"/>
            <a:ext cx="3657600" cy="3848100"/>
          </a:xfrm>
          <a:custGeom>
            <a:avLst/>
            <a:gdLst/>
            <a:ahLst/>
            <a:cxnLst/>
            <a:rect l="l" t="t" r="r" b="b"/>
            <a:pathLst>
              <a:path w="3657600" h="3848100">
                <a:moveTo>
                  <a:pt x="114300" y="0"/>
                </a:moveTo>
                <a:lnTo>
                  <a:pt x="3543300" y="0"/>
                </a:lnTo>
                <a:cubicBezTo>
                  <a:pt x="3606384" y="0"/>
                  <a:pt x="3657600" y="51216"/>
                  <a:pt x="3657600" y="114300"/>
                </a:cubicBezTo>
                <a:lnTo>
                  <a:pt x="3657600" y="3733800"/>
                </a:lnTo>
                <a:cubicBezTo>
                  <a:pt x="3657600" y="3796884"/>
                  <a:pt x="3606384" y="3848100"/>
                  <a:pt x="3543300" y="3848100"/>
                </a:cubicBezTo>
                <a:lnTo>
                  <a:pt x="114300" y="3848100"/>
                </a:lnTo>
                <a:cubicBezTo>
                  <a:pt x="51216" y="3848100"/>
                  <a:pt x="0" y="3796884"/>
                  <a:pt x="0" y="37338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A7A"/>
              </a:gs>
              <a:gs pos="100000">
                <a:srgbClr val="2F3E3B"/>
              </a:gs>
            </a:gsLst>
            <a:lin ang="2700000" scaled="1"/>
          </a:gradFill>
          <a:ln/>
        </p:spPr>
      </p:sp>
      <p:sp>
        <p:nvSpPr>
          <p:cNvPr id="40" name="Text 38"/>
          <p:cNvSpPr/>
          <p:nvPr/>
        </p:nvSpPr>
        <p:spPr>
          <a:xfrm>
            <a:off x="8334375" y="609600"/>
            <a:ext cx="3295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NLP Works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382000" y="1028700"/>
            <a:ext cx="3200400" cy="685800"/>
          </a:xfrm>
          <a:custGeom>
            <a:avLst/>
            <a:gdLst/>
            <a:ahLst/>
            <a:cxnLst/>
            <a:rect l="l" t="t" r="r" b="b"/>
            <a:pathLst>
              <a:path w="3200400" h="685800">
                <a:moveTo>
                  <a:pt x="76199" y="0"/>
                </a:moveTo>
                <a:lnTo>
                  <a:pt x="3124201" y="0"/>
                </a:lnTo>
                <a:cubicBezTo>
                  <a:pt x="3166284" y="0"/>
                  <a:pt x="3200400" y="34116"/>
                  <a:pt x="3200400" y="76199"/>
                </a:cubicBezTo>
                <a:lnTo>
                  <a:pt x="3200400" y="609601"/>
                </a:lnTo>
                <a:cubicBezTo>
                  <a:pt x="3200400" y="651684"/>
                  <a:pt x="3166284" y="685800"/>
                  <a:pt x="31242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8496300" y="1143000"/>
            <a:ext cx="304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1️⃣ Tokenization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496300" y="1409700"/>
            <a:ext cx="3038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Breaks text into words or phrases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382000" y="1790700"/>
            <a:ext cx="3200400" cy="685800"/>
          </a:xfrm>
          <a:custGeom>
            <a:avLst/>
            <a:gdLst/>
            <a:ahLst/>
            <a:cxnLst/>
            <a:rect l="l" t="t" r="r" b="b"/>
            <a:pathLst>
              <a:path w="3200400" h="685800">
                <a:moveTo>
                  <a:pt x="76199" y="0"/>
                </a:moveTo>
                <a:lnTo>
                  <a:pt x="3124201" y="0"/>
                </a:lnTo>
                <a:cubicBezTo>
                  <a:pt x="3166284" y="0"/>
                  <a:pt x="3200400" y="34116"/>
                  <a:pt x="3200400" y="76199"/>
                </a:cubicBezTo>
                <a:lnTo>
                  <a:pt x="3200400" y="609601"/>
                </a:lnTo>
                <a:cubicBezTo>
                  <a:pt x="3200400" y="651684"/>
                  <a:pt x="3166284" y="685800"/>
                  <a:pt x="31242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8496300" y="1905000"/>
            <a:ext cx="304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2️⃣ Part-of-Speech Tagging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496300" y="2171700"/>
            <a:ext cx="3038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Identifies grammatical roles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382000" y="2552700"/>
            <a:ext cx="3200400" cy="685800"/>
          </a:xfrm>
          <a:custGeom>
            <a:avLst/>
            <a:gdLst/>
            <a:ahLst/>
            <a:cxnLst/>
            <a:rect l="l" t="t" r="r" b="b"/>
            <a:pathLst>
              <a:path w="3200400" h="685800">
                <a:moveTo>
                  <a:pt x="76199" y="0"/>
                </a:moveTo>
                <a:lnTo>
                  <a:pt x="3124201" y="0"/>
                </a:lnTo>
                <a:cubicBezTo>
                  <a:pt x="3166284" y="0"/>
                  <a:pt x="3200400" y="34116"/>
                  <a:pt x="3200400" y="76199"/>
                </a:cubicBezTo>
                <a:lnTo>
                  <a:pt x="3200400" y="609601"/>
                </a:lnTo>
                <a:cubicBezTo>
                  <a:pt x="3200400" y="651684"/>
                  <a:pt x="3166284" y="685800"/>
                  <a:pt x="31242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8496300" y="2667000"/>
            <a:ext cx="304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3️⃣ Parsing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496300" y="2933700"/>
            <a:ext cx="3038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Understands sentence structure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382000" y="3314700"/>
            <a:ext cx="3200400" cy="685800"/>
          </a:xfrm>
          <a:custGeom>
            <a:avLst/>
            <a:gdLst/>
            <a:ahLst/>
            <a:cxnLst/>
            <a:rect l="l" t="t" r="r" b="b"/>
            <a:pathLst>
              <a:path w="3200400" h="685800">
                <a:moveTo>
                  <a:pt x="76199" y="0"/>
                </a:moveTo>
                <a:lnTo>
                  <a:pt x="3124201" y="0"/>
                </a:lnTo>
                <a:cubicBezTo>
                  <a:pt x="3166284" y="0"/>
                  <a:pt x="3200400" y="34116"/>
                  <a:pt x="3200400" y="76199"/>
                </a:cubicBezTo>
                <a:lnTo>
                  <a:pt x="3200400" y="609601"/>
                </a:lnTo>
                <a:cubicBezTo>
                  <a:pt x="3200400" y="651684"/>
                  <a:pt x="3166284" y="685800"/>
                  <a:pt x="31242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8496300" y="3429000"/>
            <a:ext cx="304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4️⃣ Semantic Analysis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496300" y="3695700"/>
            <a:ext cx="3038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Extracts meaning and intent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153400" y="4381500"/>
            <a:ext cx="3657600" cy="2190750"/>
          </a:xfrm>
          <a:custGeom>
            <a:avLst/>
            <a:gdLst/>
            <a:ahLst/>
            <a:cxnLst/>
            <a:rect l="l" t="t" r="r" b="b"/>
            <a:pathLst>
              <a:path w="3657600" h="2190750">
                <a:moveTo>
                  <a:pt x="114291" y="0"/>
                </a:moveTo>
                <a:lnTo>
                  <a:pt x="3543309" y="0"/>
                </a:lnTo>
                <a:cubicBezTo>
                  <a:pt x="3606430" y="0"/>
                  <a:pt x="3657600" y="51170"/>
                  <a:pt x="3657600" y="114291"/>
                </a:cubicBezTo>
                <a:lnTo>
                  <a:pt x="3657600" y="2076459"/>
                </a:lnTo>
                <a:cubicBezTo>
                  <a:pt x="3657600" y="2139580"/>
                  <a:pt x="3606430" y="2190750"/>
                  <a:pt x="3543309" y="2190750"/>
                </a:cubicBezTo>
                <a:lnTo>
                  <a:pt x="114291" y="2190750"/>
                </a:lnTo>
                <a:cubicBezTo>
                  <a:pt x="51170" y="2190750"/>
                  <a:pt x="0" y="2139580"/>
                  <a:pt x="0" y="2076459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9767888" y="4572000"/>
            <a:ext cx="428625" cy="342900"/>
          </a:xfrm>
          <a:custGeom>
            <a:avLst/>
            <a:gdLst/>
            <a:ahLst/>
            <a:cxnLst/>
            <a:rect l="l" t="t" r="r" b="b"/>
            <a:pathLst>
              <a:path w="428625" h="342900">
                <a:moveTo>
                  <a:pt x="235744" y="0"/>
                </a:moveTo>
                <a:cubicBezTo>
                  <a:pt x="235744" y="-11854"/>
                  <a:pt x="226167" y="-21431"/>
                  <a:pt x="214313" y="-21431"/>
                </a:cubicBezTo>
                <a:cubicBezTo>
                  <a:pt x="202458" y="-21431"/>
                  <a:pt x="192881" y="-11854"/>
                  <a:pt x="192881" y="0"/>
                </a:cubicBezTo>
                <a:lnTo>
                  <a:pt x="192881" y="42863"/>
                </a:lnTo>
                <a:lnTo>
                  <a:pt x="128588" y="42863"/>
                </a:lnTo>
                <a:cubicBezTo>
                  <a:pt x="93092" y="42863"/>
                  <a:pt x="64294" y="71661"/>
                  <a:pt x="64294" y="107156"/>
                </a:cubicBezTo>
                <a:lnTo>
                  <a:pt x="64294" y="257175"/>
                </a:lnTo>
                <a:cubicBezTo>
                  <a:pt x="64294" y="292671"/>
                  <a:pt x="93092" y="321469"/>
                  <a:pt x="128588" y="321469"/>
                </a:cubicBezTo>
                <a:lnTo>
                  <a:pt x="300038" y="321469"/>
                </a:lnTo>
                <a:cubicBezTo>
                  <a:pt x="335533" y="321469"/>
                  <a:pt x="364331" y="292671"/>
                  <a:pt x="364331" y="257175"/>
                </a:cubicBezTo>
                <a:lnTo>
                  <a:pt x="364331" y="107156"/>
                </a:lnTo>
                <a:cubicBezTo>
                  <a:pt x="364331" y="71661"/>
                  <a:pt x="335533" y="42863"/>
                  <a:pt x="300038" y="42863"/>
                </a:cubicBezTo>
                <a:lnTo>
                  <a:pt x="235744" y="42863"/>
                </a:lnTo>
                <a:lnTo>
                  <a:pt x="235744" y="0"/>
                </a:lnTo>
                <a:close/>
                <a:moveTo>
                  <a:pt x="107156" y="246459"/>
                </a:moveTo>
                <a:cubicBezTo>
                  <a:pt x="107156" y="237552"/>
                  <a:pt x="114322" y="230386"/>
                  <a:pt x="123230" y="230386"/>
                </a:cubicBezTo>
                <a:lnTo>
                  <a:pt x="144661" y="230386"/>
                </a:lnTo>
                <a:cubicBezTo>
                  <a:pt x="153568" y="230386"/>
                  <a:pt x="160734" y="237552"/>
                  <a:pt x="160734" y="246459"/>
                </a:cubicBezTo>
                <a:cubicBezTo>
                  <a:pt x="160734" y="255367"/>
                  <a:pt x="153568" y="262533"/>
                  <a:pt x="144661" y="262533"/>
                </a:cubicBezTo>
                <a:lnTo>
                  <a:pt x="123230" y="262533"/>
                </a:lnTo>
                <a:cubicBezTo>
                  <a:pt x="114322" y="262533"/>
                  <a:pt x="107156" y="255367"/>
                  <a:pt x="107156" y="246459"/>
                </a:cubicBezTo>
                <a:close/>
                <a:moveTo>
                  <a:pt x="187523" y="246459"/>
                </a:moveTo>
                <a:cubicBezTo>
                  <a:pt x="187523" y="237552"/>
                  <a:pt x="194690" y="230386"/>
                  <a:pt x="203597" y="230386"/>
                </a:cubicBezTo>
                <a:lnTo>
                  <a:pt x="225028" y="230386"/>
                </a:lnTo>
                <a:cubicBezTo>
                  <a:pt x="233935" y="230386"/>
                  <a:pt x="241102" y="237552"/>
                  <a:pt x="241102" y="246459"/>
                </a:cubicBezTo>
                <a:cubicBezTo>
                  <a:pt x="241102" y="255367"/>
                  <a:pt x="233935" y="262533"/>
                  <a:pt x="225028" y="262533"/>
                </a:cubicBezTo>
                <a:lnTo>
                  <a:pt x="203597" y="262533"/>
                </a:lnTo>
                <a:cubicBezTo>
                  <a:pt x="194690" y="262533"/>
                  <a:pt x="187523" y="255367"/>
                  <a:pt x="187523" y="246459"/>
                </a:cubicBezTo>
                <a:close/>
                <a:moveTo>
                  <a:pt x="267891" y="246459"/>
                </a:moveTo>
                <a:cubicBezTo>
                  <a:pt x="267891" y="237552"/>
                  <a:pt x="275057" y="230386"/>
                  <a:pt x="283964" y="230386"/>
                </a:cubicBezTo>
                <a:lnTo>
                  <a:pt x="305395" y="230386"/>
                </a:lnTo>
                <a:cubicBezTo>
                  <a:pt x="314303" y="230386"/>
                  <a:pt x="321469" y="237552"/>
                  <a:pt x="321469" y="246459"/>
                </a:cubicBezTo>
                <a:cubicBezTo>
                  <a:pt x="321469" y="255367"/>
                  <a:pt x="314303" y="262533"/>
                  <a:pt x="305395" y="262533"/>
                </a:cubicBezTo>
                <a:lnTo>
                  <a:pt x="283964" y="262533"/>
                </a:lnTo>
                <a:cubicBezTo>
                  <a:pt x="275057" y="262533"/>
                  <a:pt x="267891" y="255367"/>
                  <a:pt x="267891" y="246459"/>
                </a:cubicBezTo>
                <a:close/>
                <a:moveTo>
                  <a:pt x="150019" y="117872"/>
                </a:moveTo>
                <a:cubicBezTo>
                  <a:pt x="167761" y="117872"/>
                  <a:pt x="182166" y="132276"/>
                  <a:pt x="182166" y="150019"/>
                </a:cubicBezTo>
                <a:cubicBezTo>
                  <a:pt x="182166" y="167761"/>
                  <a:pt x="167761" y="182166"/>
                  <a:pt x="150019" y="182166"/>
                </a:cubicBezTo>
                <a:cubicBezTo>
                  <a:pt x="132276" y="182166"/>
                  <a:pt x="117872" y="167761"/>
                  <a:pt x="117872" y="150019"/>
                </a:cubicBezTo>
                <a:cubicBezTo>
                  <a:pt x="117872" y="132276"/>
                  <a:pt x="132276" y="117872"/>
                  <a:pt x="150019" y="117872"/>
                </a:cubicBezTo>
                <a:close/>
                <a:moveTo>
                  <a:pt x="246459" y="150019"/>
                </a:moveTo>
                <a:cubicBezTo>
                  <a:pt x="246459" y="132276"/>
                  <a:pt x="260864" y="117872"/>
                  <a:pt x="278606" y="117872"/>
                </a:cubicBezTo>
                <a:cubicBezTo>
                  <a:pt x="296349" y="117872"/>
                  <a:pt x="310753" y="132276"/>
                  <a:pt x="310753" y="150019"/>
                </a:cubicBezTo>
                <a:cubicBezTo>
                  <a:pt x="310753" y="167761"/>
                  <a:pt x="296349" y="182166"/>
                  <a:pt x="278606" y="182166"/>
                </a:cubicBezTo>
                <a:cubicBezTo>
                  <a:pt x="260864" y="182166"/>
                  <a:pt x="246459" y="167761"/>
                  <a:pt x="246459" y="150019"/>
                </a:cubicBezTo>
                <a:close/>
                <a:moveTo>
                  <a:pt x="42863" y="150019"/>
                </a:moveTo>
                <a:cubicBezTo>
                  <a:pt x="42863" y="138165"/>
                  <a:pt x="33285" y="128588"/>
                  <a:pt x="21431" y="128588"/>
                </a:cubicBezTo>
                <a:cubicBezTo>
                  <a:pt x="9577" y="128588"/>
                  <a:pt x="0" y="138165"/>
                  <a:pt x="0" y="150019"/>
                </a:cubicBezTo>
                <a:lnTo>
                  <a:pt x="0" y="214313"/>
                </a:lnTo>
                <a:cubicBezTo>
                  <a:pt x="0" y="226167"/>
                  <a:pt x="9577" y="235744"/>
                  <a:pt x="21431" y="235744"/>
                </a:cubicBezTo>
                <a:cubicBezTo>
                  <a:pt x="33285" y="235744"/>
                  <a:pt x="42863" y="226167"/>
                  <a:pt x="42863" y="214313"/>
                </a:cubicBezTo>
                <a:lnTo>
                  <a:pt x="42863" y="150019"/>
                </a:lnTo>
                <a:close/>
                <a:moveTo>
                  <a:pt x="407194" y="128588"/>
                </a:moveTo>
                <a:cubicBezTo>
                  <a:pt x="395340" y="128588"/>
                  <a:pt x="385763" y="138165"/>
                  <a:pt x="385763" y="150019"/>
                </a:cubicBezTo>
                <a:lnTo>
                  <a:pt x="385763" y="214313"/>
                </a:lnTo>
                <a:cubicBezTo>
                  <a:pt x="385763" y="226167"/>
                  <a:pt x="395340" y="235744"/>
                  <a:pt x="407194" y="235744"/>
                </a:cubicBezTo>
                <a:cubicBezTo>
                  <a:pt x="419048" y="235744"/>
                  <a:pt x="428625" y="226167"/>
                  <a:pt x="428625" y="214313"/>
                </a:cubicBezTo>
                <a:lnTo>
                  <a:pt x="428625" y="150019"/>
                </a:lnTo>
                <a:cubicBezTo>
                  <a:pt x="428625" y="138165"/>
                  <a:pt x="419048" y="128588"/>
                  <a:pt x="407194" y="128588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55" name="Text 53"/>
          <p:cNvSpPr/>
          <p:nvPr/>
        </p:nvSpPr>
        <p:spPr>
          <a:xfrm>
            <a:off x="8301038" y="5029200"/>
            <a:ext cx="3362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Real-World Impact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305800" y="5372100"/>
            <a:ext cx="33528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ChatGPT processes millions of conversations daily</a:t>
            </a:r>
            <a:r>
              <a:rPr lang="en-US" sz="120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helping users write, code, learn, and solve problems!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310562" y="6191250"/>
            <a:ext cx="3343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ChatGPT përpunon miliona biseda çdo ditë!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667" y="338667"/>
            <a:ext cx="1158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kern="0" spc="53" dirty="0">
                <a:solidFill>
                  <a:srgbClr val="4C8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/ KEY TECHNOLOGIES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8667" y="609600"/>
            <a:ext cx="11667067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Computer Vision: Teaching Machines to See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8667" y="982133"/>
            <a:ext cx="11599333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3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Computer Vision: Mësimi i Makinave për të Parë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5600" y="1354667"/>
            <a:ext cx="8043333" cy="1388533"/>
          </a:xfrm>
          <a:custGeom>
            <a:avLst/>
            <a:gdLst/>
            <a:ahLst/>
            <a:cxnLst/>
            <a:rect l="l" t="t" r="r" b="b"/>
            <a:pathLst>
              <a:path w="8043333" h="1388533">
                <a:moveTo>
                  <a:pt x="33867" y="0"/>
                </a:moveTo>
                <a:lnTo>
                  <a:pt x="7941734" y="0"/>
                </a:lnTo>
                <a:cubicBezTo>
                  <a:pt x="7997846" y="0"/>
                  <a:pt x="8043333" y="45487"/>
                  <a:pt x="8043333" y="101599"/>
                </a:cubicBezTo>
                <a:lnTo>
                  <a:pt x="8043333" y="1286934"/>
                </a:lnTo>
                <a:cubicBezTo>
                  <a:pt x="8043333" y="1343046"/>
                  <a:pt x="7997846" y="1388533"/>
                  <a:pt x="7941734" y="1388533"/>
                </a:cubicBezTo>
                <a:lnTo>
                  <a:pt x="33867" y="1388533"/>
                </a:lnTo>
                <a:cubicBezTo>
                  <a:pt x="15163" y="1388533"/>
                  <a:pt x="0" y="1373371"/>
                  <a:pt x="0" y="1354667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5400" dist="846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55600" y="1354667"/>
            <a:ext cx="33867" cy="1388533"/>
          </a:xfrm>
          <a:custGeom>
            <a:avLst/>
            <a:gdLst/>
            <a:ahLst/>
            <a:cxnLst/>
            <a:rect l="l" t="t" r="r" b="b"/>
            <a:pathLst>
              <a:path w="33867" h="1388533">
                <a:moveTo>
                  <a:pt x="33867" y="0"/>
                </a:moveTo>
                <a:lnTo>
                  <a:pt x="33867" y="0"/>
                </a:lnTo>
                <a:lnTo>
                  <a:pt x="33867" y="1388533"/>
                </a:lnTo>
                <a:lnTo>
                  <a:pt x="33867" y="1388533"/>
                </a:lnTo>
                <a:cubicBezTo>
                  <a:pt x="15163" y="1388533"/>
                  <a:pt x="0" y="1373371"/>
                  <a:pt x="0" y="1354667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7" name="Shape 5"/>
          <p:cNvSpPr/>
          <p:nvPr/>
        </p:nvSpPr>
        <p:spPr>
          <a:xfrm>
            <a:off x="575733" y="1557867"/>
            <a:ext cx="474133" cy="474133"/>
          </a:xfrm>
          <a:custGeom>
            <a:avLst/>
            <a:gdLst/>
            <a:ahLst/>
            <a:cxnLst/>
            <a:rect l="l" t="t" r="r" b="b"/>
            <a:pathLst>
              <a:path w="474133" h="474133">
                <a:moveTo>
                  <a:pt x="237067" y="0"/>
                </a:moveTo>
                <a:lnTo>
                  <a:pt x="237067" y="0"/>
                </a:lnTo>
                <a:cubicBezTo>
                  <a:pt x="367907" y="0"/>
                  <a:pt x="474133" y="106226"/>
                  <a:pt x="474133" y="237067"/>
                </a:cubicBezTo>
                <a:lnTo>
                  <a:pt x="474133" y="237067"/>
                </a:lnTo>
                <a:cubicBezTo>
                  <a:pt x="474133" y="367907"/>
                  <a:pt x="367907" y="474133"/>
                  <a:pt x="237067" y="474133"/>
                </a:cubicBezTo>
                <a:lnTo>
                  <a:pt x="237067" y="474133"/>
                </a:lnTo>
                <a:cubicBezTo>
                  <a:pt x="106226" y="474133"/>
                  <a:pt x="0" y="367907"/>
                  <a:pt x="0" y="237067"/>
                </a:cubicBezTo>
                <a:lnTo>
                  <a:pt x="0" y="237067"/>
                </a:lnTo>
                <a:cubicBezTo>
                  <a:pt x="0" y="106226"/>
                  <a:pt x="106226" y="0"/>
                  <a:pt x="237067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98500" y="1693333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14300" y="12700"/>
                </a:moveTo>
                <a:cubicBezTo>
                  <a:pt x="82233" y="12700"/>
                  <a:pt x="56555" y="27305"/>
                  <a:pt x="37862" y="44688"/>
                </a:cubicBezTo>
                <a:cubicBezTo>
                  <a:pt x="19288" y="61952"/>
                  <a:pt x="6866" y="82550"/>
                  <a:pt x="953" y="96718"/>
                </a:cubicBezTo>
                <a:cubicBezTo>
                  <a:pt x="-357" y="99854"/>
                  <a:pt x="-357" y="103346"/>
                  <a:pt x="953" y="106482"/>
                </a:cubicBezTo>
                <a:cubicBezTo>
                  <a:pt x="6866" y="120650"/>
                  <a:pt x="19288" y="141288"/>
                  <a:pt x="37862" y="158512"/>
                </a:cubicBezTo>
                <a:cubicBezTo>
                  <a:pt x="56555" y="175855"/>
                  <a:pt x="82233" y="190500"/>
                  <a:pt x="114300" y="190500"/>
                </a:cubicBezTo>
                <a:cubicBezTo>
                  <a:pt x="146368" y="190500"/>
                  <a:pt x="172045" y="175895"/>
                  <a:pt x="190738" y="158512"/>
                </a:cubicBezTo>
                <a:cubicBezTo>
                  <a:pt x="209312" y="141248"/>
                  <a:pt x="221734" y="120650"/>
                  <a:pt x="227648" y="106482"/>
                </a:cubicBezTo>
                <a:cubicBezTo>
                  <a:pt x="228957" y="103346"/>
                  <a:pt x="228957" y="99854"/>
                  <a:pt x="227648" y="96718"/>
                </a:cubicBezTo>
                <a:cubicBezTo>
                  <a:pt x="221734" y="82550"/>
                  <a:pt x="209312" y="61912"/>
                  <a:pt x="190738" y="44688"/>
                </a:cubicBezTo>
                <a:cubicBezTo>
                  <a:pt x="172045" y="27345"/>
                  <a:pt x="146368" y="12700"/>
                  <a:pt x="114300" y="12700"/>
                </a:cubicBezTo>
                <a:close/>
                <a:moveTo>
                  <a:pt x="57150" y="101600"/>
                </a:moveTo>
                <a:cubicBezTo>
                  <a:pt x="57150" y="70058"/>
                  <a:pt x="82758" y="44450"/>
                  <a:pt x="114300" y="44450"/>
                </a:cubicBezTo>
                <a:cubicBezTo>
                  <a:pt x="145842" y="44450"/>
                  <a:pt x="171450" y="70058"/>
                  <a:pt x="171450" y="101600"/>
                </a:cubicBezTo>
                <a:cubicBezTo>
                  <a:pt x="171450" y="133142"/>
                  <a:pt x="145842" y="158750"/>
                  <a:pt x="114300" y="158750"/>
                </a:cubicBezTo>
                <a:cubicBezTo>
                  <a:pt x="82758" y="158750"/>
                  <a:pt x="57150" y="133142"/>
                  <a:pt x="57150" y="101600"/>
                </a:cubicBezTo>
                <a:close/>
                <a:moveTo>
                  <a:pt x="114300" y="76200"/>
                </a:moveTo>
                <a:cubicBezTo>
                  <a:pt x="114300" y="90210"/>
                  <a:pt x="102910" y="101600"/>
                  <a:pt x="88900" y="101600"/>
                </a:cubicBezTo>
                <a:cubicBezTo>
                  <a:pt x="84336" y="101600"/>
                  <a:pt x="80050" y="100409"/>
                  <a:pt x="76319" y="98266"/>
                </a:cubicBezTo>
                <a:cubicBezTo>
                  <a:pt x="75922" y="102592"/>
                  <a:pt x="76279" y="107037"/>
                  <a:pt x="77470" y="111443"/>
                </a:cubicBezTo>
                <a:cubicBezTo>
                  <a:pt x="82907" y="131763"/>
                  <a:pt x="103823" y="143828"/>
                  <a:pt x="124143" y="138390"/>
                </a:cubicBezTo>
                <a:cubicBezTo>
                  <a:pt x="144463" y="132953"/>
                  <a:pt x="156528" y="112038"/>
                  <a:pt x="151090" y="91718"/>
                </a:cubicBezTo>
                <a:cubicBezTo>
                  <a:pt x="146248" y="73581"/>
                  <a:pt x="129064" y="62032"/>
                  <a:pt x="110966" y="63619"/>
                </a:cubicBezTo>
                <a:cubicBezTo>
                  <a:pt x="113070" y="67310"/>
                  <a:pt x="114300" y="71596"/>
                  <a:pt x="114300" y="7620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9" name="Text 7"/>
          <p:cNvSpPr/>
          <p:nvPr/>
        </p:nvSpPr>
        <p:spPr>
          <a:xfrm>
            <a:off x="1185333" y="1557867"/>
            <a:ext cx="7095067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3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is Computer Vision?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5333" y="1862667"/>
            <a:ext cx="7078133" cy="440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7" b="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Computer Vision enables AI to interpret and understand visual information</a:t>
            </a:r>
            <a:r>
              <a:rPr lang="en-US" sz="1067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images and videos—just like human vision, but faster and more accurate.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5333" y="2370667"/>
            <a:ext cx="7069667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Computer Vision mundëson IA të interpretojë informacionin vizual.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8667" y="2878667"/>
            <a:ext cx="8060267" cy="3979333"/>
          </a:xfrm>
          <a:custGeom>
            <a:avLst/>
            <a:gdLst/>
            <a:ahLst/>
            <a:cxnLst/>
            <a:rect l="l" t="t" r="r" b="b"/>
            <a:pathLst>
              <a:path w="8060267" h="3979333">
                <a:moveTo>
                  <a:pt x="101592" y="0"/>
                </a:moveTo>
                <a:lnTo>
                  <a:pt x="7958674" y="0"/>
                </a:lnTo>
                <a:cubicBezTo>
                  <a:pt x="8014782" y="0"/>
                  <a:pt x="8060267" y="45484"/>
                  <a:pt x="8060267" y="101592"/>
                </a:cubicBezTo>
                <a:lnTo>
                  <a:pt x="8060267" y="3877741"/>
                </a:lnTo>
                <a:cubicBezTo>
                  <a:pt x="8060267" y="3933849"/>
                  <a:pt x="8014782" y="3979333"/>
                  <a:pt x="7958674" y="3979333"/>
                </a:cubicBezTo>
                <a:lnTo>
                  <a:pt x="101592" y="3979333"/>
                </a:lnTo>
                <a:cubicBezTo>
                  <a:pt x="45484" y="3979333"/>
                  <a:pt x="0" y="3933849"/>
                  <a:pt x="0" y="3877741"/>
                </a:cubicBezTo>
                <a:lnTo>
                  <a:pt x="0" y="101592"/>
                </a:lnTo>
                <a:cubicBezTo>
                  <a:pt x="0" y="45522"/>
                  <a:pt x="45522" y="0"/>
                  <a:pt x="10159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5400" dist="846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3033" y="3115733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49312" y="21431"/>
                </a:moveTo>
                <a:lnTo>
                  <a:pt x="45872" y="31750"/>
                </a:lnTo>
                <a:lnTo>
                  <a:pt x="21167" y="31750"/>
                </a:lnTo>
                <a:cubicBezTo>
                  <a:pt x="9492" y="31750"/>
                  <a:pt x="0" y="41242"/>
                  <a:pt x="0" y="52917"/>
                </a:cubicBezTo>
                <a:lnTo>
                  <a:pt x="0" y="137583"/>
                </a:lnTo>
                <a:cubicBezTo>
                  <a:pt x="0" y="149258"/>
                  <a:pt x="9492" y="158750"/>
                  <a:pt x="21167" y="158750"/>
                </a:cubicBezTo>
                <a:lnTo>
                  <a:pt x="148167" y="158750"/>
                </a:lnTo>
                <a:cubicBezTo>
                  <a:pt x="159841" y="158750"/>
                  <a:pt x="169333" y="149258"/>
                  <a:pt x="169333" y="137583"/>
                </a:cubicBezTo>
                <a:lnTo>
                  <a:pt x="169333" y="52917"/>
                </a:lnTo>
                <a:cubicBezTo>
                  <a:pt x="169333" y="41242"/>
                  <a:pt x="159841" y="31750"/>
                  <a:pt x="148167" y="31750"/>
                </a:cubicBezTo>
                <a:lnTo>
                  <a:pt x="123461" y="31750"/>
                </a:lnTo>
                <a:lnTo>
                  <a:pt x="120022" y="21431"/>
                </a:lnTo>
                <a:cubicBezTo>
                  <a:pt x="117872" y="14949"/>
                  <a:pt x="111820" y="10583"/>
                  <a:pt x="104973" y="10583"/>
                </a:cubicBezTo>
                <a:lnTo>
                  <a:pt x="64360" y="10583"/>
                </a:lnTo>
                <a:cubicBezTo>
                  <a:pt x="57514" y="10583"/>
                  <a:pt x="51461" y="14949"/>
                  <a:pt x="49312" y="21431"/>
                </a:cubicBezTo>
                <a:close/>
                <a:moveTo>
                  <a:pt x="84667" y="63500"/>
                </a:moveTo>
                <a:cubicBezTo>
                  <a:pt x="102190" y="63500"/>
                  <a:pt x="116417" y="77727"/>
                  <a:pt x="116417" y="95250"/>
                </a:cubicBezTo>
                <a:cubicBezTo>
                  <a:pt x="116417" y="112773"/>
                  <a:pt x="102190" y="127000"/>
                  <a:pt x="84667" y="127000"/>
                </a:cubicBezTo>
                <a:cubicBezTo>
                  <a:pt x="67143" y="127000"/>
                  <a:pt x="52917" y="112773"/>
                  <a:pt x="52917" y="95250"/>
                </a:cubicBezTo>
                <a:cubicBezTo>
                  <a:pt x="52917" y="77727"/>
                  <a:pt x="67143" y="63500"/>
                  <a:pt x="84667" y="6350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4" name="Text 12"/>
          <p:cNvSpPr/>
          <p:nvPr/>
        </p:nvSpPr>
        <p:spPr>
          <a:xfrm>
            <a:off x="753533" y="3081867"/>
            <a:ext cx="7526867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3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Applications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8800" y="3454400"/>
            <a:ext cx="3759200" cy="711200"/>
          </a:xfrm>
          <a:custGeom>
            <a:avLst/>
            <a:gdLst/>
            <a:ahLst/>
            <a:cxnLst/>
            <a:rect l="l" t="t" r="r" b="b"/>
            <a:pathLst>
              <a:path w="3759200" h="711200">
                <a:moveTo>
                  <a:pt x="33867" y="0"/>
                </a:moveTo>
                <a:lnTo>
                  <a:pt x="3691465" y="0"/>
                </a:lnTo>
                <a:cubicBezTo>
                  <a:pt x="3728874" y="0"/>
                  <a:pt x="3759200" y="30326"/>
                  <a:pt x="3759200" y="67735"/>
                </a:cubicBezTo>
                <a:lnTo>
                  <a:pt x="3759200" y="643465"/>
                </a:lnTo>
                <a:cubicBezTo>
                  <a:pt x="3759200" y="680874"/>
                  <a:pt x="3728874" y="711200"/>
                  <a:pt x="3691465" y="711200"/>
                </a:cubicBezTo>
                <a:lnTo>
                  <a:pt x="33867" y="711200"/>
                </a:lnTo>
                <a:cubicBezTo>
                  <a:pt x="15163" y="711200"/>
                  <a:pt x="0" y="696037"/>
                  <a:pt x="0" y="6773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16" name="Shape 14"/>
          <p:cNvSpPr/>
          <p:nvPr/>
        </p:nvSpPr>
        <p:spPr>
          <a:xfrm>
            <a:off x="558800" y="3454400"/>
            <a:ext cx="33867" cy="711200"/>
          </a:xfrm>
          <a:custGeom>
            <a:avLst/>
            <a:gdLst/>
            <a:ahLst/>
            <a:cxnLst/>
            <a:rect l="l" t="t" r="r" b="b"/>
            <a:pathLst>
              <a:path w="33867" h="711200">
                <a:moveTo>
                  <a:pt x="33867" y="0"/>
                </a:moveTo>
                <a:lnTo>
                  <a:pt x="33867" y="0"/>
                </a:lnTo>
                <a:lnTo>
                  <a:pt x="33867" y="711200"/>
                </a:lnTo>
                <a:lnTo>
                  <a:pt x="33867" y="711200"/>
                </a:lnTo>
                <a:cubicBezTo>
                  <a:pt x="15163" y="711200"/>
                  <a:pt x="0" y="696037"/>
                  <a:pt x="0" y="6773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7" name="Shape 15"/>
          <p:cNvSpPr/>
          <p:nvPr/>
        </p:nvSpPr>
        <p:spPr>
          <a:xfrm>
            <a:off x="732367" y="3606800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131961" y="127066"/>
                </a:moveTo>
                <a:cubicBezTo>
                  <a:pt x="124652" y="114366"/>
                  <a:pt x="110927" y="105833"/>
                  <a:pt x="95250" y="105833"/>
                </a:cubicBezTo>
                <a:lnTo>
                  <a:pt x="74083" y="105833"/>
                </a:lnTo>
                <a:cubicBezTo>
                  <a:pt x="58407" y="105833"/>
                  <a:pt x="44682" y="114366"/>
                  <a:pt x="37372" y="127066"/>
                </a:cubicBezTo>
                <a:cubicBezTo>
                  <a:pt x="49014" y="140031"/>
                  <a:pt x="65881" y="148167"/>
                  <a:pt x="84667" y="148167"/>
                </a:cubicBezTo>
                <a:cubicBezTo>
                  <a:pt x="103452" y="148167"/>
                  <a:pt x="120319" y="139998"/>
                  <a:pt x="131961" y="127066"/>
                </a:cubicBezTo>
                <a:close/>
                <a:moveTo>
                  <a:pt x="0" y="84667"/>
                </a:moveTo>
                <a:cubicBezTo>
                  <a:pt x="0" y="37938"/>
                  <a:pt x="37938" y="0"/>
                  <a:pt x="84667" y="0"/>
                </a:cubicBezTo>
                <a:cubicBezTo>
                  <a:pt x="131395" y="0"/>
                  <a:pt x="169333" y="37938"/>
                  <a:pt x="169333" y="84667"/>
                </a:cubicBezTo>
                <a:cubicBezTo>
                  <a:pt x="169333" y="131395"/>
                  <a:pt x="131395" y="169333"/>
                  <a:pt x="84667" y="169333"/>
                </a:cubicBezTo>
                <a:cubicBezTo>
                  <a:pt x="37938" y="169333"/>
                  <a:pt x="0" y="131395"/>
                  <a:pt x="0" y="84667"/>
                </a:cubicBezTo>
                <a:close/>
                <a:moveTo>
                  <a:pt x="84667" y="89958"/>
                </a:moveTo>
                <a:cubicBezTo>
                  <a:pt x="97809" y="89958"/>
                  <a:pt x="108479" y="79288"/>
                  <a:pt x="108479" y="66146"/>
                </a:cubicBezTo>
                <a:cubicBezTo>
                  <a:pt x="108479" y="53003"/>
                  <a:pt x="97809" y="42333"/>
                  <a:pt x="84667" y="42333"/>
                </a:cubicBezTo>
                <a:cubicBezTo>
                  <a:pt x="71524" y="42333"/>
                  <a:pt x="60854" y="53003"/>
                  <a:pt x="60854" y="66146"/>
                </a:cubicBezTo>
                <a:cubicBezTo>
                  <a:pt x="60854" y="79288"/>
                  <a:pt x="71524" y="89958"/>
                  <a:pt x="84667" y="89958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8" name="Text 16"/>
          <p:cNvSpPr/>
          <p:nvPr/>
        </p:nvSpPr>
        <p:spPr>
          <a:xfrm>
            <a:off x="1024467" y="3589867"/>
            <a:ext cx="112606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Facial Recognition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1200" y="3860800"/>
            <a:ext cx="35306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Unlocks phones, identifies people in photos, security systems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436533" y="3454400"/>
            <a:ext cx="3759200" cy="711200"/>
          </a:xfrm>
          <a:custGeom>
            <a:avLst/>
            <a:gdLst/>
            <a:ahLst/>
            <a:cxnLst/>
            <a:rect l="l" t="t" r="r" b="b"/>
            <a:pathLst>
              <a:path w="3759200" h="711200">
                <a:moveTo>
                  <a:pt x="33867" y="0"/>
                </a:moveTo>
                <a:lnTo>
                  <a:pt x="3691465" y="0"/>
                </a:lnTo>
                <a:cubicBezTo>
                  <a:pt x="3728874" y="0"/>
                  <a:pt x="3759200" y="30326"/>
                  <a:pt x="3759200" y="67735"/>
                </a:cubicBezTo>
                <a:lnTo>
                  <a:pt x="3759200" y="643465"/>
                </a:lnTo>
                <a:cubicBezTo>
                  <a:pt x="3759200" y="680874"/>
                  <a:pt x="3728874" y="711200"/>
                  <a:pt x="3691465" y="711200"/>
                </a:cubicBezTo>
                <a:lnTo>
                  <a:pt x="33867" y="711200"/>
                </a:lnTo>
                <a:cubicBezTo>
                  <a:pt x="15163" y="711200"/>
                  <a:pt x="0" y="696037"/>
                  <a:pt x="0" y="6773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21" name="Shape 19"/>
          <p:cNvSpPr/>
          <p:nvPr/>
        </p:nvSpPr>
        <p:spPr>
          <a:xfrm>
            <a:off x="4436533" y="3454400"/>
            <a:ext cx="33867" cy="711200"/>
          </a:xfrm>
          <a:custGeom>
            <a:avLst/>
            <a:gdLst/>
            <a:ahLst/>
            <a:cxnLst/>
            <a:rect l="l" t="t" r="r" b="b"/>
            <a:pathLst>
              <a:path w="33867" h="711200">
                <a:moveTo>
                  <a:pt x="33867" y="0"/>
                </a:moveTo>
                <a:lnTo>
                  <a:pt x="33867" y="0"/>
                </a:lnTo>
                <a:lnTo>
                  <a:pt x="33867" y="711200"/>
                </a:lnTo>
                <a:lnTo>
                  <a:pt x="33867" y="711200"/>
                </a:lnTo>
                <a:cubicBezTo>
                  <a:pt x="15163" y="711200"/>
                  <a:pt x="0" y="696037"/>
                  <a:pt x="0" y="6773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22" name="Shape 20"/>
          <p:cNvSpPr/>
          <p:nvPr/>
        </p:nvSpPr>
        <p:spPr>
          <a:xfrm>
            <a:off x="4610100" y="3606800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44715" y="38828"/>
                </a:moveTo>
                <a:lnTo>
                  <a:pt x="36083" y="63500"/>
                </a:lnTo>
                <a:lnTo>
                  <a:pt x="133251" y="63500"/>
                </a:lnTo>
                <a:lnTo>
                  <a:pt x="124619" y="38828"/>
                </a:lnTo>
                <a:cubicBezTo>
                  <a:pt x="123130" y="34594"/>
                  <a:pt x="119129" y="31750"/>
                  <a:pt x="114631" y="31750"/>
                </a:cubicBezTo>
                <a:lnTo>
                  <a:pt x="54703" y="31750"/>
                </a:lnTo>
                <a:cubicBezTo>
                  <a:pt x="50205" y="31750"/>
                  <a:pt x="46203" y="34594"/>
                  <a:pt x="44715" y="38828"/>
                </a:cubicBezTo>
                <a:close/>
                <a:moveTo>
                  <a:pt x="13097" y="65088"/>
                </a:moveTo>
                <a:lnTo>
                  <a:pt x="24739" y="31849"/>
                </a:lnTo>
                <a:cubicBezTo>
                  <a:pt x="29203" y="19116"/>
                  <a:pt x="41209" y="10583"/>
                  <a:pt x="54703" y="10583"/>
                </a:cubicBezTo>
                <a:lnTo>
                  <a:pt x="114631" y="10583"/>
                </a:lnTo>
                <a:cubicBezTo>
                  <a:pt x="128124" y="10583"/>
                  <a:pt x="140130" y="19116"/>
                  <a:pt x="144595" y="31849"/>
                </a:cubicBezTo>
                <a:lnTo>
                  <a:pt x="156236" y="65088"/>
                </a:lnTo>
                <a:cubicBezTo>
                  <a:pt x="163909" y="68263"/>
                  <a:pt x="169333" y="75836"/>
                  <a:pt x="169333" y="84667"/>
                </a:cubicBezTo>
                <a:lnTo>
                  <a:pt x="169333" y="148167"/>
                </a:lnTo>
                <a:cubicBezTo>
                  <a:pt x="169333" y="154021"/>
                  <a:pt x="164604" y="158750"/>
                  <a:pt x="158750" y="158750"/>
                </a:cubicBezTo>
                <a:lnTo>
                  <a:pt x="148167" y="158750"/>
                </a:lnTo>
                <a:cubicBezTo>
                  <a:pt x="142313" y="158750"/>
                  <a:pt x="137583" y="154021"/>
                  <a:pt x="137583" y="148167"/>
                </a:cubicBezTo>
                <a:lnTo>
                  <a:pt x="137583" y="137583"/>
                </a:lnTo>
                <a:lnTo>
                  <a:pt x="31750" y="137583"/>
                </a:lnTo>
                <a:lnTo>
                  <a:pt x="31750" y="148167"/>
                </a:lnTo>
                <a:cubicBezTo>
                  <a:pt x="31750" y="154021"/>
                  <a:pt x="27021" y="158750"/>
                  <a:pt x="21167" y="158750"/>
                </a:cubicBezTo>
                <a:lnTo>
                  <a:pt x="10583" y="158750"/>
                </a:lnTo>
                <a:cubicBezTo>
                  <a:pt x="4729" y="158750"/>
                  <a:pt x="0" y="154021"/>
                  <a:pt x="0" y="148167"/>
                </a:cubicBezTo>
                <a:lnTo>
                  <a:pt x="0" y="84667"/>
                </a:lnTo>
                <a:cubicBezTo>
                  <a:pt x="0" y="75836"/>
                  <a:pt x="5424" y="68263"/>
                  <a:pt x="13097" y="65088"/>
                </a:cubicBezTo>
                <a:close/>
                <a:moveTo>
                  <a:pt x="42333" y="100542"/>
                </a:moveTo>
                <a:cubicBezTo>
                  <a:pt x="42333" y="94701"/>
                  <a:pt x="37591" y="89958"/>
                  <a:pt x="31750" y="89958"/>
                </a:cubicBezTo>
                <a:cubicBezTo>
                  <a:pt x="25909" y="89958"/>
                  <a:pt x="21167" y="94701"/>
                  <a:pt x="21167" y="100542"/>
                </a:cubicBezTo>
                <a:cubicBezTo>
                  <a:pt x="21167" y="106383"/>
                  <a:pt x="25909" y="111125"/>
                  <a:pt x="31750" y="111125"/>
                </a:cubicBezTo>
                <a:cubicBezTo>
                  <a:pt x="37591" y="111125"/>
                  <a:pt x="42333" y="106383"/>
                  <a:pt x="42333" y="100542"/>
                </a:cubicBezTo>
                <a:close/>
                <a:moveTo>
                  <a:pt x="137583" y="111125"/>
                </a:moveTo>
                <a:cubicBezTo>
                  <a:pt x="143424" y="111125"/>
                  <a:pt x="148167" y="106383"/>
                  <a:pt x="148167" y="100542"/>
                </a:cubicBezTo>
                <a:cubicBezTo>
                  <a:pt x="148167" y="94701"/>
                  <a:pt x="143424" y="89958"/>
                  <a:pt x="137583" y="89958"/>
                </a:cubicBezTo>
                <a:cubicBezTo>
                  <a:pt x="131742" y="89958"/>
                  <a:pt x="127000" y="94701"/>
                  <a:pt x="127000" y="100542"/>
                </a:cubicBezTo>
                <a:cubicBezTo>
                  <a:pt x="127000" y="106383"/>
                  <a:pt x="131742" y="111125"/>
                  <a:pt x="137583" y="111125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23" name="Text 21"/>
          <p:cNvSpPr/>
          <p:nvPr/>
        </p:nvSpPr>
        <p:spPr>
          <a:xfrm>
            <a:off x="4902200" y="3589867"/>
            <a:ext cx="1346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Autonomous Vehicles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88933" y="3860800"/>
            <a:ext cx="35306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Detects pedestrians, traffic signs, lane markings, obstacles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58800" y="4267200"/>
            <a:ext cx="3759200" cy="711200"/>
          </a:xfrm>
          <a:custGeom>
            <a:avLst/>
            <a:gdLst/>
            <a:ahLst/>
            <a:cxnLst/>
            <a:rect l="l" t="t" r="r" b="b"/>
            <a:pathLst>
              <a:path w="3759200" h="711200">
                <a:moveTo>
                  <a:pt x="33867" y="0"/>
                </a:moveTo>
                <a:lnTo>
                  <a:pt x="3691465" y="0"/>
                </a:lnTo>
                <a:cubicBezTo>
                  <a:pt x="3728874" y="0"/>
                  <a:pt x="3759200" y="30326"/>
                  <a:pt x="3759200" y="67735"/>
                </a:cubicBezTo>
                <a:lnTo>
                  <a:pt x="3759200" y="643465"/>
                </a:lnTo>
                <a:cubicBezTo>
                  <a:pt x="3759200" y="680874"/>
                  <a:pt x="3728874" y="711200"/>
                  <a:pt x="3691465" y="711200"/>
                </a:cubicBezTo>
                <a:lnTo>
                  <a:pt x="33867" y="711200"/>
                </a:lnTo>
                <a:cubicBezTo>
                  <a:pt x="15163" y="711200"/>
                  <a:pt x="0" y="696037"/>
                  <a:pt x="0" y="6773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26" name="Shape 24"/>
          <p:cNvSpPr/>
          <p:nvPr/>
        </p:nvSpPr>
        <p:spPr>
          <a:xfrm>
            <a:off x="558800" y="4267200"/>
            <a:ext cx="33867" cy="711200"/>
          </a:xfrm>
          <a:custGeom>
            <a:avLst/>
            <a:gdLst/>
            <a:ahLst/>
            <a:cxnLst/>
            <a:rect l="l" t="t" r="r" b="b"/>
            <a:pathLst>
              <a:path w="33867" h="711200">
                <a:moveTo>
                  <a:pt x="33867" y="0"/>
                </a:moveTo>
                <a:lnTo>
                  <a:pt x="33867" y="0"/>
                </a:lnTo>
                <a:lnTo>
                  <a:pt x="33867" y="711200"/>
                </a:lnTo>
                <a:lnTo>
                  <a:pt x="33867" y="711200"/>
                </a:lnTo>
                <a:cubicBezTo>
                  <a:pt x="15163" y="711200"/>
                  <a:pt x="0" y="696037"/>
                  <a:pt x="0" y="6773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27" name="Shape 25"/>
          <p:cNvSpPr/>
          <p:nvPr/>
        </p:nvSpPr>
        <p:spPr>
          <a:xfrm>
            <a:off x="732367" y="4419600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0" y="21167"/>
                </a:moveTo>
                <a:cubicBezTo>
                  <a:pt x="0" y="15313"/>
                  <a:pt x="4729" y="10583"/>
                  <a:pt x="10583" y="10583"/>
                </a:cubicBezTo>
                <a:lnTo>
                  <a:pt x="158750" y="10583"/>
                </a:lnTo>
                <a:cubicBezTo>
                  <a:pt x="164604" y="10583"/>
                  <a:pt x="169333" y="15313"/>
                  <a:pt x="169333" y="21167"/>
                </a:cubicBezTo>
                <a:cubicBezTo>
                  <a:pt x="169333" y="27021"/>
                  <a:pt x="164604" y="31750"/>
                  <a:pt x="158750" y="31750"/>
                </a:cubicBezTo>
                <a:lnTo>
                  <a:pt x="158750" y="137583"/>
                </a:lnTo>
                <a:cubicBezTo>
                  <a:pt x="164604" y="137583"/>
                  <a:pt x="169333" y="142313"/>
                  <a:pt x="169333" y="148167"/>
                </a:cubicBezTo>
                <a:cubicBezTo>
                  <a:pt x="169333" y="154021"/>
                  <a:pt x="164604" y="158750"/>
                  <a:pt x="158750" y="158750"/>
                </a:cubicBezTo>
                <a:lnTo>
                  <a:pt x="10583" y="158750"/>
                </a:lnTo>
                <a:cubicBezTo>
                  <a:pt x="4729" y="158750"/>
                  <a:pt x="0" y="154021"/>
                  <a:pt x="0" y="148167"/>
                </a:cubicBezTo>
                <a:cubicBezTo>
                  <a:pt x="0" y="142313"/>
                  <a:pt x="4729" y="137583"/>
                  <a:pt x="10583" y="137583"/>
                </a:cubicBezTo>
                <a:lnTo>
                  <a:pt x="10583" y="31750"/>
                </a:lnTo>
                <a:cubicBezTo>
                  <a:pt x="4729" y="31750"/>
                  <a:pt x="0" y="27021"/>
                  <a:pt x="0" y="21167"/>
                </a:cubicBezTo>
                <a:close/>
                <a:moveTo>
                  <a:pt x="92604" y="39688"/>
                </a:moveTo>
                <a:cubicBezTo>
                  <a:pt x="92604" y="35289"/>
                  <a:pt x="89065" y="31750"/>
                  <a:pt x="84667" y="31750"/>
                </a:cubicBezTo>
                <a:cubicBezTo>
                  <a:pt x="80268" y="31750"/>
                  <a:pt x="76729" y="35289"/>
                  <a:pt x="76729" y="39688"/>
                </a:cubicBezTo>
                <a:lnTo>
                  <a:pt x="76729" y="44979"/>
                </a:lnTo>
                <a:lnTo>
                  <a:pt x="55563" y="44979"/>
                </a:lnTo>
                <a:cubicBezTo>
                  <a:pt x="51164" y="44979"/>
                  <a:pt x="47625" y="48518"/>
                  <a:pt x="47625" y="52917"/>
                </a:cubicBezTo>
                <a:cubicBezTo>
                  <a:pt x="47625" y="57315"/>
                  <a:pt x="51164" y="60854"/>
                  <a:pt x="55563" y="60854"/>
                </a:cubicBezTo>
                <a:lnTo>
                  <a:pt x="76729" y="60854"/>
                </a:lnTo>
                <a:lnTo>
                  <a:pt x="76729" y="76729"/>
                </a:lnTo>
                <a:lnTo>
                  <a:pt x="50271" y="76729"/>
                </a:lnTo>
                <a:cubicBezTo>
                  <a:pt x="45872" y="76729"/>
                  <a:pt x="42333" y="80268"/>
                  <a:pt x="42333" y="84667"/>
                </a:cubicBezTo>
                <a:cubicBezTo>
                  <a:pt x="42333" y="89065"/>
                  <a:pt x="45872" y="92604"/>
                  <a:pt x="50271" y="92604"/>
                </a:cubicBezTo>
                <a:lnTo>
                  <a:pt x="76729" y="92604"/>
                </a:lnTo>
                <a:lnTo>
                  <a:pt x="76729" y="108479"/>
                </a:lnTo>
                <a:lnTo>
                  <a:pt x="55563" y="108479"/>
                </a:lnTo>
                <a:cubicBezTo>
                  <a:pt x="51164" y="108479"/>
                  <a:pt x="47625" y="112018"/>
                  <a:pt x="47625" y="116417"/>
                </a:cubicBezTo>
                <a:cubicBezTo>
                  <a:pt x="47625" y="120815"/>
                  <a:pt x="51164" y="124354"/>
                  <a:pt x="55563" y="124354"/>
                </a:cubicBezTo>
                <a:lnTo>
                  <a:pt x="76729" y="124354"/>
                </a:lnTo>
                <a:lnTo>
                  <a:pt x="76729" y="129646"/>
                </a:lnTo>
                <a:cubicBezTo>
                  <a:pt x="76729" y="134045"/>
                  <a:pt x="80268" y="137583"/>
                  <a:pt x="84667" y="137583"/>
                </a:cubicBezTo>
                <a:cubicBezTo>
                  <a:pt x="89065" y="137583"/>
                  <a:pt x="92604" y="134045"/>
                  <a:pt x="92604" y="129646"/>
                </a:cubicBezTo>
                <a:lnTo>
                  <a:pt x="92604" y="124354"/>
                </a:lnTo>
                <a:lnTo>
                  <a:pt x="113771" y="124354"/>
                </a:lnTo>
                <a:cubicBezTo>
                  <a:pt x="118170" y="124354"/>
                  <a:pt x="121708" y="120815"/>
                  <a:pt x="121708" y="116417"/>
                </a:cubicBezTo>
                <a:cubicBezTo>
                  <a:pt x="121708" y="112018"/>
                  <a:pt x="118170" y="108479"/>
                  <a:pt x="113771" y="108479"/>
                </a:cubicBezTo>
                <a:lnTo>
                  <a:pt x="92604" y="108479"/>
                </a:lnTo>
                <a:lnTo>
                  <a:pt x="92604" y="92604"/>
                </a:lnTo>
                <a:lnTo>
                  <a:pt x="119063" y="92604"/>
                </a:lnTo>
                <a:cubicBezTo>
                  <a:pt x="123461" y="92604"/>
                  <a:pt x="127000" y="89065"/>
                  <a:pt x="127000" y="84667"/>
                </a:cubicBezTo>
                <a:cubicBezTo>
                  <a:pt x="127000" y="80268"/>
                  <a:pt x="123461" y="76729"/>
                  <a:pt x="119063" y="76729"/>
                </a:cubicBezTo>
                <a:lnTo>
                  <a:pt x="92604" y="76729"/>
                </a:lnTo>
                <a:lnTo>
                  <a:pt x="92604" y="60854"/>
                </a:lnTo>
                <a:lnTo>
                  <a:pt x="113771" y="60854"/>
                </a:lnTo>
                <a:cubicBezTo>
                  <a:pt x="118170" y="60854"/>
                  <a:pt x="121708" y="57315"/>
                  <a:pt x="121708" y="52917"/>
                </a:cubicBezTo>
                <a:cubicBezTo>
                  <a:pt x="121708" y="48518"/>
                  <a:pt x="118170" y="44979"/>
                  <a:pt x="113771" y="44979"/>
                </a:cubicBezTo>
                <a:lnTo>
                  <a:pt x="92604" y="44979"/>
                </a:lnTo>
                <a:lnTo>
                  <a:pt x="92604" y="39688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28" name="Text 26"/>
          <p:cNvSpPr/>
          <p:nvPr/>
        </p:nvSpPr>
        <p:spPr>
          <a:xfrm>
            <a:off x="1024467" y="4402667"/>
            <a:ext cx="102446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Medical Imaging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1200" y="4673600"/>
            <a:ext cx="35306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Detects tumors, fractures, diseases in X-rays, MRIs, CT scans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36533" y="4267200"/>
            <a:ext cx="3759200" cy="711200"/>
          </a:xfrm>
          <a:custGeom>
            <a:avLst/>
            <a:gdLst/>
            <a:ahLst/>
            <a:cxnLst/>
            <a:rect l="l" t="t" r="r" b="b"/>
            <a:pathLst>
              <a:path w="3759200" h="711200">
                <a:moveTo>
                  <a:pt x="33867" y="0"/>
                </a:moveTo>
                <a:lnTo>
                  <a:pt x="3691465" y="0"/>
                </a:lnTo>
                <a:cubicBezTo>
                  <a:pt x="3728874" y="0"/>
                  <a:pt x="3759200" y="30326"/>
                  <a:pt x="3759200" y="67735"/>
                </a:cubicBezTo>
                <a:lnTo>
                  <a:pt x="3759200" y="643465"/>
                </a:lnTo>
                <a:cubicBezTo>
                  <a:pt x="3759200" y="680874"/>
                  <a:pt x="3728874" y="711200"/>
                  <a:pt x="3691465" y="711200"/>
                </a:cubicBezTo>
                <a:lnTo>
                  <a:pt x="33867" y="711200"/>
                </a:lnTo>
                <a:cubicBezTo>
                  <a:pt x="15163" y="711200"/>
                  <a:pt x="0" y="696037"/>
                  <a:pt x="0" y="6773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31" name="Shape 29"/>
          <p:cNvSpPr/>
          <p:nvPr/>
        </p:nvSpPr>
        <p:spPr>
          <a:xfrm>
            <a:off x="4436533" y="4267200"/>
            <a:ext cx="33867" cy="711200"/>
          </a:xfrm>
          <a:custGeom>
            <a:avLst/>
            <a:gdLst/>
            <a:ahLst/>
            <a:cxnLst/>
            <a:rect l="l" t="t" r="r" b="b"/>
            <a:pathLst>
              <a:path w="33867" h="711200">
                <a:moveTo>
                  <a:pt x="33867" y="0"/>
                </a:moveTo>
                <a:lnTo>
                  <a:pt x="33867" y="0"/>
                </a:lnTo>
                <a:lnTo>
                  <a:pt x="33867" y="711200"/>
                </a:lnTo>
                <a:lnTo>
                  <a:pt x="33867" y="711200"/>
                </a:lnTo>
                <a:cubicBezTo>
                  <a:pt x="15163" y="711200"/>
                  <a:pt x="0" y="696037"/>
                  <a:pt x="0" y="6773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32" name="Shape 30"/>
          <p:cNvSpPr/>
          <p:nvPr/>
        </p:nvSpPr>
        <p:spPr>
          <a:xfrm>
            <a:off x="4610100" y="4419600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10583" y="10583"/>
                </a:moveTo>
                <a:cubicBezTo>
                  <a:pt x="4729" y="10583"/>
                  <a:pt x="0" y="15313"/>
                  <a:pt x="0" y="21167"/>
                </a:cubicBezTo>
                <a:lnTo>
                  <a:pt x="0" y="142875"/>
                </a:lnTo>
                <a:cubicBezTo>
                  <a:pt x="0" y="151639"/>
                  <a:pt x="7111" y="158750"/>
                  <a:pt x="15875" y="158750"/>
                </a:cubicBezTo>
                <a:lnTo>
                  <a:pt x="153458" y="158750"/>
                </a:lnTo>
                <a:cubicBezTo>
                  <a:pt x="162223" y="158750"/>
                  <a:pt x="169333" y="151639"/>
                  <a:pt x="169333" y="142875"/>
                </a:cubicBezTo>
                <a:lnTo>
                  <a:pt x="169333" y="50337"/>
                </a:lnTo>
                <a:cubicBezTo>
                  <a:pt x="169333" y="44318"/>
                  <a:pt x="162917" y="40514"/>
                  <a:pt x="157626" y="43359"/>
                </a:cubicBezTo>
                <a:lnTo>
                  <a:pt x="105833" y="71239"/>
                </a:lnTo>
                <a:lnTo>
                  <a:pt x="105833" y="50337"/>
                </a:lnTo>
                <a:cubicBezTo>
                  <a:pt x="105833" y="44318"/>
                  <a:pt x="99417" y="40514"/>
                  <a:pt x="94126" y="43359"/>
                </a:cubicBezTo>
                <a:lnTo>
                  <a:pt x="42333" y="71239"/>
                </a:lnTo>
                <a:lnTo>
                  <a:pt x="42333" y="21167"/>
                </a:lnTo>
                <a:cubicBezTo>
                  <a:pt x="42333" y="15313"/>
                  <a:pt x="37604" y="10583"/>
                  <a:pt x="31750" y="10583"/>
                </a:cubicBezTo>
                <a:lnTo>
                  <a:pt x="10583" y="10583"/>
                </a:ln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33" name="Text 31"/>
          <p:cNvSpPr/>
          <p:nvPr/>
        </p:nvSpPr>
        <p:spPr>
          <a:xfrm>
            <a:off x="4902200" y="4402667"/>
            <a:ext cx="95673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Quality Control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588933" y="4673600"/>
            <a:ext cx="35306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Inspects products for defects in manufacturing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602133" y="1354667"/>
            <a:ext cx="3251200" cy="3420533"/>
          </a:xfrm>
          <a:custGeom>
            <a:avLst/>
            <a:gdLst/>
            <a:ahLst/>
            <a:cxnLst/>
            <a:rect l="l" t="t" r="r" b="b"/>
            <a:pathLst>
              <a:path w="3251200" h="3420533">
                <a:moveTo>
                  <a:pt x="101600" y="0"/>
                </a:moveTo>
                <a:lnTo>
                  <a:pt x="3149600" y="0"/>
                </a:lnTo>
                <a:cubicBezTo>
                  <a:pt x="3205675" y="0"/>
                  <a:pt x="3251200" y="45525"/>
                  <a:pt x="3251200" y="101600"/>
                </a:cubicBezTo>
                <a:lnTo>
                  <a:pt x="3251200" y="3318933"/>
                </a:lnTo>
                <a:cubicBezTo>
                  <a:pt x="3251200" y="3375008"/>
                  <a:pt x="3205675" y="3420533"/>
                  <a:pt x="3149600" y="3420533"/>
                </a:cubicBezTo>
                <a:lnTo>
                  <a:pt x="101600" y="3420533"/>
                </a:lnTo>
                <a:cubicBezTo>
                  <a:pt x="45525" y="3420533"/>
                  <a:pt x="0" y="3375008"/>
                  <a:pt x="0" y="3318933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A7A"/>
              </a:gs>
              <a:gs pos="100000">
                <a:srgbClr val="2F3E3B"/>
              </a:gs>
            </a:gsLst>
            <a:lin ang="2700000" scaled="1"/>
          </a:gradFill>
          <a:ln/>
        </p:spPr>
      </p:sp>
      <p:sp>
        <p:nvSpPr>
          <p:cNvPr id="36" name="Text 34"/>
          <p:cNvSpPr/>
          <p:nvPr/>
        </p:nvSpPr>
        <p:spPr>
          <a:xfrm>
            <a:off x="8763000" y="1557867"/>
            <a:ext cx="2929467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3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805333" y="1930400"/>
            <a:ext cx="2844800" cy="609600"/>
          </a:xfrm>
          <a:custGeom>
            <a:avLst/>
            <a:gdLst/>
            <a:ahLst/>
            <a:cxnLst/>
            <a:rect l="l" t="t" r="r" b="b"/>
            <a:pathLst>
              <a:path w="2844800" h="609600">
                <a:moveTo>
                  <a:pt x="67733" y="0"/>
                </a:moveTo>
                <a:lnTo>
                  <a:pt x="2777067" y="0"/>
                </a:lnTo>
                <a:cubicBezTo>
                  <a:pt x="2814475" y="0"/>
                  <a:pt x="2844800" y="30325"/>
                  <a:pt x="2844800" y="67733"/>
                </a:cubicBezTo>
                <a:lnTo>
                  <a:pt x="2844800" y="541867"/>
                </a:lnTo>
                <a:cubicBezTo>
                  <a:pt x="2844800" y="579275"/>
                  <a:pt x="2814475" y="609600"/>
                  <a:pt x="2777067" y="609600"/>
                </a:cubicBezTo>
                <a:lnTo>
                  <a:pt x="67733" y="609600"/>
                </a:lnTo>
                <a:cubicBezTo>
                  <a:pt x="30325" y="609600"/>
                  <a:pt x="0" y="579275"/>
                  <a:pt x="0" y="541867"/>
                </a:cubicBezTo>
                <a:lnTo>
                  <a:pt x="0" y="67733"/>
                </a:lnTo>
                <a:cubicBezTo>
                  <a:pt x="0" y="30325"/>
                  <a:pt x="30325" y="0"/>
                  <a:pt x="6773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8906933" y="2032000"/>
            <a:ext cx="270933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1️⃣ Image Acquisition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906933" y="2269067"/>
            <a:ext cx="2700867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Captures image or video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805333" y="2607733"/>
            <a:ext cx="2844800" cy="609600"/>
          </a:xfrm>
          <a:custGeom>
            <a:avLst/>
            <a:gdLst/>
            <a:ahLst/>
            <a:cxnLst/>
            <a:rect l="l" t="t" r="r" b="b"/>
            <a:pathLst>
              <a:path w="2844800" h="609600">
                <a:moveTo>
                  <a:pt x="67733" y="0"/>
                </a:moveTo>
                <a:lnTo>
                  <a:pt x="2777067" y="0"/>
                </a:lnTo>
                <a:cubicBezTo>
                  <a:pt x="2814475" y="0"/>
                  <a:pt x="2844800" y="30325"/>
                  <a:pt x="2844800" y="67733"/>
                </a:cubicBezTo>
                <a:lnTo>
                  <a:pt x="2844800" y="541867"/>
                </a:lnTo>
                <a:cubicBezTo>
                  <a:pt x="2844800" y="579275"/>
                  <a:pt x="2814475" y="609600"/>
                  <a:pt x="2777067" y="609600"/>
                </a:cubicBezTo>
                <a:lnTo>
                  <a:pt x="67733" y="609600"/>
                </a:lnTo>
                <a:cubicBezTo>
                  <a:pt x="30325" y="609600"/>
                  <a:pt x="0" y="579275"/>
                  <a:pt x="0" y="541867"/>
                </a:cubicBezTo>
                <a:lnTo>
                  <a:pt x="0" y="67733"/>
                </a:lnTo>
                <a:cubicBezTo>
                  <a:pt x="0" y="30325"/>
                  <a:pt x="30325" y="0"/>
                  <a:pt x="6773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8906933" y="2709333"/>
            <a:ext cx="270933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2️⃣ Preprocessing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906933" y="2946400"/>
            <a:ext cx="2700867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Enhances and normalizes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805333" y="3285067"/>
            <a:ext cx="2844800" cy="609600"/>
          </a:xfrm>
          <a:custGeom>
            <a:avLst/>
            <a:gdLst/>
            <a:ahLst/>
            <a:cxnLst/>
            <a:rect l="l" t="t" r="r" b="b"/>
            <a:pathLst>
              <a:path w="2844800" h="609600">
                <a:moveTo>
                  <a:pt x="67733" y="0"/>
                </a:moveTo>
                <a:lnTo>
                  <a:pt x="2777067" y="0"/>
                </a:lnTo>
                <a:cubicBezTo>
                  <a:pt x="2814475" y="0"/>
                  <a:pt x="2844800" y="30325"/>
                  <a:pt x="2844800" y="67733"/>
                </a:cubicBezTo>
                <a:lnTo>
                  <a:pt x="2844800" y="541867"/>
                </a:lnTo>
                <a:cubicBezTo>
                  <a:pt x="2844800" y="579275"/>
                  <a:pt x="2814475" y="609600"/>
                  <a:pt x="2777067" y="609600"/>
                </a:cubicBezTo>
                <a:lnTo>
                  <a:pt x="67733" y="609600"/>
                </a:lnTo>
                <a:cubicBezTo>
                  <a:pt x="30325" y="609600"/>
                  <a:pt x="0" y="579275"/>
                  <a:pt x="0" y="541867"/>
                </a:cubicBezTo>
                <a:lnTo>
                  <a:pt x="0" y="67733"/>
                </a:lnTo>
                <a:cubicBezTo>
                  <a:pt x="0" y="30325"/>
                  <a:pt x="30325" y="0"/>
                  <a:pt x="6773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8906933" y="3386667"/>
            <a:ext cx="270933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3️⃣ Feature Extraction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906933" y="3623733"/>
            <a:ext cx="2700867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Identifies edges, shapes, textures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805333" y="3962400"/>
            <a:ext cx="2844800" cy="609600"/>
          </a:xfrm>
          <a:custGeom>
            <a:avLst/>
            <a:gdLst/>
            <a:ahLst/>
            <a:cxnLst/>
            <a:rect l="l" t="t" r="r" b="b"/>
            <a:pathLst>
              <a:path w="2844800" h="609600">
                <a:moveTo>
                  <a:pt x="67733" y="0"/>
                </a:moveTo>
                <a:lnTo>
                  <a:pt x="2777067" y="0"/>
                </a:lnTo>
                <a:cubicBezTo>
                  <a:pt x="2814475" y="0"/>
                  <a:pt x="2844800" y="30325"/>
                  <a:pt x="2844800" y="67733"/>
                </a:cubicBezTo>
                <a:lnTo>
                  <a:pt x="2844800" y="541867"/>
                </a:lnTo>
                <a:cubicBezTo>
                  <a:pt x="2844800" y="579275"/>
                  <a:pt x="2814475" y="609600"/>
                  <a:pt x="2777067" y="609600"/>
                </a:cubicBezTo>
                <a:lnTo>
                  <a:pt x="67733" y="609600"/>
                </a:lnTo>
                <a:cubicBezTo>
                  <a:pt x="30325" y="609600"/>
                  <a:pt x="0" y="579275"/>
                  <a:pt x="0" y="541867"/>
                </a:cubicBezTo>
                <a:lnTo>
                  <a:pt x="0" y="67733"/>
                </a:lnTo>
                <a:cubicBezTo>
                  <a:pt x="0" y="30325"/>
                  <a:pt x="30325" y="0"/>
                  <a:pt x="6773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8906933" y="4064000"/>
            <a:ext cx="270933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4️⃣ Classification/Detection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906933" y="4301067"/>
            <a:ext cx="2700867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Recognizes objects and patterns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602133" y="4910667"/>
            <a:ext cx="3251200" cy="1947333"/>
          </a:xfrm>
          <a:custGeom>
            <a:avLst/>
            <a:gdLst/>
            <a:ahLst/>
            <a:cxnLst/>
            <a:rect l="l" t="t" r="r" b="b"/>
            <a:pathLst>
              <a:path w="3251200" h="1947333">
                <a:moveTo>
                  <a:pt x="101592" y="0"/>
                </a:moveTo>
                <a:lnTo>
                  <a:pt x="3149608" y="0"/>
                </a:lnTo>
                <a:cubicBezTo>
                  <a:pt x="3205716" y="0"/>
                  <a:pt x="3251200" y="45484"/>
                  <a:pt x="3251200" y="101592"/>
                </a:cubicBezTo>
                <a:lnTo>
                  <a:pt x="3251200" y="1845741"/>
                </a:lnTo>
                <a:cubicBezTo>
                  <a:pt x="3251200" y="1901849"/>
                  <a:pt x="3205716" y="1947333"/>
                  <a:pt x="3149608" y="1947333"/>
                </a:cubicBezTo>
                <a:lnTo>
                  <a:pt x="101592" y="1947333"/>
                </a:lnTo>
                <a:cubicBezTo>
                  <a:pt x="45484" y="1947333"/>
                  <a:pt x="0" y="1901849"/>
                  <a:pt x="0" y="1845741"/>
                </a:cubicBezTo>
                <a:lnTo>
                  <a:pt x="0" y="101592"/>
                </a:lnTo>
                <a:cubicBezTo>
                  <a:pt x="0" y="45522"/>
                  <a:pt x="45522" y="0"/>
                  <a:pt x="10159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5400" dist="846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10075333" y="5080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38100" y="27563"/>
                  <a:pt x="29587" y="19050"/>
                  <a:pt x="19050" y="19050"/>
                </a:cubicBezTo>
                <a:cubicBezTo>
                  <a:pt x="8513" y="19050"/>
                  <a:pt x="0" y="27563"/>
                  <a:pt x="0" y="38100"/>
                </a:cubicBezTo>
                <a:lnTo>
                  <a:pt x="0" y="238125"/>
                </a:lnTo>
                <a:cubicBezTo>
                  <a:pt x="0" y="264438"/>
                  <a:pt x="21312" y="285750"/>
                  <a:pt x="47625" y="285750"/>
                </a:cubicBezTo>
                <a:lnTo>
                  <a:pt x="285750" y="285750"/>
                </a:lnTo>
                <a:cubicBezTo>
                  <a:pt x="296287" y="285750"/>
                  <a:pt x="304800" y="277237"/>
                  <a:pt x="304800" y="266700"/>
                </a:cubicBezTo>
                <a:cubicBezTo>
                  <a:pt x="304800" y="256163"/>
                  <a:pt x="296287" y="247650"/>
                  <a:pt x="285750" y="247650"/>
                </a:cubicBezTo>
                <a:lnTo>
                  <a:pt x="47625" y="247650"/>
                </a:lnTo>
                <a:cubicBezTo>
                  <a:pt x="42386" y="247650"/>
                  <a:pt x="38100" y="243364"/>
                  <a:pt x="38100" y="238125"/>
                </a:cubicBezTo>
                <a:lnTo>
                  <a:pt x="38100" y="38100"/>
                </a:lnTo>
                <a:close/>
                <a:moveTo>
                  <a:pt x="280154" y="89654"/>
                </a:moveTo>
                <a:cubicBezTo>
                  <a:pt x="287595" y="82213"/>
                  <a:pt x="287595" y="70128"/>
                  <a:pt x="280154" y="62686"/>
                </a:cubicBezTo>
                <a:cubicBezTo>
                  <a:pt x="272713" y="55245"/>
                  <a:pt x="260628" y="55245"/>
                  <a:pt x="253186" y="62686"/>
                </a:cubicBezTo>
                <a:lnTo>
                  <a:pt x="190500" y="125432"/>
                </a:lnTo>
                <a:lnTo>
                  <a:pt x="156329" y="91321"/>
                </a:lnTo>
                <a:cubicBezTo>
                  <a:pt x="148888" y="83880"/>
                  <a:pt x="136803" y="83880"/>
                  <a:pt x="129361" y="91321"/>
                </a:cubicBezTo>
                <a:lnTo>
                  <a:pt x="72211" y="148471"/>
                </a:lnTo>
                <a:cubicBezTo>
                  <a:pt x="64770" y="155912"/>
                  <a:pt x="64770" y="167997"/>
                  <a:pt x="72211" y="175439"/>
                </a:cubicBezTo>
                <a:cubicBezTo>
                  <a:pt x="79653" y="182880"/>
                  <a:pt x="91738" y="182880"/>
                  <a:pt x="99179" y="175439"/>
                </a:cubicBezTo>
                <a:lnTo>
                  <a:pt x="142875" y="131743"/>
                </a:lnTo>
                <a:lnTo>
                  <a:pt x="177046" y="165914"/>
                </a:lnTo>
                <a:cubicBezTo>
                  <a:pt x="184487" y="173355"/>
                  <a:pt x="196572" y="173355"/>
                  <a:pt x="204014" y="165914"/>
                </a:cubicBezTo>
                <a:lnTo>
                  <a:pt x="280214" y="89714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51" name="Text 49"/>
          <p:cNvSpPr/>
          <p:nvPr/>
        </p:nvSpPr>
        <p:spPr>
          <a:xfrm>
            <a:off x="8733367" y="5486400"/>
            <a:ext cx="2988733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Incredible Accuracy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737600" y="5791200"/>
            <a:ext cx="2980267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067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computer vision systems can </a:t>
            </a:r>
            <a:r>
              <a:rPr lang="en-US" sz="1067" b="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recognize objects with over 99% accuracy</a:t>
            </a:r>
            <a:r>
              <a:rPr lang="en-US" sz="1067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—often better than humans!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741833" y="6519333"/>
            <a:ext cx="29718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3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Sistemet moderne njohin objektet me mbi 99% saktësi!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4C8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/ KEY TECHNOLOGIES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Robotics &amp; Automation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920750"/>
            <a:ext cx="1163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Robotika &amp; Automatizimi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3375" y="1270000"/>
            <a:ext cx="5683250" cy="3238500"/>
          </a:xfrm>
          <a:custGeom>
            <a:avLst/>
            <a:gdLst/>
            <a:ahLst/>
            <a:cxnLst/>
            <a:rect l="l" t="t" r="r" b="b"/>
            <a:pathLst>
              <a:path w="5683250" h="3238500">
                <a:moveTo>
                  <a:pt x="31750" y="0"/>
                </a:moveTo>
                <a:lnTo>
                  <a:pt x="5588006" y="0"/>
                </a:lnTo>
                <a:cubicBezTo>
                  <a:pt x="5640572" y="0"/>
                  <a:pt x="5683250" y="42678"/>
                  <a:pt x="5683250" y="95244"/>
                </a:cubicBezTo>
                <a:lnTo>
                  <a:pt x="5683250" y="3143256"/>
                </a:lnTo>
                <a:cubicBezTo>
                  <a:pt x="5683250" y="3195858"/>
                  <a:pt x="5640608" y="3238500"/>
                  <a:pt x="5588006" y="3238500"/>
                </a:cubicBezTo>
                <a:lnTo>
                  <a:pt x="31750" y="3238500"/>
                </a:lnTo>
                <a:cubicBezTo>
                  <a:pt x="14227" y="3238500"/>
                  <a:pt x="0" y="3224273"/>
                  <a:pt x="0" y="320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3375" y="1270000"/>
            <a:ext cx="31750" cy="3238500"/>
          </a:xfrm>
          <a:custGeom>
            <a:avLst/>
            <a:gdLst/>
            <a:ahLst/>
            <a:cxnLst/>
            <a:rect l="l" t="t" r="r" b="b"/>
            <a:pathLst>
              <a:path w="31750" h="3238500">
                <a:moveTo>
                  <a:pt x="31750" y="0"/>
                </a:moveTo>
                <a:lnTo>
                  <a:pt x="31750" y="0"/>
                </a:lnTo>
                <a:lnTo>
                  <a:pt x="31750" y="3238500"/>
                </a:lnTo>
                <a:lnTo>
                  <a:pt x="31750" y="3238500"/>
                </a:lnTo>
                <a:cubicBezTo>
                  <a:pt x="14227" y="3238500"/>
                  <a:pt x="0" y="3224273"/>
                  <a:pt x="0" y="320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7" name="Shape 5"/>
          <p:cNvSpPr/>
          <p:nvPr/>
        </p:nvSpPr>
        <p:spPr>
          <a:xfrm>
            <a:off x="539750" y="146050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6750" y="1587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5321" y="11906"/>
                  <a:pt x="0" y="17227"/>
                  <a:pt x="0" y="23812"/>
                </a:cubicBezTo>
                <a:lnTo>
                  <a:pt x="0" y="160734"/>
                </a:lnTo>
                <a:cubicBezTo>
                  <a:pt x="0" y="170594"/>
                  <a:pt x="8000" y="178594"/>
                  <a:pt x="17859" y="178594"/>
                </a:cubicBezTo>
                <a:lnTo>
                  <a:pt x="172641" y="178594"/>
                </a:lnTo>
                <a:cubicBezTo>
                  <a:pt x="182500" y="178594"/>
                  <a:pt x="190500" y="170594"/>
                  <a:pt x="190500" y="160734"/>
                </a:cubicBezTo>
                <a:lnTo>
                  <a:pt x="190500" y="56629"/>
                </a:lnTo>
                <a:cubicBezTo>
                  <a:pt x="190500" y="49857"/>
                  <a:pt x="183282" y="45579"/>
                  <a:pt x="177329" y="48778"/>
                </a:cubicBezTo>
                <a:lnTo>
                  <a:pt x="119063" y="80144"/>
                </a:lnTo>
                <a:lnTo>
                  <a:pt x="119063" y="56629"/>
                </a:lnTo>
                <a:cubicBezTo>
                  <a:pt x="119063" y="49857"/>
                  <a:pt x="111844" y="45579"/>
                  <a:pt x="105891" y="48778"/>
                </a:cubicBezTo>
                <a:lnTo>
                  <a:pt x="47625" y="80144"/>
                </a:lnTo>
                <a:lnTo>
                  <a:pt x="47625" y="23812"/>
                </a:lnTo>
                <a:cubicBezTo>
                  <a:pt x="47625" y="17227"/>
                  <a:pt x="42304" y="11906"/>
                  <a:pt x="35719" y="11906"/>
                </a:cubicBezTo>
                <a:lnTo>
                  <a:pt x="11906" y="11906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9" name="Text 7"/>
          <p:cNvSpPr/>
          <p:nvPr/>
        </p:nvSpPr>
        <p:spPr>
          <a:xfrm>
            <a:off x="1111250" y="1571625"/>
            <a:ext cx="1889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Manufacturing &amp; Industrial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9750" y="2032000"/>
            <a:ext cx="5286375" cy="571500"/>
          </a:xfrm>
          <a:custGeom>
            <a:avLst/>
            <a:gdLst/>
            <a:ahLst/>
            <a:cxnLst/>
            <a:rect l="l" t="t" r="r" b="b"/>
            <a:pathLst>
              <a:path w="5286375" h="571500">
                <a:moveTo>
                  <a:pt x="63499" y="0"/>
                </a:moveTo>
                <a:lnTo>
                  <a:pt x="5222876" y="0"/>
                </a:lnTo>
                <a:cubicBezTo>
                  <a:pt x="5257945" y="0"/>
                  <a:pt x="5286375" y="28430"/>
                  <a:pt x="5286375" y="63499"/>
                </a:cubicBezTo>
                <a:lnTo>
                  <a:pt x="5286375" y="508001"/>
                </a:lnTo>
                <a:cubicBezTo>
                  <a:pt x="5286375" y="543070"/>
                  <a:pt x="5257945" y="571500"/>
                  <a:pt x="522287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11" name="Text 9"/>
          <p:cNvSpPr/>
          <p:nvPr/>
        </p:nvSpPr>
        <p:spPr>
          <a:xfrm>
            <a:off x="635000" y="2127250"/>
            <a:ext cx="515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🏭 Smart Factories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5000" y="2349500"/>
            <a:ext cx="515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optimizes production lines, reduces waste, improves efficiency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9750" y="2698750"/>
            <a:ext cx="5286375" cy="571500"/>
          </a:xfrm>
          <a:custGeom>
            <a:avLst/>
            <a:gdLst/>
            <a:ahLst/>
            <a:cxnLst/>
            <a:rect l="l" t="t" r="r" b="b"/>
            <a:pathLst>
              <a:path w="5286375" h="571500">
                <a:moveTo>
                  <a:pt x="63499" y="0"/>
                </a:moveTo>
                <a:lnTo>
                  <a:pt x="5222876" y="0"/>
                </a:lnTo>
                <a:cubicBezTo>
                  <a:pt x="5257945" y="0"/>
                  <a:pt x="5286375" y="28430"/>
                  <a:pt x="5286375" y="63499"/>
                </a:cubicBezTo>
                <a:lnTo>
                  <a:pt x="5286375" y="508001"/>
                </a:lnTo>
                <a:cubicBezTo>
                  <a:pt x="5286375" y="543070"/>
                  <a:pt x="5257945" y="571500"/>
                  <a:pt x="522287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14" name="Text 12"/>
          <p:cNvSpPr/>
          <p:nvPr/>
        </p:nvSpPr>
        <p:spPr>
          <a:xfrm>
            <a:off x="635000" y="2794000"/>
            <a:ext cx="515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🦾 Robotic Arms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000" y="3016250"/>
            <a:ext cx="515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 precise assembly, welding, painting tasks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9750" y="3365500"/>
            <a:ext cx="5286375" cy="571500"/>
          </a:xfrm>
          <a:custGeom>
            <a:avLst/>
            <a:gdLst/>
            <a:ahLst/>
            <a:cxnLst/>
            <a:rect l="l" t="t" r="r" b="b"/>
            <a:pathLst>
              <a:path w="5286375" h="571500">
                <a:moveTo>
                  <a:pt x="63499" y="0"/>
                </a:moveTo>
                <a:lnTo>
                  <a:pt x="5222876" y="0"/>
                </a:lnTo>
                <a:cubicBezTo>
                  <a:pt x="5257945" y="0"/>
                  <a:pt x="5286375" y="28430"/>
                  <a:pt x="5286375" y="63499"/>
                </a:cubicBezTo>
                <a:lnTo>
                  <a:pt x="5286375" y="508001"/>
                </a:lnTo>
                <a:cubicBezTo>
                  <a:pt x="5286375" y="543070"/>
                  <a:pt x="5257945" y="571500"/>
                  <a:pt x="522287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17" name="Text 15"/>
          <p:cNvSpPr/>
          <p:nvPr/>
        </p:nvSpPr>
        <p:spPr>
          <a:xfrm>
            <a:off x="635000" y="3460750"/>
            <a:ext cx="515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🤖 Autonomous Mobile Robots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000" y="3683000"/>
            <a:ext cx="515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Navigate warehouses, transport materials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240855" y="4032250"/>
            <a:ext cx="1881187" cy="285750"/>
          </a:xfrm>
          <a:custGeom>
            <a:avLst/>
            <a:gdLst/>
            <a:ahLst/>
            <a:cxnLst/>
            <a:rect l="l" t="t" r="r" b="b"/>
            <a:pathLst>
              <a:path w="1881187" h="285750">
                <a:moveTo>
                  <a:pt x="142875" y="0"/>
                </a:moveTo>
                <a:lnTo>
                  <a:pt x="1738313" y="0"/>
                </a:lnTo>
                <a:cubicBezTo>
                  <a:pt x="1817167" y="0"/>
                  <a:pt x="1881187" y="64020"/>
                  <a:pt x="1881187" y="142875"/>
                </a:cubicBezTo>
                <a:lnTo>
                  <a:pt x="1881187" y="142875"/>
                </a:lnTo>
                <a:cubicBezTo>
                  <a:pt x="1881187" y="221730"/>
                  <a:pt x="1817167" y="285750"/>
                  <a:pt x="1738313" y="285750"/>
                </a:cubicBezTo>
                <a:lnTo>
                  <a:pt x="142875" y="285750"/>
                </a:lnTo>
                <a:cubicBezTo>
                  <a:pt x="64020" y="285750"/>
                  <a:pt x="0" y="221730"/>
                  <a:pt x="0" y="142875"/>
                </a:cubicBezTo>
                <a:lnTo>
                  <a:pt x="0" y="142875"/>
                </a:lnTo>
                <a:cubicBezTo>
                  <a:pt x="0" y="64020"/>
                  <a:pt x="64020" y="0"/>
                  <a:pt x="142875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213074" y="4032250"/>
            <a:ext cx="1936750" cy="285750"/>
          </a:xfrm>
          <a:prstGeom prst="rect">
            <a:avLst/>
          </a:prstGeom>
          <a:noFill/>
          <a:ln/>
        </p:spPr>
        <p:txBody>
          <a:bodyPr wrap="square" lIns="127000" tIns="63500" rIns="127000" bIns="6350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4C8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Examples: Tesla, Siemens, FANUC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91250" y="1270000"/>
            <a:ext cx="5683250" cy="3238500"/>
          </a:xfrm>
          <a:custGeom>
            <a:avLst/>
            <a:gdLst/>
            <a:ahLst/>
            <a:cxnLst/>
            <a:rect l="l" t="t" r="r" b="b"/>
            <a:pathLst>
              <a:path w="5683250" h="3238500">
                <a:moveTo>
                  <a:pt x="31750" y="0"/>
                </a:moveTo>
                <a:lnTo>
                  <a:pt x="5588006" y="0"/>
                </a:lnTo>
                <a:cubicBezTo>
                  <a:pt x="5640572" y="0"/>
                  <a:pt x="5683250" y="42678"/>
                  <a:pt x="5683250" y="95244"/>
                </a:cubicBezTo>
                <a:lnTo>
                  <a:pt x="5683250" y="3143256"/>
                </a:lnTo>
                <a:cubicBezTo>
                  <a:pt x="5683250" y="3195858"/>
                  <a:pt x="5640608" y="3238500"/>
                  <a:pt x="5588006" y="3238500"/>
                </a:cubicBezTo>
                <a:lnTo>
                  <a:pt x="31750" y="3238500"/>
                </a:lnTo>
                <a:cubicBezTo>
                  <a:pt x="14227" y="3238500"/>
                  <a:pt x="0" y="3224273"/>
                  <a:pt x="0" y="320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91250" y="1270000"/>
            <a:ext cx="31750" cy="3238500"/>
          </a:xfrm>
          <a:custGeom>
            <a:avLst/>
            <a:gdLst/>
            <a:ahLst/>
            <a:cxnLst/>
            <a:rect l="l" t="t" r="r" b="b"/>
            <a:pathLst>
              <a:path w="31750" h="3238500">
                <a:moveTo>
                  <a:pt x="31750" y="0"/>
                </a:moveTo>
                <a:lnTo>
                  <a:pt x="31750" y="0"/>
                </a:lnTo>
                <a:lnTo>
                  <a:pt x="31750" y="3238500"/>
                </a:lnTo>
                <a:lnTo>
                  <a:pt x="31750" y="3238500"/>
                </a:lnTo>
                <a:cubicBezTo>
                  <a:pt x="14227" y="3238500"/>
                  <a:pt x="0" y="3224273"/>
                  <a:pt x="0" y="320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23" name="Shape 21"/>
          <p:cNvSpPr/>
          <p:nvPr/>
        </p:nvSpPr>
        <p:spPr>
          <a:xfrm>
            <a:off x="6397625" y="146050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8FB7AC">
              <a:alpha val="1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524625" y="1587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40146"/>
                </a:moveTo>
                <a:lnTo>
                  <a:pt x="89669" y="32407"/>
                </a:lnTo>
                <a:cubicBezTo>
                  <a:pt x="80367" y="19534"/>
                  <a:pt x="65447" y="11906"/>
                  <a:pt x="49523" y="11906"/>
                </a:cubicBezTo>
                <a:cubicBezTo>
                  <a:pt x="22175" y="11906"/>
                  <a:pt x="0" y="34082"/>
                  <a:pt x="0" y="61429"/>
                </a:cubicBezTo>
                <a:lnTo>
                  <a:pt x="0" y="62396"/>
                </a:lnTo>
                <a:cubicBezTo>
                  <a:pt x="0" y="71177"/>
                  <a:pt x="2307" y="80256"/>
                  <a:pt x="6176" y="89297"/>
                </a:cubicBezTo>
                <a:lnTo>
                  <a:pt x="45616" y="89297"/>
                </a:lnTo>
                <a:cubicBezTo>
                  <a:pt x="46806" y="89297"/>
                  <a:pt x="47885" y="88590"/>
                  <a:pt x="48369" y="87474"/>
                </a:cubicBezTo>
                <a:lnTo>
                  <a:pt x="60201" y="59085"/>
                </a:lnTo>
                <a:cubicBezTo>
                  <a:pt x="61578" y="55811"/>
                  <a:pt x="64777" y="53653"/>
                  <a:pt x="68312" y="53578"/>
                </a:cubicBezTo>
                <a:cubicBezTo>
                  <a:pt x="71847" y="53504"/>
                  <a:pt x="75121" y="55587"/>
                  <a:pt x="76572" y="58824"/>
                </a:cubicBezTo>
                <a:lnTo>
                  <a:pt x="95659" y="101203"/>
                </a:lnTo>
                <a:lnTo>
                  <a:pt x="111063" y="70396"/>
                </a:lnTo>
                <a:cubicBezTo>
                  <a:pt x="112588" y="67382"/>
                  <a:pt x="115677" y="65447"/>
                  <a:pt x="119063" y="65447"/>
                </a:cubicBezTo>
                <a:cubicBezTo>
                  <a:pt x="122448" y="65447"/>
                  <a:pt x="125537" y="67345"/>
                  <a:pt x="127062" y="70396"/>
                </a:cubicBezTo>
                <a:lnTo>
                  <a:pt x="135694" y="87623"/>
                </a:lnTo>
                <a:cubicBezTo>
                  <a:pt x="136215" y="88627"/>
                  <a:pt x="137220" y="89260"/>
                  <a:pt x="138373" y="89260"/>
                </a:cubicBezTo>
                <a:lnTo>
                  <a:pt x="184361" y="89260"/>
                </a:lnTo>
                <a:cubicBezTo>
                  <a:pt x="188268" y="80218"/>
                  <a:pt x="190537" y="71140"/>
                  <a:pt x="190537" y="62359"/>
                </a:cubicBezTo>
                <a:lnTo>
                  <a:pt x="190537" y="61392"/>
                </a:lnTo>
                <a:cubicBezTo>
                  <a:pt x="190500" y="34082"/>
                  <a:pt x="168325" y="11906"/>
                  <a:pt x="140977" y="11906"/>
                </a:cubicBezTo>
                <a:cubicBezTo>
                  <a:pt x="125090" y="11906"/>
                  <a:pt x="110133" y="19534"/>
                  <a:pt x="100831" y="32407"/>
                </a:cubicBezTo>
                <a:lnTo>
                  <a:pt x="95250" y="40109"/>
                </a:lnTo>
                <a:close/>
                <a:moveTo>
                  <a:pt x="174724" y="107156"/>
                </a:moveTo>
                <a:lnTo>
                  <a:pt x="138336" y="107156"/>
                </a:lnTo>
                <a:cubicBezTo>
                  <a:pt x="130448" y="107156"/>
                  <a:pt x="123230" y="102691"/>
                  <a:pt x="119695" y="95622"/>
                </a:cubicBezTo>
                <a:lnTo>
                  <a:pt x="119063" y="94357"/>
                </a:lnTo>
                <a:lnTo>
                  <a:pt x="103250" y="126020"/>
                </a:lnTo>
                <a:cubicBezTo>
                  <a:pt x="101724" y="129108"/>
                  <a:pt x="98524" y="131043"/>
                  <a:pt x="95064" y="130969"/>
                </a:cubicBezTo>
                <a:cubicBezTo>
                  <a:pt x="91604" y="130894"/>
                  <a:pt x="88516" y="128848"/>
                  <a:pt x="87102" y="125723"/>
                </a:cubicBezTo>
                <a:lnTo>
                  <a:pt x="68759" y="84981"/>
                </a:lnTo>
                <a:lnTo>
                  <a:pt x="64852" y="94357"/>
                </a:lnTo>
                <a:cubicBezTo>
                  <a:pt x="61615" y="102133"/>
                  <a:pt x="54025" y="107193"/>
                  <a:pt x="45616" y="107193"/>
                </a:cubicBezTo>
                <a:lnTo>
                  <a:pt x="15776" y="107193"/>
                </a:lnTo>
                <a:cubicBezTo>
                  <a:pt x="33338" y="134652"/>
                  <a:pt x="61540" y="159916"/>
                  <a:pt x="79177" y="173385"/>
                </a:cubicBezTo>
                <a:cubicBezTo>
                  <a:pt x="83790" y="176882"/>
                  <a:pt x="89446" y="178631"/>
                  <a:pt x="95213" y="178631"/>
                </a:cubicBezTo>
                <a:cubicBezTo>
                  <a:pt x="100980" y="178631"/>
                  <a:pt x="106673" y="176919"/>
                  <a:pt x="111249" y="173385"/>
                </a:cubicBezTo>
                <a:cubicBezTo>
                  <a:pt x="128960" y="159879"/>
                  <a:pt x="157163" y="134615"/>
                  <a:pt x="174724" y="107156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25" name="Text 23"/>
          <p:cNvSpPr/>
          <p:nvPr/>
        </p:nvSpPr>
        <p:spPr>
          <a:xfrm>
            <a:off x="6969125" y="1571625"/>
            <a:ext cx="155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Healthcare &amp; Medical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97625" y="2032000"/>
            <a:ext cx="5286375" cy="571500"/>
          </a:xfrm>
          <a:custGeom>
            <a:avLst/>
            <a:gdLst/>
            <a:ahLst/>
            <a:cxnLst/>
            <a:rect l="l" t="t" r="r" b="b"/>
            <a:pathLst>
              <a:path w="5286375" h="571500">
                <a:moveTo>
                  <a:pt x="63499" y="0"/>
                </a:moveTo>
                <a:lnTo>
                  <a:pt x="5222876" y="0"/>
                </a:lnTo>
                <a:cubicBezTo>
                  <a:pt x="5257945" y="0"/>
                  <a:pt x="5286375" y="28430"/>
                  <a:pt x="5286375" y="63499"/>
                </a:cubicBezTo>
                <a:lnTo>
                  <a:pt x="5286375" y="508001"/>
                </a:lnTo>
                <a:cubicBezTo>
                  <a:pt x="5286375" y="543070"/>
                  <a:pt x="5257945" y="571500"/>
                  <a:pt x="522287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875" y="2127250"/>
            <a:ext cx="515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🔬 Surgical Robots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92875" y="2349500"/>
            <a:ext cx="515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 precise minimally invasive surgeries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97625" y="2698750"/>
            <a:ext cx="5286375" cy="571500"/>
          </a:xfrm>
          <a:custGeom>
            <a:avLst/>
            <a:gdLst/>
            <a:ahLst/>
            <a:cxnLst/>
            <a:rect l="l" t="t" r="r" b="b"/>
            <a:pathLst>
              <a:path w="5286375" h="571500">
                <a:moveTo>
                  <a:pt x="63499" y="0"/>
                </a:moveTo>
                <a:lnTo>
                  <a:pt x="5222876" y="0"/>
                </a:lnTo>
                <a:cubicBezTo>
                  <a:pt x="5257945" y="0"/>
                  <a:pt x="5286375" y="28430"/>
                  <a:pt x="5286375" y="63499"/>
                </a:cubicBezTo>
                <a:lnTo>
                  <a:pt x="5286375" y="508001"/>
                </a:lnTo>
                <a:cubicBezTo>
                  <a:pt x="5286375" y="543070"/>
                  <a:pt x="5257945" y="571500"/>
                  <a:pt x="522287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875" y="2794000"/>
            <a:ext cx="515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👩‍⚕️ Assistive Robots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92875" y="3016250"/>
            <a:ext cx="515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 elderly care, rehabilitation therapies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97625" y="3365500"/>
            <a:ext cx="5286375" cy="571500"/>
          </a:xfrm>
          <a:custGeom>
            <a:avLst/>
            <a:gdLst/>
            <a:ahLst/>
            <a:cxnLst/>
            <a:rect l="l" t="t" r="r" b="b"/>
            <a:pathLst>
              <a:path w="5286375" h="571500">
                <a:moveTo>
                  <a:pt x="63499" y="0"/>
                </a:moveTo>
                <a:lnTo>
                  <a:pt x="5222876" y="0"/>
                </a:lnTo>
                <a:cubicBezTo>
                  <a:pt x="5257945" y="0"/>
                  <a:pt x="5286375" y="28430"/>
                  <a:pt x="5286375" y="63499"/>
                </a:cubicBezTo>
                <a:lnTo>
                  <a:pt x="5286375" y="508001"/>
                </a:lnTo>
                <a:cubicBezTo>
                  <a:pt x="5286375" y="543070"/>
                  <a:pt x="5257945" y="571500"/>
                  <a:pt x="522287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875" y="3460750"/>
            <a:ext cx="515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💊 Medication Delivery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92875" y="3683000"/>
            <a:ext cx="515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dispensing and delivery systems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153549" y="4032250"/>
            <a:ext cx="1778000" cy="285750"/>
          </a:xfrm>
          <a:custGeom>
            <a:avLst/>
            <a:gdLst/>
            <a:ahLst/>
            <a:cxnLst/>
            <a:rect l="l" t="t" r="r" b="b"/>
            <a:pathLst>
              <a:path w="1778000" h="285750">
                <a:moveTo>
                  <a:pt x="142875" y="0"/>
                </a:moveTo>
                <a:lnTo>
                  <a:pt x="1635125" y="0"/>
                </a:lnTo>
                <a:cubicBezTo>
                  <a:pt x="1713980" y="0"/>
                  <a:pt x="1778000" y="64020"/>
                  <a:pt x="1778000" y="142875"/>
                </a:cubicBezTo>
                <a:lnTo>
                  <a:pt x="1778000" y="142875"/>
                </a:lnTo>
                <a:cubicBezTo>
                  <a:pt x="1778000" y="221730"/>
                  <a:pt x="1713980" y="285750"/>
                  <a:pt x="1635125" y="285750"/>
                </a:cubicBezTo>
                <a:lnTo>
                  <a:pt x="142875" y="285750"/>
                </a:lnTo>
                <a:cubicBezTo>
                  <a:pt x="64020" y="285750"/>
                  <a:pt x="0" y="221730"/>
                  <a:pt x="0" y="142875"/>
                </a:cubicBezTo>
                <a:lnTo>
                  <a:pt x="0" y="142875"/>
                </a:lnTo>
                <a:cubicBezTo>
                  <a:pt x="0" y="64020"/>
                  <a:pt x="64020" y="0"/>
                  <a:pt x="142875" y="0"/>
                </a:cubicBezTo>
                <a:close/>
              </a:path>
            </a:pathLst>
          </a:custGeom>
          <a:solidFill>
            <a:srgbClr val="8FB7AC">
              <a:alpha val="1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8125768" y="4032250"/>
            <a:ext cx="1833563" cy="285750"/>
          </a:xfrm>
          <a:prstGeom prst="rect">
            <a:avLst/>
          </a:prstGeom>
          <a:noFill/>
          <a:ln/>
        </p:spPr>
        <p:txBody>
          <a:bodyPr wrap="square" lIns="127000" tIns="63500" rIns="127000" bIns="6350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Examples: da Vinci, Toyota HSR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33375" y="4667250"/>
            <a:ext cx="5683250" cy="3238500"/>
          </a:xfrm>
          <a:custGeom>
            <a:avLst/>
            <a:gdLst/>
            <a:ahLst/>
            <a:cxnLst/>
            <a:rect l="l" t="t" r="r" b="b"/>
            <a:pathLst>
              <a:path w="5683250" h="3238500">
                <a:moveTo>
                  <a:pt x="31750" y="0"/>
                </a:moveTo>
                <a:lnTo>
                  <a:pt x="5588006" y="0"/>
                </a:lnTo>
                <a:cubicBezTo>
                  <a:pt x="5640572" y="0"/>
                  <a:pt x="5683250" y="42678"/>
                  <a:pt x="5683250" y="95244"/>
                </a:cubicBezTo>
                <a:lnTo>
                  <a:pt x="5683250" y="3143256"/>
                </a:lnTo>
                <a:cubicBezTo>
                  <a:pt x="5683250" y="3195858"/>
                  <a:pt x="5640608" y="3238500"/>
                  <a:pt x="5588006" y="3238500"/>
                </a:cubicBezTo>
                <a:lnTo>
                  <a:pt x="31750" y="3238500"/>
                </a:lnTo>
                <a:cubicBezTo>
                  <a:pt x="14227" y="3238500"/>
                  <a:pt x="0" y="3224273"/>
                  <a:pt x="0" y="320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33375" y="4667250"/>
            <a:ext cx="31750" cy="3238500"/>
          </a:xfrm>
          <a:custGeom>
            <a:avLst/>
            <a:gdLst/>
            <a:ahLst/>
            <a:cxnLst/>
            <a:rect l="l" t="t" r="r" b="b"/>
            <a:pathLst>
              <a:path w="31750" h="3238500">
                <a:moveTo>
                  <a:pt x="31750" y="0"/>
                </a:moveTo>
                <a:lnTo>
                  <a:pt x="31750" y="0"/>
                </a:lnTo>
                <a:lnTo>
                  <a:pt x="31750" y="3238500"/>
                </a:lnTo>
                <a:lnTo>
                  <a:pt x="31750" y="3238500"/>
                </a:lnTo>
                <a:cubicBezTo>
                  <a:pt x="14227" y="3238500"/>
                  <a:pt x="0" y="3224273"/>
                  <a:pt x="0" y="320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39" name="Shape 37"/>
          <p:cNvSpPr/>
          <p:nvPr/>
        </p:nvSpPr>
        <p:spPr>
          <a:xfrm>
            <a:off x="539750" y="485775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66750" y="4984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90500" y="11906"/>
                </a:moveTo>
                <a:cubicBezTo>
                  <a:pt x="190500" y="52127"/>
                  <a:pt x="161999" y="85688"/>
                  <a:pt x="124123" y="93538"/>
                </a:cubicBezTo>
                <a:cubicBezTo>
                  <a:pt x="121183" y="71921"/>
                  <a:pt x="111472" y="52462"/>
                  <a:pt x="97148" y="37393"/>
                </a:cubicBezTo>
                <a:cubicBezTo>
                  <a:pt x="112068" y="14883"/>
                  <a:pt x="137629" y="0"/>
                  <a:pt x="166688" y="0"/>
                </a:cubicBezTo>
                <a:lnTo>
                  <a:pt x="178594" y="0"/>
                </a:lnTo>
                <a:cubicBezTo>
                  <a:pt x="185179" y="0"/>
                  <a:pt x="190500" y="5321"/>
                  <a:pt x="190500" y="11906"/>
                </a:cubicBezTo>
                <a:close/>
                <a:moveTo>
                  <a:pt x="0" y="35719"/>
                </a:moveTo>
                <a:cubicBezTo>
                  <a:pt x="0" y="29133"/>
                  <a:pt x="5321" y="23812"/>
                  <a:pt x="11906" y="23812"/>
                </a:cubicBezTo>
                <a:lnTo>
                  <a:pt x="23812" y="23812"/>
                </a:lnTo>
                <a:cubicBezTo>
                  <a:pt x="69838" y="23812"/>
                  <a:pt x="107156" y="61131"/>
                  <a:pt x="107156" y="107156"/>
                </a:cubicBezTo>
                <a:lnTo>
                  <a:pt x="107156" y="178594"/>
                </a:lnTo>
                <a:cubicBezTo>
                  <a:pt x="107156" y="185179"/>
                  <a:pt x="101836" y="190500"/>
                  <a:pt x="95250" y="190500"/>
                </a:cubicBezTo>
                <a:cubicBezTo>
                  <a:pt x="88664" y="190500"/>
                  <a:pt x="83344" y="185179"/>
                  <a:pt x="83344" y="178594"/>
                </a:cubicBezTo>
                <a:lnTo>
                  <a:pt x="83344" y="119063"/>
                </a:lnTo>
                <a:cubicBezTo>
                  <a:pt x="37319" y="119063"/>
                  <a:pt x="0" y="81744"/>
                  <a:pt x="0" y="35719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41" name="Text 39"/>
          <p:cNvSpPr/>
          <p:nvPr/>
        </p:nvSpPr>
        <p:spPr>
          <a:xfrm>
            <a:off x="1111250" y="4968875"/>
            <a:ext cx="1738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Agriculture &amp; Food Tech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39750" y="5429250"/>
            <a:ext cx="5286375" cy="571500"/>
          </a:xfrm>
          <a:custGeom>
            <a:avLst/>
            <a:gdLst/>
            <a:ahLst/>
            <a:cxnLst/>
            <a:rect l="l" t="t" r="r" b="b"/>
            <a:pathLst>
              <a:path w="5286375" h="571500">
                <a:moveTo>
                  <a:pt x="63499" y="0"/>
                </a:moveTo>
                <a:lnTo>
                  <a:pt x="5222876" y="0"/>
                </a:lnTo>
                <a:cubicBezTo>
                  <a:pt x="5257945" y="0"/>
                  <a:pt x="5286375" y="28430"/>
                  <a:pt x="5286375" y="63499"/>
                </a:cubicBezTo>
                <a:lnTo>
                  <a:pt x="5286375" y="508001"/>
                </a:lnTo>
                <a:cubicBezTo>
                  <a:pt x="5286375" y="543070"/>
                  <a:pt x="5257945" y="571500"/>
                  <a:pt x="522287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43" name="Text 41"/>
          <p:cNvSpPr/>
          <p:nvPr/>
        </p:nvSpPr>
        <p:spPr>
          <a:xfrm>
            <a:off x="635000" y="5524500"/>
            <a:ext cx="515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🚁 Agricultural Drones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35000" y="5746750"/>
            <a:ext cx="515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 crop health, detect diseases, optimize irrigation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39750" y="6096000"/>
            <a:ext cx="5286375" cy="571500"/>
          </a:xfrm>
          <a:custGeom>
            <a:avLst/>
            <a:gdLst/>
            <a:ahLst/>
            <a:cxnLst/>
            <a:rect l="l" t="t" r="r" b="b"/>
            <a:pathLst>
              <a:path w="5286375" h="571500">
                <a:moveTo>
                  <a:pt x="63499" y="0"/>
                </a:moveTo>
                <a:lnTo>
                  <a:pt x="5222876" y="0"/>
                </a:lnTo>
                <a:cubicBezTo>
                  <a:pt x="5257945" y="0"/>
                  <a:pt x="5286375" y="28430"/>
                  <a:pt x="5286375" y="63499"/>
                </a:cubicBezTo>
                <a:lnTo>
                  <a:pt x="5286375" y="508001"/>
                </a:lnTo>
                <a:cubicBezTo>
                  <a:pt x="5286375" y="543070"/>
                  <a:pt x="5257945" y="571500"/>
                  <a:pt x="522287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46" name="Text 44"/>
          <p:cNvSpPr/>
          <p:nvPr/>
        </p:nvSpPr>
        <p:spPr>
          <a:xfrm>
            <a:off x="635000" y="6191250"/>
            <a:ext cx="515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🍎 Robotic Harvesters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35000" y="6413500"/>
            <a:ext cx="515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Pick fruits and vegetables with precision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39750" y="6762750"/>
            <a:ext cx="5286375" cy="571500"/>
          </a:xfrm>
          <a:custGeom>
            <a:avLst/>
            <a:gdLst/>
            <a:ahLst/>
            <a:cxnLst/>
            <a:rect l="l" t="t" r="r" b="b"/>
            <a:pathLst>
              <a:path w="5286375" h="571500">
                <a:moveTo>
                  <a:pt x="63499" y="0"/>
                </a:moveTo>
                <a:lnTo>
                  <a:pt x="5222876" y="0"/>
                </a:lnTo>
                <a:cubicBezTo>
                  <a:pt x="5257945" y="0"/>
                  <a:pt x="5286375" y="28430"/>
                  <a:pt x="5286375" y="63499"/>
                </a:cubicBezTo>
                <a:lnTo>
                  <a:pt x="5286375" y="508001"/>
                </a:lnTo>
                <a:cubicBezTo>
                  <a:pt x="5286375" y="543070"/>
                  <a:pt x="5257945" y="571500"/>
                  <a:pt x="522287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49" name="Text 47"/>
          <p:cNvSpPr/>
          <p:nvPr/>
        </p:nvSpPr>
        <p:spPr>
          <a:xfrm>
            <a:off x="635000" y="6858000"/>
            <a:ext cx="515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📦 Food Processing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35000" y="7080250"/>
            <a:ext cx="515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sorting, packaging, quality control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2349376" y="7429500"/>
            <a:ext cx="1666875" cy="285750"/>
          </a:xfrm>
          <a:custGeom>
            <a:avLst/>
            <a:gdLst/>
            <a:ahLst/>
            <a:cxnLst/>
            <a:rect l="l" t="t" r="r" b="b"/>
            <a:pathLst>
              <a:path w="1666875" h="285750">
                <a:moveTo>
                  <a:pt x="142875" y="0"/>
                </a:moveTo>
                <a:lnTo>
                  <a:pt x="1524000" y="0"/>
                </a:lnTo>
                <a:cubicBezTo>
                  <a:pt x="1602855" y="0"/>
                  <a:pt x="1666875" y="64020"/>
                  <a:pt x="1666875" y="142875"/>
                </a:cubicBezTo>
                <a:lnTo>
                  <a:pt x="1666875" y="142875"/>
                </a:lnTo>
                <a:cubicBezTo>
                  <a:pt x="1666875" y="221730"/>
                  <a:pt x="1602855" y="285750"/>
                  <a:pt x="1524000" y="285750"/>
                </a:cubicBezTo>
                <a:lnTo>
                  <a:pt x="142875" y="285750"/>
                </a:lnTo>
                <a:cubicBezTo>
                  <a:pt x="64020" y="285750"/>
                  <a:pt x="0" y="221730"/>
                  <a:pt x="0" y="142875"/>
                </a:cubicBezTo>
                <a:lnTo>
                  <a:pt x="0" y="142875"/>
                </a:lnTo>
                <a:cubicBezTo>
                  <a:pt x="0" y="64020"/>
                  <a:pt x="64020" y="0"/>
                  <a:pt x="142875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2321595" y="7429500"/>
            <a:ext cx="1722438" cy="285750"/>
          </a:xfrm>
          <a:prstGeom prst="rect">
            <a:avLst/>
          </a:prstGeom>
          <a:noFill/>
          <a:ln/>
        </p:spPr>
        <p:txBody>
          <a:bodyPr wrap="square" lIns="127000" tIns="63500" rIns="127000" bIns="6350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4C8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Examples: Blue River, Iron Ox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175375" y="4667250"/>
            <a:ext cx="5699125" cy="3238500"/>
          </a:xfrm>
          <a:custGeom>
            <a:avLst/>
            <a:gdLst/>
            <a:ahLst/>
            <a:cxnLst/>
            <a:rect l="l" t="t" r="r" b="b"/>
            <a:pathLst>
              <a:path w="5699125" h="3238500">
                <a:moveTo>
                  <a:pt x="95244" y="0"/>
                </a:moveTo>
                <a:lnTo>
                  <a:pt x="5603881" y="0"/>
                </a:lnTo>
                <a:cubicBezTo>
                  <a:pt x="5656447" y="0"/>
                  <a:pt x="5699125" y="42678"/>
                  <a:pt x="5699125" y="95244"/>
                </a:cubicBezTo>
                <a:lnTo>
                  <a:pt x="5699125" y="3143256"/>
                </a:lnTo>
                <a:cubicBezTo>
                  <a:pt x="5699125" y="3195858"/>
                  <a:pt x="5656483" y="3238500"/>
                  <a:pt x="5603881" y="3238500"/>
                </a:cubicBezTo>
                <a:lnTo>
                  <a:pt x="95244" y="3238500"/>
                </a:lnTo>
                <a:cubicBezTo>
                  <a:pt x="42678" y="3238500"/>
                  <a:pt x="0" y="3195822"/>
                  <a:pt x="0" y="3143256"/>
                </a:cubicBezTo>
                <a:lnTo>
                  <a:pt x="0" y="95244"/>
                </a:lnTo>
                <a:cubicBezTo>
                  <a:pt x="0" y="42642"/>
                  <a:pt x="42642" y="0"/>
                  <a:pt x="95244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A7A"/>
              </a:gs>
              <a:gs pos="100000">
                <a:srgbClr val="2F3E3B"/>
              </a:gs>
            </a:gsLst>
            <a:lin ang="2700000" scaled="1"/>
          </a:gradFill>
          <a:ln/>
        </p:spPr>
      </p:sp>
      <p:sp>
        <p:nvSpPr>
          <p:cNvPr id="54" name="Shape 52"/>
          <p:cNvSpPr/>
          <p:nvPr/>
        </p:nvSpPr>
        <p:spPr>
          <a:xfrm>
            <a:off x="8786813" y="533400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261938" y="0"/>
                </a:moveTo>
                <a:cubicBezTo>
                  <a:pt x="261938" y="-13171"/>
                  <a:pt x="251296" y="-23812"/>
                  <a:pt x="238125" y="-23812"/>
                </a:cubicBezTo>
                <a:cubicBezTo>
                  <a:pt x="224954" y="-23812"/>
                  <a:pt x="214313" y="-13171"/>
                  <a:pt x="214313" y="0"/>
                </a:cubicBezTo>
                <a:lnTo>
                  <a:pt x="214313" y="47625"/>
                </a:lnTo>
                <a:lnTo>
                  <a:pt x="142875" y="47625"/>
                </a:lnTo>
                <a:cubicBezTo>
                  <a:pt x="103436" y="47625"/>
                  <a:pt x="71438" y="79623"/>
                  <a:pt x="71438" y="119063"/>
                </a:cubicBezTo>
                <a:lnTo>
                  <a:pt x="71438" y="285750"/>
                </a:lnTo>
                <a:cubicBezTo>
                  <a:pt x="71438" y="325189"/>
                  <a:pt x="103436" y="357188"/>
                  <a:pt x="142875" y="357188"/>
                </a:cubicBezTo>
                <a:lnTo>
                  <a:pt x="333375" y="357188"/>
                </a:lnTo>
                <a:cubicBezTo>
                  <a:pt x="372814" y="357188"/>
                  <a:pt x="404813" y="325189"/>
                  <a:pt x="404813" y="285750"/>
                </a:cubicBezTo>
                <a:lnTo>
                  <a:pt x="404813" y="119063"/>
                </a:lnTo>
                <a:cubicBezTo>
                  <a:pt x="404813" y="79623"/>
                  <a:pt x="372814" y="47625"/>
                  <a:pt x="333375" y="47625"/>
                </a:cubicBezTo>
                <a:lnTo>
                  <a:pt x="261938" y="47625"/>
                </a:lnTo>
                <a:lnTo>
                  <a:pt x="261938" y="0"/>
                </a:lnTo>
                <a:close/>
                <a:moveTo>
                  <a:pt x="119063" y="273844"/>
                </a:moveTo>
                <a:cubicBezTo>
                  <a:pt x="119063" y="263947"/>
                  <a:pt x="127025" y="255984"/>
                  <a:pt x="136922" y="255984"/>
                </a:cubicBezTo>
                <a:lnTo>
                  <a:pt x="160734" y="255984"/>
                </a:lnTo>
                <a:cubicBezTo>
                  <a:pt x="170631" y="255984"/>
                  <a:pt x="178594" y="263947"/>
                  <a:pt x="178594" y="273844"/>
                </a:cubicBezTo>
                <a:cubicBezTo>
                  <a:pt x="178594" y="283741"/>
                  <a:pt x="170631" y="291703"/>
                  <a:pt x="160734" y="291703"/>
                </a:cubicBezTo>
                <a:lnTo>
                  <a:pt x="136922" y="291703"/>
                </a:lnTo>
                <a:cubicBezTo>
                  <a:pt x="127025" y="291703"/>
                  <a:pt x="119063" y="283741"/>
                  <a:pt x="119063" y="273844"/>
                </a:cubicBezTo>
                <a:close/>
                <a:moveTo>
                  <a:pt x="208359" y="273844"/>
                </a:moveTo>
                <a:cubicBezTo>
                  <a:pt x="208359" y="263947"/>
                  <a:pt x="216322" y="255984"/>
                  <a:pt x="226219" y="255984"/>
                </a:cubicBezTo>
                <a:lnTo>
                  <a:pt x="250031" y="255984"/>
                </a:lnTo>
                <a:cubicBezTo>
                  <a:pt x="259928" y="255984"/>
                  <a:pt x="267891" y="263947"/>
                  <a:pt x="267891" y="273844"/>
                </a:cubicBezTo>
                <a:cubicBezTo>
                  <a:pt x="267891" y="283741"/>
                  <a:pt x="259928" y="291703"/>
                  <a:pt x="250031" y="291703"/>
                </a:cubicBezTo>
                <a:lnTo>
                  <a:pt x="226219" y="291703"/>
                </a:lnTo>
                <a:cubicBezTo>
                  <a:pt x="216322" y="291703"/>
                  <a:pt x="208359" y="283741"/>
                  <a:pt x="208359" y="273844"/>
                </a:cubicBezTo>
                <a:close/>
                <a:moveTo>
                  <a:pt x="297656" y="273844"/>
                </a:moveTo>
                <a:cubicBezTo>
                  <a:pt x="297656" y="263947"/>
                  <a:pt x="305619" y="255984"/>
                  <a:pt x="315516" y="255984"/>
                </a:cubicBezTo>
                <a:lnTo>
                  <a:pt x="339328" y="255984"/>
                </a:lnTo>
                <a:cubicBezTo>
                  <a:pt x="349225" y="255984"/>
                  <a:pt x="357188" y="263947"/>
                  <a:pt x="357188" y="273844"/>
                </a:cubicBezTo>
                <a:cubicBezTo>
                  <a:pt x="357188" y="283741"/>
                  <a:pt x="349225" y="291703"/>
                  <a:pt x="339328" y="291703"/>
                </a:cubicBezTo>
                <a:lnTo>
                  <a:pt x="315516" y="291703"/>
                </a:lnTo>
                <a:cubicBezTo>
                  <a:pt x="305619" y="291703"/>
                  <a:pt x="297656" y="283741"/>
                  <a:pt x="297656" y="273844"/>
                </a:cubicBezTo>
                <a:close/>
                <a:moveTo>
                  <a:pt x="166688" y="130969"/>
                </a:moveTo>
                <a:cubicBezTo>
                  <a:pt x="186401" y="130969"/>
                  <a:pt x="202406" y="146974"/>
                  <a:pt x="202406" y="166688"/>
                </a:cubicBezTo>
                <a:cubicBezTo>
                  <a:pt x="202406" y="186401"/>
                  <a:pt x="186401" y="202406"/>
                  <a:pt x="166688" y="202406"/>
                </a:cubicBezTo>
                <a:cubicBezTo>
                  <a:pt x="146974" y="202406"/>
                  <a:pt x="130969" y="186401"/>
                  <a:pt x="130969" y="166688"/>
                </a:cubicBezTo>
                <a:cubicBezTo>
                  <a:pt x="130969" y="146974"/>
                  <a:pt x="146974" y="130969"/>
                  <a:pt x="166688" y="130969"/>
                </a:cubicBezTo>
                <a:close/>
                <a:moveTo>
                  <a:pt x="273844" y="166688"/>
                </a:moveTo>
                <a:cubicBezTo>
                  <a:pt x="273844" y="146974"/>
                  <a:pt x="289849" y="130969"/>
                  <a:pt x="309563" y="130969"/>
                </a:cubicBezTo>
                <a:cubicBezTo>
                  <a:pt x="329276" y="130969"/>
                  <a:pt x="345281" y="146974"/>
                  <a:pt x="345281" y="166688"/>
                </a:cubicBezTo>
                <a:cubicBezTo>
                  <a:pt x="345281" y="186401"/>
                  <a:pt x="329276" y="202406"/>
                  <a:pt x="309563" y="202406"/>
                </a:cubicBezTo>
                <a:cubicBezTo>
                  <a:pt x="289849" y="202406"/>
                  <a:pt x="273844" y="186401"/>
                  <a:pt x="273844" y="166688"/>
                </a:cubicBezTo>
                <a:close/>
                <a:moveTo>
                  <a:pt x="47625" y="166688"/>
                </a:moveTo>
                <a:cubicBezTo>
                  <a:pt x="47625" y="153516"/>
                  <a:pt x="36984" y="142875"/>
                  <a:pt x="23812" y="142875"/>
                </a:cubicBezTo>
                <a:cubicBezTo>
                  <a:pt x="10641" y="142875"/>
                  <a:pt x="0" y="153516"/>
                  <a:pt x="0" y="166688"/>
                </a:cubicBezTo>
                <a:lnTo>
                  <a:pt x="0" y="238125"/>
                </a:lnTo>
                <a:cubicBezTo>
                  <a:pt x="0" y="251296"/>
                  <a:pt x="10641" y="261938"/>
                  <a:pt x="23812" y="261938"/>
                </a:cubicBezTo>
                <a:cubicBezTo>
                  <a:pt x="36984" y="261938"/>
                  <a:pt x="47625" y="251296"/>
                  <a:pt x="47625" y="238125"/>
                </a:cubicBezTo>
                <a:lnTo>
                  <a:pt x="47625" y="166688"/>
                </a:lnTo>
                <a:close/>
                <a:moveTo>
                  <a:pt x="452438" y="142875"/>
                </a:moveTo>
                <a:cubicBezTo>
                  <a:pt x="439266" y="142875"/>
                  <a:pt x="428625" y="153516"/>
                  <a:pt x="428625" y="166688"/>
                </a:cubicBezTo>
                <a:lnTo>
                  <a:pt x="428625" y="238125"/>
                </a:lnTo>
                <a:cubicBezTo>
                  <a:pt x="428625" y="251296"/>
                  <a:pt x="439266" y="261938"/>
                  <a:pt x="452438" y="261938"/>
                </a:cubicBezTo>
                <a:cubicBezTo>
                  <a:pt x="465609" y="261938"/>
                  <a:pt x="476250" y="251296"/>
                  <a:pt x="476250" y="238125"/>
                </a:cubicBezTo>
                <a:lnTo>
                  <a:pt x="476250" y="166688"/>
                </a:lnTo>
                <a:cubicBezTo>
                  <a:pt x="476250" y="153516"/>
                  <a:pt x="465609" y="142875"/>
                  <a:pt x="452438" y="1428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6318250" y="5842000"/>
            <a:ext cx="5413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Power of AI Robotics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334125" y="6191250"/>
            <a:ext cx="53816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robots combine </a:t>
            </a: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physical capabilities with intelligent decision-making</a:t>
            </a: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transforming industries worldwide.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65875" y="6699250"/>
            <a:ext cx="5318125" cy="539750"/>
          </a:xfrm>
          <a:custGeom>
            <a:avLst/>
            <a:gdLst/>
            <a:ahLst/>
            <a:cxnLst/>
            <a:rect l="l" t="t" r="r" b="b"/>
            <a:pathLst>
              <a:path w="5318125" h="539750">
                <a:moveTo>
                  <a:pt x="63502" y="0"/>
                </a:moveTo>
                <a:lnTo>
                  <a:pt x="5254623" y="0"/>
                </a:lnTo>
                <a:cubicBezTo>
                  <a:pt x="5289694" y="0"/>
                  <a:pt x="5318125" y="28431"/>
                  <a:pt x="5318125" y="63502"/>
                </a:cubicBezTo>
                <a:lnTo>
                  <a:pt x="5318125" y="476248"/>
                </a:lnTo>
                <a:cubicBezTo>
                  <a:pt x="5318125" y="511319"/>
                  <a:pt x="5289694" y="539750"/>
                  <a:pt x="525462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6429375" y="6794500"/>
            <a:ext cx="519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2026: 40% of enterprises will use AI agents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433344" y="6985000"/>
            <a:ext cx="5183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Deri në 2026: 40% e ndërmarrjeve do të përdorin agjentë IA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F3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1a16d48ef859e4c7302df44729dc6a826bb0b844.jpg"/>
          <p:cNvPicPr>
            <a:picLocks noChangeAspect="1"/>
          </p:cNvPicPr>
          <p:nvPr/>
        </p:nvPicPr>
        <p:blipFill>
          <a:blip r:embed="rId3">
            <a:alphaModFix amt="25000"/>
          </a:blip>
          <a:srcRect t="7786" b="778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F3E3B">
                  <a:alpha val="98000"/>
                </a:srgbClr>
              </a:gs>
              <a:gs pos="50000">
                <a:srgbClr val="2F3E3B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171575"/>
            <a:ext cx="1962150" cy="533400"/>
          </a:xfrm>
          <a:custGeom>
            <a:avLst/>
            <a:gdLst/>
            <a:ahLst/>
            <a:cxnLst/>
            <a:rect l="l" t="t" r="r" b="b"/>
            <a:pathLst>
              <a:path w="1962150" h="533400">
                <a:moveTo>
                  <a:pt x="266700" y="0"/>
                </a:moveTo>
                <a:lnTo>
                  <a:pt x="1695450" y="0"/>
                </a:lnTo>
                <a:cubicBezTo>
                  <a:pt x="1842646" y="0"/>
                  <a:pt x="1962150" y="119504"/>
                  <a:pt x="1962150" y="266700"/>
                </a:cubicBezTo>
                <a:lnTo>
                  <a:pt x="1962150" y="266700"/>
                </a:lnTo>
                <a:cubicBezTo>
                  <a:pt x="1962150" y="413896"/>
                  <a:pt x="1842646" y="533400"/>
                  <a:pt x="169545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1285875"/>
            <a:ext cx="1619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kern="0" spc="18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009775"/>
            <a:ext cx="76581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AI in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Action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952875"/>
            <a:ext cx="7458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IA në Veprim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60057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4943475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Real-World Applications Transforming Industries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Aplikime Reale që Transformojnë Industritë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6099" y="336099"/>
            <a:ext cx="11587021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kern="0" spc="53" dirty="0">
                <a:solidFill>
                  <a:srgbClr val="4C8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/ AI IN ACTION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6099" y="604979"/>
            <a:ext cx="11671046" cy="336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82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AI in Healthcare: Saving Lives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6099" y="974688"/>
            <a:ext cx="11603826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IA në Shëndetësi: Duke Shpëtuar Jetë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2904" y="1344397"/>
            <a:ext cx="8612543" cy="1378007"/>
          </a:xfrm>
          <a:custGeom>
            <a:avLst/>
            <a:gdLst/>
            <a:ahLst/>
            <a:cxnLst/>
            <a:rect l="l" t="t" r="r" b="b"/>
            <a:pathLst>
              <a:path w="8612543" h="1378007">
                <a:moveTo>
                  <a:pt x="33610" y="0"/>
                </a:moveTo>
                <a:lnTo>
                  <a:pt x="8511714" y="0"/>
                </a:lnTo>
                <a:cubicBezTo>
                  <a:pt x="8567400" y="0"/>
                  <a:pt x="8612543" y="45143"/>
                  <a:pt x="8612543" y="100829"/>
                </a:cubicBezTo>
                <a:lnTo>
                  <a:pt x="8612543" y="1277178"/>
                </a:lnTo>
                <a:cubicBezTo>
                  <a:pt x="8612543" y="1332864"/>
                  <a:pt x="8567400" y="1378007"/>
                  <a:pt x="8511714" y="1378007"/>
                </a:cubicBezTo>
                <a:lnTo>
                  <a:pt x="33610" y="1378007"/>
                </a:lnTo>
                <a:cubicBezTo>
                  <a:pt x="15048" y="1378007"/>
                  <a:pt x="0" y="1362959"/>
                  <a:pt x="0" y="1344397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5207" dist="840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52904" y="1344397"/>
            <a:ext cx="33610" cy="1378007"/>
          </a:xfrm>
          <a:custGeom>
            <a:avLst/>
            <a:gdLst/>
            <a:ahLst/>
            <a:cxnLst/>
            <a:rect l="l" t="t" r="r" b="b"/>
            <a:pathLst>
              <a:path w="33610" h="1378007">
                <a:moveTo>
                  <a:pt x="33610" y="0"/>
                </a:moveTo>
                <a:lnTo>
                  <a:pt x="33610" y="0"/>
                </a:lnTo>
                <a:lnTo>
                  <a:pt x="33610" y="1378007"/>
                </a:lnTo>
                <a:lnTo>
                  <a:pt x="33610" y="1378007"/>
                </a:lnTo>
                <a:cubicBezTo>
                  <a:pt x="15048" y="1378007"/>
                  <a:pt x="0" y="1362959"/>
                  <a:pt x="0" y="1344397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7" name="Shape 5"/>
          <p:cNvSpPr/>
          <p:nvPr/>
        </p:nvSpPr>
        <p:spPr>
          <a:xfrm>
            <a:off x="571369" y="1546057"/>
            <a:ext cx="470539" cy="470539"/>
          </a:xfrm>
          <a:custGeom>
            <a:avLst/>
            <a:gdLst/>
            <a:ahLst/>
            <a:cxnLst/>
            <a:rect l="l" t="t" r="r" b="b"/>
            <a:pathLst>
              <a:path w="470539" h="470539">
                <a:moveTo>
                  <a:pt x="235269" y="0"/>
                </a:moveTo>
                <a:lnTo>
                  <a:pt x="235269" y="0"/>
                </a:lnTo>
                <a:cubicBezTo>
                  <a:pt x="365205" y="0"/>
                  <a:pt x="470539" y="105334"/>
                  <a:pt x="470539" y="235269"/>
                </a:cubicBezTo>
                <a:lnTo>
                  <a:pt x="470539" y="235269"/>
                </a:lnTo>
                <a:cubicBezTo>
                  <a:pt x="470539" y="365205"/>
                  <a:pt x="365205" y="470539"/>
                  <a:pt x="235269" y="470539"/>
                </a:cubicBezTo>
                <a:lnTo>
                  <a:pt x="235269" y="470539"/>
                </a:lnTo>
                <a:cubicBezTo>
                  <a:pt x="105334" y="470539"/>
                  <a:pt x="0" y="365205"/>
                  <a:pt x="0" y="235269"/>
                </a:cubicBezTo>
                <a:lnTo>
                  <a:pt x="0" y="235269"/>
                </a:lnTo>
                <a:cubicBezTo>
                  <a:pt x="0" y="105334"/>
                  <a:pt x="105334" y="0"/>
                  <a:pt x="235269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93205" y="1680496"/>
            <a:ext cx="226867" cy="201660"/>
          </a:xfrm>
          <a:custGeom>
            <a:avLst/>
            <a:gdLst/>
            <a:ahLst/>
            <a:cxnLst/>
            <a:rect l="l" t="t" r="r" b="b"/>
            <a:pathLst>
              <a:path w="226867" h="201660">
                <a:moveTo>
                  <a:pt x="12604" y="18906"/>
                </a:moveTo>
                <a:cubicBezTo>
                  <a:pt x="12604" y="8468"/>
                  <a:pt x="21072" y="0"/>
                  <a:pt x="31509" y="0"/>
                </a:cubicBezTo>
                <a:lnTo>
                  <a:pt x="50415" y="0"/>
                </a:lnTo>
                <a:cubicBezTo>
                  <a:pt x="57386" y="0"/>
                  <a:pt x="63019" y="5632"/>
                  <a:pt x="63019" y="12604"/>
                </a:cubicBezTo>
                <a:cubicBezTo>
                  <a:pt x="63019" y="19575"/>
                  <a:pt x="57386" y="25207"/>
                  <a:pt x="50415" y="25207"/>
                </a:cubicBezTo>
                <a:lnTo>
                  <a:pt x="37811" y="25207"/>
                </a:lnTo>
                <a:lnTo>
                  <a:pt x="37811" y="75622"/>
                </a:lnTo>
                <a:cubicBezTo>
                  <a:pt x="37811" y="96497"/>
                  <a:pt x="54747" y="113433"/>
                  <a:pt x="75622" y="113433"/>
                </a:cubicBezTo>
                <a:cubicBezTo>
                  <a:pt x="96497" y="113433"/>
                  <a:pt x="113433" y="96497"/>
                  <a:pt x="113433" y="75622"/>
                </a:cubicBezTo>
                <a:lnTo>
                  <a:pt x="113433" y="25207"/>
                </a:lnTo>
                <a:lnTo>
                  <a:pt x="100830" y="25207"/>
                </a:lnTo>
                <a:cubicBezTo>
                  <a:pt x="93858" y="25207"/>
                  <a:pt x="88226" y="19575"/>
                  <a:pt x="88226" y="12604"/>
                </a:cubicBezTo>
                <a:cubicBezTo>
                  <a:pt x="88226" y="5632"/>
                  <a:pt x="93858" y="0"/>
                  <a:pt x="100830" y="0"/>
                </a:cubicBezTo>
                <a:lnTo>
                  <a:pt x="119735" y="0"/>
                </a:lnTo>
                <a:cubicBezTo>
                  <a:pt x="130173" y="0"/>
                  <a:pt x="138641" y="8468"/>
                  <a:pt x="138641" y="18906"/>
                </a:cubicBezTo>
                <a:lnTo>
                  <a:pt x="138641" y="75622"/>
                </a:lnTo>
                <a:cubicBezTo>
                  <a:pt x="138641" y="106108"/>
                  <a:pt x="116978" y="131551"/>
                  <a:pt x="88226" y="137381"/>
                </a:cubicBezTo>
                <a:lnTo>
                  <a:pt x="88226" y="144943"/>
                </a:lnTo>
                <a:cubicBezTo>
                  <a:pt x="88226" y="169323"/>
                  <a:pt x="107959" y="189056"/>
                  <a:pt x="132339" y="189056"/>
                </a:cubicBezTo>
                <a:cubicBezTo>
                  <a:pt x="156719" y="189056"/>
                  <a:pt x="176452" y="169323"/>
                  <a:pt x="176452" y="144943"/>
                </a:cubicBezTo>
                <a:lnTo>
                  <a:pt x="176452" y="111267"/>
                </a:lnTo>
                <a:cubicBezTo>
                  <a:pt x="161761" y="106068"/>
                  <a:pt x="151245" y="92086"/>
                  <a:pt x="151245" y="75622"/>
                </a:cubicBezTo>
                <a:cubicBezTo>
                  <a:pt x="151245" y="54747"/>
                  <a:pt x="168181" y="37811"/>
                  <a:pt x="189056" y="37811"/>
                </a:cubicBezTo>
                <a:cubicBezTo>
                  <a:pt x="209931" y="37811"/>
                  <a:pt x="226867" y="54747"/>
                  <a:pt x="226867" y="75622"/>
                </a:cubicBezTo>
                <a:cubicBezTo>
                  <a:pt x="226867" y="92086"/>
                  <a:pt x="216351" y="106108"/>
                  <a:pt x="201660" y="111267"/>
                </a:cubicBezTo>
                <a:lnTo>
                  <a:pt x="201660" y="144943"/>
                </a:lnTo>
                <a:cubicBezTo>
                  <a:pt x="201660" y="183227"/>
                  <a:pt x="170623" y="214263"/>
                  <a:pt x="132339" y="214263"/>
                </a:cubicBezTo>
                <a:cubicBezTo>
                  <a:pt x="94055" y="214263"/>
                  <a:pt x="63019" y="183227"/>
                  <a:pt x="63019" y="144943"/>
                </a:cubicBezTo>
                <a:lnTo>
                  <a:pt x="63019" y="137381"/>
                </a:lnTo>
                <a:cubicBezTo>
                  <a:pt x="34266" y="131551"/>
                  <a:pt x="12604" y="106108"/>
                  <a:pt x="12604" y="75622"/>
                </a:cubicBezTo>
                <a:lnTo>
                  <a:pt x="12604" y="18906"/>
                </a:lnTo>
                <a:close/>
                <a:moveTo>
                  <a:pt x="189056" y="88226"/>
                </a:moveTo>
                <a:cubicBezTo>
                  <a:pt x="196012" y="88226"/>
                  <a:pt x="201660" y="82579"/>
                  <a:pt x="201660" y="75622"/>
                </a:cubicBezTo>
                <a:cubicBezTo>
                  <a:pt x="201660" y="68666"/>
                  <a:pt x="196012" y="63019"/>
                  <a:pt x="189056" y="63019"/>
                </a:cubicBezTo>
                <a:cubicBezTo>
                  <a:pt x="182100" y="63019"/>
                  <a:pt x="176452" y="68666"/>
                  <a:pt x="176452" y="75622"/>
                </a:cubicBezTo>
                <a:cubicBezTo>
                  <a:pt x="176452" y="82579"/>
                  <a:pt x="182100" y="88226"/>
                  <a:pt x="189056" y="88226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9" name="Text 7"/>
          <p:cNvSpPr/>
          <p:nvPr/>
        </p:nvSpPr>
        <p:spPr>
          <a:xfrm>
            <a:off x="1176347" y="1546057"/>
            <a:ext cx="7671465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Revolutionizing Healthcare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76347" y="1848546"/>
            <a:ext cx="7654660" cy="436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9" b="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is transforming how we diagnose, treat, and prevent diseases.</a:t>
            </a:r>
            <a:r>
              <a:rPr lang="en-US" sz="1059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analyzing medical images to predicting patient outcomes, AI augments healthcare professionals' capabilities.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76347" y="2352695"/>
            <a:ext cx="7646258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IA po transformon mënyrën se si diagnostikojmë dhe trajtojmë sëmundjet.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6099" y="2873649"/>
            <a:ext cx="4243253" cy="1915766"/>
          </a:xfrm>
          <a:custGeom>
            <a:avLst/>
            <a:gdLst/>
            <a:ahLst/>
            <a:cxnLst/>
            <a:rect l="l" t="t" r="r" b="b"/>
            <a:pathLst>
              <a:path w="4243253" h="1915766">
                <a:moveTo>
                  <a:pt x="33610" y="0"/>
                </a:moveTo>
                <a:lnTo>
                  <a:pt x="4209643" y="0"/>
                </a:lnTo>
                <a:cubicBezTo>
                  <a:pt x="4228205" y="0"/>
                  <a:pt x="4243253" y="15048"/>
                  <a:pt x="4243253" y="33610"/>
                </a:cubicBezTo>
                <a:lnTo>
                  <a:pt x="4243253" y="1814939"/>
                </a:lnTo>
                <a:cubicBezTo>
                  <a:pt x="4243253" y="1870624"/>
                  <a:pt x="4198111" y="1915766"/>
                  <a:pt x="4142426" y="1915766"/>
                </a:cubicBezTo>
                <a:lnTo>
                  <a:pt x="100827" y="1915766"/>
                </a:lnTo>
                <a:cubicBezTo>
                  <a:pt x="45142" y="1915766"/>
                  <a:pt x="0" y="1870624"/>
                  <a:pt x="0" y="1814939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5207" dist="840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6099" y="2873649"/>
            <a:ext cx="4243253" cy="33610"/>
          </a:xfrm>
          <a:custGeom>
            <a:avLst/>
            <a:gdLst/>
            <a:ahLst/>
            <a:cxnLst/>
            <a:rect l="l" t="t" r="r" b="b"/>
            <a:pathLst>
              <a:path w="4243253" h="33610">
                <a:moveTo>
                  <a:pt x="33610" y="0"/>
                </a:moveTo>
                <a:lnTo>
                  <a:pt x="4209643" y="0"/>
                </a:lnTo>
                <a:cubicBezTo>
                  <a:pt x="4228205" y="0"/>
                  <a:pt x="4243253" y="15048"/>
                  <a:pt x="4243253" y="33610"/>
                </a:cubicBezTo>
                <a:lnTo>
                  <a:pt x="4243253" y="33610"/>
                </a:lnTo>
                <a:lnTo>
                  <a:pt x="0" y="33610"/>
                </a:ln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4" name="Shape 12"/>
          <p:cNvSpPr/>
          <p:nvPr/>
        </p:nvSpPr>
        <p:spPr>
          <a:xfrm>
            <a:off x="525155" y="3092113"/>
            <a:ext cx="168050" cy="168050"/>
          </a:xfrm>
          <a:custGeom>
            <a:avLst/>
            <a:gdLst/>
            <a:ahLst/>
            <a:cxnLst/>
            <a:rect l="l" t="t" r="r" b="b"/>
            <a:pathLst>
              <a:path w="168050" h="168050">
                <a:moveTo>
                  <a:pt x="0" y="21006"/>
                </a:moveTo>
                <a:cubicBezTo>
                  <a:pt x="0" y="15197"/>
                  <a:pt x="4694" y="10503"/>
                  <a:pt x="10503" y="10503"/>
                </a:cubicBezTo>
                <a:lnTo>
                  <a:pt x="157547" y="10503"/>
                </a:lnTo>
                <a:cubicBezTo>
                  <a:pt x="163356" y="10503"/>
                  <a:pt x="168050" y="15197"/>
                  <a:pt x="168050" y="21006"/>
                </a:cubicBezTo>
                <a:cubicBezTo>
                  <a:pt x="168050" y="26816"/>
                  <a:pt x="163356" y="31509"/>
                  <a:pt x="157547" y="31509"/>
                </a:cubicBezTo>
                <a:lnTo>
                  <a:pt x="157547" y="136540"/>
                </a:lnTo>
                <a:cubicBezTo>
                  <a:pt x="163356" y="136540"/>
                  <a:pt x="168050" y="141234"/>
                  <a:pt x="168050" y="147043"/>
                </a:cubicBezTo>
                <a:cubicBezTo>
                  <a:pt x="168050" y="152853"/>
                  <a:pt x="163356" y="157547"/>
                  <a:pt x="157547" y="157547"/>
                </a:cubicBezTo>
                <a:lnTo>
                  <a:pt x="10503" y="157547"/>
                </a:lnTo>
                <a:cubicBezTo>
                  <a:pt x="4694" y="157547"/>
                  <a:pt x="0" y="152853"/>
                  <a:pt x="0" y="147043"/>
                </a:cubicBezTo>
                <a:cubicBezTo>
                  <a:pt x="0" y="141234"/>
                  <a:pt x="4694" y="136540"/>
                  <a:pt x="10503" y="136540"/>
                </a:cubicBezTo>
                <a:lnTo>
                  <a:pt x="10503" y="31509"/>
                </a:lnTo>
                <a:cubicBezTo>
                  <a:pt x="4694" y="31509"/>
                  <a:pt x="0" y="26816"/>
                  <a:pt x="0" y="21006"/>
                </a:cubicBezTo>
                <a:close/>
                <a:moveTo>
                  <a:pt x="91902" y="39387"/>
                </a:moveTo>
                <a:cubicBezTo>
                  <a:pt x="91902" y="35021"/>
                  <a:pt x="88390" y="31509"/>
                  <a:pt x="84025" y="31509"/>
                </a:cubicBezTo>
                <a:cubicBezTo>
                  <a:pt x="79659" y="31509"/>
                  <a:pt x="76147" y="35021"/>
                  <a:pt x="76147" y="39387"/>
                </a:cubicBezTo>
                <a:lnTo>
                  <a:pt x="76147" y="44638"/>
                </a:lnTo>
                <a:lnTo>
                  <a:pt x="55141" y="44638"/>
                </a:lnTo>
                <a:cubicBezTo>
                  <a:pt x="50776" y="44638"/>
                  <a:pt x="47264" y="48150"/>
                  <a:pt x="47264" y="52516"/>
                </a:cubicBezTo>
                <a:cubicBezTo>
                  <a:pt x="47264" y="56881"/>
                  <a:pt x="50776" y="60393"/>
                  <a:pt x="55141" y="60393"/>
                </a:cubicBezTo>
                <a:lnTo>
                  <a:pt x="76147" y="60393"/>
                </a:lnTo>
                <a:lnTo>
                  <a:pt x="76147" y="76147"/>
                </a:lnTo>
                <a:lnTo>
                  <a:pt x="49890" y="76147"/>
                </a:lnTo>
                <a:cubicBezTo>
                  <a:pt x="45524" y="76147"/>
                  <a:pt x="42012" y="79659"/>
                  <a:pt x="42012" y="84025"/>
                </a:cubicBezTo>
                <a:cubicBezTo>
                  <a:pt x="42012" y="88390"/>
                  <a:pt x="45524" y="91902"/>
                  <a:pt x="49890" y="91902"/>
                </a:cubicBezTo>
                <a:lnTo>
                  <a:pt x="76147" y="91902"/>
                </a:lnTo>
                <a:lnTo>
                  <a:pt x="76147" y="107657"/>
                </a:lnTo>
                <a:lnTo>
                  <a:pt x="55141" y="107657"/>
                </a:lnTo>
                <a:cubicBezTo>
                  <a:pt x="50776" y="107657"/>
                  <a:pt x="47264" y="111169"/>
                  <a:pt x="47264" y="115534"/>
                </a:cubicBezTo>
                <a:cubicBezTo>
                  <a:pt x="47264" y="119899"/>
                  <a:pt x="50776" y="123411"/>
                  <a:pt x="55141" y="123411"/>
                </a:cubicBezTo>
                <a:lnTo>
                  <a:pt x="76147" y="123411"/>
                </a:lnTo>
                <a:lnTo>
                  <a:pt x="76147" y="128663"/>
                </a:lnTo>
                <a:cubicBezTo>
                  <a:pt x="76147" y="133028"/>
                  <a:pt x="79659" y="136540"/>
                  <a:pt x="84025" y="136540"/>
                </a:cubicBezTo>
                <a:cubicBezTo>
                  <a:pt x="88390" y="136540"/>
                  <a:pt x="91902" y="133028"/>
                  <a:pt x="91902" y="128663"/>
                </a:cubicBezTo>
                <a:lnTo>
                  <a:pt x="91902" y="123411"/>
                </a:lnTo>
                <a:lnTo>
                  <a:pt x="112908" y="123411"/>
                </a:lnTo>
                <a:cubicBezTo>
                  <a:pt x="117274" y="123411"/>
                  <a:pt x="120786" y="119899"/>
                  <a:pt x="120786" y="115534"/>
                </a:cubicBezTo>
                <a:cubicBezTo>
                  <a:pt x="120786" y="111169"/>
                  <a:pt x="117274" y="107657"/>
                  <a:pt x="112908" y="107657"/>
                </a:cubicBezTo>
                <a:lnTo>
                  <a:pt x="91902" y="107657"/>
                </a:lnTo>
                <a:lnTo>
                  <a:pt x="91902" y="91902"/>
                </a:lnTo>
                <a:lnTo>
                  <a:pt x="118160" y="91902"/>
                </a:lnTo>
                <a:cubicBezTo>
                  <a:pt x="122525" y="91902"/>
                  <a:pt x="126037" y="88390"/>
                  <a:pt x="126037" y="84025"/>
                </a:cubicBezTo>
                <a:cubicBezTo>
                  <a:pt x="126037" y="79659"/>
                  <a:pt x="122525" y="76147"/>
                  <a:pt x="118160" y="76147"/>
                </a:cubicBezTo>
                <a:lnTo>
                  <a:pt x="91902" y="76147"/>
                </a:lnTo>
                <a:lnTo>
                  <a:pt x="91902" y="60393"/>
                </a:lnTo>
                <a:lnTo>
                  <a:pt x="112908" y="60393"/>
                </a:lnTo>
                <a:cubicBezTo>
                  <a:pt x="117274" y="60393"/>
                  <a:pt x="120786" y="56881"/>
                  <a:pt x="120786" y="52516"/>
                </a:cubicBezTo>
                <a:cubicBezTo>
                  <a:pt x="120786" y="48150"/>
                  <a:pt x="117274" y="44638"/>
                  <a:pt x="112908" y="44638"/>
                </a:cubicBezTo>
                <a:lnTo>
                  <a:pt x="91902" y="44638"/>
                </a:lnTo>
                <a:lnTo>
                  <a:pt x="91902" y="39387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5" name="Text 13"/>
          <p:cNvSpPr/>
          <p:nvPr/>
        </p:nvSpPr>
        <p:spPr>
          <a:xfrm>
            <a:off x="815041" y="3058503"/>
            <a:ext cx="1487239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1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Diagnostic Assistance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4149" y="3394602"/>
            <a:ext cx="3974374" cy="436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9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analyzes medical images to detect tumors, fractures, and abnormalities with high accuracy.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4149" y="3898751"/>
            <a:ext cx="3965971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Asistencë diagnostikuese me saktësi të lartë.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16549" y="2873649"/>
            <a:ext cx="4243253" cy="1915766"/>
          </a:xfrm>
          <a:custGeom>
            <a:avLst/>
            <a:gdLst/>
            <a:ahLst/>
            <a:cxnLst/>
            <a:rect l="l" t="t" r="r" b="b"/>
            <a:pathLst>
              <a:path w="4243253" h="1915766">
                <a:moveTo>
                  <a:pt x="33610" y="0"/>
                </a:moveTo>
                <a:lnTo>
                  <a:pt x="4209643" y="0"/>
                </a:lnTo>
                <a:cubicBezTo>
                  <a:pt x="4228205" y="0"/>
                  <a:pt x="4243253" y="15048"/>
                  <a:pt x="4243253" y="33610"/>
                </a:cubicBezTo>
                <a:lnTo>
                  <a:pt x="4243253" y="1814939"/>
                </a:lnTo>
                <a:cubicBezTo>
                  <a:pt x="4243253" y="1870624"/>
                  <a:pt x="4198111" y="1915766"/>
                  <a:pt x="4142426" y="1915766"/>
                </a:cubicBezTo>
                <a:lnTo>
                  <a:pt x="100827" y="1915766"/>
                </a:lnTo>
                <a:cubicBezTo>
                  <a:pt x="45142" y="1915766"/>
                  <a:pt x="0" y="1870624"/>
                  <a:pt x="0" y="1814939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5207" dist="840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16549" y="2873649"/>
            <a:ext cx="4243253" cy="33610"/>
          </a:xfrm>
          <a:custGeom>
            <a:avLst/>
            <a:gdLst/>
            <a:ahLst/>
            <a:cxnLst/>
            <a:rect l="l" t="t" r="r" b="b"/>
            <a:pathLst>
              <a:path w="4243253" h="33610">
                <a:moveTo>
                  <a:pt x="33610" y="0"/>
                </a:moveTo>
                <a:lnTo>
                  <a:pt x="4209643" y="0"/>
                </a:lnTo>
                <a:cubicBezTo>
                  <a:pt x="4228205" y="0"/>
                  <a:pt x="4243253" y="15048"/>
                  <a:pt x="4243253" y="33610"/>
                </a:cubicBezTo>
                <a:lnTo>
                  <a:pt x="4243253" y="33610"/>
                </a:lnTo>
                <a:lnTo>
                  <a:pt x="0" y="33610"/>
                </a:ln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20" name="Shape 18"/>
          <p:cNvSpPr/>
          <p:nvPr/>
        </p:nvSpPr>
        <p:spPr>
          <a:xfrm>
            <a:off x="4905605" y="3092113"/>
            <a:ext cx="168050" cy="168050"/>
          </a:xfrm>
          <a:custGeom>
            <a:avLst/>
            <a:gdLst/>
            <a:ahLst/>
            <a:cxnLst/>
            <a:rect l="l" t="t" r="r" b="b"/>
            <a:pathLst>
              <a:path w="168050" h="168050">
                <a:moveTo>
                  <a:pt x="21006" y="36761"/>
                </a:moveTo>
                <a:cubicBezTo>
                  <a:pt x="21006" y="28063"/>
                  <a:pt x="28063" y="21006"/>
                  <a:pt x="36761" y="21006"/>
                </a:cubicBezTo>
                <a:cubicBezTo>
                  <a:pt x="45459" y="21006"/>
                  <a:pt x="52516" y="28063"/>
                  <a:pt x="52516" y="36761"/>
                </a:cubicBezTo>
                <a:lnTo>
                  <a:pt x="52516" y="73522"/>
                </a:lnTo>
                <a:lnTo>
                  <a:pt x="21006" y="73522"/>
                </a:lnTo>
                <a:lnTo>
                  <a:pt x="21006" y="36761"/>
                </a:lnTo>
                <a:close/>
                <a:moveTo>
                  <a:pt x="57767" y="120786"/>
                </a:moveTo>
                <a:cubicBezTo>
                  <a:pt x="57767" y="104801"/>
                  <a:pt x="63708" y="90195"/>
                  <a:pt x="73522" y="79101"/>
                </a:cubicBezTo>
                <a:lnTo>
                  <a:pt x="73522" y="36761"/>
                </a:lnTo>
                <a:cubicBezTo>
                  <a:pt x="73522" y="16444"/>
                  <a:pt x="57078" y="0"/>
                  <a:pt x="36761" y="0"/>
                </a:cubicBezTo>
                <a:cubicBezTo>
                  <a:pt x="16444" y="0"/>
                  <a:pt x="0" y="16444"/>
                  <a:pt x="0" y="36761"/>
                </a:cubicBezTo>
                <a:lnTo>
                  <a:pt x="0" y="131289"/>
                </a:lnTo>
                <a:cubicBezTo>
                  <a:pt x="0" y="151606"/>
                  <a:pt x="16444" y="168050"/>
                  <a:pt x="36761" y="168050"/>
                </a:cubicBezTo>
                <a:cubicBezTo>
                  <a:pt x="49004" y="168050"/>
                  <a:pt x="59835" y="162076"/>
                  <a:pt x="66531" y="152853"/>
                </a:cubicBezTo>
                <a:cubicBezTo>
                  <a:pt x="60951" y="143466"/>
                  <a:pt x="57767" y="132503"/>
                  <a:pt x="57767" y="120786"/>
                </a:cubicBezTo>
                <a:close/>
                <a:moveTo>
                  <a:pt x="79003" y="142908"/>
                </a:moveTo>
                <a:cubicBezTo>
                  <a:pt x="80513" y="145763"/>
                  <a:pt x="84353" y="146092"/>
                  <a:pt x="86651" y="143794"/>
                </a:cubicBezTo>
                <a:lnTo>
                  <a:pt x="143794" y="86651"/>
                </a:lnTo>
                <a:cubicBezTo>
                  <a:pt x="146092" y="84353"/>
                  <a:pt x="145763" y="80513"/>
                  <a:pt x="142908" y="79003"/>
                </a:cubicBezTo>
                <a:cubicBezTo>
                  <a:pt x="136311" y="75491"/>
                  <a:pt x="128794" y="73522"/>
                  <a:pt x="120786" y="73522"/>
                </a:cubicBezTo>
                <a:cubicBezTo>
                  <a:pt x="94692" y="73522"/>
                  <a:pt x="73522" y="94692"/>
                  <a:pt x="73522" y="120786"/>
                </a:cubicBezTo>
                <a:cubicBezTo>
                  <a:pt x="73522" y="128761"/>
                  <a:pt x="75491" y="136311"/>
                  <a:pt x="79003" y="142908"/>
                </a:cubicBezTo>
                <a:close/>
                <a:moveTo>
                  <a:pt x="97777" y="154921"/>
                </a:moveTo>
                <a:cubicBezTo>
                  <a:pt x="95480" y="157218"/>
                  <a:pt x="95808" y="161058"/>
                  <a:pt x="98664" y="162568"/>
                </a:cubicBezTo>
                <a:cubicBezTo>
                  <a:pt x="105261" y="166080"/>
                  <a:pt x="112777" y="168050"/>
                  <a:pt x="120786" y="168050"/>
                </a:cubicBezTo>
                <a:cubicBezTo>
                  <a:pt x="146879" y="168050"/>
                  <a:pt x="168050" y="146879"/>
                  <a:pt x="168050" y="120786"/>
                </a:cubicBezTo>
                <a:cubicBezTo>
                  <a:pt x="168050" y="112810"/>
                  <a:pt x="166080" y="105261"/>
                  <a:pt x="162568" y="98664"/>
                </a:cubicBezTo>
                <a:cubicBezTo>
                  <a:pt x="161058" y="95808"/>
                  <a:pt x="157218" y="95480"/>
                  <a:pt x="154921" y="97777"/>
                </a:cubicBezTo>
                <a:lnTo>
                  <a:pt x="97777" y="154921"/>
                </a:ln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21" name="Text 19"/>
          <p:cNvSpPr/>
          <p:nvPr/>
        </p:nvSpPr>
        <p:spPr>
          <a:xfrm>
            <a:off x="5195490" y="3058503"/>
            <a:ext cx="1335994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1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Treatment Planning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84599" y="3394602"/>
            <a:ext cx="3974374" cy="436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9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Personalized care recommendations based on patient data, genetics, and treatment history.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84599" y="3898751"/>
            <a:ext cx="3965971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Planifikim i personalizuar i trajtimit.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36099" y="4940659"/>
            <a:ext cx="4243253" cy="1915766"/>
          </a:xfrm>
          <a:custGeom>
            <a:avLst/>
            <a:gdLst/>
            <a:ahLst/>
            <a:cxnLst/>
            <a:rect l="l" t="t" r="r" b="b"/>
            <a:pathLst>
              <a:path w="4243253" h="1915766">
                <a:moveTo>
                  <a:pt x="33610" y="0"/>
                </a:moveTo>
                <a:lnTo>
                  <a:pt x="4209643" y="0"/>
                </a:lnTo>
                <a:cubicBezTo>
                  <a:pt x="4228205" y="0"/>
                  <a:pt x="4243253" y="15048"/>
                  <a:pt x="4243253" y="33610"/>
                </a:cubicBezTo>
                <a:lnTo>
                  <a:pt x="4243253" y="1814939"/>
                </a:lnTo>
                <a:cubicBezTo>
                  <a:pt x="4243253" y="1870624"/>
                  <a:pt x="4198111" y="1915766"/>
                  <a:pt x="4142426" y="1915766"/>
                </a:cubicBezTo>
                <a:lnTo>
                  <a:pt x="100827" y="1915766"/>
                </a:lnTo>
                <a:cubicBezTo>
                  <a:pt x="45142" y="1915766"/>
                  <a:pt x="0" y="1870624"/>
                  <a:pt x="0" y="1814939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5207" dist="840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6099" y="4940659"/>
            <a:ext cx="4243253" cy="33610"/>
          </a:xfrm>
          <a:custGeom>
            <a:avLst/>
            <a:gdLst/>
            <a:ahLst/>
            <a:cxnLst/>
            <a:rect l="l" t="t" r="r" b="b"/>
            <a:pathLst>
              <a:path w="4243253" h="33610">
                <a:moveTo>
                  <a:pt x="33610" y="0"/>
                </a:moveTo>
                <a:lnTo>
                  <a:pt x="4209643" y="0"/>
                </a:lnTo>
                <a:cubicBezTo>
                  <a:pt x="4228205" y="0"/>
                  <a:pt x="4243253" y="15048"/>
                  <a:pt x="4243253" y="33610"/>
                </a:cubicBezTo>
                <a:lnTo>
                  <a:pt x="4243253" y="33610"/>
                </a:lnTo>
                <a:lnTo>
                  <a:pt x="0" y="33610"/>
                </a:ln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26" name="Shape 24"/>
          <p:cNvSpPr/>
          <p:nvPr/>
        </p:nvSpPr>
        <p:spPr>
          <a:xfrm>
            <a:off x="535658" y="5159123"/>
            <a:ext cx="147043" cy="168050"/>
          </a:xfrm>
          <a:custGeom>
            <a:avLst/>
            <a:gdLst/>
            <a:ahLst/>
            <a:cxnLst/>
            <a:rect l="l" t="t" r="r" b="b"/>
            <a:pathLst>
              <a:path w="147043" h="168050">
                <a:moveTo>
                  <a:pt x="94528" y="0"/>
                </a:moveTo>
                <a:lnTo>
                  <a:pt x="42012" y="0"/>
                </a:lnTo>
                <a:cubicBezTo>
                  <a:pt x="36203" y="0"/>
                  <a:pt x="31509" y="4694"/>
                  <a:pt x="31509" y="10503"/>
                </a:cubicBezTo>
                <a:cubicBezTo>
                  <a:pt x="31509" y="16313"/>
                  <a:pt x="36203" y="21006"/>
                  <a:pt x="42012" y="21006"/>
                </a:cubicBezTo>
                <a:lnTo>
                  <a:pt x="42012" y="70732"/>
                </a:lnTo>
                <a:lnTo>
                  <a:pt x="2462" y="139921"/>
                </a:lnTo>
                <a:cubicBezTo>
                  <a:pt x="853" y="142777"/>
                  <a:pt x="0" y="145960"/>
                  <a:pt x="0" y="149243"/>
                </a:cubicBezTo>
                <a:cubicBezTo>
                  <a:pt x="0" y="159647"/>
                  <a:pt x="8402" y="168050"/>
                  <a:pt x="18807" y="168050"/>
                </a:cubicBezTo>
                <a:lnTo>
                  <a:pt x="128236" y="168050"/>
                </a:lnTo>
                <a:cubicBezTo>
                  <a:pt x="138608" y="168050"/>
                  <a:pt x="147043" y="159647"/>
                  <a:pt x="147043" y="149243"/>
                </a:cubicBezTo>
                <a:cubicBezTo>
                  <a:pt x="147043" y="145960"/>
                  <a:pt x="146190" y="142744"/>
                  <a:pt x="144582" y="139921"/>
                </a:cubicBezTo>
                <a:lnTo>
                  <a:pt x="105031" y="70732"/>
                </a:lnTo>
                <a:lnTo>
                  <a:pt x="105031" y="21006"/>
                </a:lnTo>
                <a:cubicBezTo>
                  <a:pt x="110841" y="21006"/>
                  <a:pt x="115534" y="16313"/>
                  <a:pt x="115534" y="10503"/>
                </a:cubicBezTo>
                <a:cubicBezTo>
                  <a:pt x="115534" y="4694"/>
                  <a:pt x="110841" y="0"/>
                  <a:pt x="105031" y="0"/>
                </a:cubicBezTo>
                <a:lnTo>
                  <a:pt x="94528" y="0"/>
                </a:lnTo>
                <a:close/>
                <a:moveTo>
                  <a:pt x="63019" y="70732"/>
                </a:moveTo>
                <a:lnTo>
                  <a:pt x="63019" y="21006"/>
                </a:lnTo>
                <a:lnTo>
                  <a:pt x="84025" y="21006"/>
                </a:lnTo>
                <a:lnTo>
                  <a:pt x="84025" y="70732"/>
                </a:lnTo>
                <a:cubicBezTo>
                  <a:pt x="84025" y="74375"/>
                  <a:pt x="84977" y="77986"/>
                  <a:pt x="86782" y="81169"/>
                </a:cubicBezTo>
                <a:lnTo>
                  <a:pt x="100436" y="105031"/>
                </a:lnTo>
                <a:lnTo>
                  <a:pt x="46608" y="105031"/>
                </a:lnTo>
                <a:lnTo>
                  <a:pt x="60262" y="81169"/>
                </a:lnTo>
                <a:cubicBezTo>
                  <a:pt x="62067" y="77986"/>
                  <a:pt x="63019" y="74408"/>
                  <a:pt x="63019" y="70732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27" name="Text 25"/>
          <p:cNvSpPr/>
          <p:nvPr/>
        </p:nvSpPr>
        <p:spPr>
          <a:xfrm>
            <a:off x="815041" y="5125513"/>
            <a:ext cx="1092323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1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Drug Discovery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4149" y="5461613"/>
            <a:ext cx="3974374" cy="436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9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Accelerates identification of promising drug candidates, reducing development time from years to months.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4149" y="5965762"/>
            <a:ext cx="3965971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Zbulimi i ilaçeve përshpejtohet.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716549" y="4940659"/>
            <a:ext cx="4243253" cy="1915766"/>
          </a:xfrm>
          <a:custGeom>
            <a:avLst/>
            <a:gdLst/>
            <a:ahLst/>
            <a:cxnLst/>
            <a:rect l="l" t="t" r="r" b="b"/>
            <a:pathLst>
              <a:path w="4243253" h="1915766">
                <a:moveTo>
                  <a:pt x="33610" y="0"/>
                </a:moveTo>
                <a:lnTo>
                  <a:pt x="4209643" y="0"/>
                </a:lnTo>
                <a:cubicBezTo>
                  <a:pt x="4228205" y="0"/>
                  <a:pt x="4243253" y="15048"/>
                  <a:pt x="4243253" y="33610"/>
                </a:cubicBezTo>
                <a:lnTo>
                  <a:pt x="4243253" y="1814939"/>
                </a:lnTo>
                <a:cubicBezTo>
                  <a:pt x="4243253" y="1870624"/>
                  <a:pt x="4198111" y="1915766"/>
                  <a:pt x="4142426" y="1915766"/>
                </a:cubicBezTo>
                <a:lnTo>
                  <a:pt x="100827" y="1915766"/>
                </a:lnTo>
                <a:cubicBezTo>
                  <a:pt x="45142" y="1915766"/>
                  <a:pt x="0" y="1870624"/>
                  <a:pt x="0" y="1814939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5207" dist="840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16549" y="4940659"/>
            <a:ext cx="4243253" cy="33610"/>
          </a:xfrm>
          <a:custGeom>
            <a:avLst/>
            <a:gdLst/>
            <a:ahLst/>
            <a:cxnLst/>
            <a:rect l="l" t="t" r="r" b="b"/>
            <a:pathLst>
              <a:path w="4243253" h="33610">
                <a:moveTo>
                  <a:pt x="33610" y="0"/>
                </a:moveTo>
                <a:lnTo>
                  <a:pt x="4209643" y="0"/>
                </a:lnTo>
                <a:cubicBezTo>
                  <a:pt x="4228205" y="0"/>
                  <a:pt x="4243253" y="15048"/>
                  <a:pt x="4243253" y="33610"/>
                </a:cubicBezTo>
                <a:lnTo>
                  <a:pt x="4243253" y="33610"/>
                </a:lnTo>
                <a:lnTo>
                  <a:pt x="0" y="33610"/>
                </a:ln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32" name="Shape 30"/>
          <p:cNvSpPr/>
          <p:nvPr/>
        </p:nvSpPr>
        <p:spPr>
          <a:xfrm>
            <a:off x="4926611" y="5159123"/>
            <a:ext cx="126037" cy="168050"/>
          </a:xfrm>
          <a:custGeom>
            <a:avLst/>
            <a:gdLst/>
            <a:ahLst/>
            <a:cxnLst/>
            <a:rect l="l" t="t" r="r" b="b"/>
            <a:pathLst>
              <a:path w="126037" h="168050">
                <a:moveTo>
                  <a:pt x="0" y="21006"/>
                </a:moveTo>
                <a:cubicBezTo>
                  <a:pt x="0" y="9420"/>
                  <a:pt x="9420" y="0"/>
                  <a:pt x="21006" y="0"/>
                </a:cubicBezTo>
                <a:lnTo>
                  <a:pt x="70075" y="0"/>
                </a:lnTo>
                <a:cubicBezTo>
                  <a:pt x="75655" y="0"/>
                  <a:pt x="81005" y="2199"/>
                  <a:pt x="84944" y="6138"/>
                </a:cubicBezTo>
                <a:lnTo>
                  <a:pt x="119899" y="41126"/>
                </a:lnTo>
                <a:cubicBezTo>
                  <a:pt x="123838" y="45065"/>
                  <a:pt x="126037" y="50415"/>
                  <a:pt x="126037" y="55995"/>
                </a:cubicBezTo>
                <a:lnTo>
                  <a:pt x="126037" y="147043"/>
                </a:lnTo>
                <a:cubicBezTo>
                  <a:pt x="126037" y="158630"/>
                  <a:pt x="116617" y="168050"/>
                  <a:pt x="105031" y="168050"/>
                </a:cubicBezTo>
                <a:lnTo>
                  <a:pt x="21006" y="168050"/>
                </a:lnTo>
                <a:cubicBezTo>
                  <a:pt x="9420" y="168050"/>
                  <a:pt x="0" y="158630"/>
                  <a:pt x="0" y="147043"/>
                </a:cubicBezTo>
                <a:lnTo>
                  <a:pt x="0" y="21006"/>
                </a:lnTo>
                <a:close/>
                <a:moveTo>
                  <a:pt x="68270" y="19201"/>
                </a:moveTo>
                <a:lnTo>
                  <a:pt x="68270" y="49890"/>
                </a:lnTo>
                <a:cubicBezTo>
                  <a:pt x="68270" y="54255"/>
                  <a:pt x="71782" y="57767"/>
                  <a:pt x="76147" y="57767"/>
                </a:cubicBezTo>
                <a:lnTo>
                  <a:pt x="106836" y="57767"/>
                </a:lnTo>
                <a:lnTo>
                  <a:pt x="68270" y="19201"/>
                </a:lnTo>
                <a:close/>
                <a:moveTo>
                  <a:pt x="52516" y="91902"/>
                </a:moveTo>
                <a:lnTo>
                  <a:pt x="52516" y="105031"/>
                </a:lnTo>
                <a:lnTo>
                  <a:pt x="39387" y="105031"/>
                </a:lnTo>
                <a:cubicBezTo>
                  <a:pt x="36498" y="105031"/>
                  <a:pt x="34135" y="107394"/>
                  <a:pt x="34135" y="110283"/>
                </a:cubicBezTo>
                <a:lnTo>
                  <a:pt x="34135" y="120786"/>
                </a:lnTo>
                <a:cubicBezTo>
                  <a:pt x="34135" y="123674"/>
                  <a:pt x="36498" y="126037"/>
                  <a:pt x="39387" y="126037"/>
                </a:cubicBezTo>
                <a:lnTo>
                  <a:pt x="52516" y="126037"/>
                </a:lnTo>
                <a:lnTo>
                  <a:pt x="52516" y="139166"/>
                </a:lnTo>
                <a:cubicBezTo>
                  <a:pt x="52516" y="142054"/>
                  <a:pt x="54879" y="144418"/>
                  <a:pt x="57767" y="144418"/>
                </a:cubicBezTo>
                <a:lnTo>
                  <a:pt x="68270" y="144418"/>
                </a:lnTo>
                <a:cubicBezTo>
                  <a:pt x="71159" y="144418"/>
                  <a:pt x="73522" y="142054"/>
                  <a:pt x="73522" y="139166"/>
                </a:cubicBezTo>
                <a:lnTo>
                  <a:pt x="73522" y="126037"/>
                </a:lnTo>
                <a:lnTo>
                  <a:pt x="86651" y="126037"/>
                </a:lnTo>
                <a:cubicBezTo>
                  <a:pt x="89539" y="126037"/>
                  <a:pt x="91902" y="123674"/>
                  <a:pt x="91902" y="120786"/>
                </a:cubicBezTo>
                <a:lnTo>
                  <a:pt x="91902" y="110283"/>
                </a:lnTo>
                <a:cubicBezTo>
                  <a:pt x="91902" y="107394"/>
                  <a:pt x="89539" y="105031"/>
                  <a:pt x="86651" y="105031"/>
                </a:cubicBezTo>
                <a:lnTo>
                  <a:pt x="73522" y="105031"/>
                </a:lnTo>
                <a:lnTo>
                  <a:pt x="73522" y="91902"/>
                </a:lnTo>
                <a:cubicBezTo>
                  <a:pt x="73522" y="89014"/>
                  <a:pt x="71159" y="86651"/>
                  <a:pt x="68270" y="86651"/>
                </a:cubicBezTo>
                <a:lnTo>
                  <a:pt x="57767" y="86651"/>
                </a:lnTo>
                <a:cubicBezTo>
                  <a:pt x="54879" y="86651"/>
                  <a:pt x="52516" y="89014"/>
                  <a:pt x="52516" y="91902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33" name="Text 31"/>
          <p:cNvSpPr/>
          <p:nvPr/>
        </p:nvSpPr>
        <p:spPr>
          <a:xfrm>
            <a:off x="5195490" y="5125513"/>
            <a:ext cx="1823338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1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Administrative Automation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884599" y="5461613"/>
            <a:ext cx="3974374" cy="436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9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Streamlines paperwork, appointment scheduling, and insurance verification.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884599" y="5965762"/>
            <a:ext cx="3965971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Automatizimi administrativ lehtëson punën.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164218" y="1344397"/>
            <a:ext cx="2688794" cy="3058503"/>
          </a:xfrm>
          <a:custGeom>
            <a:avLst/>
            <a:gdLst/>
            <a:ahLst/>
            <a:cxnLst/>
            <a:rect l="l" t="t" r="r" b="b"/>
            <a:pathLst>
              <a:path w="2688794" h="3058503">
                <a:moveTo>
                  <a:pt x="100830" y="0"/>
                </a:moveTo>
                <a:lnTo>
                  <a:pt x="2587964" y="0"/>
                </a:lnTo>
                <a:cubicBezTo>
                  <a:pt x="2643651" y="0"/>
                  <a:pt x="2688794" y="45143"/>
                  <a:pt x="2688794" y="100830"/>
                </a:cubicBezTo>
                <a:lnTo>
                  <a:pt x="2688794" y="2957673"/>
                </a:lnTo>
                <a:cubicBezTo>
                  <a:pt x="2688794" y="3013360"/>
                  <a:pt x="2643651" y="3058503"/>
                  <a:pt x="2587964" y="3058503"/>
                </a:cubicBezTo>
                <a:lnTo>
                  <a:pt x="100830" y="3058503"/>
                </a:lnTo>
                <a:cubicBezTo>
                  <a:pt x="45143" y="3058503"/>
                  <a:pt x="0" y="3013360"/>
                  <a:pt x="0" y="2957673"/>
                </a:cubicBezTo>
                <a:lnTo>
                  <a:pt x="0" y="100830"/>
                </a:lnTo>
                <a:cubicBezTo>
                  <a:pt x="0" y="45180"/>
                  <a:pt x="45180" y="0"/>
                  <a:pt x="100830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A7A"/>
              </a:gs>
              <a:gs pos="100000">
                <a:srgbClr val="2F3E3B"/>
              </a:gs>
            </a:gsLst>
            <a:lin ang="2700000" scaled="1"/>
          </a:gradFill>
          <a:ln/>
        </p:spPr>
      </p:sp>
      <p:sp>
        <p:nvSpPr>
          <p:cNvPr id="37" name="Text 35"/>
          <p:cNvSpPr/>
          <p:nvPr/>
        </p:nvSpPr>
        <p:spPr>
          <a:xfrm>
            <a:off x="9323866" y="1546057"/>
            <a:ext cx="2369500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2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Remarkable Growth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365878" y="1915766"/>
            <a:ext cx="2285475" cy="907468"/>
          </a:xfrm>
          <a:custGeom>
            <a:avLst/>
            <a:gdLst/>
            <a:ahLst/>
            <a:cxnLst/>
            <a:rect l="l" t="t" r="r" b="b"/>
            <a:pathLst>
              <a:path w="2285475" h="907468">
                <a:moveTo>
                  <a:pt x="67216" y="0"/>
                </a:moveTo>
                <a:lnTo>
                  <a:pt x="2218259" y="0"/>
                </a:lnTo>
                <a:cubicBezTo>
                  <a:pt x="2255381" y="0"/>
                  <a:pt x="2285475" y="30094"/>
                  <a:pt x="2285475" y="67216"/>
                </a:cubicBezTo>
                <a:lnTo>
                  <a:pt x="2285475" y="840252"/>
                </a:lnTo>
                <a:cubicBezTo>
                  <a:pt x="2285475" y="877374"/>
                  <a:pt x="2255381" y="907468"/>
                  <a:pt x="2218259" y="907468"/>
                </a:cubicBezTo>
                <a:lnTo>
                  <a:pt x="67216" y="907468"/>
                </a:lnTo>
                <a:cubicBezTo>
                  <a:pt x="30094" y="907468"/>
                  <a:pt x="0" y="877374"/>
                  <a:pt x="0" y="840252"/>
                </a:cubicBezTo>
                <a:lnTo>
                  <a:pt x="0" y="67216"/>
                </a:lnTo>
                <a:cubicBezTo>
                  <a:pt x="0" y="30119"/>
                  <a:pt x="30119" y="0"/>
                  <a:pt x="6721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9399488" y="2050205"/>
            <a:ext cx="2218255" cy="40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17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466708" y="2487134"/>
            <a:ext cx="2083815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9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FDA-authorized AI devices in 2015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0432993" y="2957673"/>
            <a:ext cx="151245" cy="201660"/>
          </a:xfrm>
          <a:custGeom>
            <a:avLst/>
            <a:gdLst/>
            <a:ahLst/>
            <a:cxnLst/>
            <a:rect l="l" t="t" r="r" b="b"/>
            <a:pathLst>
              <a:path w="151245" h="201660">
                <a:moveTo>
                  <a:pt x="66721" y="197957"/>
                </a:moveTo>
                <a:cubicBezTo>
                  <a:pt x="71644" y="202881"/>
                  <a:pt x="79640" y="202881"/>
                  <a:pt x="84563" y="197957"/>
                </a:cubicBezTo>
                <a:lnTo>
                  <a:pt x="147582" y="134939"/>
                </a:lnTo>
                <a:cubicBezTo>
                  <a:pt x="152505" y="130015"/>
                  <a:pt x="152505" y="122020"/>
                  <a:pt x="147582" y="117096"/>
                </a:cubicBezTo>
                <a:cubicBezTo>
                  <a:pt x="142658" y="112173"/>
                  <a:pt x="134663" y="112173"/>
                  <a:pt x="129740" y="117096"/>
                </a:cubicBezTo>
                <a:lnTo>
                  <a:pt x="88226" y="158610"/>
                </a:lnTo>
                <a:lnTo>
                  <a:pt x="88226" y="12604"/>
                </a:lnTo>
                <a:cubicBezTo>
                  <a:pt x="88226" y="5632"/>
                  <a:pt x="82594" y="0"/>
                  <a:pt x="75622" y="0"/>
                </a:cubicBezTo>
                <a:cubicBezTo>
                  <a:pt x="68651" y="0"/>
                  <a:pt x="63019" y="5632"/>
                  <a:pt x="63019" y="12604"/>
                </a:cubicBezTo>
                <a:lnTo>
                  <a:pt x="63019" y="158610"/>
                </a:lnTo>
                <a:lnTo>
                  <a:pt x="21505" y="117096"/>
                </a:lnTo>
                <a:cubicBezTo>
                  <a:pt x="16582" y="112173"/>
                  <a:pt x="8586" y="112173"/>
                  <a:pt x="3663" y="117096"/>
                </a:cubicBezTo>
                <a:cubicBezTo>
                  <a:pt x="-1260" y="122020"/>
                  <a:pt x="-1260" y="130015"/>
                  <a:pt x="3663" y="134939"/>
                </a:cubicBezTo>
                <a:lnTo>
                  <a:pt x="66682" y="197957"/>
                </a:ln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42" name="Shape 40"/>
          <p:cNvSpPr/>
          <p:nvPr/>
        </p:nvSpPr>
        <p:spPr>
          <a:xfrm>
            <a:off x="9365878" y="3293773"/>
            <a:ext cx="2285475" cy="907468"/>
          </a:xfrm>
          <a:custGeom>
            <a:avLst/>
            <a:gdLst/>
            <a:ahLst/>
            <a:cxnLst/>
            <a:rect l="l" t="t" r="r" b="b"/>
            <a:pathLst>
              <a:path w="2285475" h="907468">
                <a:moveTo>
                  <a:pt x="67216" y="0"/>
                </a:moveTo>
                <a:lnTo>
                  <a:pt x="2218259" y="0"/>
                </a:lnTo>
                <a:cubicBezTo>
                  <a:pt x="2255381" y="0"/>
                  <a:pt x="2285475" y="30094"/>
                  <a:pt x="2285475" y="67216"/>
                </a:cubicBezTo>
                <a:lnTo>
                  <a:pt x="2285475" y="840252"/>
                </a:lnTo>
                <a:cubicBezTo>
                  <a:pt x="2285475" y="877374"/>
                  <a:pt x="2255381" y="907468"/>
                  <a:pt x="2218259" y="907468"/>
                </a:cubicBezTo>
                <a:lnTo>
                  <a:pt x="67216" y="907468"/>
                </a:lnTo>
                <a:cubicBezTo>
                  <a:pt x="30094" y="907468"/>
                  <a:pt x="0" y="877374"/>
                  <a:pt x="0" y="840252"/>
                </a:cubicBezTo>
                <a:lnTo>
                  <a:pt x="0" y="67216"/>
                </a:lnTo>
                <a:cubicBezTo>
                  <a:pt x="0" y="30119"/>
                  <a:pt x="30119" y="0"/>
                  <a:pt x="6721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9399488" y="3428212"/>
            <a:ext cx="2218255" cy="40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17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1,250+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466708" y="3865141"/>
            <a:ext cx="2083815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9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FDA-authorized AI devices today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164218" y="4537340"/>
            <a:ext cx="2688794" cy="2319085"/>
          </a:xfrm>
          <a:custGeom>
            <a:avLst/>
            <a:gdLst/>
            <a:ahLst/>
            <a:cxnLst/>
            <a:rect l="l" t="t" r="r" b="b"/>
            <a:pathLst>
              <a:path w="2688794" h="2319085">
                <a:moveTo>
                  <a:pt x="100834" y="0"/>
                </a:moveTo>
                <a:lnTo>
                  <a:pt x="2587960" y="0"/>
                </a:lnTo>
                <a:cubicBezTo>
                  <a:pt x="2643649" y="0"/>
                  <a:pt x="2688794" y="45145"/>
                  <a:pt x="2688794" y="100834"/>
                </a:cubicBezTo>
                <a:lnTo>
                  <a:pt x="2688794" y="2218251"/>
                </a:lnTo>
                <a:cubicBezTo>
                  <a:pt x="2688794" y="2273940"/>
                  <a:pt x="2643649" y="2319085"/>
                  <a:pt x="2587960" y="2319085"/>
                </a:cubicBezTo>
                <a:lnTo>
                  <a:pt x="100834" y="2319085"/>
                </a:lnTo>
                <a:cubicBezTo>
                  <a:pt x="45145" y="2319085"/>
                  <a:pt x="0" y="2273940"/>
                  <a:pt x="0" y="2218251"/>
                </a:cubicBezTo>
                <a:lnTo>
                  <a:pt x="0" y="100834"/>
                </a:lnTo>
                <a:cubicBezTo>
                  <a:pt x="0" y="45182"/>
                  <a:pt x="45182" y="0"/>
                  <a:pt x="10083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5207" dist="840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10357371" y="4705389"/>
            <a:ext cx="302489" cy="302489"/>
          </a:xfrm>
          <a:custGeom>
            <a:avLst/>
            <a:gdLst/>
            <a:ahLst/>
            <a:cxnLst/>
            <a:rect l="l" t="t" r="r" b="b"/>
            <a:pathLst>
              <a:path w="302489" h="302489">
                <a:moveTo>
                  <a:pt x="142383" y="51459"/>
                </a:moveTo>
                <a:lnTo>
                  <a:pt x="151245" y="63688"/>
                </a:lnTo>
                <a:lnTo>
                  <a:pt x="160107" y="51459"/>
                </a:lnTo>
                <a:cubicBezTo>
                  <a:pt x="174877" y="31017"/>
                  <a:pt x="198627" y="18906"/>
                  <a:pt x="223854" y="18906"/>
                </a:cubicBezTo>
                <a:cubicBezTo>
                  <a:pt x="267278" y="18906"/>
                  <a:pt x="302489" y="54117"/>
                  <a:pt x="302489" y="97541"/>
                </a:cubicBezTo>
                <a:lnTo>
                  <a:pt x="302489" y="99077"/>
                </a:lnTo>
                <a:cubicBezTo>
                  <a:pt x="302489" y="165365"/>
                  <a:pt x="219836" y="242346"/>
                  <a:pt x="176708" y="275253"/>
                </a:cubicBezTo>
                <a:cubicBezTo>
                  <a:pt x="169382" y="280807"/>
                  <a:pt x="160402" y="283584"/>
                  <a:pt x="151245" y="283584"/>
                </a:cubicBezTo>
                <a:cubicBezTo>
                  <a:pt x="142087" y="283584"/>
                  <a:pt x="133048" y="280866"/>
                  <a:pt x="125781" y="275253"/>
                </a:cubicBezTo>
                <a:cubicBezTo>
                  <a:pt x="82653" y="242346"/>
                  <a:pt x="0" y="165365"/>
                  <a:pt x="0" y="99077"/>
                </a:cubicBezTo>
                <a:lnTo>
                  <a:pt x="0" y="97541"/>
                </a:lnTo>
                <a:cubicBezTo>
                  <a:pt x="0" y="54117"/>
                  <a:pt x="35212" y="18906"/>
                  <a:pt x="78635" y="18906"/>
                </a:cubicBezTo>
                <a:cubicBezTo>
                  <a:pt x="103863" y="18906"/>
                  <a:pt x="127613" y="31017"/>
                  <a:pt x="142383" y="51459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47" name="Text 45"/>
          <p:cNvSpPr/>
          <p:nvPr/>
        </p:nvSpPr>
        <p:spPr>
          <a:xfrm>
            <a:off x="9294457" y="5108708"/>
            <a:ext cx="2428317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1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 Example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298658" y="5411198"/>
            <a:ext cx="2419915" cy="873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059" b="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Mayo Clinic's AI platform</a:t>
            </a:r>
            <a:r>
              <a:rPr lang="en-US" sz="1059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analyzes brain scans to detect dementia patterns earlier and more precisely than human eyes alone!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302859" y="6352276"/>
            <a:ext cx="2411512" cy="336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6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Platforma e Mayo Clinic zbulon demencën më herët.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4C8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/ AI IN ACTION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AI in Education: Personalized Learning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920750"/>
            <a:ext cx="1163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IA në Arsim: Mësimi i Personalizuar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3375" y="1270000"/>
            <a:ext cx="8810625" cy="1301750"/>
          </a:xfrm>
          <a:custGeom>
            <a:avLst/>
            <a:gdLst/>
            <a:ahLst/>
            <a:cxnLst/>
            <a:rect l="l" t="t" r="r" b="b"/>
            <a:pathLst>
              <a:path w="8810625" h="1301750">
                <a:moveTo>
                  <a:pt x="31750" y="0"/>
                </a:moveTo>
                <a:lnTo>
                  <a:pt x="8715376" y="0"/>
                </a:lnTo>
                <a:cubicBezTo>
                  <a:pt x="8767981" y="0"/>
                  <a:pt x="8810625" y="42644"/>
                  <a:pt x="8810625" y="95249"/>
                </a:cubicBezTo>
                <a:lnTo>
                  <a:pt x="8810625" y="1206501"/>
                </a:lnTo>
                <a:cubicBezTo>
                  <a:pt x="8810625" y="1259106"/>
                  <a:pt x="8767981" y="1301750"/>
                  <a:pt x="8715376" y="1301750"/>
                </a:cubicBezTo>
                <a:lnTo>
                  <a:pt x="31750" y="1301750"/>
                </a:lnTo>
                <a:cubicBezTo>
                  <a:pt x="14227" y="1301750"/>
                  <a:pt x="0" y="1287523"/>
                  <a:pt x="0" y="1270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3375" y="1270000"/>
            <a:ext cx="31750" cy="1301750"/>
          </a:xfrm>
          <a:custGeom>
            <a:avLst/>
            <a:gdLst/>
            <a:ahLst/>
            <a:cxnLst/>
            <a:rect l="l" t="t" r="r" b="b"/>
            <a:pathLst>
              <a:path w="31750" h="1301750">
                <a:moveTo>
                  <a:pt x="31750" y="0"/>
                </a:moveTo>
                <a:lnTo>
                  <a:pt x="31750" y="0"/>
                </a:lnTo>
                <a:lnTo>
                  <a:pt x="31750" y="1301750"/>
                </a:lnTo>
                <a:lnTo>
                  <a:pt x="31750" y="1301750"/>
                </a:lnTo>
                <a:cubicBezTo>
                  <a:pt x="14227" y="1301750"/>
                  <a:pt x="0" y="1287523"/>
                  <a:pt x="0" y="1270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7" name="Shape 5"/>
          <p:cNvSpPr/>
          <p:nvPr/>
        </p:nvSpPr>
        <p:spPr>
          <a:xfrm>
            <a:off x="539750" y="146050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54844" y="15875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7859" y="72851"/>
                </a:moveTo>
                <a:lnTo>
                  <a:pt x="95696" y="104887"/>
                </a:lnTo>
                <a:cubicBezTo>
                  <a:pt x="99343" y="106375"/>
                  <a:pt x="103212" y="107156"/>
                  <a:pt x="107156" y="107156"/>
                </a:cubicBezTo>
                <a:cubicBezTo>
                  <a:pt x="111100" y="107156"/>
                  <a:pt x="114970" y="106375"/>
                  <a:pt x="118616" y="104887"/>
                </a:cubicBezTo>
                <a:lnTo>
                  <a:pt x="208806" y="67754"/>
                </a:lnTo>
                <a:cubicBezTo>
                  <a:pt x="212154" y="66377"/>
                  <a:pt x="214313" y="63140"/>
                  <a:pt x="214313" y="59531"/>
                </a:cubicBezTo>
                <a:cubicBezTo>
                  <a:pt x="214313" y="55922"/>
                  <a:pt x="212154" y="52685"/>
                  <a:pt x="208806" y="51308"/>
                </a:cubicBezTo>
                <a:lnTo>
                  <a:pt x="118616" y="14176"/>
                </a:lnTo>
                <a:cubicBezTo>
                  <a:pt x="114970" y="12688"/>
                  <a:pt x="111100" y="11906"/>
                  <a:pt x="107156" y="11906"/>
                </a:cubicBezTo>
                <a:cubicBezTo>
                  <a:pt x="103212" y="11906"/>
                  <a:pt x="99343" y="12688"/>
                  <a:pt x="95696" y="14176"/>
                </a:cubicBezTo>
                <a:lnTo>
                  <a:pt x="5507" y="51308"/>
                </a:lnTo>
                <a:cubicBezTo>
                  <a:pt x="2158" y="52685"/>
                  <a:pt x="0" y="55922"/>
                  <a:pt x="0" y="59531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cubicBezTo>
                  <a:pt x="13878" y="178594"/>
                  <a:pt x="17859" y="174613"/>
                  <a:pt x="17859" y="169664"/>
                </a:cubicBezTo>
                <a:lnTo>
                  <a:pt x="17859" y="72851"/>
                </a:lnTo>
                <a:close/>
                <a:moveTo>
                  <a:pt x="35719" y="99529"/>
                </a:moveTo>
                <a:lnTo>
                  <a:pt x="35719" y="142875"/>
                </a:lnTo>
                <a:cubicBezTo>
                  <a:pt x="35719" y="162595"/>
                  <a:pt x="67717" y="178594"/>
                  <a:pt x="107156" y="178594"/>
                </a:cubicBezTo>
                <a:cubicBezTo>
                  <a:pt x="146596" y="178594"/>
                  <a:pt x="178594" y="162595"/>
                  <a:pt x="178594" y="142875"/>
                </a:cubicBezTo>
                <a:lnTo>
                  <a:pt x="178594" y="99492"/>
                </a:lnTo>
                <a:lnTo>
                  <a:pt x="125425" y="121407"/>
                </a:lnTo>
                <a:cubicBezTo>
                  <a:pt x="119621" y="123788"/>
                  <a:pt x="113444" y="125016"/>
                  <a:pt x="107156" y="125016"/>
                </a:cubicBezTo>
                <a:cubicBezTo>
                  <a:pt x="100868" y="125016"/>
                  <a:pt x="94692" y="123788"/>
                  <a:pt x="88888" y="121407"/>
                </a:cubicBezTo>
                <a:lnTo>
                  <a:pt x="35719" y="99492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9" name="Text 7"/>
          <p:cNvSpPr/>
          <p:nvPr/>
        </p:nvSpPr>
        <p:spPr>
          <a:xfrm>
            <a:off x="1111250" y="1460500"/>
            <a:ext cx="7921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Transforming Education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1250" y="1746250"/>
            <a:ext cx="79057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creates personalized learning experiences</a:t>
            </a:r>
            <a:r>
              <a:rPr lang="en-US" sz="100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tailored to each student's needs, pace, and learning style—making education more effective and engaging.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1250" y="2222500"/>
            <a:ext cx="7897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krijon përvoja mësimore të personalizuara.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17500" y="2714625"/>
            <a:ext cx="4349750" cy="2270125"/>
          </a:xfrm>
          <a:custGeom>
            <a:avLst/>
            <a:gdLst/>
            <a:ahLst/>
            <a:cxnLst/>
            <a:rect l="l" t="t" r="r" b="b"/>
            <a:pathLst>
              <a:path w="4349750" h="2270125">
                <a:moveTo>
                  <a:pt x="31750" y="0"/>
                </a:moveTo>
                <a:lnTo>
                  <a:pt x="4318000" y="0"/>
                </a:lnTo>
                <a:cubicBezTo>
                  <a:pt x="4335523" y="0"/>
                  <a:pt x="4349750" y="14227"/>
                  <a:pt x="4349750" y="31750"/>
                </a:cubicBezTo>
                <a:lnTo>
                  <a:pt x="4349750" y="2174871"/>
                </a:lnTo>
                <a:cubicBezTo>
                  <a:pt x="4349750" y="2227478"/>
                  <a:pt x="4307103" y="2270125"/>
                  <a:pt x="4254496" y="2270125"/>
                </a:cubicBezTo>
                <a:lnTo>
                  <a:pt x="95254" y="2270125"/>
                </a:lnTo>
                <a:cubicBezTo>
                  <a:pt x="42647" y="2270125"/>
                  <a:pt x="0" y="2227478"/>
                  <a:pt x="0" y="2174871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500" y="2714625"/>
            <a:ext cx="4349750" cy="31750"/>
          </a:xfrm>
          <a:custGeom>
            <a:avLst/>
            <a:gdLst/>
            <a:ahLst/>
            <a:cxnLst/>
            <a:rect l="l" t="t" r="r" b="b"/>
            <a:pathLst>
              <a:path w="4349750" h="31750">
                <a:moveTo>
                  <a:pt x="31750" y="0"/>
                </a:moveTo>
                <a:lnTo>
                  <a:pt x="4318000" y="0"/>
                </a:lnTo>
                <a:cubicBezTo>
                  <a:pt x="4335523" y="0"/>
                  <a:pt x="4349750" y="14227"/>
                  <a:pt x="4349750" y="31750"/>
                </a:cubicBezTo>
                <a:lnTo>
                  <a:pt x="4349750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4" name="Shape 12"/>
          <p:cNvSpPr/>
          <p:nvPr/>
        </p:nvSpPr>
        <p:spPr>
          <a:xfrm>
            <a:off x="506016" y="2921000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74817" y="-4031"/>
                </a:moveTo>
                <a:cubicBezTo>
                  <a:pt x="71282" y="-4744"/>
                  <a:pt x="67655" y="-4744"/>
                  <a:pt x="64120" y="-4031"/>
                </a:cubicBezTo>
                <a:lnTo>
                  <a:pt x="5984" y="7596"/>
                </a:lnTo>
                <a:cubicBezTo>
                  <a:pt x="2511" y="8279"/>
                  <a:pt x="0" y="11348"/>
                  <a:pt x="0" y="14883"/>
                </a:cubicBezTo>
                <a:cubicBezTo>
                  <a:pt x="0" y="18076"/>
                  <a:pt x="2015" y="20867"/>
                  <a:pt x="4961" y="21890"/>
                </a:cubicBezTo>
                <a:lnTo>
                  <a:pt x="4961" y="44648"/>
                </a:lnTo>
                <a:lnTo>
                  <a:pt x="93" y="69019"/>
                </a:lnTo>
                <a:cubicBezTo>
                  <a:pt x="31" y="69298"/>
                  <a:pt x="0" y="69608"/>
                  <a:pt x="0" y="69918"/>
                </a:cubicBezTo>
                <a:cubicBezTo>
                  <a:pt x="0" y="72399"/>
                  <a:pt x="2015" y="74445"/>
                  <a:pt x="4527" y="74445"/>
                </a:cubicBezTo>
                <a:lnTo>
                  <a:pt x="15348" y="74445"/>
                </a:lnTo>
                <a:cubicBezTo>
                  <a:pt x="17828" y="74445"/>
                  <a:pt x="19875" y="72430"/>
                  <a:pt x="19875" y="69918"/>
                </a:cubicBezTo>
                <a:cubicBezTo>
                  <a:pt x="19875" y="69608"/>
                  <a:pt x="19844" y="69329"/>
                  <a:pt x="19782" y="69019"/>
                </a:cubicBezTo>
                <a:lnTo>
                  <a:pt x="14883" y="44648"/>
                </a:lnTo>
                <a:lnTo>
                  <a:pt x="14883" y="23968"/>
                </a:lnTo>
                <a:lnTo>
                  <a:pt x="29766" y="26944"/>
                </a:lnTo>
                <a:lnTo>
                  <a:pt x="29766" y="44648"/>
                </a:lnTo>
                <a:cubicBezTo>
                  <a:pt x="29766" y="66570"/>
                  <a:pt x="47532" y="84336"/>
                  <a:pt x="69453" y="84336"/>
                </a:cubicBezTo>
                <a:cubicBezTo>
                  <a:pt x="91374" y="84336"/>
                  <a:pt x="109141" y="66570"/>
                  <a:pt x="109141" y="44648"/>
                </a:cubicBezTo>
                <a:lnTo>
                  <a:pt x="109141" y="26944"/>
                </a:lnTo>
                <a:lnTo>
                  <a:pt x="132922" y="22200"/>
                </a:lnTo>
                <a:cubicBezTo>
                  <a:pt x="136395" y="21487"/>
                  <a:pt x="138906" y="18417"/>
                  <a:pt x="138906" y="14883"/>
                </a:cubicBezTo>
                <a:cubicBezTo>
                  <a:pt x="138906" y="11348"/>
                  <a:pt x="136395" y="8279"/>
                  <a:pt x="132922" y="7596"/>
                </a:cubicBezTo>
                <a:lnTo>
                  <a:pt x="74817" y="-4031"/>
                </a:lnTo>
                <a:close/>
                <a:moveTo>
                  <a:pt x="69453" y="69453"/>
                </a:moveTo>
                <a:cubicBezTo>
                  <a:pt x="55749" y="69453"/>
                  <a:pt x="44648" y="58353"/>
                  <a:pt x="44648" y="44648"/>
                </a:cubicBezTo>
                <a:lnTo>
                  <a:pt x="94258" y="44648"/>
                </a:lnTo>
                <a:cubicBezTo>
                  <a:pt x="94258" y="58353"/>
                  <a:pt x="83158" y="69453"/>
                  <a:pt x="69453" y="69453"/>
                </a:cubicBezTo>
                <a:close/>
                <a:moveTo>
                  <a:pt x="37238" y="99250"/>
                </a:moveTo>
                <a:cubicBezTo>
                  <a:pt x="18200" y="107993"/>
                  <a:pt x="4961" y="127217"/>
                  <a:pt x="4961" y="149541"/>
                </a:cubicBezTo>
                <a:cubicBezTo>
                  <a:pt x="4961" y="154626"/>
                  <a:pt x="9085" y="158750"/>
                  <a:pt x="14170" y="158750"/>
                </a:cubicBezTo>
                <a:lnTo>
                  <a:pt x="62012" y="158750"/>
                </a:lnTo>
                <a:lnTo>
                  <a:pt x="62012" y="113481"/>
                </a:lnTo>
                <a:lnTo>
                  <a:pt x="44214" y="100149"/>
                </a:lnTo>
                <a:cubicBezTo>
                  <a:pt x="42199" y="98630"/>
                  <a:pt x="39501" y="98227"/>
                  <a:pt x="37207" y="99281"/>
                </a:cubicBezTo>
                <a:close/>
                <a:moveTo>
                  <a:pt x="76895" y="158750"/>
                </a:moveTo>
                <a:lnTo>
                  <a:pt x="124737" y="158750"/>
                </a:lnTo>
                <a:cubicBezTo>
                  <a:pt x="129822" y="158750"/>
                  <a:pt x="133945" y="154626"/>
                  <a:pt x="133945" y="149541"/>
                </a:cubicBezTo>
                <a:cubicBezTo>
                  <a:pt x="133945" y="127217"/>
                  <a:pt x="120706" y="107993"/>
                  <a:pt x="101668" y="99281"/>
                </a:cubicBezTo>
                <a:cubicBezTo>
                  <a:pt x="99374" y="98227"/>
                  <a:pt x="96676" y="98630"/>
                  <a:pt x="94661" y="100149"/>
                </a:cubicBezTo>
                <a:lnTo>
                  <a:pt x="76864" y="113481"/>
                </a:lnTo>
                <a:lnTo>
                  <a:pt x="76864" y="158750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5" name="Text 13"/>
          <p:cNvSpPr/>
          <p:nvPr/>
        </p:nvSpPr>
        <p:spPr>
          <a:xfrm>
            <a:off x="769938" y="2889250"/>
            <a:ext cx="1778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Personalized Learning Paths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6250" y="3206750"/>
            <a:ext cx="40957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adapts content difficulty and pace based on individual student performance and understanding.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6250" y="3683000"/>
            <a:ext cx="4087812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Shtigje mësimore të personalizuara.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94250" y="2714625"/>
            <a:ext cx="4349750" cy="2270125"/>
          </a:xfrm>
          <a:custGeom>
            <a:avLst/>
            <a:gdLst/>
            <a:ahLst/>
            <a:cxnLst/>
            <a:rect l="l" t="t" r="r" b="b"/>
            <a:pathLst>
              <a:path w="4349750" h="2270125">
                <a:moveTo>
                  <a:pt x="31750" y="0"/>
                </a:moveTo>
                <a:lnTo>
                  <a:pt x="4318000" y="0"/>
                </a:lnTo>
                <a:cubicBezTo>
                  <a:pt x="4335523" y="0"/>
                  <a:pt x="4349750" y="14227"/>
                  <a:pt x="4349750" y="31750"/>
                </a:cubicBezTo>
                <a:lnTo>
                  <a:pt x="4349750" y="2174871"/>
                </a:lnTo>
                <a:cubicBezTo>
                  <a:pt x="4349750" y="2227478"/>
                  <a:pt x="4307103" y="2270125"/>
                  <a:pt x="4254496" y="2270125"/>
                </a:cubicBezTo>
                <a:lnTo>
                  <a:pt x="95254" y="2270125"/>
                </a:lnTo>
                <a:cubicBezTo>
                  <a:pt x="42647" y="2270125"/>
                  <a:pt x="0" y="2227478"/>
                  <a:pt x="0" y="2174871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94250" y="2714625"/>
            <a:ext cx="4349750" cy="31750"/>
          </a:xfrm>
          <a:custGeom>
            <a:avLst/>
            <a:gdLst/>
            <a:ahLst/>
            <a:cxnLst/>
            <a:rect l="l" t="t" r="r" b="b"/>
            <a:pathLst>
              <a:path w="4349750" h="31750">
                <a:moveTo>
                  <a:pt x="31750" y="0"/>
                </a:moveTo>
                <a:lnTo>
                  <a:pt x="4318000" y="0"/>
                </a:lnTo>
                <a:cubicBezTo>
                  <a:pt x="4335523" y="0"/>
                  <a:pt x="4349750" y="14227"/>
                  <a:pt x="4349750" y="31750"/>
                </a:cubicBezTo>
                <a:lnTo>
                  <a:pt x="4349750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20" name="Shape 18"/>
          <p:cNvSpPr/>
          <p:nvPr/>
        </p:nvSpPr>
        <p:spPr>
          <a:xfrm>
            <a:off x="4953000" y="2921000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39688" y="29766"/>
                </a:moveTo>
                <a:cubicBezTo>
                  <a:pt x="39688" y="18821"/>
                  <a:pt x="48586" y="9922"/>
                  <a:pt x="59531" y="9922"/>
                </a:cubicBezTo>
                <a:lnTo>
                  <a:pt x="168672" y="9922"/>
                </a:lnTo>
                <a:cubicBezTo>
                  <a:pt x="179617" y="9922"/>
                  <a:pt x="188516" y="18821"/>
                  <a:pt x="188516" y="29766"/>
                </a:cubicBezTo>
                <a:lnTo>
                  <a:pt x="188516" y="104180"/>
                </a:lnTo>
                <a:lnTo>
                  <a:pt x="158750" y="104180"/>
                </a:lnTo>
                <a:lnTo>
                  <a:pt x="158750" y="99219"/>
                </a:lnTo>
                <a:cubicBezTo>
                  <a:pt x="158750" y="93731"/>
                  <a:pt x="154316" y="89297"/>
                  <a:pt x="148828" y="89297"/>
                </a:cubicBezTo>
                <a:lnTo>
                  <a:pt x="128984" y="89297"/>
                </a:lnTo>
                <a:cubicBezTo>
                  <a:pt x="123496" y="89297"/>
                  <a:pt x="119062" y="93731"/>
                  <a:pt x="119062" y="99219"/>
                </a:cubicBezTo>
                <a:lnTo>
                  <a:pt x="119062" y="104180"/>
                </a:lnTo>
                <a:lnTo>
                  <a:pt x="79034" y="104180"/>
                </a:lnTo>
                <a:cubicBezTo>
                  <a:pt x="82414" y="98351"/>
                  <a:pt x="84336" y="91560"/>
                  <a:pt x="84336" y="84336"/>
                </a:cubicBezTo>
                <a:cubicBezTo>
                  <a:pt x="84336" y="62415"/>
                  <a:pt x="66570" y="44648"/>
                  <a:pt x="44648" y="44648"/>
                </a:cubicBezTo>
                <a:cubicBezTo>
                  <a:pt x="42974" y="44648"/>
                  <a:pt x="41300" y="44741"/>
                  <a:pt x="39688" y="44958"/>
                </a:cubicBezTo>
                <a:lnTo>
                  <a:pt x="39688" y="29766"/>
                </a:lnTo>
                <a:close/>
                <a:moveTo>
                  <a:pt x="103250" y="138906"/>
                </a:moveTo>
                <a:cubicBezTo>
                  <a:pt x="101668" y="131403"/>
                  <a:pt x="98196" y="124613"/>
                  <a:pt x="93297" y="119062"/>
                </a:cubicBezTo>
                <a:lnTo>
                  <a:pt x="188516" y="119062"/>
                </a:lnTo>
                <a:cubicBezTo>
                  <a:pt x="188516" y="130008"/>
                  <a:pt x="179617" y="138906"/>
                  <a:pt x="168672" y="138906"/>
                </a:cubicBezTo>
                <a:lnTo>
                  <a:pt x="103250" y="138906"/>
                </a:lnTo>
                <a:close/>
                <a:moveTo>
                  <a:pt x="19844" y="84336"/>
                </a:moveTo>
                <a:cubicBezTo>
                  <a:pt x="19844" y="70646"/>
                  <a:pt x="30958" y="59531"/>
                  <a:pt x="44648" y="59531"/>
                </a:cubicBezTo>
                <a:cubicBezTo>
                  <a:pt x="58339" y="59531"/>
                  <a:pt x="69453" y="70646"/>
                  <a:pt x="69453" y="84336"/>
                </a:cubicBezTo>
                <a:cubicBezTo>
                  <a:pt x="69453" y="98026"/>
                  <a:pt x="58339" y="109141"/>
                  <a:pt x="44648" y="109141"/>
                </a:cubicBezTo>
                <a:cubicBezTo>
                  <a:pt x="30958" y="109141"/>
                  <a:pt x="19844" y="98026"/>
                  <a:pt x="19844" y="84336"/>
                </a:cubicBezTo>
                <a:close/>
                <a:moveTo>
                  <a:pt x="0" y="148828"/>
                </a:moveTo>
                <a:cubicBezTo>
                  <a:pt x="0" y="132395"/>
                  <a:pt x="13333" y="119062"/>
                  <a:pt x="29766" y="119062"/>
                </a:cubicBezTo>
                <a:lnTo>
                  <a:pt x="59531" y="119062"/>
                </a:lnTo>
                <a:cubicBezTo>
                  <a:pt x="75964" y="119062"/>
                  <a:pt x="89297" y="132395"/>
                  <a:pt x="89297" y="148828"/>
                </a:cubicBezTo>
                <a:cubicBezTo>
                  <a:pt x="89297" y="154316"/>
                  <a:pt x="84863" y="158750"/>
                  <a:pt x="79375" y="158750"/>
                </a:cubicBezTo>
                <a:lnTo>
                  <a:pt x="9922" y="158750"/>
                </a:lnTo>
                <a:cubicBezTo>
                  <a:pt x="4434" y="158750"/>
                  <a:pt x="0" y="154316"/>
                  <a:pt x="0" y="148828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21" name="Text 19"/>
          <p:cNvSpPr/>
          <p:nvPr/>
        </p:nvSpPr>
        <p:spPr>
          <a:xfrm>
            <a:off x="5246688" y="2889250"/>
            <a:ext cx="1222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Tutoring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53000" y="3206750"/>
            <a:ext cx="40957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tutors provide immediate feedback, explanations, and practice problems tailored to each student.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53000" y="3683000"/>
            <a:ext cx="4087812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Tutorë inteligjentë ofrojnë ndihmë të menjëhershme.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17500" y="5127625"/>
            <a:ext cx="4349750" cy="2270125"/>
          </a:xfrm>
          <a:custGeom>
            <a:avLst/>
            <a:gdLst/>
            <a:ahLst/>
            <a:cxnLst/>
            <a:rect l="l" t="t" r="r" b="b"/>
            <a:pathLst>
              <a:path w="4349750" h="2270125">
                <a:moveTo>
                  <a:pt x="31750" y="0"/>
                </a:moveTo>
                <a:lnTo>
                  <a:pt x="4318000" y="0"/>
                </a:lnTo>
                <a:cubicBezTo>
                  <a:pt x="4335523" y="0"/>
                  <a:pt x="4349750" y="14227"/>
                  <a:pt x="4349750" y="31750"/>
                </a:cubicBezTo>
                <a:lnTo>
                  <a:pt x="4349750" y="2174871"/>
                </a:lnTo>
                <a:cubicBezTo>
                  <a:pt x="4349750" y="2227478"/>
                  <a:pt x="4307103" y="2270125"/>
                  <a:pt x="4254496" y="2270125"/>
                </a:cubicBezTo>
                <a:lnTo>
                  <a:pt x="95254" y="2270125"/>
                </a:lnTo>
                <a:cubicBezTo>
                  <a:pt x="42647" y="2270125"/>
                  <a:pt x="0" y="2227478"/>
                  <a:pt x="0" y="2174871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7500" y="5127625"/>
            <a:ext cx="4349750" cy="31750"/>
          </a:xfrm>
          <a:custGeom>
            <a:avLst/>
            <a:gdLst/>
            <a:ahLst/>
            <a:cxnLst/>
            <a:rect l="l" t="t" r="r" b="b"/>
            <a:pathLst>
              <a:path w="4349750" h="31750">
                <a:moveTo>
                  <a:pt x="31750" y="0"/>
                </a:moveTo>
                <a:lnTo>
                  <a:pt x="4318000" y="0"/>
                </a:lnTo>
                <a:cubicBezTo>
                  <a:pt x="4335523" y="0"/>
                  <a:pt x="4349750" y="14227"/>
                  <a:pt x="4349750" y="31750"/>
                </a:cubicBezTo>
                <a:lnTo>
                  <a:pt x="4349750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26" name="Shape 24"/>
          <p:cNvSpPr/>
          <p:nvPr/>
        </p:nvSpPr>
        <p:spPr>
          <a:xfrm>
            <a:off x="496094" y="53340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105544" y="65949"/>
                </a:moveTo>
                <a:lnTo>
                  <a:pt x="80739" y="105637"/>
                </a:lnTo>
                <a:cubicBezTo>
                  <a:pt x="79437" y="107714"/>
                  <a:pt x="77205" y="109017"/>
                  <a:pt x="74755" y="109141"/>
                </a:cubicBezTo>
                <a:cubicBezTo>
                  <a:pt x="72306" y="109265"/>
                  <a:pt x="69949" y="108148"/>
                  <a:pt x="68492" y="106164"/>
                </a:cubicBezTo>
                <a:lnTo>
                  <a:pt x="53609" y="86320"/>
                </a:lnTo>
                <a:cubicBezTo>
                  <a:pt x="51129" y="83034"/>
                  <a:pt x="51811" y="78383"/>
                  <a:pt x="55097" y="75902"/>
                </a:cubicBezTo>
                <a:cubicBezTo>
                  <a:pt x="58384" y="73422"/>
                  <a:pt x="63035" y="74104"/>
                  <a:pt x="65515" y="77391"/>
                </a:cubicBezTo>
                <a:lnTo>
                  <a:pt x="73887" y="88553"/>
                </a:lnTo>
                <a:lnTo>
                  <a:pt x="92925" y="58074"/>
                </a:lnTo>
                <a:cubicBezTo>
                  <a:pt x="95095" y="54601"/>
                  <a:pt x="99684" y="53516"/>
                  <a:pt x="103188" y="55718"/>
                </a:cubicBezTo>
                <a:cubicBezTo>
                  <a:pt x="106691" y="57919"/>
                  <a:pt x="107745" y="62477"/>
                  <a:pt x="105544" y="6598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27" name="Text 25"/>
          <p:cNvSpPr/>
          <p:nvPr/>
        </p:nvSpPr>
        <p:spPr>
          <a:xfrm>
            <a:off x="769938" y="5302250"/>
            <a:ext cx="1277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Grading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6250" y="5619750"/>
            <a:ext cx="40957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grades assignments, essays, and tests instantly—freeing teachers to focus on instruction.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76250" y="6096000"/>
            <a:ext cx="4087812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Vlerësimi i automatizuar lehtëson punën e mësuesve.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794250" y="5127625"/>
            <a:ext cx="4349750" cy="2270125"/>
          </a:xfrm>
          <a:custGeom>
            <a:avLst/>
            <a:gdLst/>
            <a:ahLst/>
            <a:cxnLst/>
            <a:rect l="l" t="t" r="r" b="b"/>
            <a:pathLst>
              <a:path w="4349750" h="2270125">
                <a:moveTo>
                  <a:pt x="31750" y="0"/>
                </a:moveTo>
                <a:lnTo>
                  <a:pt x="4318000" y="0"/>
                </a:lnTo>
                <a:cubicBezTo>
                  <a:pt x="4335523" y="0"/>
                  <a:pt x="4349750" y="14227"/>
                  <a:pt x="4349750" y="31750"/>
                </a:cubicBezTo>
                <a:lnTo>
                  <a:pt x="4349750" y="2174871"/>
                </a:lnTo>
                <a:cubicBezTo>
                  <a:pt x="4349750" y="2227478"/>
                  <a:pt x="4307103" y="2270125"/>
                  <a:pt x="4254496" y="2270125"/>
                </a:cubicBezTo>
                <a:lnTo>
                  <a:pt x="95254" y="2270125"/>
                </a:lnTo>
                <a:cubicBezTo>
                  <a:pt x="42647" y="2270125"/>
                  <a:pt x="0" y="2227478"/>
                  <a:pt x="0" y="2174871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94250" y="5127625"/>
            <a:ext cx="4349750" cy="31750"/>
          </a:xfrm>
          <a:custGeom>
            <a:avLst/>
            <a:gdLst/>
            <a:ahLst/>
            <a:cxnLst/>
            <a:rect l="l" t="t" r="r" b="b"/>
            <a:pathLst>
              <a:path w="4349750" h="31750">
                <a:moveTo>
                  <a:pt x="31750" y="0"/>
                </a:moveTo>
                <a:lnTo>
                  <a:pt x="4318000" y="0"/>
                </a:lnTo>
                <a:cubicBezTo>
                  <a:pt x="4335523" y="0"/>
                  <a:pt x="4349750" y="14227"/>
                  <a:pt x="4349750" y="31750"/>
                </a:cubicBezTo>
                <a:lnTo>
                  <a:pt x="4349750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32" name="Shape 30"/>
          <p:cNvSpPr/>
          <p:nvPr/>
        </p:nvSpPr>
        <p:spPr>
          <a:xfrm>
            <a:off x="4972844" y="53340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0" y="79375"/>
                </a:moveTo>
                <a:cubicBezTo>
                  <a:pt x="0" y="35567"/>
                  <a:pt x="35567" y="0"/>
                  <a:pt x="79375" y="0"/>
                </a:cubicBezTo>
                <a:cubicBezTo>
                  <a:pt x="123183" y="0"/>
                  <a:pt x="158750" y="35567"/>
                  <a:pt x="158750" y="79375"/>
                </a:cubicBezTo>
                <a:cubicBezTo>
                  <a:pt x="158750" y="123183"/>
                  <a:pt x="123183" y="158750"/>
                  <a:pt x="79375" y="158750"/>
                </a:cubicBezTo>
                <a:cubicBezTo>
                  <a:pt x="35567" y="158750"/>
                  <a:pt x="0" y="123183"/>
                  <a:pt x="0" y="79375"/>
                </a:cubicBezTo>
                <a:close/>
                <a:moveTo>
                  <a:pt x="50074" y="52679"/>
                </a:moveTo>
                <a:cubicBezTo>
                  <a:pt x="46292" y="51067"/>
                  <a:pt x="41920" y="52803"/>
                  <a:pt x="40308" y="56586"/>
                </a:cubicBezTo>
                <a:cubicBezTo>
                  <a:pt x="38695" y="60368"/>
                  <a:pt x="40432" y="64740"/>
                  <a:pt x="44214" y="66353"/>
                </a:cubicBezTo>
                <a:lnTo>
                  <a:pt x="47904" y="67934"/>
                </a:lnTo>
                <a:cubicBezTo>
                  <a:pt x="53268" y="70228"/>
                  <a:pt x="58818" y="71934"/>
                  <a:pt x="64523" y="72988"/>
                </a:cubicBezTo>
                <a:lnTo>
                  <a:pt x="64523" y="88522"/>
                </a:lnTo>
                <a:cubicBezTo>
                  <a:pt x="64523" y="89855"/>
                  <a:pt x="64306" y="91188"/>
                  <a:pt x="63872" y="92428"/>
                </a:cubicBezTo>
                <a:lnTo>
                  <a:pt x="54973" y="119125"/>
                </a:lnTo>
                <a:cubicBezTo>
                  <a:pt x="53671" y="123031"/>
                  <a:pt x="55780" y="127248"/>
                  <a:pt x="59686" y="128550"/>
                </a:cubicBezTo>
                <a:cubicBezTo>
                  <a:pt x="63593" y="129853"/>
                  <a:pt x="67810" y="127744"/>
                  <a:pt x="69112" y="123837"/>
                </a:cubicBezTo>
                <a:lnTo>
                  <a:pt x="76677" y="101141"/>
                </a:lnTo>
                <a:cubicBezTo>
                  <a:pt x="77081" y="99963"/>
                  <a:pt x="78166" y="99157"/>
                  <a:pt x="79406" y="99157"/>
                </a:cubicBezTo>
                <a:cubicBezTo>
                  <a:pt x="80646" y="99157"/>
                  <a:pt x="81762" y="99963"/>
                  <a:pt x="82135" y="101141"/>
                </a:cubicBezTo>
                <a:lnTo>
                  <a:pt x="89700" y="123837"/>
                </a:lnTo>
                <a:cubicBezTo>
                  <a:pt x="91002" y="127744"/>
                  <a:pt x="95219" y="129853"/>
                  <a:pt x="99126" y="128550"/>
                </a:cubicBezTo>
                <a:cubicBezTo>
                  <a:pt x="103032" y="127248"/>
                  <a:pt x="105110" y="123093"/>
                  <a:pt x="103808" y="119187"/>
                </a:cubicBezTo>
                <a:lnTo>
                  <a:pt x="94909" y="92490"/>
                </a:lnTo>
                <a:cubicBezTo>
                  <a:pt x="94475" y="91219"/>
                  <a:pt x="94258" y="89917"/>
                  <a:pt x="94258" y="88584"/>
                </a:cubicBezTo>
                <a:lnTo>
                  <a:pt x="94258" y="73050"/>
                </a:lnTo>
                <a:cubicBezTo>
                  <a:pt x="99963" y="71965"/>
                  <a:pt x="105513" y="70290"/>
                  <a:pt x="110877" y="67996"/>
                </a:cubicBezTo>
                <a:lnTo>
                  <a:pt x="114567" y="66415"/>
                </a:lnTo>
                <a:cubicBezTo>
                  <a:pt x="118349" y="64802"/>
                  <a:pt x="120086" y="60430"/>
                  <a:pt x="118473" y="56648"/>
                </a:cubicBezTo>
                <a:cubicBezTo>
                  <a:pt x="116861" y="52865"/>
                  <a:pt x="112489" y="51129"/>
                  <a:pt x="108707" y="52741"/>
                </a:cubicBezTo>
                <a:lnTo>
                  <a:pt x="105017" y="54260"/>
                </a:lnTo>
                <a:cubicBezTo>
                  <a:pt x="96924" y="57733"/>
                  <a:pt x="88212" y="59531"/>
                  <a:pt x="79375" y="59531"/>
                </a:cubicBezTo>
                <a:cubicBezTo>
                  <a:pt x="70538" y="59531"/>
                  <a:pt x="61857" y="57733"/>
                  <a:pt x="53733" y="54260"/>
                </a:cubicBezTo>
                <a:lnTo>
                  <a:pt x="50043" y="52679"/>
                </a:lnTo>
                <a:close/>
                <a:moveTo>
                  <a:pt x="79375" y="49609"/>
                </a:moveTo>
                <a:cubicBezTo>
                  <a:pt x="86220" y="49609"/>
                  <a:pt x="91777" y="44052"/>
                  <a:pt x="91777" y="37207"/>
                </a:cubicBezTo>
                <a:cubicBezTo>
                  <a:pt x="91777" y="30362"/>
                  <a:pt x="86220" y="24805"/>
                  <a:pt x="79375" y="24805"/>
                </a:cubicBezTo>
                <a:cubicBezTo>
                  <a:pt x="72530" y="24805"/>
                  <a:pt x="66973" y="30362"/>
                  <a:pt x="66973" y="37207"/>
                </a:cubicBezTo>
                <a:cubicBezTo>
                  <a:pt x="66973" y="44052"/>
                  <a:pt x="72530" y="49609"/>
                  <a:pt x="79375" y="49609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33" name="Text 31"/>
          <p:cNvSpPr/>
          <p:nvPr/>
        </p:nvSpPr>
        <p:spPr>
          <a:xfrm>
            <a:off x="5246688" y="5302250"/>
            <a:ext cx="1206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Accessibility Tools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953000" y="5619750"/>
            <a:ext cx="40957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Translation, captioning, text-to-speech, and adaptive interfaces help students with disabilities.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953000" y="6096000"/>
            <a:ext cx="4087812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Mjetet e aksesueshmërisë ndihmojnë të gjithë studentët.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334500" y="1270000"/>
            <a:ext cx="2540000" cy="3460750"/>
          </a:xfrm>
          <a:custGeom>
            <a:avLst/>
            <a:gdLst/>
            <a:ahLst/>
            <a:cxnLst/>
            <a:rect l="l" t="t" r="r" b="b"/>
            <a:pathLst>
              <a:path w="2540000" h="3460750">
                <a:moveTo>
                  <a:pt x="95250" y="0"/>
                </a:moveTo>
                <a:lnTo>
                  <a:pt x="2444750" y="0"/>
                </a:lnTo>
                <a:cubicBezTo>
                  <a:pt x="2497320" y="0"/>
                  <a:pt x="2540000" y="42680"/>
                  <a:pt x="2540000" y="95250"/>
                </a:cubicBezTo>
                <a:lnTo>
                  <a:pt x="2540000" y="3365500"/>
                </a:lnTo>
                <a:cubicBezTo>
                  <a:pt x="2540000" y="3418070"/>
                  <a:pt x="2497320" y="3460750"/>
                  <a:pt x="2444750" y="3460750"/>
                </a:cubicBezTo>
                <a:lnTo>
                  <a:pt x="95250" y="3460750"/>
                </a:lnTo>
                <a:cubicBezTo>
                  <a:pt x="42680" y="3460750"/>
                  <a:pt x="0" y="3418070"/>
                  <a:pt x="0" y="336550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A7A"/>
              </a:gs>
              <a:gs pos="100000">
                <a:srgbClr val="2F3E3B"/>
              </a:gs>
            </a:gsLst>
            <a:lin ang="2700000" scaled="1"/>
          </a:gradFill>
          <a:ln/>
        </p:spPr>
      </p:sp>
      <p:sp>
        <p:nvSpPr>
          <p:cNvPr id="37" name="Text 35"/>
          <p:cNvSpPr/>
          <p:nvPr/>
        </p:nvSpPr>
        <p:spPr>
          <a:xfrm>
            <a:off x="9485313" y="1460500"/>
            <a:ext cx="2238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Benefits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525000" y="1809750"/>
            <a:ext cx="2159000" cy="730250"/>
          </a:xfrm>
          <a:custGeom>
            <a:avLst/>
            <a:gdLst/>
            <a:ahLst/>
            <a:cxnLst/>
            <a:rect l="l" t="t" r="r" b="b"/>
            <a:pathLst>
              <a:path w="2159000" h="730250">
                <a:moveTo>
                  <a:pt x="63503" y="0"/>
                </a:moveTo>
                <a:lnTo>
                  <a:pt x="2095497" y="0"/>
                </a:lnTo>
                <a:cubicBezTo>
                  <a:pt x="2130569" y="0"/>
                  <a:pt x="2159000" y="28431"/>
                  <a:pt x="2159000" y="63503"/>
                </a:cubicBezTo>
                <a:lnTo>
                  <a:pt x="2159000" y="666747"/>
                </a:lnTo>
                <a:cubicBezTo>
                  <a:pt x="2159000" y="701819"/>
                  <a:pt x="2130569" y="730250"/>
                  <a:pt x="2095497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9620250" y="1905000"/>
            <a:ext cx="203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📈 Effectiveness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620250" y="2127250"/>
            <a:ext cx="2024062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Increases personalization and engagement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525000" y="2635250"/>
            <a:ext cx="2159000" cy="571500"/>
          </a:xfrm>
          <a:custGeom>
            <a:avLst/>
            <a:gdLst/>
            <a:ahLst/>
            <a:cxnLst/>
            <a:rect l="l" t="t" r="r" b="b"/>
            <a:pathLst>
              <a:path w="2159000" h="571500">
                <a:moveTo>
                  <a:pt x="63499" y="0"/>
                </a:moveTo>
                <a:lnTo>
                  <a:pt x="2095501" y="0"/>
                </a:lnTo>
                <a:cubicBezTo>
                  <a:pt x="2130570" y="0"/>
                  <a:pt x="2159000" y="28430"/>
                  <a:pt x="2159000" y="63499"/>
                </a:cubicBezTo>
                <a:lnTo>
                  <a:pt x="2159000" y="508001"/>
                </a:lnTo>
                <a:cubicBezTo>
                  <a:pt x="2159000" y="543070"/>
                  <a:pt x="2130570" y="571500"/>
                  <a:pt x="20955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9620250" y="2730500"/>
            <a:ext cx="203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⚡ Efficiency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620250" y="2952750"/>
            <a:ext cx="2024062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Reduces teacher workload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525000" y="3302000"/>
            <a:ext cx="2159000" cy="571500"/>
          </a:xfrm>
          <a:custGeom>
            <a:avLst/>
            <a:gdLst/>
            <a:ahLst/>
            <a:cxnLst/>
            <a:rect l="l" t="t" r="r" b="b"/>
            <a:pathLst>
              <a:path w="2159000" h="571500">
                <a:moveTo>
                  <a:pt x="63499" y="0"/>
                </a:moveTo>
                <a:lnTo>
                  <a:pt x="2095501" y="0"/>
                </a:lnTo>
                <a:cubicBezTo>
                  <a:pt x="2130570" y="0"/>
                  <a:pt x="2159000" y="28430"/>
                  <a:pt x="2159000" y="63499"/>
                </a:cubicBezTo>
                <a:lnTo>
                  <a:pt x="2159000" y="508001"/>
                </a:lnTo>
                <a:cubicBezTo>
                  <a:pt x="2159000" y="543070"/>
                  <a:pt x="2130570" y="571500"/>
                  <a:pt x="20955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9620250" y="3397250"/>
            <a:ext cx="203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🎯 Equity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620250" y="3619500"/>
            <a:ext cx="2024062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Supports all learners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525000" y="3968750"/>
            <a:ext cx="2159000" cy="571500"/>
          </a:xfrm>
          <a:custGeom>
            <a:avLst/>
            <a:gdLst/>
            <a:ahLst/>
            <a:cxnLst/>
            <a:rect l="l" t="t" r="r" b="b"/>
            <a:pathLst>
              <a:path w="2159000" h="571500">
                <a:moveTo>
                  <a:pt x="63499" y="0"/>
                </a:moveTo>
                <a:lnTo>
                  <a:pt x="2095501" y="0"/>
                </a:lnTo>
                <a:cubicBezTo>
                  <a:pt x="2130570" y="0"/>
                  <a:pt x="2159000" y="28430"/>
                  <a:pt x="2159000" y="63499"/>
                </a:cubicBezTo>
                <a:lnTo>
                  <a:pt x="2159000" y="508001"/>
                </a:lnTo>
                <a:cubicBezTo>
                  <a:pt x="2159000" y="543070"/>
                  <a:pt x="2130570" y="571500"/>
                  <a:pt x="20955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9620250" y="4064000"/>
            <a:ext cx="203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⏰ Immediate Feedback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620250" y="4286250"/>
            <a:ext cx="2024062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Students learn faster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9334500" y="4857750"/>
            <a:ext cx="2540000" cy="2540000"/>
          </a:xfrm>
          <a:custGeom>
            <a:avLst/>
            <a:gdLst/>
            <a:ahLst/>
            <a:cxnLst/>
            <a:rect l="l" t="t" r="r" b="b"/>
            <a:pathLst>
              <a:path w="2540000" h="2540000">
                <a:moveTo>
                  <a:pt x="95250" y="0"/>
                </a:moveTo>
                <a:lnTo>
                  <a:pt x="2444750" y="0"/>
                </a:lnTo>
                <a:cubicBezTo>
                  <a:pt x="2497320" y="0"/>
                  <a:pt x="2540000" y="42680"/>
                  <a:pt x="2540000" y="95250"/>
                </a:cubicBezTo>
                <a:lnTo>
                  <a:pt x="2540000" y="2444750"/>
                </a:lnTo>
                <a:cubicBezTo>
                  <a:pt x="2540000" y="2497320"/>
                  <a:pt x="2497320" y="2540000"/>
                  <a:pt x="2444750" y="2540000"/>
                </a:cubicBezTo>
                <a:lnTo>
                  <a:pt x="95250" y="2540000"/>
                </a:lnTo>
                <a:cubicBezTo>
                  <a:pt x="42680" y="2540000"/>
                  <a:pt x="0" y="2497320"/>
                  <a:pt x="0" y="2444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10497344" y="5016500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52" name="Text 50"/>
          <p:cNvSpPr/>
          <p:nvPr/>
        </p:nvSpPr>
        <p:spPr>
          <a:xfrm>
            <a:off x="9457531" y="5397500"/>
            <a:ext cx="2293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Popular Examples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9493250" y="5683250"/>
            <a:ext cx="2222500" cy="476250"/>
          </a:xfrm>
          <a:custGeom>
            <a:avLst/>
            <a:gdLst/>
            <a:ahLst/>
            <a:cxnLst/>
            <a:rect l="l" t="t" r="r" b="b"/>
            <a:pathLst>
              <a:path w="2222500" h="476250">
                <a:moveTo>
                  <a:pt x="63498" y="0"/>
                </a:moveTo>
                <a:lnTo>
                  <a:pt x="2159002" y="0"/>
                </a:lnTo>
                <a:cubicBezTo>
                  <a:pt x="2194071" y="0"/>
                  <a:pt x="2222500" y="28429"/>
                  <a:pt x="2222500" y="63498"/>
                </a:cubicBezTo>
                <a:lnTo>
                  <a:pt x="2222500" y="412752"/>
                </a:lnTo>
                <a:cubicBezTo>
                  <a:pt x="2222500" y="447821"/>
                  <a:pt x="2194071" y="476250"/>
                  <a:pt x="2159002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54" name="Text 52"/>
          <p:cNvSpPr/>
          <p:nvPr/>
        </p:nvSpPr>
        <p:spPr>
          <a:xfrm>
            <a:off x="9525000" y="5746750"/>
            <a:ext cx="215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Duolingo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9528969" y="5937250"/>
            <a:ext cx="2151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Language learning with AI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493250" y="6223000"/>
            <a:ext cx="2222500" cy="476250"/>
          </a:xfrm>
          <a:custGeom>
            <a:avLst/>
            <a:gdLst/>
            <a:ahLst/>
            <a:cxnLst/>
            <a:rect l="l" t="t" r="r" b="b"/>
            <a:pathLst>
              <a:path w="2222500" h="476250">
                <a:moveTo>
                  <a:pt x="63498" y="0"/>
                </a:moveTo>
                <a:lnTo>
                  <a:pt x="2159002" y="0"/>
                </a:lnTo>
                <a:cubicBezTo>
                  <a:pt x="2194071" y="0"/>
                  <a:pt x="2222500" y="28429"/>
                  <a:pt x="2222500" y="63498"/>
                </a:cubicBezTo>
                <a:lnTo>
                  <a:pt x="2222500" y="412752"/>
                </a:lnTo>
                <a:cubicBezTo>
                  <a:pt x="2222500" y="447821"/>
                  <a:pt x="2194071" y="476250"/>
                  <a:pt x="2159002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57" name="Text 55"/>
          <p:cNvSpPr/>
          <p:nvPr/>
        </p:nvSpPr>
        <p:spPr>
          <a:xfrm>
            <a:off x="9525000" y="6286500"/>
            <a:ext cx="215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Khan Academy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528969" y="6477000"/>
            <a:ext cx="2151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Adaptive learning paths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9493250" y="6762750"/>
            <a:ext cx="2222500" cy="476250"/>
          </a:xfrm>
          <a:custGeom>
            <a:avLst/>
            <a:gdLst/>
            <a:ahLst/>
            <a:cxnLst/>
            <a:rect l="l" t="t" r="r" b="b"/>
            <a:pathLst>
              <a:path w="2222500" h="476250">
                <a:moveTo>
                  <a:pt x="63498" y="0"/>
                </a:moveTo>
                <a:lnTo>
                  <a:pt x="2159002" y="0"/>
                </a:lnTo>
                <a:cubicBezTo>
                  <a:pt x="2194071" y="0"/>
                  <a:pt x="2222500" y="28429"/>
                  <a:pt x="2222500" y="63498"/>
                </a:cubicBezTo>
                <a:lnTo>
                  <a:pt x="2222500" y="412752"/>
                </a:lnTo>
                <a:cubicBezTo>
                  <a:pt x="2222500" y="447821"/>
                  <a:pt x="2194071" y="476250"/>
                  <a:pt x="2159002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60" name="Text 58"/>
          <p:cNvSpPr/>
          <p:nvPr/>
        </p:nvSpPr>
        <p:spPr>
          <a:xfrm>
            <a:off x="9525000" y="6826250"/>
            <a:ext cx="215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Coursera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9528969" y="7016750"/>
            <a:ext cx="2151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Personalized course recommendations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1265" y="321265"/>
            <a:ext cx="11613723" cy="192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b="1" kern="0" spc="51" dirty="0">
                <a:solidFill>
                  <a:srgbClr val="4C8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/ AI IN ACTION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1265" y="578277"/>
            <a:ext cx="11694040" cy="321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77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AI in Finance: Smarter Banking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1265" y="931668"/>
            <a:ext cx="11629787" cy="224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IA në Financë: Banka më e Zgjuar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7328" y="1285059"/>
            <a:ext cx="8770530" cy="1317186"/>
          </a:xfrm>
          <a:custGeom>
            <a:avLst/>
            <a:gdLst/>
            <a:ahLst/>
            <a:cxnLst/>
            <a:rect l="l" t="t" r="r" b="b"/>
            <a:pathLst>
              <a:path w="8770530" h="1317186">
                <a:moveTo>
                  <a:pt x="32126" y="0"/>
                </a:moveTo>
                <a:lnTo>
                  <a:pt x="8674151" y="0"/>
                </a:lnTo>
                <a:cubicBezTo>
                  <a:pt x="8727380" y="0"/>
                  <a:pt x="8770530" y="43150"/>
                  <a:pt x="8770530" y="96378"/>
                </a:cubicBezTo>
                <a:lnTo>
                  <a:pt x="8770530" y="1220807"/>
                </a:lnTo>
                <a:cubicBezTo>
                  <a:pt x="8770530" y="1274036"/>
                  <a:pt x="8727380" y="1317186"/>
                  <a:pt x="8674151" y="1317186"/>
                </a:cubicBezTo>
                <a:lnTo>
                  <a:pt x="32126" y="1317186"/>
                </a:lnTo>
                <a:cubicBezTo>
                  <a:pt x="14395" y="1317186"/>
                  <a:pt x="0" y="1302790"/>
                  <a:pt x="0" y="1285059"/>
                </a:cubicBezTo>
                <a:lnTo>
                  <a:pt x="0" y="32126"/>
                </a:lnTo>
                <a:cubicBezTo>
                  <a:pt x="0" y="14395"/>
                  <a:pt x="14395" y="0"/>
                  <a:pt x="3212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4095" dist="803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7328" y="1285059"/>
            <a:ext cx="32126" cy="1317186"/>
          </a:xfrm>
          <a:custGeom>
            <a:avLst/>
            <a:gdLst/>
            <a:ahLst/>
            <a:cxnLst/>
            <a:rect l="l" t="t" r="r" b="b"/>
            <a:pathLst>
              <a:path w="32126" h="1317186">
                <a:moveTo>
                  <a:pt x="32126" y="0"/>
                </a:moveTo>
                <a:lnTo>
                  <a:pt x="32126" y="0"/>
                </a:lnTo>
                <a:lnTo>
                  <a:pt x="32126" y="1317186"/>
                </a:lnTo>
                <a:lnTo>
                  <a:pt x="32126" y="1317186"/>
                </a:lnTo>
                <a:cubicBezTo>
                  <a:pt x="14384" y="1317186"/>
                  <a:pt x="0" y="1302802"/>
                  <a:pt x="0" y="1285059"/>
                </a:cubicBezTo>
                <a:lnTo>
                  <a:pt x="0" y="32126"/>
                </a:lnTo>
                <a:cubicBezTo>
                  <a:pt x="0" y="14384"/>
                  <a:pt x="14384" y="0"/>
                  <a:pt x="32126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7" name="Shape 5"/>
          <p:cNvSpPr/>
          <p:nvPr/>
        </p:nvSpPr>
        <p:spPr>
          <a:xfrm>
            <a:off x="546150" y="1477818"/>
            <a:ext cx="449771" cy="449771"/>
          </a:xfrm>
          <a:custGeom>
            <a:avLst/>
            <a:gdLst/>
            <a:ahLst/>
            <a:cxnLst/>
            <a:rect l="l" t="t" r="r" b="b"/>
            <a:pathLst>
              <a:path w="449771" h="449771">
                <a:moveTo>
                  <a:pt x="224885" y="0"/>
                </a:moveTo>
                <a:lnTo>
                  <a:pt x="224885" y="0"/>
                </a:lnTo>
                <a:cubicBezTo>
                  <a:pt x="349003" y="0"/>
                  <a:pt x="449771" y="100768"/>
                  <a:pt x="449771" y="224885"/>
                </a:cubicBezTo>
                <a:lnTo>
                  <a:pt x="449771" y="224885"/>
                </a:lnTo>
                <a:cubicBezTo>
                  <a:pt x="449771" y="349003"/>
                  <a:pt x="349003" y="449771"/>
                  <a:pt x="224885" y="449771"/>
                </a:cubicBezTo>
                <a:lnTo>
                  <a:pt x="224885" y="449771"/>
                </a:lnTo>
                <a:cubicBezTo>
                  <a:pt x="100768" y="449771"/>
                  <a:pt x="0" y="349003"/>
                  <a:pt x="0" y="224885"/>
                </a:cubicBezTo>
                <a:lnTo>
                  <a:pt x="0" y="224885"/>
                </a:lnTo>
                <a:cubicBezTo>
                  <a:pt x="0" y="100768"/>
                  <a:pt x="100768" y="0"/>
                  <a:pt x="224885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74656" y="1606324"/>
            <a:ext cx="192759" cy="192759"/>
          </a:xfrm>
          <a:custGeom>
            <a:avLst/>
            <a:gdLst/>
            <a:ahLst/>
            <a:cxnLst/>
            <a:rect l="l" t="t" r="r" b="b"/>
            <a:pathLst>
              <a:path w="192759" h="192759">
                <a:moveTo>
                  <a:pt x="102366" y="7605"/>
                </a:moveTo>
                <a:cubicBezTo>
                  <a:pt x="98676" y="5497"/>
                  <a:pt x="94121" y="5497"/>
                  <a:pt x="90393" y="7605"/>
                </a:cubicBezTo>
                <a:lnTo>
                  <a:pt x="6061" y="55795"/>
                </a:lnTo>
                <a:cubicBezTo>
                  <a:pt x="1318" y="58505"/>
                  <a:pt x="-1017" y="64077"/>
                  <a:pt x="376" y="69348"/>
                </a:cubicBezTo>
                <a:cubicBezTo>
                  <a:pt x="1769" y="74619"/>
                  <a:pt x="6588" y="78308"/>
                  <a:pt x="12047" y="78308"/>
                </a:cubicBezTo>
                <a:lnTo>
                  <a:pt x="24095" y="78308"/>
                </a:lnTo>
                <a:lnTo>
                  <a:pt x="24095" y="156617"/>
                </a:lnTo>
                <a:lnTo>
                  <a:pt x="24095" y="156617"/>
                </a:lnTo>
                <a:lnTo>
                  <a:pt x="4819" y="171074"/>
                </a:lnTo>
                <a:cubicBezTo>
                  <a:pt x="1769" y="173332"/>
                  <a:pt x="0" y="176909"/>
                  <a:pt x="0" y="180711"/>
                </a:cubicBezTo>
                <a:cubicBezTo>
                  <a:pt x="0" y="187375"/>
                  <a:pt x="5384" y="192759"/>
                  <a:pt x="12047" y="192759"/>
                </a:cubicBezTo>
                <a:lnTo>
                  <a:pt x="180711" y="192759"/>
                </a:lnTo>
                <a:cubicBezTo>
                  <a:pt x="187375" y="192759"/>
                  <a:pt x="192759" y="187375"/>
                  <a:pt x="192759" y="180711"/>
                </a:cubicBezTo>
                <a:cubicBezTo>
                  <a:pt x="192759" y="176909"/>
                  <a:pt x="190989" y="173332"/>
                  <a:pt x="187940" y="171074"/>
                </a:cubicBezTo>
                <a:lnTo>
                  <a:pt x="168664" y="156617"/>
                </a:lnTo>
                <a:lnTo>
                  <a:pt x="168664" y="78308"/>
                </a:lnTo>
                <a:lnTo>
                  <a:pt x="180711" y="78308"/>
                </a:lnTo>
                <a:cubicBezTo>
                  <a:pt x="186170" y="78308"/>
                  <a:pt x="190952" y="74619"/>
                  <a:pt x="192345" y="69348"/>
                </a:cubicBezTo>
                <a:cubicBezTo>
                  <a:pt x="193738" y="64077"/>
                  <a:pt x="191404" y="58505"/>
                  <a:pt x="186660" y="55795"/>
                </a:cubicBezTo>
                <a:lnTo>
                  <a:pt x="102328" y="7605"/>
                </a:lnTo>
                <a:close/>
                <a:moveTo>
                  <a:pt x="150593" y="78308"/>
                </a:moveTo>
                <a:lnTo>
                  <a:pt x="150593" y="156617"/>
                </a:lnTo>
                <a:lnTo>
                  <a:pt x="126498" y="156617"/>
                </a:lnTo>
                <a:lnTo>
                  <a:pt x="126498" y="78308"/>
                </a:lnTo>
                <a:lnTo>
                  <a:pt x="150593" y="78308"/>
                </a:lnTo>
                <a:close/>
                <a:moveTo>
                  <a:pt x="108427" y="78308"/>
                </a:moveTo>
                <a:lnTo>
                  <a:pt x="108427" y="156617"/>
                </a:lnTo>
                <a:lnTo>
                  <a:pt x="84332" y="156617"/>
                </a:lnTo>
                <a:lnTo>
                  <a:pt x="84332" y="78308"/>
                </a:lnTo>
                <a:lnTo>
                  <a:pt x="108427" y="78308"/>
                </a:lnTo>
                <a:close/>
                <a:moveTo>
                  <a:pt x="66261" y="78308"/>
                </a:moveTo>
                <a:lnTo>
                  <a:pt x="66261" y="156617"/>
                </a:lnTo>
                <a:lnTo>
                  <a:pt x="42166" y="156617"/>
                </a:lnTo>
                <a:lnTo>
                  <a:pt x="42166" y="78308"/>
                </a:lnTo>
                <a:lnTo>
                  <a:pt x="66261" y="78308"/>
                </a:lnTo>
                <a:close/>
                <a:moveTo>
                  <a:pt x="96379" y="36142"/>
                </a:moveTo>
                <a:cubicBezTo>
                  <a:pt x="103029" y="36142"/>
                  <a:pt x="108427" y="41541"/>
                  <a:pt x="108427" y="48190"/>
                </a:cubicBezTo>
                <a:cubicBezTo>
                  <a:pt x="108427" y="54839"/>
                  <a:pt x="103029" y="60237"/>
                  <a:pt x="96379" y="60237"/>
                </a:cubicBezTo>
                <a:cubicBezTo>
                  <a:pt x="89730" y="60237"/>
                  <a:pt x="84332" y="54839"/>
                  <a:pt x="84332" y="48190"/>
                </a:cubicBezTo>
                <a:cubicBezTo>
                  <a:pt x="84332" y="41541"/>
                  <a:pt x="89730" y="36142"/>
                  <a:pt x="96379" y="36142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9" name="Text 7"/>
          <p:cNvSpPr/>
          <p:nvPr/>
        </p:nvSpPr>
        <p:spPr>
          <a:xfrm>
            <a:off x="1124427" y="1477818"/>
            <a:ext cx="7870988" cy="224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5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Transforming Finance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24427" y="1766957"/>
            <a:ext cx="7854925" cy="417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2" b="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is revolutionizing how financial institutions operate,</a:t>
            </a:r>
            <a:r>
              <a:rPr lang="en-US" sz="1012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fraud detection to customer service—making banking faster, safer, and more personalized.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24427" y="2248854"/>
            <a:ext cx="7846893" cy="16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po revolucionarizon mënyrën se si operojnë institucionet financiare.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1265" y="2746814"/>
            <a:ext cx="4329043" cy="1983810"/>
          </a:xfrm>
          <a:custGeom>
            <a:avLst/>
            <a:gdLst/>
            <a:ahLst/>
            <a:cxnLst/>
            <a:rect l="l" t="t" r="r" b="b"/>
            <a:pathLst>
              <a:path w="4329043" h="1983810">
                <a:moveTo>
                  <a:pt x="32126" y="0"/>
                </a:moveTo>
                <a:lnTo>
                  <a:pt x="4296917" y="0"/>
                </a:lnTo>
                <a:cubicBezTo>
                  <a:pt x="4314660" y="0"/>
                  <a:pt x="4329043" y="14384"/>
                  <a:pt x="4329043" y="32126"/>
                </a:cubicBezTo>
                <a:lnTo>
                  <a:pt x="4329043" y="1887437"/>
                </a:lnTo>
                <a:cubicBezTo>
                  <a:pt x="4329043" y="1940662"/>
                  <a:pt x="4285896" y="1983810"/>
                  <a:pt x="4232670" y="1983810"/>
                </a:cubicBezTo>
                <a:lnTo>
                  <a:pt x="96374" y="1983810"/>
                </a:lnTo>
                <a:cubicBezTo>
                  <a:pt x="43148" y="1983810"/>
                  <a:pt x="0" y="1940662"/>
                  <a:pt x="0" y="1887437"/>
                </a:cubicBezTo>
                <a:lnTo>
                  <a:pt x="0" y="32126"/>
                </a:lnTo>
                <a:cubicBezTo>
                  <a:pt x="0" y="14384"/>
                  <a:pt x="14384" y="0"/>
                  <a:pt x="3212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4095" dist="803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1265" y="2746814"/>
            <a:ext cx="4329043" cy="32126"/>
          </a:xfrm>
          <a:custGeom>
            <a:avLst/>
            <a:gdLst/>
            <a:ahLst/>
            <a:cxnLst/>
            <a:rect l="l" t="t" r="r" b="b"/>
            <a:pathLst>
              <a:path w="4329043" h="32126">
                <a:moveTo>
                  <a:pt x="32126" y="0"/>
                </a:moveTo>
                <a:lnTo>
                  <a:pt x="4296917" y="0"/>
                </a:lnTo>
                <a:cubicBezTo>
                  <a:pt x="4314660" y="0"/>
                  <a:pt x="4329043" y="14384"/>
                  <a:pt x="4329043" y="32126"/>
                </a:cubicBezTo>
                <a:lnTo>
                  <a:pt x="4329043" y="32126"/>
                </a:lnTo>
                <a:lnTo>
                  <a:pt x="0" y="32126"/>
                </a:lnTo>
                <a:lnTo>
                  <a:pt x="0" y="32126"/>
                </a:lnTo>
                <a:cubicBezTo>
                  <a:pt x="0" y="14384"/>
                  <a:pt x="14384" y="0"/>
                  <a:pt x="32126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4" name="Shape 12"/>
          <p:cNvSpPr/>
          <p:nvPr/>
        </p:nvSpPr>
        <p:spPr>
          <a:xfrm>
            <a:off x="501976" y="2955636"/>
            <a:ext cx="160632" cy="160632"/>
          </a:xfrm>
          <a:custGeom>
            <a:avLst/>
            <a:gdLst/>
            <a:ahLst/>
            <a:cxnLst/>
            <a:rect l="l" t="t" r="r" b="b"/>
            <a:pathLst>
              <a:path w="160632" h="160632">
                <a:moveTo>
                  <a:pt x="80316" y="0"/>
                </a:moveTo>
                <a:cubicBezTo>
                  <a:pt x="81759" y="0"/>
                  <a:pt x="83203" y="314"/>
                  <a:pt x="84520" y="910"/>
                </a:cubicBezTo>
                <a:lnTo>
                  <a:pt x="143628" y="25977"/>
                </a:lnTo>
                <a:cubicBezTo>
                  <a:pt x="150530" y="28895"/>
                  <a:pt x="155675" y="35703"/>
                  <a:pt x="155644" y="43923"/>
                </a:cubicBezTo>
                <a:cubicBezTo>
                  <a:pt x="155487" y="75045"/>
                  <a:pt x="142687" y="131988"/>
                  <a:pt x="88630" y="157872"/>
                </a:cubicBezTo>
                <a:cubicBezTo>
                  <a:pt x="83391" y="160381"/>
                  <a:pt x="77304" y="160381"/>
                  <a:pt x="72065" y="157872"/>
                </a:cubicBezTo>
                <a:cubicBezTo>
                  <a:pt x="17977" y="131988"/>
                  <a:pt x="5208" y="75045"/>
                  <a:pt x="5051" y="43923"/>
                </a:cubicBezTo>
                <a:cubicBezTo>
                  <a:pt x="5020" y="35703"/>
                  <a:pt x="10165" y="28895"/>
                  <a:pt x="17067" y="25977"/>
                </a:cubicBezTo>
                <a:lnTo>
                  <a:pt x="76144" y="910"/>
                </a:lnTo>
                <a:cubicBezTo>
                  <a:pt x="77461" y="314"/>
                  <a:pt x="78873" y="0"/>
                  <a:pt x="80316" y="0"/>
                </a:cubicBezTo>
                <a:close/>
                <a:moveTo>
                  <a:pt x="80316" y="20958"/>
                </a:moveTo>
                <a:lnTo>
                  <a:pt x="80316" y="139581"/>
                </a:lnTo>
                <a:cubicBezTo>
                  <a:pt x="123612" y="118623"/>
                  <a:pt x="135251" y="72190"/>
                  <a:pt x="135534" y="44394"/>
                </a:cubicBezTo>
                <a:lnTo>
                  <a:pt x="80316" y="20989"/>
                </a:lnTo>
                <a:lnTo>
                  <a:pt x="80316" y="20989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5" name="Text 13"/>
          <p:cNvSpPr/>
          <p:nvPr/>
        </p:nvSpPr>
        <p:spPr>
          <a:xfrm>
            <a:off x="779067" y="2923510"/>
            <a:ext cx="1068206" cy="224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8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Fraud Detection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1897" y="3244775"/>
            <a:ext cx="4072032" cy="417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2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analyzes transactions in real-time with </a:t>
            </a:r>
            <a:r>
              <a:rPr lang="en-US" sz="1012" b="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95%+ accuracy</a:t>
            </a:r>
            <a:r>
              <a:rPr lang="en-US" sz="1012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reducing false positives by 70%.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1897" y="3726672"/>
            <a:ext cx="4064000" cy="16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Zbulimi i mashtrimit me saktësi mbi 95%.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79693" y="2746814"/>
            <a:ext cx="4329043" cy="1983810"/>
          </a:xfrm>
          <a:custGeom>
            <a:avLst/>
            <a:gdLst/>
            <a:ahLst/>
            <a:cxnLst/>
            <a:rect l="l" t="t" r="r" b="b"/>
            <a:pathLst>
              <a:path w="4329043" h="1983810">
                <a:moveTo>
                  <a:pt x="32126" y="0"/>
                </a:moveTo>
                <a:lnTo>
                  <a:pt x="4296917" y="0"/>
                </a:lnTo>
                <a:cubicBezTo>
                  <a:pt x="4314660" y="0"/>
                  <a:pt x="4329043" y="14384"/>
                  <a:pt x="4329043" y="32126"/>
                </a:cubicBezTo>
                <a:lnTo>
                  <a:pt x="4329043" y="1887437"/>
                </a:lnTo>
                <a:cubicBezTo>
                  <a:pt x="4329043" y="1940662"/>
                  <a:pt x="4285896" y="1983810"/>
                  <a:pt x="4232670" y="1983810"/>
                </a:cubicBezTo>
                <a:lnTo>
                  <a:pt x="96374" y="1983810"/>
                </a:lnTo>
                <a:cubicBezTo>
                  <a:pt x="43148" y="1983810"/>
                  <a:pt x="0" y="1940662"/>
                  <a:pt x="0" y="1887437"/>
                </a:cubicBezTo>
                <a:lnTo>
                  <a:pt x="0" y="32126"/>
                </a:lnTo>
                <a:cubicBezTo>
                  <a:pt x="0" y="14384"/>
                  <a:pt x="14384" y="0"/>
                  <a:pt x="3212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4095" dist="803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79693" y="2746814"/>
            <a:ext cx="4329043" cy="32126"/>
          </a:xfrm>
          <a:custGeom>
            <a:avLst/>
            <a:gdLst/>
            <a:ahLst/>
            <a:cxnLst/>
            <a:rect l="l" t="t" r="r" b="b"/>
            <a:pathLst>
              <a:path w="4329043" h="32126">
                <a:moveTo>
                  <a:pt x="32126" y="0"/>
                </a:moveTo>
                <a:lnTo>
                  <a:pt x="4296917" y="0"/>
                </a:lnTo>
                <a:cubicBezTo>
                  <a:pt x="4314660" y="0"/>
                  <a:pt x="4329043" y="14384"/>
                  <a:pt x="4329043" y="32126"/>
                </a:cubicBezTo>
                <a:lnTo>
                  <a:pt x="4329043" y="32126"/>
                </a:lnTo>
                <a:lnTo>
                  <a:pt x="0" y="32126"/>
                </a:lnTo>
                <a:lnTo>
                  <a:pt x="0" y="32126"/>
                </a:lnTo>
                <a:cubicBezTo>
                  <a:pt x="0" y="14384"/>
                  <a:pt x="14384" y="0"/>
                  <a:pt x="32126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20" name="Shape 18"/>
          <p:cNvSpPr/>
          <p:nvPr/>
        </p:nvSpPr>
        <p:spPr>
          <a:xfrm>
            <a:off x="4960404" y="2955636"/>
            <a:ext cx="160632" cy="160632"/>
          </a:xfrm>
          <a:custGeom>
            <a:avLst/>
            <a:gdLst/>
            <a:ahLst/>
            <a:cxnLst/>
            <a:rect l="l" t="t" r="r" b="b"/>
            <a:pathLst>
              <a:path w="160632" h="160632">
                <a:moveTo>
                  <a:pt x="20079" y="20079"/>
                </a:moveTo>
                <a:cubicBezTo>
                  <a:pt x="20079" y="14526"/>
                  <a:pt x="15593" y="10040"/>
                  <a:pt x="10040" y="10040"/>
                </a:cubicBezTo>
                <a:cubicBezTo>
                  <a:pt x="4486" y="10040"/>
                  <a:pt x="0" y="14526"/>
                  <a:pt x="0" y="20079"/>
                </a:cubicBezTo>
                <a:lnTo>
                  <a:pt x="0" y="125494"/>
                </a:lnTo>
                <a:cubicBezTo>
                  <a:pt x="0" y="139361"/>
                  <a:pt x="11232" y="150593"/>
                  <a:pt x="25099" y="150593"/>
                </a:cubicBezTo>
                <a:lnTo>
                  <a:pt x="150593" y="150593"/>
                </a:lnTo>
                <a:cubicBezTo>
                  <a:pt x="156146" y="150593"/>
                  <a:pt x="160632" y="146106"/>
                  <a:pt x="160632" y="140553"/>
                </a:cubicBezTo>
                <a:cubicBezTo>
                  <a:pt x="160632" y="135000"/>
                  <a:pt x="156146" y="130514"/>
                  <a:pt x="150593" y="130514"/>
                </a:cubicBezTo>
                <a:lnTo>
                  <a:pt x="25099" y="130514"/>
                </a:lnTo>
                <a:cubicBezTo>
                  <a:pt x="22338" y="130514"/>
                  <a:pt x="20079" y="128255"/>
                  <a:pt x="20079" y="125494"/>
                </a:cubicBezTo>
                <a:lnTo>
                  <a:pt x="20079" y="20079"/>
                </a:lnTo>
                <a:close/>
                <a:moveTo>
                  <a:pt x="147644" y="47249"/>
                </a:moveTo>
                <a:cubicBezTo>
                  <a:pt x="151565" y="43327"/>
                  <a:pt x="151565" y="36958"/>
                  <a:pt x="147644" y="33036"/>
                </a:cubicBezTo>
                <a:cubicBezTo>
                  <a:pt x="143722" y="29115"/>
                  <a:pt x="137353" y="29115"/>
                  <a:pt x="133432" y="33036"/>
                </a:cubicBezTo>
                <a:lnTo>
                  <a:pt x="100395" y="66104"/>
                </a:lnTo>
                <a:lnTo>
                  <a:pt x="82387" y="48127"/>
                </a:lnTo>
                <a:cubicBezTo>
                  <a:pt x="78465" y="44205"/>
                  <a:pt x="72096" y="44205"/>
                  <a:pt x="68175" y="48127"/>
                </a:cubicBezTo>
                <a:lnTo>
                  <a:pt x="38056" y="78246"/>
                </a:lnTo>
                <a:cubicBezTo>
                  <a:pt x="34134" y="82167"/>
                  <a:pt x="34134" y="88536"/>
                  <a:pt x="38056" y="92458"/>
                </a:cubicBezTo>
                <a:cubicBezTo>
                  <a:pt x="41978" y="96379"/>
                  <a:pt x="48347" y="96379"/>
                  <a:pt x="52268" y="92458"/>
                </a:cubicBezTo>
                <a:lnTo>
                  <a:pt x="75296" y="69430"/>
                </a:lnTo>
                <a:lnTo>
                  <a:pt x="93305" y="87438"/>
                </a:lnTo>
                <a:cubicBezTo>
                  <a:pt x="97227" y="91360"/>
                  <a:pt x="103595" y="91360"/>
                  <a:pt x="107517" y="87438"/>
                </a:cubicBezTo>
                <a:lnTo>
                  <a:pt x="147675" y="47280"/>
                </a:ln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21" name="Text 19"/>
          <p:cNvSpPr/>
          <p:nvPr/>
        </p:nvSpPr>
        <p:spPr>
          <a:xfrm>
            <a:off x="5237495" y="2923510"/>
            <a:ext cx="1293091" cy="224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8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Algorithmic Trading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40325" y="3244775"/>
            <a:ext cx="4072032" cy="417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2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executes trades in milliseconds based on market patterns—eliminating emotional decisions.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40325" y="3726672"/>
            <a:ext cx="4064000" cy="16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Tregtimi algoritmik ekzekuton transaksione në milisekonda.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21265" y="4875194"/>
            <a:ext cx="4329043" cy="1983810"/>
          </a:xfrm>
          <a:custGeom>
            <a:avLst/>
            <a:gdLst/>
            <a:ahLst/>
            <a:cxnLst/>
            <a:rect l="l" t="t" r="r" b="b"/>
            <a:pathLst>
              <a:path w="4329043" h="1983810">
                <a:moveTo>
                  <a:pt x="32126" y="0"/>
                </a:moveTo>
                <a:lnTo>
                  <a:pt x="4296917" y="0"/>
                </a:lnTo>
                <a:cubicBezTo>
                  <a:pt x="4314660" y="0"/>
                  <a:pt x="4329043" y="14384"/>
                  <a:pt x="4329043" y="32126"/>
                </a:cubicBezTo>
                <a:lnTo>
                  <a:pt x="4329043" y="1887437"/>
                </a:lnTo>
                <a:cubicBezTo>
                  <a:pt x="4329043" y="1940662"/>
                  <a:pt x="4285896" y="1983810"/>
                  <a:pt x="4232670" y="1983810"/>
                </a:cubicBezTo>
                <a:lnTo>
                  <a:pt x="96374" y="1983810"/>
                </a:lnTo>
                <a:cubicBezTo>
                  <a:pt x="43148" y="1983810"/>
                  <a:pt x="0" y="1940662"/>
                  <a:pt x="0" y="1887437"/>
                </a:cubicBezTo>
                <a:lnTo>
                  <a:pt x="0" y="32126"/>
                </a:lnTo>
                <a:cubicBezTo>
                  <a:pt x="0" y="14384"/>
                  <a:pt x="14384" y="0"/>
                  <a:pt x="3212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4095" dist="803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1265" y="4875194"/>
            <a:ext cx="4329043" cy="32126"/>
          </a:xfrm>
          <a:custGeom>
            <a:avLst/>
            <a:gdLst/>
            <a:ahLst/>
            <a:cxnLst/>
            <a:rect l="l" t="t" r="r" b="b"/>
            <a:pathLst>
              <a:path w="4329043" h="32126">
                <a:moveTo>
                  <a:pt x="32126" y="0"/>
                </a:moveTo>
                <a:lnTo>
                  <a:pt x="4296917" y="0"/>
                </a:lnTo>
                <a:cubicBezTo>
                  <a:pt x="4314660" y="0"/>
                  <a:pt x="4329043" y="14384"/>
                  <a:pt x="4329043" y="32126"/>
                </a:cubicBezTo>
                <a:lnTo>
                  <a:pt x="4329043" y="32126"/>
                </a:lnTo>
                <a:lnTo>
                  <a:pt x="0" y="32126"/>
                </a:lnTo>
                <a:lnTo>
                  <a:pt x="0" y="32126"/>
                </a:lnTo>
                <a:cubicBezTo>
                  <a:pt x="0" y="14384"/>
                  <a:pt x="14384" y="0"/>
                  <a:pt x="32126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26" name="Shape 24"/>
          <p:cNvSpPr/>
          <p:nvPr/>
        </p:nvSpPr>
        <p:spPr>
          <a:xfrm>
            <a:off x="501976" y="5084016"/>
            <a:ext cx="160632" cy="160632"/>
          </a:xfrm>
          <a:custGeom>
            <a:avLst/>
            <a:gdLst/>
            <a:ahLst/>
            <a:cxnLst/>
            <a:rect l="l" t="t" r="r" b="b"/>
            <a:pathLst>
              <a:path w="160632" h="160632">
                <a:moveTo>
                  <a:pt x="0" y="40158"/>
                </a:moveTo>
                <a:lnTo>
                  <a:pt x="0" y="50198"/>
                </a:lnTo>
                <a:lnTo>
                  <a:pt x="160632" y="50198"/>
                </a:lnTo>
                <a:lnTo>
                  <a:pt x="160632" y="40158"/>
                </a:lnTo>
                <a:cubicBezTo>
                  <a:pt x="160632" y="29083"/>
                  <a:pt x="151628" y="20079"/>
                  <a:pt x="140553" y="20079"/>
                </a:cubicBezTo>
                <a:lnTo>
                  <a:pt x="20079" y="20079"/>
                </a:lnTo>
                <a:cubicBezTo>
                  <a:pt x="9004" y="20079"/>
                  <a:pt x="0" y="29083"/>
                  <a:pt x="0" y="40158"/>
                </a:cubicBezTo>
                <a:close/>
                <a:moveTo>
                  <a:pt x="0" y="65257"/>
                </a:moveTo>
                <a:lnTo>
                  <a:pt x="0" y="120474"/>
                </a:lnTo>
                <a:cubicBezTo>
                  <a:pt x="0" y="131549"/>
                  <a:pt x="9004" y="140553"/>
                  <a:pt x="20079" y="140553"/>
                </a:cubicBezTo>
                <a:lnTo>
                  <a:pt x="140553" y="140553"/>
                </a:lnTo>
                <a:cubicBezTo>
                  <a:pt x="151628" y="140553"/>
                  <a:pt x="160632" y="131549"/>
                  <a:pt x="160632" y="120474"/>
                </a:cubicBezTo>
                <a:lnTo>
                  <a:pt x="160632" y="65257"/>
                </a:lnTo>
                <a:lnTo>
                  <a:pt x="0" y="65257"/>
                </a:lnTo>
                <a:close/>
                <a:moveTo>
                  <a:pt x="20079" y="112945"/>
                </a:moveTo>
                <a:cubicBezTo>
                  <a:pt x="20079" y="108772"/>
                  <a:pt x="23436" y="105415"/>
                  <a:pt x="27609" y="105415"/>
                </a:cubicBezTo>
                <a:lnTo>
                  <a:pt x="42668" y="105415"/>
                </a:lnTo>
                <a:cubicBezTo>
                  <a:pt x="46841" y="105415"/>
                  <a:pt x="50198" y="108772"/>
                  <a:pt x="50198" y="112945"/>
                </a:cubicBezTo>
                <a:cubicBezTo>
                  <a:pt x="50198" y="117117"/>
                  <a:pt x="46841" y="120474"/>
                  <a:pt x="42668" y="120474"/>
                </a:cubicBezTo>
                <a:lnTo>
                  <a:pt x="27609" y="120474"/>
                </a:lnTo>
                <a:cubicBezTo>
                  <a:pt x="23436" y="120474"/>
                  <a:pt x="20079" y="117117"/>
                  <a:pt x="20079" y="112945"/>
                </a:cubicBezTo>
                <a:close/>
                <a:moveTo>
                  <a:pt x="65257" y="112945"/>
                </a:moveTo>
                <a:cubicBezTo>
                  <a:pt x="65257" y="108772"/>
                  <a:pt x="68614" y="105415"/>
                  <a:pt x="72787" y="105415"/>
                </a:cubicBezTo>
                <a:lnTo>
                  <a:pt x="92866" y="105415"/>
                </a:lnTo>
                <a:cubicBezTo>
                  <a:pt x="97038" y="105415"/>
                  <a:pt x="100395" y="108772"/>
                  <a:pt x="100395" y="112945"/>
                </a:cubicBezTo>
                <a:cubicBezTo>
                  <a:pt x="100395" y="117117"/>
                  <a:pt x="97038" y="120474"/>
                  <a:pt x="92866" y="120474"/>
                </a:cubicBezTo>
                <a:lnTo>
                  <a:pt x="72787" y="120474"/>
                </a:lnTo>
                <a:cubicBezTo>
                  <a:pt x="68614" y="120474"/>
                  <a:pt x="65257" y="117117"/>
                  <a:pt x="65257" y="112945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27" name="Text 25"/>
          <p:cNvSpPr/>
          <p:nvPr/>
        </p:nvSpPr>
        <p:spPr>
          <a:xfrm>
            <a:off x="779067" y="5051889"/>
            <a:ext cx="955763" cy="224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8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Credit Scoring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1897" y="5373154"/>
            <a:ext cx="4072032" cy="417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2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 alternative data (rent, utilities, mobile usage) for more inclusive lending decisions.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81897" y="5855051"/>
            <a:ext cx="4064000" cy="16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Vlerësimi i kredisë përdor të dhëna alternative.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779693" y="4875194"/>
            <a:ext cx="4329043" cy="1983810"/>
          </a:xfrm>
          <a:custGeom>
            <a:avLst/>
            <a:gdLst/>
            <a:ahLst/>
            <a:cxnLst/>
            <a:rect l="l" t="t" r="r" b="b"/>
            <a:pathLst>
              <a:path w="4329043" h="1983810">
                <a:moveTo>
                  <a:pt x="32126" y="0"/>
                </a:moveTo>
                <a:lnTo>
                  <a:pt x="4296917" y="0"/>
                </a:lnTo>
                <a:cubicBezTo>
                  <a:pt x="4314660" y="0"/>
                  <a:pt x="4329043" y="14384"/>
                  <a:pt x="4329043" y="32126"/>
                </a:cubicBezTo>
                <a:lnTo>
                  <a:pt x="4329043" y="1887437"/>
                </a:lnTo>
                <a:cubicBezTo>
                  <a:pt x="4329043" y="1940662"/>
                  <a:pt x="4285896" y="1983810"/>
                  <a:pt x="4232670" y="1983810"/>
                </a:cubicBezTo>
                <a:lnTo>
                  <a:pt x="96374" y="1983810"/>
                </a:lnTo>
                <a:cubicBezTo>
                  <a:pt x="43148" y="1983810"/>
                  <a:pt x="0" y="1940662"/>
                  <a:pt x="0" y="1887437"/>
                </a:cubicBezTo>
                <a:lnTo>
                  <a:pt x="0" y="32126"/>
                </a:lnTo>
                <a:cubicBezTo>
                  <a:pt x="0" y="14384"/>
                  <a:pt x="14384" y="0"/>
                  <a:pt x="3212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4095" dist="803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79693" y="4875194"/>
            <a:ext cx="4329043" cy="32126"/>
          </a:xfrm>
          <a:custGeom>
            <a:avLst/>
            <a:gdLst/>
            <a:ahLst/>
            <a:cxnLst/>
            <a:rect l="l" t="t" r="r" b="b"/>
            <a:pathLst>
              <a:path w="4329043" h="32126">
                <a:moveTo>
                  <a:pt x="32126" y="0"/>
                </a:moveTo>
                <a:lnTo>
                  <a:pt x="4296917" y="0"/>
                </a:lnTo>
                <a:cubicBezTo>
                  <a:pt x="4314660" y="0"/>
                  <a:pt x="4329043" y="14384"/>
                  <a:pt x="4329043" y="32126"/>
                </a:cubicBezTo>
                <a:lnTo>
                  <a:pt x="4329043" y="32126"/>
                </a:lnTo>
                <a:lnTo>
                  <a:pt x="0" y="32126"/>
                </a:lnTo>
                <a:lnTo>
                  <a:pt x="0" y="32126"/>
                </a:lnTo>
                <a:cubicBezTo>
                  <a:pt x="0" y="14384"/>
                  <a:pt x="14384" y="0"/>
                  <a:pt x="32126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32" name="Shape 30"/>
          <p:cNvSpPr/>
          <p:nvPr/>
        </p:nvSpPr>
        <p:spPr>
          <a:xfrm>
            <a:off x="4970444" y="5084016"/>
            <a:ext cx="140553" cy="160632"/>
          </a:xfrm>
          <a:custGeom>
            <a:avLst/>
            <a:gdLst/>
            <a:ahLst/>
            <a:cxnLst/>
            <a:rect l="l" t="t" r="r" b="b"/>
            <a:pathLst>
              <a:path w="140553" h="160632">
                <a:moveTo>
                  <a:pt x="70277" y="20079"/>
                </a:moveTo>
                <a:cubicBezTo>
                  <a:pt x="45492" y="20079"/>
                  <a:pt x="24879" y="38056"/>
                  <a:pt x="20801" y="61712"/>
                </a:cubicBezTo>
                <a:cubicBezTo>
                  <a:pt x="23718" y="60771"/>
                  <a:pt x="26856" y="60237"/>
                  <a:pt x="30119" y="60237"/>
                </a:cubicBezTo>
                <a:lnTo>
                  <a:pt x="35138" y="60237"/>
                </a:lnTo>
                <a:cubicBezTo>
                  <a:pt x="43452" y="60237"/>
                  <a:pt x="50198" y="66982"/>
                  <a:pt x="50198" y="75296"/>
                </a:cubicBezTo>
                <a:lnTo>
                  <a:pt x="50198" y="105415"/>
                </a:lnTo>
                <a:cubicBezTo>
                  <a:pt x="50198" y="113729"/>
                  <a:pt x="43452" y="120474"/>
                  <a:pt x="35138" y="120474"/>
                </a:cubicBezTo>
                <a:lnTo>
                  <a:pt x="30119" y="120474"/>
                </a:lnTo>
                <a:cubicBezTo>
                  <a:pt x="13491" y="120474"/>
                  <a:pt x="0" y="106984"/>
                  <a:pt x="0" y="90356"/>
                </a:cubicBezTo>
                <a:lnTo>
                  <a:pt x="0" y="70277"/>
                </a:lnTo>
                <a:cubicBezTo>
                  <a:pt x="0" y="31468"/>
                  <a:pt x="31468" y="0"/>
                  <a:pt x="70277" y="0"/>
                </a:cubicBezTo>
                <a:cubicBezTo>
                  <a:pt x="109086" y="0"/>
                  <a:pt x="140553" y="31468"/>
                  <a:pt x="140553" y="70277"/>
                </a:cubicBezTo>
                <a:lnTo>
                  <a:pt x="140553" y="123016"/>
                </a:lnTo>
                <a:cubicBezTo>
                  <a:pt x="140553" y="143816"/>
                  <a:pt x="123674" y="160664"/>
                  <a:pt x="102874" y="160664"/>
                </a:cubicBezTo>
                <a:lnTo>
                  <a:pt x="75296" y="160632"/>
                </a:lnTo>
                <a:lnTo>
                  <a:pt x="65257" y="160632"/>
                </a:lnTo>
                <a:cubicBezTo>
                  <a:pt x="56943" y="160632"/>
                  <a:pt x="50198" y="153887"/>
                  <a:pt x="50198" y="145573"/>
                </a:cubicBezTo>
                <a:cubicBezTo>
                  <a:pt x="50198" y="137259"/>
                  <a:pt x="56943" y="130514"/>
                  <a:pt x="65257" y="130514"/>
                </a:cubicBezTo>
                <a:lnTo>
                  <a:pt x="75296" y="130514"/>
                </a:lnTo>
                <a:cubicBezTo>
                  <a:pt x="83610" y="130514"/>
                  <a:pt x="90356" y="137259"/>
                  <a:pt x="90356" y="145573"/>
                </a:cubicBezTo>
                <a:lnTo>
                  <a:pt x="90356" y="145573"/>
                </a:lnTo>
                <a:lnTo>
                  <a:pt x="102905" y="145573"/>
                </a:lnTo>
                <a:cubicBezTo>
                  <a:pt x="115392" y="145573"/>
                  <a:pt x="125494" y="135471"/>
                  <a:pt x="125494" y="122984"/>
                </a:cubicBezTo>
                <a:lnTo>
                  <a:pt x="125494" y="116427"/>
                </a:lnTo>
                <a:cubicBezTo>
                  <a:pt x="121070" y="119000"/>
                  <a:pt x="115925" y="120443"/>
                  <a:pt x="110435" y="120443"/>
                </a:cubicBezTo>
                <a:lnTo>
                  <a:pt x="105415" y="120443"/>
                </a:lnTo>
                <a:cubicBezTo>
                  <a:pt x="97101" y="120443"/>
                  <a:pt x="90356" y="113698"/>
                  <a:pt x="90356" y="105384"/>
                </a:cubicBezTo>
                <a:lnTo>
                  <a:pt x="90356" y="75265"/>
                </a:lnTo>
                <a:cubicBezTo>
                  <a:pt x="90356" y="66951"/>
                  <a:pt x="97101" y="60206"/>
                  <a:pt x="105415" y="60206"/>
                </a:cubicBezTo>
                <a:lnTo>
                  <a:pt x="110435" y="60206"/>
                </a:lnTo>
                <a:cubicBezTo>
                  <a:pt x="113698" y="60206"/>
                  <a:pt x="116804" y="60708"/>
                  <a:pt x="119753" y="61680"/>
                </a:cubicBezTo>
                <a:cubicBezTo>
                  <a:pt x="115674" y="38056"/>
                  <a:pt x="95093" y="20048"/>
                  <a:pt x="70277" y="20048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33" name="Text 31"/>
          <p:cNvSpPr/>
          <p:nvPr/>
        </p:nvSpPr>
        <p:spPr>
          <a:xfrm>
            <a:off x="5237495" y="5051889"/>
            <a:ext cx="1180648" cy="224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8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Service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940325" y="5373154"/>
            <a:ext cx="4072032" cy="417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2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chatbots provide 24/7 support, answer questions, and resolve issues instantly.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940325" y="5855051"/>
            <a:ext cx="4064000" cy="16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Chatbotët ofrojnë mbështetje 24/7.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302374" y="1285059"/>
            <a:ext cx="2570119" cy="3598166"/>
          </a:xfrm>
          <a:custGeom>
            <a:avLst/>
            <a:gdLst/>
            <a:ahLst/>
            <a:cxnLst/>
            <a:rect l="l" t="t" r="r" b="b"/>
            <a:pathLst>
              <a:path w="2570119" h="3598166">
                <a:moveTo>
                  <a:pt x="96379" y="0"/>
                </a:moveTo>
                <a:lnTo>
                  <a:pt x="2473739" y="0"/>
                </a:lnTo>
                <a:cubicBezTo>
                  <a:pt x="2526968" y="0"/>
                  <a:pt x="2570119" y="43151"/>
                  <a:pt x="2570119" y="96379"/>
                </a:cubicBezTo>
                <a:lnTo>
                  <a:pt x="2570119" y="3501787"/>
                </a:lnTo>
                <a:cubicBezTo>
                  <a:pt x="2570119" y="3555015"/>
                  <a:pt x="2526968" y="3598166"/>
                  <a:pt x="2473739" y="3598166"/>
                </a:cubicBezTo>
                <a:lnTo>
                  <a:pt x="96379" y="3598166"/>
                </a:lnTo>
                <a:cubicBezTo>
                  <a:pt x="43151" y="3598166"/>
                  <a:pt x="0" y="3555015"/>
                  <a:pt x="0" y="3501787"/>
                </a:cubicBezTo>
                <a:lnTo>
                  <a:pt x="0" y="96379"/>
                </a:lnTo>
                <a:cubicBezTo>
                  <a:pt x="0" y="43151"/>
                  <a:pt x="43151" y="0"/>
                  <a:pt x="96379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A7A"/>
              </a:gs>
              <a:gs pos="100000">
                <a:srgbClr val="2F3E3B"/>
              </a:gs>
            </a:gsLst>
            <a:lin ang="2700000" scaled="1"/>
          </a:gradFill>
          <a:ln/>
        </p:spPr>
      </p:sp>
      <p:sp>
        <p:nvSpPr>
          <p:cNvPr id="37" name="Text 35"/>
          <p:cNvSpPr/>
          <p:nvPr/>
        </p:nvSpPr>
        <p:spPr>
          <a:xfrm>
            <a:off x="9454974" y="1477818"/>
            <a:ext cx="2264917" cy="224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6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 Statistics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495132" y="1831209"/>
            <a:ext cx="2184601" cy="867415"/>
          </a:xfrm>
          <a:custGeom>
            <a:avLst/>
            <a:gdLst/>
            <a:ahLst/>
            <a:cxnLst/>
            <a:rect l="l" t="t" r="r" b="b"/>
            <a:pathLst>
              <a:path w="2184601" h="867415">
                <a:moveTo>
                  <a:pt x="64249" y="0"/>
                </a:moveTo>
                <a:lnTo>
                  <a:pt x="2120351" y="0"/>
                </a:lnTo>
                <a:cubicBezTo>
                  <a:pt x="2155835" y="0"/>
                  <a:pt x="2184601" y="28765"/>
                  <a:pt x="2184601" y="64249"/>
                </a:cubicBezTo>
                <a:lnTo>
                  <a:pt x="2184601" y="803166"/>
                </a:lnTo>
                <a:cubicBezTo>
                  <a:pt x="2184601" y="838650"/>
                  <a:pt x="2155835" y="867415"/>
                  <a:pt x="2120351" y="867415"/>
                </a:cubicBezTo>
                <a:lnTo>
                  <a:pt x="64249" y="867415"/>
                </a:lnTo>
                <a:cubicBezTo>
                  <a:pt x="28765" y="867415"/>
                  <a:pt x="0" y="838650"/>
                  <a:pt x="0" y="803166"/>
                </a:cubicBezTo>
                <a:lnTo>
                  <a:pt x="0" y="64249"/>
                </a:lnTo>
                <a:cubicBezTo>
                  <a:pt x="0" y="28789"/>
                  <a:pt x="28789" y="0"/>
                  <a:pt x="6424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9527259" y="1959715"/>
            <a:ext cx="2120348" cy="385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03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30%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591512" y="2377360"/>
            <a:ext cx="1991842" cy="192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2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Reduction in operational costs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495132" y="2827130"/>
            <a:ext cx="2184601" cy="867415"/>
          </a:xfrm>
          <a:custGeom>
            <a:avLst/>
            <a:gdLst/>
            <a:ahLst/>
            <a:cxnLst/>
            <a:rect l="l" t="t" r="r" b="b"/>
            <a:pathLst>
              <a:path w="2184601" h="867415">
                <a:moveTo>
                  <a:pt x="64249" y="0"/>
                </a:moveTo>
                <a:lnTo>
                  <a:pt x="2120351" y="0"/>
                </a:lnTo>
                <a:cubicBezTo>
                  <a:pt x="2155835" y="0"/>
                  <a:pt x="2184601" y="28765"/>
                  <a:pt x="2184601" y="64249"/>
                </a:cubicBezTo>
                <a:lnTo>
                  <a:pt x="2184601" y="803166"/>
                </a:lnTo>
                <a:cubicBezTo>
                  <a:pt x="2184601" y="838650"/>
                  <a:pt x="2155835" y="867415"/>
                  <a:pt x="2120351" y="867415"/>
                </a:cubicBezTo>
                <a:lnTo>
                  <a:pt x="64249" y="867415"/>
                </a:lnTo>
                <a:cubicBezTo>
                  <a:pt x="28765" y="867415"/>
                  <a:pt x="0" y="838650"/>
                  <a:pt x="0" y="803166"/>
                </a:cubicBezTo>
                <a:lnTo>
                  <a:pt x="0" y="64249"/>
                </a:lnTo>
                <a:cubicBezTo>
                  <a:pt x="0" y="28789"/>
                  <a:pt x="28789" y="0"/>
                  <a:pt x="6424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9527259" y="2955636"/>
            <a:ext cx="2120348" cy="385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03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40%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591512" y="3373281"/>
            <a:ext cx="1991842" cy="192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2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Faster fraud detection savings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495132" y="3823051"/>
            <a:ext cx="2184601" cy="867415"/>
          </a:xfrm>
          <a:custGeom>
            <a:avLst/>
            <a:gdLst/>
            <a:ahLst/>
            <a:cxnLst/>
            <a:rect l="l" t="t" r="r" b="b"/>
            <a:pathLst>
              <a:path w="2184601" h="867415">
                <a:moveTo>
                  <a:pt x="64249" y="0"/>
                </a:moveTo>
                <a:lnTo>
                  <a:pt x="2120351" y="0"/>
                </a:lnTo>
                <a:cubicBezTo>
                  <a:pt x="2155835" y="0"/>
                  <a:pt x="2184601" y="28765"/>
                  <a:pt x="2184601" y="64249"/>
                </a:cubicBezTo>
                <a:lnTo>
                  <a:pt x="2184601" y="803166"/>
                </a:lnTo>
                <a:cubicBezTo>
                  <a:pt x="2184601" y="838650"/>
                  <a:pt x="2155835" y="867415"/>
                  <a:pt x="2120351" y="867415"/>
                </a:cubicBezTo>
                <a:lnTo>
                  <a:pt x="64249" y="867415"/>
                </a:lnTo>
                <a:cubicBezTo>
                  <a:pt x="28765" y="867415"/>
                  <a:pt x="0" y="838650"/>
                  <a:pt x="0" y="803166"/>
                </a:cubicBezTo>
                <a:lnTo>
                  <a:pt x="0" y="64249"/>
                </a:lnTo>
                <a:cubicBezTo>
                  <a:pt x="0" y="28789"/>
                  <a:pt x="28789" y="0"/>
                  <a:pt x="6424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9527259" y="3951557"/>
            <a:ext cx="2120348" cy="385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03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$202B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591512" y="4369202"/>
            <a:ext cx="1991842" cy="192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2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AI funding in 2025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302374" y="5011731"/>
            <a:ext cx="2570119" cy="1847273"/>
          </a:xfrm>
          <a:custGeom>
            <a:avLst/>
            <a:gdLst/>
            <a:ahLst/>
            <a:cxnLst/>
            <a:rect l="l" t="t" r="r" b="b"/>
            <a:pathLst>
              <a:path w="2570119" h="1847273">
                <a:moveTo>
                  <a:pt x="96372" y="0"/>
                </a:moveTo>
                <a:lnTo>
                  <a:pt x="2473746" y="0"/>
                </a:lnTo>
                <a:cubicBezTo>
                  <a:pt x="2526971" y="0"/>
                  <a:pt x="2570119" y="43147"/>
                  <a:pt x="2570119" y="96372"/>
                </a:cubicBezTo>
                <a:lnTo>
                  <a:pt x="2570119" y="1750901"/>
                </a:lnTo>
                <a:cubicBezTo>
                  <a:pt x="2570119" y="1804125"/>
                  <a:pt x="2526971" y="1847273"/>
                  <a:pt x="2473746" y="1847273"/>
                </a:cubicBezTo>
                <a:lnTo>
                  <a:pt x="96372" y="1847273"/>
                </a:lnTo>
                <a:cubicBezTo>
                  <a:pt x="43147" y="1847273"/>
                  <a:pt x="0" y="1804125"/>
                  <a:pt x="0" y="1750901"/>
                </a:cubicBezTo>
                <a:lnTo>
                  <a:pt x="0" y="96372"/>
                </a:lnTo>
                <a:cubicBezTo>
                  <a:pt x="0" y="43183"/>
                  <a:pt x="43183" y="0"/>
                  <a:pt x="9637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4095" dist="803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10479006" y="5172364"/>
            <a:ext cx="216854" cy="289138"/>
          </a:xfrm>
          <a:custGeom>
            <a:avLst/>
            <a:gdLst/>
            <a:ahLst/>
            <a:cxnLst/>
            <a:rect l="l" t="t" r="r" b="b"/>
            <a:pathLst>
              <a:path w="216854" h="289138">
                <a:moveTo>
                  <a:pt x="165407" y="216854"/>
                </a:moveTo>
                <a:cubicBezTo>
                  <a:pt x="169530" y="204260"/>
                  <a:pt x="177775" y="192853"/>
                  <a:pt x="187093" y="183027"/>
                </a:cubicBezTo>
                <a:cubicBezTo>
                  <a:pt x="205559" y="163600"/>
                  <a:pt x="216854" y="137341"/>
                  <a:pt x="216854" y="108427"/>
                </a:cubicBezTo>
                <a:cubicBezTo>
                  <a:pt x="216854" y="48566"/>
                  <a:pt x="168288" y="0"/>
                  <a:pt x="108427" y="0"/>
                </a:cubicBezTo>
                <a:cubicBezTo>
                  <a:pt x="48566" y="0"/>
                  <a:pt x="0" y="48566"/>
                  <a:pt x="0" y="108427"/>
                </a:cubicBezTo>
                <a:cubicBezTo>
                  <a:pt x="0" y="137341"/>
                  <a:pt x="11294" y="163600"/>
                  <a:pt x="29761" y="183027"/>
                </a:cubicBezTo>
                <a:cubicBezTo>
                  <a:pt x="39079" y="192853"/>
                  <a:pt x="47380" y="204260"/>
                  <a:pt x="51446" y="216854"/>
                </a:cubicBezTo>
                <a:lnTo>
                  <a:pt x="165351" y="216854"/>
                </a:lnTo>
                <a:close/>
                <a:moveTo>
                  <a:pt x="162640" y="243960"/>
                </a:moveTo>
                <a:lnTo>
                  <a:pt x="54213" y="243960"/>
                </a:lnTo>
                <a:lnTo>
                  <a:pt x="54213" y="252996"/>
                </a:lnTo>
                <a:cubicBezTo>
                  <a:pt x="54213" y="277957"/>
                  <a:pt x="74431" y="298174"/>
                  <a:pt x="99391" y="298174"/>
                </a:cubicBezTo>
                <a:lnTo>
                  <a:pt x="117462" y="298174"/>
                </a:lnTo>
                <a:cubicBezTo>
                  <a:pt x="142423" y="298174"/>
                  <a:pt x="162640" y="277957"/>
                  <a:pt x="162640" y="252996"/>
                </a:cubicBezTo>
                <a:lnTo>
                  <a:pt x="162640" y="243960"/>
                </a:lnTo>
                <a:close/>
                <a:moveTo>
                  <a:pt x="103909" y="63249"/>
                </a:moveTo>
                <a:cubicBezTo>
                  <a:pt x="81433" y="63249"/>
                  <a:pt x="63249" y="81433"/>
                  <a:pt x="63249" y="103909"/>
                </a:cubicBezTo>
                <a:cubicBezTo>
                  <a:pt x="63249" y="111420"/>
                  <a:pt x="57206" y="117462"/>
                  <a:pt x="49696" y="117462"/>
                </a:cubicBezTo>
                <a:cubicBezTo>
                  <a:pt x="42185" y="117462"/>
                  <a:pt x="36142" y="111420"/>
                  <a:pt x="36142" y="103909"/>
                </a:cubicBezTo>
                <a:cubicBezTo>
                  <a:pt x="36142" y="66468"/>
                  <a:pt x="66468" y="36142"/>
                  <a:pt x="103909" y="36142"/>
                </a:cubicBezTo>
                <a:cubicBezTo>
                  <a:pt x="111420" y="36142"/>
                  <a:pt x="117462" y="42185"/>
                  <a:pt x="117462" y="49696"/>
                </a:cubicBezTo>
                <a:cubicBezTo>
                  <a:pt x="117462" y="57206"/>
                  <a:pt x="111420" y="63249"/>
                  <a:pt x="103909" y="63249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49" name="Text 47"/>
          <p:cNvSpPr/>
          <p:nvPr/>
        </p:nvSpPr>
        <p:spPr>
          <a:xfrm>
            <a:off x="9426864" y="5557881"/>
            <a:ext cx="2321138" cy="224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8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Did You Know?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430879" y="5847020"/>
            <a:ext cx="2313107" cy="6264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012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processes </a:t>
            </a:r>
            <a:r>
              <a:rPr lang="en-US" sz="1012" b="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millions of transactions per second</a:t>
            </a:r>
            <a:r>
              <a:rPr lang="en-US" sz="1012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worldwide—detecting fraud faster than any human could!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434895" y="6537739"/>
            <a:ext cx="2305075" cy="16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përpunon miliona transaksione në sekondë!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4C8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/ AI IN ACTION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Famous AI Systems You Should Know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Sisteme të Famshme IA që Duhet të Njihni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543050"/>
            <a:ext cx="3705225" cy="2133600"/>
          </a:xfrm>
          <a:custGeom>
            <a:avLst/>
            <a:gdLst/>
            <a:ahLst/>
            <a:cxnLst/>
            <a:rect l="l" t="t" r="r" b="b"/>
            <a:pathLst>
              <a:path w="3705225" h="21336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2019303"/>
                </a:lnTo>
                <a:cubicBezTo>
                  <a:pt x="3705225" y="2082428"/>
                  <a:pt x="3654053" y="2133600"/>
                  <a:pt x="3590928" y="2133600"/>
                </a:cubicBezTo>
                <a:lnTo>
                  <a:pt x="114297" y="2133600"/>
                </a:lnTo>
                <a:cubicBezTo>
                  <a:pt x="51172" y="2133600"/>
                  <a:pt x="0" y="2082428"/>
                  <a:pt x="0" y="201930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1000" y="15430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1752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92944" y="18859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2875" y="53578"/>
                </a:moveTo>
                <a:cubicBezTo>
                  <a:pt x="142875" y="89743"/>
                  <a:pt x="110877" y="119063"/>
                  <a:pt x="71438" y="119063"/>
                </a:cubicBezTo>
                <a:cubicBezTo>
                  <a:pt x="61503" y="119063"/>
                  <a:pt x="52053" y="117202"/>
                  <a:pt x="43458" y="113854"/>
                </a:cubicBezTo>
                <a:lnTo>
                  <a:pt x="13097" y="129927"/>
                </a:lnTo>
                <a:cubicBezTo>
                  <a:pt x="9637" y="131750"/>
                  <a:pt x="5395" y="131118"/>
                  <a:pt x="2604" y="128364"/>
                </a:cubicBezTo>
                <a:cubicBezTo>
                  <a:pt x="-186" y="125611"/>
                  <a:pt x="-819" y="121332"/>
                  <a:pt x="1042" y="117872"/>
                </a:cubicBezTo>
                <a:lnTo>
                  <a:pt x="14288" y="92869"/>
                </a:lnTo>
                <a:cubicBezTo>
                  <a:pt x="5321" y="81930"/>
                  <a:pt x="0" y="68312"/>
                  <a:pt x="0" y="53578"/>
                </a:cubicBezTo>
                <a:cubicBezTo>
                  <a:pt x="0" y="17413"/>
                  <a:pt x="31998" y="-11906"/>
                  <a:pt x="71438" y="-11906"/>
                </a:cubicBezTo>
                <a:cubicBezTo>
                  <a:pt x="110877" y="-11906"/>
                  <a:pt x="142875" y="17413"/>
                  <a:pt x="142875" y="53578"/>
                </a:cubicBezTo>
                <a:close/>
                <a:moveTo>
                  <a:pt x="142875" y="190500"/>
                </a:moveTo>
                <a:cubicBezTo>
                  <a:pt x="107863" y="190500"/>
                  <a:pt x="78730" y="167394"/>
                  <a:pt x="72628" y="136922"/>
                </a:cubicBezTo>
                <a:cubicBezTo>
                  <a:pt x="117277" y="136364"/>
                  <a:pt x="156083" y="104589"/>
                  <a:pt x="160362" y="61503"/>
                </a:cubicBezTo>
                <a:cubicBezTo>
                  <a:pt x="191356" y="68647"/>
                  <a:pt x="214313" y="94357"/>
                  <a:pt x="214313" y="125016"/>
                </a:cubicBezTo>
                <a:cubicBezTo>
                  <a:pt x="214313" y="139750"/>
                  <a:pt x="208992" y="153367"/>
                  <a:pt x="200025" y="164306"/>
                </a:cubicBezTo>
                <a:lnTo>
                  <a:pt x="213271" y="189309"/>
                </a:lnTo>
                <a:cubicBezTo>
                  <a:pt x="215094" y="192770"/>
                  <a:pt x="214461" y="197011"/>
                  <a:pt x="211708" y="199802"/>
                </a:cubicBezTo>
                <a:cubicBezTo>
                  <a:pt x="208955" y="202592"/>
                  <a:pt x="204676" y="203225"/>
                  <a:pt x="201216" y="201364"/>
                </a:cubicBezTo>
                <a:lnTo>
                  <a:pt x="170855" y="185291"/>
                </a:lnTo>
                <a:cubicBezTo>
                  <a:pt x="162260" y="188640"/>
                  <a:pt x="152809" y="190500"/>
                  <a:pt x="142875" y="19050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1847850"/>
            <a:ext cx="1352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ChatGPT / GPT-4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2324100"/>
            <a:ext cx="34004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Conversational AI</a:t>
            </a:r>
            <a:r>
              <a:rPr lang="en-US" sz="120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understands and generates human-like text—used for writing, coding, learning, and problem-solving.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" y="3143250"/>
            <a:ext cx="3324225" cy="342900"/>
          </a:xfrm>
          <a:custGeom>
            <a:avLst/>
            <a:gdLst/>
            <a:ahLst/>
            <a:cxnLst/>
            <a:rect l="l" t="t" r="r" b="b"/>
            <a:pathLst>
              <a:path w="3324225" h="342900">
                <a:moveTo>
                  <a:pt x="76199" y="0"/>
                </a:moveTo>
                <a:lnTo>
                  <a:pt x="3248026" y="0"/>
                </a:lnTo>
                <a:cubicBezTo>
                  <a:pt x="3290109" y="0"/>
                  <a:pt x="3324225" y="34116"/>
                  <a:pt x="3324225" y="76199"/>
                </a:cubicBezTo>
                <a:lnTo>
                  <a:pt x="3324225" y="266701"/>
                </a:lnTo>
                <a:cubicBezTo>
                  <a:pt x="3324225" y="308784"/>
                  <a:pt x="3290109" y="342900"/>
                  <a:pt x="32480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12" name="Text 10"/>
          <p:cNvSpPr/>
          <p:nvPr/>
        </p:nvSpPr>
        <p:spPr>
          <a:xfrm>
            <a:off x="647700" y="3219450"/>
            <a:ext cx="323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Impact:</a:t>
            </a:r>
            <a:r>
              <a:rPr lang="en-US" sz="10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100M+ users in 2 months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41750" y="1543050"/>
            <a:ext cx="3705225" cy="2133600"/>
          </a:xfrm>
          <a:custGeom>
            <a:avLst/>
            <a:gdLst/>
            <a:ahLst/>
            <a:cxnLst/>
            <a:rect l="l" t="t" r="r" b="b"/>
            <a:pathLst>
              <a:path w="3705225" h="21336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2019303"/>
                </a:lnTo>
                <a:cubicBezTo>
                  <a:pt x="3705225" y="2082428"/>
                  <a:pt x="3654053" y="2133600"/>
                  <a:pt x="3590928" y="2133600"/>
                </a:cubicBezTo>
                <a:lnTo>
                  <a:pt x="114297" y="2133600"/>
                </a:lnTo>
                <a:cubicBezTo>
                  <a:pt x="51172" y="2133600"/>
                  <a:pt x="0" y="2082428"/>
                  <a:pt x="0" y="201930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41750" y="15430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15" name="Shape 13"/>
          <p:cNvSpPr/>
          <p:nvPr/>
        </p:nvSpPr>
        <p:spPr>
          <a:xfrm>
            <a:off x="4432250" y="1752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FB7AC">
              <a:alpha val="1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577507" y="18859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47625" y="41672"/>
                </a:moveTo>
                <a:cubicBezTo>
                  <a:pt x="57482" y="41672"/>
                  <a:pt x="65484" y="49674"/>
                  <a:pt x="65484" y="59531"/>
                </a:cubicBezTo>
                <a:cubicBezTo>
                  <a:pt x="65484" y="69388"/>
                  <a:pt x="57482" y="77391"/>
                  <a:pt x="47625" y="77391"/>
                </a:cubicBezTo>
                <a:cubicBezTo>
                  <a:pt x="37768" y="77391"/>
                  <a:pt x="29766" y="69388"/>
                  <a:pt x="29766" y="59531"/>
                </a:cubicBezTo>
                <a:cubicBezTo>
                  <a:pt x="29766" y="49674"/>
                  <a:pt x="37768" y="41672"/>
                  <a:pt x="47625" y="41672"/>
                </a:cubicBezTo>
                <a:close/>
                <a:moveTo>
                  <a:pt x="101203" y="83344"/>
                </a:moveTo>
                <a:cubicBezTo>
                  <a:pt x="104329" y="83344"/>
                  <a:pt x="107193" y="84981"/>
                  <a:pt x="108831" y="87623"/>
                </a:cubicBezTo>
                <a:lnTo>
                  <a:pt x="141573" y="141201"/>
                </a:lnTo>
                <a:cubicBezTo>
                  <a:pt x="143247" y="143954"/>
                  <a:pt x="143321" y="147414"/>
                  <a:pt x="141759" y="150242"/>
                </a:cubicBezTo>
                <a:cubicBezTo>
                  <a:pt x="140196" y="153070"/>
                  <a:pt x="137182" y="154781"/>
                  <a:pt x="133945" y="154781"/>
                </a:cubicBezTo>
                <a:lnTo>
                  <a:pt x="32742" y="154781"/>
                </a:lnTo>
                <a:cubicBezTo>
                  <a:pt x="29431" y="154781"/>
                  <a:pt x="26343" y="152921"/>
                  <a:pt x="24817" y="149982"/>
                </a:cubicBezTo>
                <a:cubicBezTo>
                  <a:pt x="23292" y="147042"/>
                  <a:pt x="23515" y="143470"/>
                  <a:pt x="25412" y="140754"/>
                </a:cubicBezTo>
                <a:lnTo>
                  <a:pt x="46248" y="110989"/>
                </a:lnTo>
                <a:cubicBezTo>
                  <a:pt x="47923" y="108607"/>
                  <a:pt x="50639" y="107193"/>
                  <a:pt x="53578" y="107193"/>
                </a:cubicBezTo>
                <a:cubicBezTo>
                  <a:pt x="56517" y="107193"/>
                  <a:pt x="59234" y="108607"/>
                  <a:pt x="60908" y="110989"/>
                </a:cubicBezTo>
                <a:lnTo>
                  <a:pt x="70731" y="125053"/>
                </a:lnTo>
                <a:lnTo>
                  <a:pt x="93576" y="87660"/>
                </a:lnTo>
                <a:cubicBezTo>
                  <a:pt x="95213" y="85018"/>
                  <a:pt x="98078" y="83381"/>
                  <a:pt x="101203" y="83381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17" name="Text 15"/>
          <p:cNvSpPr/>
          <p:nvPr/>
        </p:nvSpPr>
        <p:spPr>
          <a:xfrm>
            <a:off x="5003750" y="1847850"/>
            <a:ext cx="1657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DALL-E / Midjourney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32250" y="2324100"/>
            <a:ext cx="34004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generation AI</a:t>
            </a:r>
            <a:r>
              <a:rPr lang="en-US" sz="120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creates stunning artwork from text descriptions—revolutionizing creative industries.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32250" y="3143250"/>
            <a:ext cx="3324225" cy="342900"/>
          </a:xfrm>
          <a:custGeom>
            <a:avLst/>
            <a:gdLst/>
            <a:ahLst/>
            <a:cxnLst/>
            <a:rect l="l" t="t" r="r" b="b"/>
            <a:pathLst>
              <a:path w="3324225" h="342900">
                <a:moveTo>
                  <a:pt x="76199" y="0"/>
                </a:moveTo>
                <a:lnTo>
                  <a:pt x="3248026" y="0"/>
                </a:lnTo>
                <a:cubicBezTo>
                  <a:pt x="3290109" y="0"/>
                  <a:pt x="3324225" y="34116"/>
                  <a:pt x="3324225" y="76199"/>
                </a:cubicBezTo>
                <a:lnTo>
                  <a:pt x="3324225" y="266701"/>
                </a:lnTo>
                <a:cubicBezTo>
                  <a:pt x="3324225" y="308784"/>
                  <a:pt x="3290109" y="342900"/>
                  <a:pt x="32480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20" name="Text 18"/>
          <p:cNvSpPr/>
          <p:nvPr/>
        </p:nvSpPr>
        <p:spPr>
          <a:xfrm>
            <a:off x="4508450" y="3219450"/>
            <a:ext cx="323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Impact:</a:t>
            </a:r>
            <a:r>
              <a:rPr lang="en-US" sz="10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Transformed digital art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02501" y="1543050"/>
            <a:ext cx="3705225" cy="2133600"/>
          </a:xfrm>
          <a:custGeom>
            <a:avLst/>
            <a:gdLst/>
            <a:ahLst/>
            <a:cxnLst/>
            <a:rect l="l" t="t" r="r" b="b"/>
            <a:pathLst>
              <a:path w="3705225" h="21336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2019303"/>
                </a:lnTo>
                <a:cubicBezTo>
                  <a:pt x="3705225" y="2082428"/>
                  <a:pt x="3654053" y="2133600"/>
                  <a:pt x="3590928" y="2133600"/>
                </a:cubicBezTo>
                <a:lnTo>
                  <a:pt x="114297" y="2133600"/>
                </a:lnTo>
                <a:cubicBezTo>
                  <a:pt x="51172" y="2133600"/>
                  <a:pt x="0" y="2082428"/>
                  <a:pt x="0" y="201930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02501" y="15430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23" name="Shape 21"/>
          <p:cNvSpPr/>
          <p:nvPr/>
        </p:nvSpPr>
        <p:spPr>
          <a:xfrm>
            <a:off x="8293001" y="1752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402538" y="18859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66688" y="23812"/>
                </a:moveTo>
                <a:cubicBezTo>
                  <a:pt x="206127" y="23812"/>
                  <a:pt x="238125" y="55811"/>
                  <a:pt x="238125" y="95250"/>
                </a:cubicBezTo>
                <a:cubicBezTo>
                  <a:pt x="238125" y="134689"/>
                  <a:pt x="206127" y="166688"/>
                  <a:pt x="166688" y="166688"/>
                </a:cubicBezTo>
                <a:lnTo>
                  <a:pt x="71438" y="166688"/>
                </a:lnTo>
                <a:cubicBezTo>
                  <a:pt x="31998" y="166688"/>
                  <a:pt x="0" y="134689"/>
                  <a:pt x="0" y="95250"/>
                </a:cubicBezTo>
                <a:cubicBezTo>
                  <a:pt x="0" y="55811"/>
                  <a:pt x="31998" y="23812"/>
                  <a:pt x="71438" y="23812"/>
                </a:cubicBezTo>
                <a:lnTo>
                  <a:pt x="166688" y="23812"/>
                </a:lnTo>
                <a:close/>
                <a:moveTo>
                  <a:pt x="71438" y="65484"/>
                </a:moveTo>
                <a:cubicBezTo>
                  <a:pt x="66489" y="65484"/>
                  <a:pt x="62508" y="69466"/>
                  <a:pt x="62508" y="74414"/>
                </a:cubicBezTo>
                <a:lnTo>
                  <a:pt x="62508" y="86320"/>
                </a:lnTo>
                <a:lnTo>
                  <a:pt x="50602" y="86320"/>
                </a:lnTo>
                <a:cubicBezTo>
                  <a:pt x="45653" y="86320"/>
                  <a:pt x="41672" y="90301"/>
                  <a:pt x="41672" y="95250"/>
                </a:cubicBezTo>
                <a:cubicBezTo>
                  <a:pt x="41672" y="100199"/>
                  <a:pt x="45653" y="104180"/>
                  <a:pt x="50602" y="104180"/>
                </a:cubicBezTo>
                <a:lnTo>
                  <a:pt x="62508" y="104180"/>
                </a:lnTo>
                <a:lnTo>
                  <a:pt x="62508" y="116086"/>
                </a:lnTo>
                <a:cubicBezTo>
                  <a:pt x="62508" y="121034"/>
                  <a:pt x="66489" y="125016"/>
                  <a:pt x="71438" y="125016"/>
                </a:cubicBezTo>
                <a:cubicBezTo>
                  <a:pt x="76386" y="125016"/>
                  <a:pt x="80367" y="121034"/>
                  <a:pt x="80367" y="116086"/>
                </a:cubicBezTo>
                <a:lnTo>
                  <a:pt x="80367" y="104180"/>
                </a:lnTo>
                <a:lnTo>
                  <a:pt x="92273" y="104180"/>
                </a:lnTo>
                <a:cubicBezTo>
                  <a:pt x="97222" y="104180"/>
                  <a:pt x="101203" y="100199"/>
                  <a:pt x="101203" y="95250"/>
                </a:cubicBezTo>
                <a:cubicBezTo>
                  <a:pt x="101203" y="90301"/>
                  <a:pt x="97222" y="86320"/>
                  <a:pt x="92273" y="86320"/>
                </a:cubicBezTo>
                <a:lnTo>
                  <a:pt x="80367" y="86320"/>
                </a:lnTo>
                <a:lnTo>
                  <a:pt x="80367" y="74414"/>
                </a:lnTo>
                <a:cubicBezTo>
                  <a:pt x="80367" y="69466"/>
                  <a:pt x="76386" y="65484"/>
                  <a:pt x="71438" y="65484"/>
                </a:cubicBezTo>
                <a:close/>
                <a:moveTo>
                  <a:pt x="160734" y="101203"/>
                </a:moveTo>
                <a:cubicBezTo>
                  <a:pt x="154163" y="101203"/>
                  <a:pt x="148828" y="106538"/>
                  <a:pt x="148828" y="113109"/>
                </a:cubicBezTo>
                <a:cubicBezTo>
                  <a:pt x="148828" y="119681"/>
                  <a:pt x="154163" y="125016"/>
                  <a:pt x="160734" y="125016"/>
                </a:cubicBezTo>
                <a:cubicBezTo>
                  <a:pt x="167306" y="125016"/>
                  <a:pt x="172641" y="119681"/>
                  <a:pt x="172641" y="113109"/>
                </a:cubicBezTo>
                <a:cubicBezTo>
                  <a:pt x="172641" y="106538"/>
                  <a:pt x="167306" y="101203"/>
                  <a:pt x="160734" y="101203"/>
                </a:cubicBezTo>
                <a:close/>
                <a:moveTo>
                  <a:pt x="184547" y="65484"/>
                </a:moveTo>
                <a:cubicBezTo>
                  <a:pt x="177976" y="65484"/>
                  <a:pt x="172641" y="70819"/>
                  <a:pt x="172641" y="77391"/>
                </a:cubicBezTo>
                <a:cubicBezTo>
                  <a:pt x="172641" y="83962"/>
                  <a:pt x="177976" y="89297"/>
                  <a:pt x="184547" y="89297"/>
                </a:cubicBezTo>
                <a:cubicBezTo>
                  <a:pt x="191118" y="89297"/>
                  <a:pt x="196453" y="83962"/>
                  <a:pt x="196453" y="77391"/>
                </a:cubicBezTo>
                <a:cubicBezTo>
                  <a:pt x="196453" y="70819"/>
                  <a:pt x="191118" y="65484"/>
                  <a:pt x="184547" y="65484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25" name="Text 23"/>
          <p:cNvSpPr/>
          <p:nvPr/>
        </p:nvSpPr>
        <p:spPr>
          <a:xfrm>
            <a:off x="8864501" y="1847850"/>
            <a:ext cx="1647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AlphaGo / AlphaZero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93001" y="2324100"/>
            <a:ext cx="34004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Game-playing AI</a:t>
            </a:r>
            <a:r>
              <a:rPr lang="en-US" sz="120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defeated world champions at Go and chess—demonstrating strategic thinking beyond human capability.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93001" y="3143250"/>
            <a:ext cx="3324225" cy="342900"/>
          </a:xfrm>
          <a:custGeom>
            <a:avLst/>
            <a:gdLst/>
            <a:ahLst/>
            <a:cxnLst/>
            <a:rect l="l" t="t" r="r" b="b"/>
            <a:pathLst>
              <a:path w="3324225" h="342900">
                <a:moveTo>
                  <a:pt x="76199" y="0"/>
                </a:moveTo>
                <a:lnTo>
                  <a:pt x="3248026" y="0"/>
                </a:lnTo>
                <a:cubicBezTo>
                  <a:pt x="3290109" y="0"/>
                  <a:pt x="3324225" y="34116"/>
                  <a:pt x="3324225" y="76199"/>
                </a:cubicBezTo>
                <a:lnTo>
                  <a:pt x="3324225" y="266701"/>
                </a:lnTo>
                <a:cubicBezTo>
                  <a:pt x="3324225" y="308784"/>
                  <a:pt x="3290109" y="342900"/>
                  <a:pt x="32480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28" name="Text 26"/>
          <p:cNvSpPr/>
          <p:nvPr/>
        </p:nvSpPr>
        <p:spPr>
          <a:xfrm>
            <a:off x="8369201" y="3219450"/>
            <a:ext cx="323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Impact:</a:t>
            </a:r>
            <a:r>
              <a:rPr lang="en-US" sz="10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Breakthrough in strategy AI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1000" y="3848100"/>
            <a:ext cx="3705225" cy="2133600"/>
          </a:xfrm>
          <a:custGeom>
            <a:avLst/>
            <a:gdLst/>
            <a:ahLst/>
            <a:cxnLst/>
            <a:rect l="l" t="t" r="r" b="b"/>
            <a:pathLst>
              <a:path w="3705225" h="21336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2019303"/>
                </a:lnTo>
                <a:cubicBezTo>
                  <a:pt x="3705225" y="2082428"/>
                  <a:pt x="3654053" y="2133600"/>
                  <a:pt x="3590928" y="2133600"/>
                </a:cubicBezTo>
                <a:lnTo>
                  <a:pt x="114297" y="2133600"/>
                </a:lnTo>
                <a:cubicBezTo>
                  <a:pt x="51172" y="2133600"/>
                  <a:pt x="0" y="2082428"/>
                  <a:pt x="0" y="201930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81000" y="384810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31" name="Shape 29"/>
          <p:cNvSpPr/>
          <p:nvPr/>
        </p:nvSpPr>
        <p:spPr>
          <a:xfrm>
            <a:off x="571500" y="40576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FB7AC">
              <a:alpha val="1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04850" y="4191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33" name="Text 31"/>
          <p:cNvSpPr/>
          <p:nvPr/>
        </p:nvSpPr>
        <p:spPr>
          <a:xfrm>
            <a:off x="1143000" y="4152900"/>
            <a:ext cx="1000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IBM Watson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71500" y="4629150"/>
            <a:ext cx="34004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Question-answering AI</a:t>
            </a:r>
            <a:r>
              <a:rPr lang="en-US" sz="120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won Jeopardy! and now assists in healthcare, finance, and customer service.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71500" y="5448300"/>
            <a:ext cx="3324225" cy="342900"/>
          </a:xfrm>
          <a:custGeom>
            <a:avLst/>
            <a:gdLst/>
            <a:ahLst/>
            <a:cxnLst/>
            <a:rect l="l" t="t" r="r" b="b"/>
            <a:pathLst>
              <a:path w="3324225" h="342900">
                <a:moveTo>
                  <a:pt x="76199" y="0"/>
                </a:moveTo>
                <a:lnTo>
                  <a:pt x="3248026" y="0"/>
                </a:lnTo>
                <a:cubicBezTo>
                  <a:pt x="3290109" y="0"/>
                  <a:pt x="3324225" y="34116"/>
                  <a:pt x="3324225" y="76199"/>
                </a:cubicBezTo>
                <a:lnTo>
                  <a:pt x="3324225" y="266701"/>
                </a:lnTo>
                <a:cubicBezTo>
                  <a:pt x="3324225" y="308784"/>
                  <a:pt x="3290109" y="342900"/>
                  <a:pt x="32480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36" name="Text 34"/>
          <p:cNvSpPr/>
          <p:nvPr/>
        </p:nvSpPr>
        <p:spPr>
          <a:xfrm>
            <a:off x="647700" y="5524500"/>
            <a:ext cx="323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Impact:</a:t>
            </a:r>
            <a:r>
              <a:rPr lang="en-US" sz="10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Pioneered practical AI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241750" y="3848100"/>
            <a:ext cx="3705225" cy="2133600"/>
          </a:xfrm>
          <a:custGeom>
            <a:avLst/>
            <a:gdLst/>
            <a:ahLst/>
            <a:cxnLst/>
            <a:rect l="l" t="t" r="r" b="b"/>
            <a:pathLst>
              <a:path w="3705225" h="21336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2019303"/>
                </a:lnTo>
                <a:cubicBezTo>
                  <a:pt x="3705225" y="2082428"/>
                  <a:pt x="3654053" y="2133600"/>
                  <a:pt x="3590928" y="2133600"/>
                </a:cubicBezTo>
                <a:lnTo>
                  <a:pt x="114297" y="2133600"/>
                </a:lnTo>
                <a:cubicBezTo>
                  <a:pt x="51172" y="2133600"/>
                  <a:pt x="0" y="2082428"/>
                  <a:pt x="0" y="201930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241750" y="384810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39" name="Shape 37"/>
          <p:cNvSpPr/>
          <p:nvPr/>
        </p:nvSpPr>
        <p:spPr>
          <a:xfrm>
            <a:off x="4432250" y="40576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565600" y="4191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0304" y="43681"/>
                </a:moveTo>
                <a:lnTo>
                  <a:pt x="40593" y="71438"/>
                </a:lnTo>
                <a:lnTo>
                  <a:pt x="149907" y="71438"/>
                </a:lnTo>
                <a:lnTo>
                  <a:pt x="140196" y="43681"/>
                </a:lnTo>
                <a:cubicBezTo>
                  <a:pt x="138522" y="38919"/>
                  <a:pt x="134020" y="35719"/>
                  <a:pt x="128960" y="35719"/>
                </a:cubicBezTo>
                <a:lnTo>
                  <a:pt x="61540" y="35719"/>
                </a:lnTo>
                <a:cubicBezTo>
                  <a:pt x="56480" y="35719"/>
                  <a:pt x="51978" y="38919"/>
                  <a:pt x="50304" y="43681"/>
                </a:cubicBezTo>
                <a:close/>
                <a:moveTo>
                  <a:pt x="14734" y="73223"/>
                </a:moveTo>
                <a:lnTo>
                  <a:pt x="27831" y="35830"/>
                </a:lnTo>
                <a:cubicBezTo>
                  <a:pt x="32854" y="21506"/>
                  <a:pt x="46360" y="11906"/>
                  <a:pt x="61540" y="11906"/>
                </a:cubicBezTo>
                <a:lnTo>
                  <a:pt x="128960" y="11906"/>
                </a:lnTo>
                <a:cubicBezTo>
                  <a:pt x="144140" y="11906"/>
                  <a:pt x="157646" y="21506"/>
                  <a:pt x="162669" y="35830"/>
                </a:cubicBezTo>
                <a:lnTo>
                  <a:pt x="175766" y="73223"/>
                </a:lnTo>
                <a:cubicBezTo>
                  <a:pt x="184398" y="76795"/>
                  <a:pt x="190500" y="85316"/>
                  <a:pt x="190500" y="95250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66688" y="178594"/>
                </a:lnTo>
                <a:cubicBezTo>
                  <a:pt x="160102" y="178594"/>
                  <a:pt x="154781" y="173273"/>
                  <a:pt x="154781" y="166688"/>
                </a:cubicBezTo>
                <a:lnTo>
                  <a:pt x="154781" y="154781"/>
                </a:lnTo>
                <a:lnTo>
                  <a:pt x="35719" y="154781"/>
                </a:lnTo>
                <a:lnTo>
                  <a:pt x="35719" y="166688"/>
                </a:lnTo>
                <a:cubicBezTo>
                  <a:pt x="35719" y="173273"/>
                  <a:pt x="30398" y="178594"/>
                  <a:pt x="23812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95250"/>
                </a:lnTo>
                <a:cubicBezTo>
                  <a:pt x="0" y="85316"/>
                  <a:pt x="6102" y="76795"/>
                  <a:pt x="14734" y="73223"/>
                </a:cubicBezTo>
                <a:close/>
                <a:moveTo>
                  <a:pt x="47625" y="113109"/>
                </a:moveTo>
                <a:cubicBezTo>
                  <a:pt x="47625" y="106538"/>
                  <a:pt x="42290" y="101203"/>
                  <a:pt x="35719" y="101203"/>
                </a:cubicBezTo>
                <a:cubicBezTo>
                  <a:pt x="29148" y="101203"/>
                  <a:pt x="23812" y="106538"/>
                  <a:pt x="23812" y="113109"/>
                </a:cubicBezTo>
                <a:cubicBezTo>
                  <a:pt x="23812" y="119681"/>
                  <a:pt x="29148" y="125016"/>
                  <a:pt x="35719" y="125016"/>
                </a:cubicBezTo>
                <a:cubicBezTo>
                  <a:pt x="42290" y="125016"/>
                  <a:pt x="47625" y="119681"/>
                  <a:pt x="47625" y="113109"/>
                </a:cubicBezTo>
                <a:close/>
                <a:moveTo>
                  <a:pt x="154781" y="125016"/>
                </a:moveTo>
                <a:cubicBezTo>
                  <a:pt x="161352" y="125016"/>
                  <a:pt x="166688" y="119681"/>
                  <a:pt x="166688" y="113109"/>
                </a:cubicBezTo>
                <a:cubicBezTo>
                  <a:pt x="166688" y="106538"/>
                  <a:pt x="161352" y="101203"/>
                  <a:pt x="154781" y="101203"/>
                </a:cubicBezTo>
                <a:cubicBezTo>
                  <a:pt x="148210" y="101203"/>
                  <a:pt x="142875" y="106538"/>
                  <a:pt x="142875" y="113109"/>
                </a:cubicBezTo>
                <a:cubicBezTo>
                  <a:pt x="142875" y="119681"/>
                  <a:pt x="148210" y="125016"/>
                  <a:pt x="154781" y="125016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41" name="Text 39"/>
          <p:cNvSpPr/>
          <p:nvPr/>
        </p:nvSpPr>
        <p:spPr>
          <a:xfrm>
            <a:off x="5003750" y="4152900"/>
            <a:ext cx="119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Tesla Autopilot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432250" y="4629150"/>
            <a:ext cx="34004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Self-driving AI</a:t>
            </a:r>
            <a:r>
              <a:rPr lang="en-US" sz="120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enables vehicles to navigate roads, detect obstacles, and make driving decisions.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432250" y="5448300"/>
            <a:ext cx="3324225" cy="342900"/>
          </a:xfrm>
          <a:custGeom>
            <a:avLst/>
            <a:gdLst/>
            <a:ahLst/>
            <a:cxnLst/>
            <a:rect l="l" t="t" r="r" b="b"/>
            <a:pathLst>
              <a:path w="3324225" h="342900">
                <a:moveTo>
                  <a:pt x="76199" y="0"/>
                </a:moveTo>
                <a:lnTo>
                  <a:pt x="3248026" y="0"/>
                </a:lnTo>
                <a:cubicBezTo>
                  <a:pt x="3290109" y="0"/>
                  <a:pt x="3324225" y="34116"/>
                  <a:pt x="3324225" y="76199"/>
                </a:cubicBezTo>
                <a:lnTo>
                  <a:pt x="3324225" y="266701"/>
                </a:lnTo>
                <a:cubicBezTo>
                  <a:pt x="3324225" y="308784"/>
                  <a:pt x="3290109" y="342900"/>
                  <a:pt x="32480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44" name="Text 42"/>
          <p:cNvSpPr/>
          <p:nvPr/>
        </p:nvSpPr>
        <p:spPr>
          <a:xfrm>
            <a:off x="4508450" y="5524500"/>
            <a:ext cx="323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Impact:</a:t>
            </a:r>
            <a:r>
              <a:rPr lang="en-US" sz="10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Leading autonomous driving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102501" y="3848100"/>
            <a:ext cx="3705225" cy="2133600"/>
          </a:xfrm>
          <a:custGeom>
            <a:avLst/>
            <a:gdLst/>
            <a:ahLst/>
            <a:cxnLst/>
            <a:rect l="l" t="t" r="r" b="b"/>
            <a:pathLst>
              <a:path w="3705225" h="21336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2019303"/>
                </a:lnTo>
                <a:cubicBezTo>
                  <a:pt x="3705225" y="2082428"/>
                  <a:pt x="3654053" y="2133600"/>
                  <a:pt x="3590928" y="2133600"/>
                </a:cubicBezTo>
                <a:lnTo>
                  <a:pt x="114297" y="2133600"/>
                </a:lnTo>
                <a:cubicBezTo>
                  <a:pt x="51172" y="2133600"/>
                  <a:pt x="0" y="2082428"/>
                  <a:pt x="0" y="201930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102501" y="384810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47" name="Shape 45"/>
          <p:cNvSpPr/>
          <p:nvPr/>
        </p:nvSpPr>
        <p:spPr>
          <a:xfrm>
            <a:off x="8293001" y="40576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FB7AC">
              <a:alpha val="1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450163" y="41910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71438" y="0"/>
                </a:moveTo>
                <a:cubicBezTo>
                  <a:pt x="51718" y="0"/>
                  <a:pt x="35719" y="15999"/>
                  <a:pt x="35719" y="35719"/>
                </a:cubicBezTo>
                <a:lnTo>
                  <a:pt x="35719" y="83344"/>
                </a:lnTo>
                <a:cubicBezTo>
                  <a:pt x="35719" y="103063"/>
                  <a:pt x="51718" y="119063"/>
                  <a:pt x="71438" y="119063"/>
                </a:cubicBezTo>
                <a:cubicBezTo>
                  <a:pt x="91157" y="119063"/>
                  <a:pt x="107156" y="103063"/>
                  <a:pt x="107156" y="83344"/>
                </a:cubicBezTo>
                <a:lnTo>
                  <a:pt x="107156" y="35719"/>
                </a:lnTo>
                <a:cubicBezTo>
                  <a:pt x="107156" y="15999"/>
                  <a:pt x="91157" y="0"/>
                  <a:pt x="71438" y="0"/>
                </a:cubicBezTo>
                <a:close/>
                <a:moveTo>
                  <a:pt x="17859" y="68461"/>
                </a:moveTo>
                <a:cubicBezTo>
                  <a:pt x="17859" y="63512"/>
                  <a:pt x="13878" y="59531"/>
                  <a:pt x="8930" y="59531"/>
                </a:cubicBezTo>
                <a:cubicBezTo>
                  <a:pt x="3981" y="59531"/>
                  <a:pt x="0" y="63512"/>
                  <a:pt x="0" y="68461"/>
                </a:cubicBezTo>
                <a:lnTo>
                  <a:pt x="0" y="83344"/>
                </a:lnTo>
                <a:cubicBezTo>
                  <a:pt x="0" y="119769"/>
                  <a:pt x="27273" y="149833"/>
                  <a:pt x="62508" y="154223"/>
                </a:cubicBezTo>
                <a:lnTo>
                  <a:pt x="6250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98227" y="190500"/>
                </a:lnTo>
                <a:cubicBezTo>
                  <a:pt x="103175" y="190500"/>
                  <a:pt x="107156" y="186519"/>
                  <a:pt x="107156" y="181570"/>
                </a:cubicBezTo>
                <a:cubicBezTo>
                  <a:pt x="107156" y="176622"/>
                  <a:pt x="103175" y="172641"/>
                  <a:pt x="98227" y="172641"/>
                </a:cubicBezTo>
                <a:lnTo>
                  <a:pt x="80367" y="172641"/>
                </a:lnTo>
                <a:lnTo>
                  <a:pt x="80367" y="154223"/>
                </a:lnTo>
                <a:cubicBezTo>
                  <a:pt x="115602" y="149833"/>
                  <a:pt x="142875" y="119769"/>
                  <a:pt x="142875" y="83344"/>
                </a:cubicBezTo>
                <a:lnTo>
                  <a:pt x="142875" y="68461"/>
                </a:lnTo>
                <a:cubicBezTo>
                  <a:pt x="142875" y="63512"/>
                  <a:pt x="138894" y="59531"/>
                  <a:pt x="133945" y="59531"/>
                </a:cubicBezTo>
                <a:cubicBezTo>
                  <a:pt x="128997" y="59531"/>
                  <a:pt x="125016" y="63512"/>
                  <a:pt x="125016" y="68461"/>
                </a:cubicBezTo>
                <a:lnTo>
                  <a:pt x="125016" y="83344"/>
                </a:lnTo>
                <a:cubicBezTo>
                  <a:pt x="125016" y="112923"/>
                  <a:pt x="101017" y="136922"/>
                  <a:pt x="71438" y="136922"/>
                </a:cubicBezTo>
                <a:cubicBezTo>
                  <a:pt x="41858" y="136922"/>
                  <a:pt x="17859" y="112923"/>
                  <a:pt x="17859" y="83344"/>
                </a:cubicBezTo>
                <a:lnTo>
                  <a:pt x="17859" y="68461"/>
                </a:ln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49" name="Text 47"/>
          <p:cNvSpPr/>
          <p:nvPr/>
        </p:nvSpPr>
        <p:spPr>
          <a:xfrm>
            <a:off x="8864501" y="4152900"/>
            <a:ext cx="885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Siri / Alexa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293001" y="4629150"/>
            <a:ext cx="34004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Voice assistants</a:t>
            </a:r>
            <a:r>
              <a:rPr lang="en-US" sz="120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understand spoken commands, answer questions, and control smart home devices.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293001" y="5448300"/>
            <a:ext cx="3324225" cy="342900"/>
          </a:xfrm>
          <a:custGeom>
            <a:avLst/>
            <a:gdLst/>
            <a:ahLst/>
            <a:cxnLst/>
            <a:rect l="l" t="t" r="r" b="b"/>
            <a:pathLst>
              <a:path w="3324225" h="342900">
                <a:moveTo>
                  <a:pt x="76199" y="0"/>
                </a:moveTo>
                <a:lnTo>
                  <a:pt x="3248026" y="0"/>
                </a:lnTo>
                <a:cubicBezTo>
                  <a:pt x="3290109" y="0"/>
                  <a:pt x="3324225" y="34116"/>
                  <a:pt x="3324225" y="76199"/>
                </a:cubicBezTo>
                <a:lnTo>
                  <a:pt x="3324225" y="266701"/>
                </a:lnTo>
                <a:cubicBezTo>
                  <a:pt x="3324225" y="308784"/>
                  <a:pt x="3290109" y="342900"/>
                  <a:pt x="32480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52" name="Text 50"/>
          <p:cNvSpPr/>
          <p:nvPr/>
        </p:nvSpPr>
        <p:spPr>
          <a:xfrm>
            <a:off x="8369201" y="5524500"/>
            <a:ext cx="323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Impact:</a:t>
            </a:r>
            <a:r>
              <a:rPr lang="en-US" sz="10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Billions of daily interactions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81000" y="6134100"/>
            <a:ext cx="11430000" cy="571500"/>
          </a:xfrm>
          <a:custGeom>
            <a:avLst/>
            <a:gdLst/>
            <a:ahLst/>
            <a:cxnLst/>
            <a:rect l="l" t="t" r="r" b="b"/>
            <a:pathLst>
              <a:path w="11430000" h="571500">
                <a:moveTo>
                  <a:pt x="114300" y="0"/>
                </a:moveTo>
                <a:lnTo>
                  <a:pt x="11315700" y="0"/>
                </a:lnTo>
                <a:cubicBezTo>
                  <a:pt x="11378784" y="0"/>
                  <a:pt x="11430000" y="51216"/>
                  <a:pt x="11430000" y="114300"/>
                </a:cubicBezTo>
                <a:lnTo>
                  <a:pt x="11430000" y="457200"/>
                </a:lnTo>
                <a:cubicBezTo>
                  <a:pt x="11430000" y="520284"/>
                  <a:pt x="11378784" y="571500"/>
                  <a:pt x="11315700" y="571500"/>
                </a:cubicBezTo>
                <a:lnTo>
                  <a:pt x="114300" y="571500"/>
                </a:lnTo>
                <a:cubicBezTo>
                  <a:pt x="51216" y="571500"/>
                  <a:pt x="0" y="520284"/>
                  <a:pt x="0" y="4572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A7A">
                  <a:alpha val="10000"/>
                </a:srgbClr>
              </a:gs>
              <a:gs pos="100000">
                <a:srgbClr val="8FB7AC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54" name="Shape 52"/>
          <p:cNvSpPr/>
          <p:nvPr/>
        </p:nvSpPr>
        <p:spPr>
          <a:xfrm>
            <a:off x="3196382" y="63055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55" name="Text 53"/>
          <p:cNvSpPr/>
          <p:nvPr/>
        </p:nvSpPr>
        <p:spPr>
          <a:xfrm>
            <a:off x="3567857" y="6286500"/>
            <a:ext cx="5543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These AI systems are already transforming how we live, work, and create!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F3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b4b98185219d4a979314021bab9b722c6a375462.jpg"/>
          <p:cNvPicPr>
            <a:picLocks noChangeAspect="1"/>
          </p:cNvPicPr>
          <p:nvPr/>
        </p:nvPicPr>
        <p:blipFill>
          <a:blip r:embed="rId3">
            <a:alphaModFix amt="25000"/>
          </a:blip>
          <a:srcRect l="111" r="11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F3E3B">
                  <a:alpha val="98000"/>
                </a:srgbClr>
              </a:gs>
              <a:gs pos="50000">
                <a:srgbClr val="2F3E3B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171575"/>
            <a:ext cx="1971675" cy="533400"/>
          </a:xfrm>
          <a:custGeom>
            <a:avLst/>
            <a:gdLst/>
            <a:ahLst/>
            <a:cxnLst/>
            <a:rect l="l" t="t" r="r" b="b"/>
            <a:pathLst>
              <a:path w="1971675" h="533400">
                <a:moveTo>
                  <a:pt x="266700" y="0"/>
                </a:moveTo>
                <a:lnTo>
                  <a:pt x="1704975" y="0"/>
                </a:lnTo>
                <a:cubicBezTo>
                  <a:pt x="1852171" y="0"/>
                  <a:pt x="1971675" y="119504"/>
                  <a:pt x="1971675" y="266700"/>
                </a:cubicBezTo>
                <a:lnTo>
                  <a:pt x="1971675" y="266700"/>
                </a:lnTo>
                <a:cubicBezTo>
                  <a:pt x="1971675" y="413896"/>
                  <a:pt x="1852171" y="533400"/>
                  <a:pt x="1704975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1285875"/>
            <a:ext cx="1628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kern="0" spc="18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009775"/>
            <a:ext cx="76581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Benefits &amp;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952875"/>
            <a:ext cx="7458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Përfitimet &amp; Sfida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60057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4943475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Double-Edged Sword of AI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Shpata me Dy Presa e IA-së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4C8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/ BENEFITS &amp; CHALLENGES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Benefits of AI for Society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Përfitimet e IA-së për Shoqërinë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543050"/>
            <a:ext cx="3705225" cy="1905000"/>
          </a:xfrm>
          <a:custGeom>
            <a:avLst/>
            <a:gdLst/>
            <a:ahLst/>
            <a:cxnLst/>
            <a:rect l="l" t="t" r="r" b="b"/>
            <a:pathLst>
              <a:path w="3705225" h="19050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790700"/>
                </a:lnTo>
                <a:cubicBezTo>
                  <a:pt x="3705225" y="1853784"/>
                  <a:pt x="3654009" y="1905000"/>
                  <a:pt x="3590925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1000" y="15430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1752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04850" y="1885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107156" y="35719"/>
                </a:moveTo>
                <a:cubicBezTo>
                  <a:pt x="107156" y="29148"/>
                  <a:pt x="101821" y="23812"/>
                  <a:pt x="95250" y="23812"/>
                </a:cubicBezTo>
                <a:cubicBezTo>
                  <a:pt x="88679" y="23812"/>
                  <a:pt x="83344" y="29148"/>
                  <a:pt x="83344" y="35719"/>
                </a:cubicBezTo>
                <a:cubicBezTo>
                  <a:pt x="83344" y="42290"/>
                  <a:pt x="88679" y="47625"/>
                  <a:pt x="95250" y="47625"/>
                </a:cubicBezTo>
                <a:cubicBezTo>
                  <a:pt x="101821" y="47625"/>
                  <a:pt x="107156" y="42290"/>
                  <a:pt x="107156" y="35719"/>
                </a:cubicBezTo>
                <a:close/>
                <a:moveTo>
                  <a:pt x="95250" y="154781"/>
                </a:moveTo>
                <a:cubicBezTo>
                  <a:pt x="108384" y="154781"/>
                  <a:pt x="119063" y="144103"/>
                  <a:pt x="119063" y="130969"/>
                </a:cubicBezTo>
                <a:cubicBezTo>
                  <a:pt x="119063" y="124941"/>
                  <a:pt x="116830" y="119397"/>
                  <a:pt x="113109" y="115230"/>
                </a:cubicBezTo>
                <a:lnTo>
                  <a:pt x="138968" y="63550"/>
                </a:lnTo>
                <a:cubicBezTo>
                  <a:pt x="141163" y="59122"/>
                  <a:pt x="139378" y="53764"/>
                  <a:pt x="134987" y="51569"/>
                </a:cubicBezTo>
                <a:cubicBezTo>
                  <a:pt x="130597" y="49374"/>
                  <a:pt x="125202" y="51160"/>
                  <a:pt x="123006" y="55550"/>
                </a:cubicBezTo>
                <a:lnTo>
                  <a:pt x="97148" y="107231"/>
                </a:lnTo>
                <a:cubicBezTo>
                  <a:pt x="96515" y="107193"/>
                  <a:pt x="95883" y="107156"/>
                  <a:pt x="95250" y="107156"/>
                </a:cubicBezTo>
                <a:cubicBezTo>
                  <a:pt x="82116" y="107156"/>
                  <a:pt x="71438" y="117835"/>
                  <a:pt x="71438" y="130969"/>
                </a:cubicBezTo>
                <a:cubicBezTo>
                  <a:pt x="71438" y="144103"/>
                  <a:pt x="82116" y="154781"/>
                  <a:pt x="95250" y="154781"/>
                </a:cubicBezTo>
                <a:close/>
                <a:moveTo>
                  <a:pt x="65484" y="53578"/>
                </a:moveTo>
                <a:cubicBezTo>
                  <a:pt x="65484" y="47007"/>
                  <a:pt x="60149" y="41672"/>
                  <a:pt x="53578" y="41672"/>
                </a:cubicBezTo>
                <a:cubicBezTo>
                  <a:pt x="47007" y="41672"/>
                  <a:pt x="41672" y="47007"/>
                  <a:pt x="41672" y="53578"/>
                </a:cubicBezTo>
                <a:cubicBezTo>
                  <a:pt x="41672" y="60149"/>
                  <a:pt x="47007" y="65484"/>
                  <a:pt x="53578" y="65484"/>
                </a:cubicBezTo>
                <a:cubicBezTo>
                  <a:pt x="60149" y="65484"/>
                  <a:pt x="65484" y="60149"/>
                  <a:pt x="65484" y="53578"/>
                </a:cubicBezTo>
                <a:close/>
                <a:moveTo>
                  <a:pt x="35719" y="107156"/>
                </a:moveTo>
                <a:cubicBezTo>
                  <a:pt x="42290" y="107156"/>
                  <a:pt x="47625" y="101821"/>
                  <a:pt x="47625" y="95250"/>
                </a:cubicBez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lose/>
                <a:moveTo>
                  <a:pt x="166688" y="95250"/>
                </a:moveTo>
                <a:cubicBezTo>
                  <a:pt x="166688" y="88679"/>
                  <a:pt x="161352" y="83344"/>
                  <a:pt x="154781" y="83344"/>
                </a:cubicBezTo>
                <a:cubicBezTo>
                  <a:pt x="148210" y="83344"/>
                  <a:pt x="142875" y="88679"/>
                  <a:pt x="142875" y="95250"/>
                </a:cubicBezTo>
                <a:cubicBezTo>
                  <a:pt x="142875" y="101821"/>
                  <a:pt x="148210" y="107156"/>
                  <a:pt x="154781" y="107156"/>
                </a:cubicBezTo>
                <a:cubicBezTo>
                  <a:pt x="161352" y="107156"/>
                  <a:pt x="166688" y="101821"/>
                  <a:pt x="166688" y="9525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1847850"/>
            <a:ext cx="156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Increased Efficiency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2324100"/>
            <a:ext cx="34004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automates repetitive tasks, processes data faster, and operates 24/7 without fatigue.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" y="2914650"/>
            <a:ext cx="3324225" cy="342900"/>
          </a:xfrm>
          <a:custGeom>
            <a:avLst/>
            <a:gdLst/>
            <a:ahLst/>
            <a:cxnLst/>
            <a:rect l="l" t="t" r="r" b="b"/>
            <a:pathLst>
              <a:path w="3324225" h="342900">
                <a:moveTo>
                  <a:pt x="76199" y="0"/>
                </a:moveTo>
                <a:lnTo>
                  <a:pt x="3248026" y="0"/>
                </a:lnTo>
                <a:cubicBezTo>
                  <a:pt x="3290109" y="0"/>
                  <a:pt x="3324225" y="34116"/>
                  <a:pt x="3324225" y="76199"/>
                </a:cubicBezTo>
                <a:lnTo>
                  <a:pt x="3324225" y="266701"/>
                </a:lnTo>
                <a:cubicBezTo>
                  <a:pt x="3324225" y="308784"/>
                  <a:pt x="3290109" y="342900"/>
                  <a:pt x="32480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12" name="Text 10"/>
          <p:cNvSpPr/>
          <p:nvPr/>
        </p:nvSpPr>
        <p:spPr>
          <a:xfrm>
            <a:off x="647700" y="2990850"/>
            <a:ext cx="323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Impact:</a:t>
            </a:r>
            <a:r>
              <a:rPr lang="en-US" sz="10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30-40% productivity gains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41750" y="1543050"/>
            <a:ext cx="3705225" cy="1905000"/>
          </a:xfrm>
          <a:custGeom>
            <a:avLst/>
            <a:gdLst/>
            <a:ahLst/>
            <a:cxnLst/>
            <a:rect l="l" t="t" r="r" b="b"/>
            <a:pathLst>
              <a:path w="3705225" h="19050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790700"/>
                </a:lnTo>
                <a:cubicBezTo>
                  <a:pt x="3705225" y="1853784"/>
                  <a:pt x="3654009" y="1905000"/>
                  <a:pt x="3590925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41750" y="15430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15" name="Shape 13"/>
          <p:cNvSpPr/>
          <p:nvPr/>
        </p:nvSpPr>
        <p:spPr>
          <a:xfrm>
            <a:off x="4432250" y="1752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FB7AC">
              <a:alpha val="1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565600" y="1885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17" name="Text 15"/>
          <p:cNvSpPr/>
          <p:nvPr/>
        </p:nvSpPr>
        <p:spPr>
          <a:xfrm>
            <a:off x="5003750" y="1847850"/>
            <a:ext cx="155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Improved Accuracy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32250" y="2324100"/>
            <a:ext cx="34004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reduces human error in diagnosis, data analysis, and decision-making processes.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32250" y="2914650"/>
            <a:ext cx="3324225" cy="342900"/>
          </a:xfrm>
          <a:custGeom>
            <a:avLst/>
            <a:gdLst/>
            <a:ahLst/>
            <a:cxnLst/>
            <a:rect l="l" t="t" r="r" b="b"/>
            <a:pathLst>
              <a:path w="3324225" h="342900">
                <a:moveTo>
                  <a:pt x="76199" y="0"/>
                </a:moveTo>
                <a:lnTo>
                  <a:pt x="3248026" y="0"/>
                </a:lnTo>
                <a:cubicBezTo>
                  <a:pt x="3290109" y="0"/>
                  <a:pt x="3324225" y="34116"/>
                  <a:pt x="3324225" y="76199"/>
                </a:cubicBezTo>
                <a:lnTo>
                  <a:pt x="3324225" y="266701"/>
                </a:lnTo>
                <a:cubicBezTo>
                  <a:pt x="3324225" y="308784"/>
                  <a:pt x="3290109" y="342900"/>
                  <a:pt x="32480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20" name="Text 18"/>
          <p:cNvSpPr/>
          <p:nvPr/>
        </p:nvSpPr>
        <p:spPr>
          <a:xfrm>
            <a:off x="4508450" y="2990850"/>
            <a:ext cx="323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Impact:</a:t>
            </a:r>
            <a:r>
              <a:rPr lang="en-US" sz="10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95%+ accuracy in many tasks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02501" y="1543050"/>
            <a:ext cx="3705225" cy="1905000"/>
          </a:xfrm>
          <a:custGeom>
            <a:avLst/>
            <a:gdLst/>
            <a:ahLst/>
            <a:cxnLst/>
            <a:rect l="l" t="t" r="r" b="b"/>
            <a:pathLst>
              <a:path w="3705225" h="19050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790700"/>
                </a:lnTo>
                <a:cubicBezTo>
                  <a:pt x="3705225" y="1853784"/>
                  <a:pt x="3654009" y="1905000"/>
                  <a:pt x="3590925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02501" y="15430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23" name="Shape 21"/>
          <p:cNvSpPr/>
          <p:nvPr/>
        </p:nvSpPr>
        <p:spPr>
          <a:xfrm>
            <a:off x="8293001" y="1752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426351" y="1885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25" name="Text 23"/>
          <p:cNvSpPr/>
          <p:nvPr/>
        </p:nvSpPr>
        <p:spPr>
          <a:xfrm>
            <a:off x="8864501" y="1847850"/>
            <a:ext cx="126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24/7 Availability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93001" y="2324100"/>
            <a:ext cx="34004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systems work around the clock, providing instant service without breaks or downtime.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93001" y="2914650"/>
            <a:ext cx="3324225" cy="342900"/>
          </a:xfrm>
          <a:custGeom>
            <a:avLst/>
            <a:gdLst/>
            <a:ahLst/>
            <a:cxnLst/>
            <a:rect l="l" t="t" r="r" b="b"/>
            <a:pathLst>
              <a:path w="3324225" h="342900">
                <a:moveTo>
                  <a:pt x="76199" y="0"/>
                </a:moveTo>
                <a:lnTo>
                  <a:pt x="3248026" y="0"/>
                </a:lnTo>
                <a:cubicBezTo>
                  <a:pt x="3290109" y="0"/>
                  <a:pt x="3324225" y="34116"/>
                  <a:pt x="3324225" y="76199"/>
                </a:cubicBezTo>
                <a:lnTo>
                  <a:pt x="3324225" y="266701"/>
                </a:lnTo>
                <a:cubicBezTo>
                  <a:pt x="3324225" y="308784"/>
                  <a:pt x="3290109" y="342900"/>
                  <a:pt x="32480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28" name="Text 26"/>
          <p:cNvSpPr/>
          <p:nvPr/>
        </p:nvSpPr>
        <p:spPr>
          <a:xfrm>
            <a:off x="8369201" y="2990850"/>
            <a:ext cx="323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Impact:</a:t>
            </a:r>
            <a:r>
              <a:rPr lang="en-US" sz="10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Always-on customer support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1000" y="3619500"/>
            <a:ext cx="3705225" cy="1905000"/>
          </a:xfrm>
          <a:custGeom>
            <a:avLst/>
            <a:gdLst/>
            <a:ahLst/>
            <a:cxnLst/>
            <a:rect l="l" t="t" r="r" b="b"/>
            <a:pathLst>
              <a:path w="3705225" h="19050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790700"/>
                </a:lnTo>
                <a:cubicBezTo>
                  <a:pt x="3705225" y="1853784"/>
                  <a:pt x="3654009" y="1905000"/>
                  <a:pt x="3590925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81000" y="361950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31" name="Shape 29"/>
          <p:cNvSpPr/>
          <p:nvPr/>
        </p:nvSpPr>
        <p:spPr>
          <a:xfrm>
            <a:off x="571500" y="38290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FB7AC">
              <a:alpha val="1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04850" y="3962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33" name="Text 31"/>
          <p:cNvSpPr/>
          <p:nvPr/>
        </p:nvSpPr>
        <p:spPr>
          <a:xfrm>
            <a:off x="1143000" y="3924300"/>
            <a:ext cx="2038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Handling Dangerous Tasks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71500" y="4400550"/>
            <a:ext cx="34004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performs hazardous work in mining, disaster response, and toxic environments.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71500" y="4991100"/>
            <a:ext cx="3324225" cy="342900"/>
          </a:xfrm>
          <a:custGeom>
            <a:avLst/>
            <a:gdLst/>
            <a:ahLst/>
            <a:cxnLst/>
            <a:rect l="l" t="t" r="r" b="b"/>
            <a:pathLst>
              <a:path w="3324225" h="342900">
                <a:moveTo>
                  <a:pt x="76199" y="0"/>
                </a:moveTo>
                <a:lnTo>
                  <a:pt x="3248026" y="0"/>
                </a:lnTo>
                <a:cubicBezTo>
                  <a:pt x="3290109" y="0"/>
                  <a:pt x="3324225" y="34116"/>
                  <a:pt x="3324225" y="76199"/>
                </a:cubicBezTo>
                <a:lnTo>
                  <a:pt x="3324225" y="266701"/>
                </a:lnTo>
                <a:cubicBezTo>
                  <a:pt x="3324225" y="308784"/>
                  <a:pt x="3290109" y="342900"/>
                  <a:pt x="32480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36" name="Text 34"/>
          <p:cNvSpPr/>
          <p:nvPr/>
        </p:nvSpPr>
        <p:spPr>
          <a:xfrm>
            <a:off x="647700" y="5067300"/>
            <a:ext cx="323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Impact:</a:t>
            </a:r>
            <a:r>
              <a:rPr lang="en-US" sz="10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Saves human lives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241750" y="3619500"/>
            <a:ext cx="3705225" cy="1905000"/>
          </a:xfrm>
          <a:custGeom>
            <a:avLst/>
            <a:gdLst/>
            <a:ahLst/>
            <a:cxnLst/>
            <a:rect l="l" t="t" r="r" b="b"/>
            <a:pathLst>
              <a:path w="3705225" h="19050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790700"/>
                </a:lnTo>
                <a:cubicBezTo>
                  <a:pt x="3705225" y="1853784"/>
                  <a:pt x="3654009" y="1905000"/>
                  <a:pt x="3590925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241750" y="361950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39" name="Shape 37"/>
          <p:cNvSpPr/>
          <p:nvPr/>
        </p:nvSpPr>
        <p:spPr>
          <a:xfrm>
            <a:off x="4432250" y="38290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565600" y="3962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41" name="Text 39"/>
          <p:cNvSpPr/>
          <p:nvPr/>
        </p:nvSpPr>
        <p:spPr>
          <a:xfrm>
            <a:off x="5003750" y="3924300"/>
            <a:ext cx="187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Democratizing Expertise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432250" y="4400550"/>
            <a:ext cx="34004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makes expert knowledge accessible to everyone—legal advice, medical info, education.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432250" y="4991100"/>
            <a:ext cx="3324225" cy="342900"/>
          </a:xfrm>
          <a:custGeom>
            <a:avLst/>
            <a:gdLst/>
            <a:ahLst/>
            <a:cxnLst/>
            <a:rect l="l" t="t" r="r" b="b"/>
            <a:pathLst>
              <a:path w="3324225" h="342900">
                <a:moveTo>
                  <a:pt x="76199" y="0"/>
                </a:moveTo>
                <a:lnTo>
                  <a:pt x="3248026" y="0"/>
                </a:lnTo>
                <a:cubicBezTo>
                  <a:pt x="3290109" y="0"/>
                  <a:pt x="3324225" y="34116"/>
                  <a:pt x="3324225" y="76199"/>
                </a:cubicBezTo>
                <a:lnTo>
                  <a:pt x="3324225" y="266701"/>
                </a:lnTo>
                <a:cubicBezTo>
                  <a:pt x="3324225" y="308784"/>
                  <a:pt x="3290109" y="342900"/>
                  <a:pt x="32480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44" name="Text 42"/>
          <p:cNvSpPr/>
          <p:nvPr/>
        </p:nvSpPr>
        <p:spPr>
          <a:xfrm>
            <a:off x="4508450" y="5067300"/>
            <a:ext cx="323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Impact:</a:t>
            </a:r>
            <a:r>
              <a:rPr lang="en-US" sz="10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Reduces knowledge gaps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102501" y="3619500"/>
            <a:ext cx="3705225" cy="1905000"/>
          </a:xfrm>
          <a:custGeom>
            <a:avLst/>
            <a:gdLst/>
            <a:ahLst/>
            <a:cxnLst/>
            <a:rect l="l" t="t" r="r" b="b"/>
            <a:pathLst>
              <a:path w="3705225" h="19050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790700"/>
                </a:lnTo>
                <a:cubicBezTo>
                  <a:pt x="3705225" y="1853784"/>
                  <a:pt x="3654009" y="1905000"/>
                  <a:pt x="3590925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102501" y="361950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47" name="Shape 45"/>
          <p:cNvSpPr/>
          <p:nvPr/>
        </p:nvSpPr>
        <p:spPr>
          <a:xfrm>
            <a:off x="8293001" y="38290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FB7AC">
              <a:alpha val="1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438257" y="39624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07156" y="0"/>
                </a:moveTo>
                <a:lnTo>
                  <a:pt x="47625" y="0"/>
                </a:lnTo>
                <a:cubicBezTo>
                  <a:pt x="41039" y="0"/>
                  <a:pt x="35719" y="5321"/>
                  <a:pt x="35719" y="11906"/>
                </a:cubicBezTo>
                <a:cubicBezTo>
                  <a:pt x="35719" y="18492"/>
                  <a:pt x="41039" y="23812"/>
                  <a:pt x="47625" y="23812"/>
                </a:cubicBezTo>
                <a:lnTo>
                  <a:pt x="47625" y="80181"/>
                </a:lnTo>
                <a:lnTo>
                  <a:pt x="2791" y="158614"/>
                </a:lnTo>
                <a:cubicBezTo>
                  <a:pt x="967" y="161851"/>
                  <a:pt x="0" y="165460"/>
                  <a:pt x="0" y="169180"/>
                </a:cubicBezTo>
                <a:cubicBezTo>
                  <a:pt x="0" y="180975"/>
                  <a:pt x="9525" y="190500"/>
                  <a:pt x="21320" y="190500"/>
                </a:cubicBezTo>
                <a:lnTo>
                  <a:pt x="145368" y="190500"/>
                </a:lnTo>
                <a:cubicBezTo>
                  <a:pt x="157125" y="190500"/>
                  <a:pt x="166688" y="180975"/>
                  <a:pt x="166688" y="169180"/>
                </a:cubicBezTo>
                <a:cubicBezTo>
                  <a:pt x="166688" y="165460"/>
                  <a:pt x="165720" y="161813"/>
                  <a:pt x="163897" y="158614"/>
                </a:cubicBezTo>
                <a:lnTo>
                  <a:pt x="119063" y="80181"/>
                </a:lnTo>
                <a:lnTo>
                  <a:pt x="119063" y="23812"/>
                </a:lnTo>
                <a:cubicBezTo>
                  <a:pt x="125648" y="23812"/>
                  <a:pt x="130969" y="18492"/>
                  <a:pt x="130969" y="11906"/>
                </a:cubicBezTo>
                <a:cubicBezTo>
                  <a:pt x="130969" y="5321"/>
                  <a:pt x="125648" y="0"/>
                  <a:pt x="119063" y="0"/>
                </a:cubicBezTo>
                <a:lnTo>
                  <a:pt x="107156" y="0"/>
                </a:lnTo>
                <a:close/>
                <a:moveTo>
                  <a:pt x="71438" y="80181"/>
                </a:moveTo>
                <a:lnTo>
                  <a:pt x="71438" y="23812"/>
                </a:lnTo>
                <a:lnTo>
                  <a:pt x="95250" y="23812"/>
                </a:lnTo>
                <a:lnTo>
                  <a:pt x="95250" y="80181"/>
                </a:lnTo>
                <a:cubicBezTo>
                  <a:pt x="95250" y="84311"/>
                  <a:pt x="96329" y="88404"/>
                  <a:pt x="98375" y="92013"/>
                </a:cubicBezTo>
                <a:lnTo>
                  <a:pt x="113854" y="119063"/>
                </a:lnTo>
                <a:lnTo>
                  <a:pt x="52834" y="119063"/>
                </a:lnTo>
                <a:lnTo>
                  <a:pt x="68312" y="92013"/>
                </a:lnTo>
                <a:cubicBezTo>
                  <a:pt x="70358" y="88404"/>
                  <a:pt x="71438" y="84348"/>
                  <a:pt x="71438" y="80181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49" name="Text 47"/>
          <p:cNvSpPr/>
          <p:nvPr/>
        </p:nvSpPr>
        <p:spPr>
          <a:xfrm>
            <a:off x="8864501" y="3924300"/>
            <a:ext cx="172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Accelerating Research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293001" y="4400550"/>
            <a:ext cx="34004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speeds up scientific discovery in medicine, climate science, and materials research.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293001" y="4991100"/>
            <a:ext cx="3324225" cy="342900"/>
          </a:xfrm>
          <a:custGeom>
            <a:avLst/>
            <a:gdLst/>
            <a:ahLst/>
            <a:cxnLst/>
            <a:rect l="l" t="t" r="r" b="b"/>
            <a:pathLst>
              <a:path w="3324225" h="342900">
                <a:moveTo>
                  <a:pt x="76199" y="0"/>
                </a:moveTo>
                <a:lnTo>
                  <a:pt x="3248026" y="0"/>
                </a:lnTo>
                <a:cubicBezTo>
                  <a:pt x="3290109" y="0"/>
                  <a:pt x="3324225" y="34116"/>
                  <a:pt x="3324225" y="76199"/>
                </a:cubicBezTo>
                <a:lnTo>
                  <a:pt x="3324225" y="266701"/>
                </a:lnTo>
                <a:cubicBezTo>
                  <a:pt x="3324225" y="308784"/>
                  <a:pt x="3290109" y="342900"/>
                  <a:pt x="32480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5F7F6"/>
          </a:solidFill>
          <a:ln/>
        </p:spPr>
      </p:sp>
      <p:sp>
        <p:nvSpPr>
          <p:cNvPr id="52" name="Text 50"/>
          <p:cNvSpPr/>
          <p:nvPr/>
        </p:nvSpPr>
        <p:spPr>
          <a:xfrm>
            <a:off x="8369201" y="5067300"/>
            <a:ext cx="323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Impact:</a:t>
            </a:r>
            <a:r>
              <a:rPr lang="en-US" sz="10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Years of work in months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81000" y="5676900"/>
            <a:ext cx="11430000" cy="800100"/>
          </a:xfrm>
          <a:custGeom>
            <a:avLst/>
            <a:gdLst/>
            <a:ahLst/>
            <a:cxnLst/>
            <a:rect l="l" t="t" r="r" b="b"/>
            <a:pathLst>
              <a:path w="11430000" h="800100">
                <a:moveTo>
                  <a:pt x="114302" y="0"/>
                </a:moveTo>
                <a:lnTo>
                  <a:pt x="11315698" y="0"/>
                </a:lnTo>
                <a:cubicBezTo>
                  <a:pt x="11378783" y="0"/>
                  <a:pt x="11430000" y="51217"/>
                  <a:pt x="11430000" y="114302"/>
                </a:cubicBezTo>
                <a:lnTo>
                  <a:pt x="11430000" y="685798"/>
                </a:lnTo>
                <a:cubicBezTo>
                  <a:pt x="11430000" y="748883"/>
                  <a:pt x="11378783" y="800100"/>
                  <a:pt x="11315698" y="800100"/>
                </a:cubicBezTo>
                <a:lnTo>
                  <a:pt x="114302" y="800100"/>
                </a:lnTo>
                <a:cubicBezTo>
                  <a:pt x="51217" y="800100"/>
                  <a:pt x="0" y="748883"/>
                  <a:pt x="0" y="6857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A7A"/>
              </a:gs>
              <a:gs pos="100000">
                <a:srgbClr val="2F3E3B"/>
              </a:gs>
            </a:gsLst>
            <a:lin ang="0" scaled="1"/>
          </a:gradFill>
          <a:ln/>
        </p:spPr>
      </p:sp>
      <p:sp>
        <p:nvSpPr>
          <p:cNvPr id="54" name="Shape 52"/>
          <p:cNvSpPr/>
          <p:nvPr/>
        </p:nvSpPr>
        <p:spPr>
          <a:xfrm>
            <a:off x="2592288" y="59340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3063776" y="5829300"/>
            <a:ext cx="666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Economic Impact: AI will contribute $15.7 trillion to the global economy by 2030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3063776" y="6096000"/>
            <a:ext cx="6648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Ndikimi Ekonomik: IA do të kontribuojë 15.7 trilion dollarë në ekonominë globale deri në 2030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4C8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/ BENEFITS &amp; CHALLENGES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Challenges &amp; Ethical Concerns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920750"/>
            <a:ext cx="1163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Sfidat &amp; Shqetësimet Etike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3375" y="1270000"/>
            <a:ext cx="5667375" cy="1000125"/>
          </a:xfrm>
          <a:custGeom>
            <a:avLst/>
            <a:gdLst/>
            <a:ahLst/>
            <a:cxnLst/>
            <a:rect l="l" t="t" r="r" b="b"/>
            <a:pathLst>
              <a:path w="5667375" h="1000125">
                <a:moveTo>
                  <a:pt x="31750" y="0"/>
                </a:moveTo>
                <a:lnTo>
                  <a:pt x="5572123" y="0"/>
                </a:lnTo>
                <a:cubicBezTo>
                  <a:pt x="5624729" y="0"/>
                  <a:pt x="5667375" y="42646"/>
                  <a:pt x="5667375" y="95252"/>
                </a:cubicBezTo>
                <a:lnTo>
                  <a:pt x="5667375" y="904873"/>
                </a:lnTo>
                <a:cubicBezTo>
                  <a:pt x="5667375" y="957479"/>
                  <a:pt x="5624729" y="1000125"/>
                  <a:pt x="5572123" y="1000125"/>
                </a:cubicBezTo>
                <a:lnTo>
                  <a:pt x="31750" y="1000125"/>
                </a:lnTo>
                <a:cubicBezTo>
                  <a:pt x="14227" y="1000125"/>
                  <a:pt x="0" y="985898"/>
                  <a:pt x="0" y="968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3375" y="1270000"/>
            <a:ext cx="31750" cy="1000125"/>
          </a:xfrm>
          <a:custGeom>
            <a:avLst/>
            <a:gdLst/>
            <a:ahLst/>
            <a:cxnLst/>
            <a:rect l="l" t="t" r="r" b="b"/>
            <a:pathLst>
              <a:path w="31750" h="1000125">
                <a:moveTo>
                  <a:pt x="31750" y="0"/>
                </a:moveTo>
                <a:lnTo>
                  <a:pt x="31750" y="0"/>
                </a:lnTo>
                <a:lnTo>
                  <a:pt x="31750" y="1000125"/>
                </a:lnTo>
                <a:lnTo>
                  <a:pt x="31750" y="1000125"/>
                </a:lnTo>
                <a:cubicBezTo>
                  <a:pt x="14227" y="1000125"/>
                  <a:pt x="0" y="985898"/>
                  <a:pt x="0" y="968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7" name="Shape 5"/>
          <p:cNvSpPr/>
          <p:nvPr/>
        </p:nvSpPr>
        <p:spPr>
          <a:xfrm>
            <a:off x="508000" y="1428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FB7AC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19125" y="153987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62012" y="14883"/>
                </a:moveTo>
                <a:lnTo>
                  <a:pt x="96738" y="14883"/>
                </a:lnTo>
                <a:cubicBezTo>
                  <a:pt x="98103" y="14883"/>
                  <a:pt x="99219" y="15999"/>
                  <a:pt x="99219" y="17363"/>
                </a:cubicBezTo>
                <a:lnTo>
                  <a:pt x="99219" y="29766"/>
                </a:lnTo>
                <a:lnTo>
                  <a:pt x="59531" y="29766"/>
                </a:lnTo>
                <a:lnTo>
                  <a:pt x="59531" y="17363"/>
                </a:lnTo>
                <a:cubicBezTo>
                  <a:pt x="59531" y="15999"/>
                  <a:pt x="60647" y="14883"/>
                  <a:pt x="62012" y="14883"/>
                </a:cubicBezTo>
                <a:close/>
                <a:moveTo>
                  <a:pt x="44648" y="17363"/>
                </a:moveTo>
                <a:lnTo>
                  <a:pt x="44648" y="29766"/>
                </a:lnTo>
                <a:lnTo>
                  <a:pt x="19844" y="29766"/>
                </a:lnTo>
                <a:cubicBezTo>
                  <a:pt x="8899" y="29766"/>
                  <a:pt x="0" y="38664"/>
                  <a:pt x="0" y="49609"/>
                </a:cubicBezTo>
                <a:lnTo>
                  <a:pt x="0" y="79375"/>
                </a:lnTo>
                <a:lnTo>
                  <a:pt x="158750" y="79375"/>
                </a:lnTo>
                <a:lnTo>
                  <a:pt x="158750" y="49609"/>
                </a:lnTo>
                <a:cubicBezTo>
                  <a:pt x="158750" y="38664"/>
                  <a:pt x="149851" y="29766"/>
                  <a:pt x="138906" y="29766"/>
                </a:cubicBezTo>
                <a:lnTo>
                  <a:pt x="114102" y="29766"/>
                </a:lnTo>
                <a:lnTo>
                  <a:pt x="114102" y="17363"/>
                </a:lnTo>
                <a:cubicBezTo>
                  <a:pt x="114102" y="7782"/>
                  <a:pt x="106319" y="0"/>
                  <a:pt x="96738" y="0"/>
                </a:cubicBezTo>
                <a:lnTo>
                  <a:pt x="62012" y="0"/>
                </a:lnTo>
                <a:cubicBezTo>
                  <a:pt x="52431" y="0"/>
                  <a:pt x="44648" y="7782"/>
                  <a:pt x="44648" y="17363"/>
                </a:cubicBezTo>
                <a:close/>
                <a:moveTo>
                  <a:pt x="158750" y="94258"/>
                </a:moveTo>
                <a:lnTo>
                  <a:pt x="99219" y="94258"/>
                </a:lnTo>
                <a:lnTo>
                  <a:pt x="99219" y="99219"/>
                </a:lnTo>
                <a:cubicBezTo>
                  <a:pt x="99219" y="104707"/>
                  <a:pt x="94785" y="109141"/>
                  <a:pt x="89297" y="109141"/>
                </a:cubicBezTo>
                <a:lnTo>
                  <a:pt x="69453" y="109141"/>
                </a:lnTo>
                <a:cubicBezTo>
                  <a:pt x="63965" y="109141"/>
                  <a:pt x="59531" y="104707"/>
                  <a:pt x="59531" y="99219"/>
                </a:cubicBezTo>
                <a:lnTo>
                  <a:pt x="59531" y="94258"/>
                </a:lnTo>
                <a:lnTo>
                  <a:pt x="0" y="94258"/>
                </a:lnTo>
                <a:lnTo>
                  <a:pt x="0" y="128984"/>
                </a:lnTo>
                <a:cubicBezTo>
                  <a:pt x="0" y="139929"/>
                  <a:pt x="8899" y="148828"/>
                  <a:pt x="19844" y="148828"/>
                </a:cubicBezTo>
                <a:lnTo>
                  <a:pt x="138906" y="148828"/>
                </a:lnTo>
                <a:cubicBezTo>
                  <a:pt x="149851" y="148828"/>
                  <a:pt x="158750" y="139929"/>
                  <a:pt x="158750" y="128984"/>
                </a:cubicBezTo>
                <a:lnTo>
                  <a:pt x="158750" y="94258"/>
                </a:ln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1428750"/>
            <a:ext cx="4818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Job Displacement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1714500"/>
            <a:ext cx="48101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automation may eliminate some jobs, requiring workforce retraining and adaptation.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1952625"/>
            <a:ext cx="4802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Automatizimi mund të eliminojë disa vende pune.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3375" y="2397125"/>
            <a:ext cx="5667375" cy="1000125"/>
          </a:xfrm>
          <a:custGeom>
            <a:avLst/>
            <a:gdLst/>
            <a:ahLst/>
            <a:cxnLst/>
            <a:rect l="l" t="t" r="r" b="b"/>
            <a:pathLst>
              <a:path w="5667375" h="1000125">
                <a:moveTo>
                  <a:pt x="31750" y="0"/>
                </a:moveTo>
                <a:lnTo>
                  <a:pt x="5572123" y="0"/>
                </a:lnTo>
                <a:cubicBezTo>
                  <a:pt x="5624729" y="0"/>
                  <a:pt x="5667375" y="42646"/>
                  <a:pt x="5667375" y="95252"/>
                </a:cubicBezTo>
                <a:lnTo>
                  <a:pt x="5667375" y="904873"/>
                </a:lnTo>
                <a:cubicBezTo>
                  <a:pt x="5667375" y="957479"/>
                  <a:pt x="5624729" y="1000125"/>
                  <a:pt x="5572123" y="1000125"/>
                </a:cubicBezTo>
                <a:lnTo>
                  <a:pt x="31750" y="1000125"/>
                </a:lnTo>
                <a:cubicBezTo>
                  <a:pt x="14227" y="1000125"/>
                  <a:pt x="0" y="985898"/>
                  <a:pt x="0" y="968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375" y="2397125"/>
            <a:ext cx="31750" cy="1000125"/>
          </a:xfrm>
          <a:custGeom>
            <a:avLst/>
            <a:gdLst/>
            <a:ahLst/>
            <a:cxnLst/>
            <a:rect l="l" t="t" r="r" b="b"/>
            <a:pathLst>
              <a:path w="31750" h="1000125">
                <a:moveTo>
                  <a:pt x="31750" y="0"/>
                </a:moveTo>
                <a:lnTo>
                  <a:pt x="31750" y="0"/>
                </a:lnTo>
                <a:lnTo>
                  <a:pt x="31750" y="1000125"/>
                </a:lnTo>
                <a:lnTo>
                  <a:pt x="31750" y="1000125"/>
                </a:lnTo>
                <a:cubicBezTo>
                  <a:pt x="14227" y="1000125"/>
                  <a:pt x="0" y="985898"/>
                  <a:pt x="0" y="968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14" name="Shape 12"/>
          <p:cNvSpPr/>
          <p:nvPr/>
        </p:nvSpPr>
        <p:spPr>
          <a:xfrm>
            <a:off x="508000" y="25558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FB7AC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99281" y="2667000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19062" y="9922"/>
                </a:moveTo>
                <a:lnTo>
                  <a:pt x="158750" y="9922"/>
                </a:lnTo>
                <a:cubicBezTo>
                  <a:pt x="164238" y="9922"/>
                  <a:pt x="168672" y="14356"/>
                  <a:pt x="168672" y="19844"/>
                </a:cubicBezTo>
                <a:cubicBezTo>
                  <a:pt x="168672" y="25332"/>
                  <a:pt x="164238" y="29766"/>
                  <a:pt x="158750" y="29766"/>
                </a:cubicBezTo>
                <a:lnTo>
                  <a:pt x="123527" y="29766"/>
                </a:lnTo>
                <a:cubicBezTo>
                  <a:pt x="121915" y="37765"/>
                  <a:pt x="116427" y="44369"/>
                  <a:pt x="109141" y="47532"/>
                </a:cubicBezTo>
                <a:lnTo>
                  <a:pt x="109141" y="138906"/>
                </a:lnTo>
                <a:lnTo>
                  <a:pt x="158750" y="138906"/>
                </a:lnTo>
                <a:cubicBezTo>
                  <a:pt x="164238" y="138906"/>
                  <a:pt x="168672" y="143340"/>
                  <a:pt x="168672" y="148828"/>
                </a:cubicBezTo>
                <a:cubicBezTo>
                  <a:pt x="168672" y="154316"/>
                  <a:pt x="164238" y="158750"/>
                  <a:pt x="158750" y="158750"/>
                </a:cubicBezTo>
                <a:lnTo>
                  <a:pt x="39688" y="158750"/>
                </a:lnTo>
                <a:cubicBezTo>
                  <a:pt x="34199" y="158750"/>
                  <a:pt x="29766" y="154316"/>
                  <a:pt x="29766" y="148828"/>
                </a:cubicBezTo>
                <a:cubicBezTo>
                  <a:pt x="29766" y="143340"/>
                  <a:pt x="34199" y="138906"/>
                  <a:pt x="39688" y="138906"/>
                </a:cubicBezTo>
                <a:lnTo>
                  <a:pt x="89297" y="138906"/>
                </a:lnTo>
                <a:lnTo>
                  <a:pt x="89297" y="47532"/>
                </a:lnTo>
                <a:cubicBezTo>
                  <a:pt x="82010" y="44338"/>
                  <a:pt x="76522" y="37734"/>
                  <a:pt x="74910" y="29766"/>
                </a:cubicBezTo>
                <a:lnTo>
                  <a:pt x="39688" y="29766"/>
                </a:lnTo>
                <a:cubicBezTo>
                  <a:pt x="34199" y="29766"/>
                  <a:pt x="29766" y="25332"/>
                  <a:pt x="29766" y="19844"/>
                </a:cubicBezTo>
                <a:cubicBezTo>
                  <a:pt x="29766" y="14356"/>
                  <a:pt x="34199" y="9922"/>
                  <a:pt x="39688" y="9922"/>
                </a:cubicBezTo>
                <a:lnTo>
                  <a:pt x="79375" y="9922"/>
                </a:lnTo>
                <a:cubicBezTo>
                  <a:pt x="83902" y="3907"/>
                  <a:pt x="91095" y="0"/>
                  <a:pt x="99219" y="0"/>
                </a:cubicBezTo>
                <a:cubicBezTo>
                  <a:pt x="107342" y="0"/>
                  <a:pt x="114536" y="3907"/>
                  <a:pt x="119062" y="9922"/>
                </a:cubicBezTo>
                <a:close/>
                <a:moveTo>
                  <a:pt x="136302" y="99219"/>
                </a:moveTo>
                <a:lnTo>
                  <a:pt x="181198" y="99219"/>
                </a:lnTo>
                <a:lnTo>
                  <a:pt x="158750" y="60709"/>
                </a:lnTo>
                <a:lnTo>
                  <a:pt x="136302" y="99219"/>
                </a:lnTo>
                <a:close/>
                <a:moveTo>
                  <a:pt x="158750" y="128984"/>
                </a:moveTo>
                <a:cubicBezTo>
                  <a:pt x="139247" y="128984"/>
                  <a:pt x="123031" y="118442"/>
                  <a:pt x="119683" y="104521"/>
                </a:cubicBezTo>
                <a:cubicBezTo>
                  <a:pt x="118876" y="101110"/>
                  <a:pt x="119993" y="97606"/>
                  <a:pt x="121760" y="94568"/>
                </a:cubicBezTo>
                <a:lnTo>
                  <a:pt x="151278" y="43966"/>
                </a:lnTo>
                <a:cubicBezTo>
                  <a:pt x="152828" y="41300"/>
                  <a:pt x="155680" y="39688"/>
                  <a:pt x="158750" y="39688"/>
                </a:cubicBezTo>
                <a:cubicBezTo>
                  <a:pt x="161820" y="39688"/>
                  <a:pt x="164672" y="41331"/>
                  <a:pt x="166222" y="43966"/>
                </a:cubicBezTo>
                <a:lnTo>
                  <a:pt x="195740" y="94568"/>
                </a:lnTo>
                <a:cubicBezTo>
                  <a:pt x="197507" y="97606"/>
                  <a:pt x="198624" y="101110"/>
                  <a:pt x="197817" y="104521"/>
                </a:cubicBezTo>
                <a:cubicBezTo>
                  <a:pt x="194469" y="118411"/>
                  <a:pt x="178253" y="128984"/>
                  <a:pt x="158750" y="128984"/>
                </a:cubicBezTo>
                <a:close/>
                <a:moveTo>
                  <a:pt x="39315" y="60709"/>
                </a:moveTo>
                <a:lnTo>
                  <a:pt x="16867" y="99219"/>
                </a:lnTo>
                <a:lnTo>
                  <a:pt x="61795" y="99219"/>
                </a:lnTo>
                <a:lnTo>
                  <a:pt x="39315" y="60709"/>
                </a:lnTo>
                <a:close/>
                <a:moveTo>
                  <a:pt x="279" y="104521"/>
                </a:moveTo>
                <a:cubicBezTo>
                  <a:pt x="-527" y="101110"/>
                  <a:pt x="589" y="97606"/>
                  <a:pt x="2356" y="94568"/>
                </a:cubicBezTo>
                <a:lnTo>
                  <a:pt x="31874" y="43966"/>
                </a:lnTo>
                <a:cubicBezTo>
                  <a:pt x="33424" y="41300"/>
                  <a:pt x="36277" y="39688"/>
                  <a:pt x="39346" y="39688"/>
                </a:cubicBezTo>
                <a:cubicBezTo>
                  <a:pt x="42416" y="39688"/>
                  <a:pt x="45269" y="41331"/>
                  <a:pt x="46819" y="43966"/>
                </a:cubicBezTo>
                <a:lnTo>
                  <a:pt x="76336" y="94568"/>
                </a:lnTo>
                <a:cubicBezTo>
                  <a:pt x="78104" y="97606"/>
                  <a:pt x="79220" y="101110"/>
                  <a:pt x="78414" y="104521"/>
                </a:cubicBezTo>
                <a:cubicBezTo>
                  <a:pt x="75065" y="118411"/>
                  <a:pt x="58849" y="128984"/>
                  <a:pt x="39346" y="128984"/>
                </a:cubicBezTo>
                <a:cubicBezTo>
                  <a:pt x="19844" y="128984"/>
                  <a:pt x="3628" y="118442"/>
                  <a:pt x="279" y="104521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2555875"/>
            <a:ext cx="4873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Algorithmic Bias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16000" y="2841625"/>
            <a:ext cx="4865688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systems can inherit and amplify biases from training data, leading to unfair outcomes.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6000" y="3079750"/>
            <a:ext cx="4857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Sistemet IA mund të trashëgojnë paragjykime.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33375" y="3524250"/>
            <a:ext cx="5667375" cy="1206500"/>
          </a:xfrm>
          <a:custGeom>
            <a:avLst/>
            <a:gdLst/>
            <a:ahLst/>
            <a:cxnLst/>
            <a:rect l="l" t="t" r="r" b="b"/>
            <a:pathLst>
              <a:path w="5667375" h="1206500">
                <a:moveTo>
                  <a:pt x="31750" y="0"/>
                </a:moveTo>
                <a:lnTo>
                  <a:pt x="5572122" y="0"/>
                </a:lnTo>
                <a:cubicBezTo>
                  <a:pt x="5624729" y="0"/>
                  <a:pt x="5667375" y="42646"/>
                  <a:pt x="5667375" y="95253"/>
                </a:cubicBezTo>
                <a:lnTo>
                  <a:pt x="5667375" y="1111247"/>
                </a:lnTo>
                <a:cubicBezTo>
                  <a:pt x="5667375" y="1163854"/>
                  <a:pt x="5624729" y="1206500"/>
                  <a:pt x="5572122" y="1206500"/>
                </a:cubicBezTo>
                <a:lnTo>
                  <a:pt x="31750" y="1206500"/>
                </a:lnTo>
                <a:cubicBezTo>
                  <a:pt x="14215" y="1206500"/>
                  <a:pt x="0" y="1192285"/>
                  <a:pt x="0" y="1174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3375" y="3524250"/>
            <a:ext cx="31750" cy="1206500"/>
          </a:xfrm>
          <a:custGeom>
            <a:avLst/>
            <a:gdLst/>
            <a:ahLst/>
            <a:cxnLst/>
            <a:rect l="l" t="t" r="r" b="b"/>
            <a:pathLst>
              <a:path w="31750" h="1206500">
                <a:moveTo>
                  <a:pt x="31750" y="0"/>
                </a:moveTo>
                <a:lnTo>
                  <a:pt x="31750" y="0"/>
                </a:lnTo>
                <a:lnTo>
                  <a:pt x="31750" y="1206500"/>
                </a:lnTo>
                <a:lnTo>
                  <a:pt x="31750" y="1206500"/>
                </a:lnTo>
                <a:cubicBezTo>
                  <a:pt x="14227" y="1206500"/>
                  <a:pt x="0" y="1192273"/>
                  <a:pt x="0" y="1174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21" name="Shape 19"/>
          <p:cNvSpPr/>
          <p:nvPr/>
        </p:nvSpPr>
        <p:spPr>
          <a:xfrm>
            <a:off x="508000" y="3683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FB7AC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29047" y="3794125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53020" y="-4961"/>
                </a:moveTo>
                <a:cubicBezTo>
                  <a:pt x="41734" y="-4961"/>
                  <a:pt x="35099" y="13115"/>
                  <a:pt x="31843" y="29766"/>
                </a:cubicBezTo>
                <a:lnTo>
                  <a:pt x="22324" y="29766"/>
                </a:lnTo>
                <a:cubicBezTo>
                  <a:pt x="18200" y="29766"/>
                  <a:pt x="14883" y="33083"/>
                  <a:pt x="14883" y="37207"/>
                </a:cubicBezTo>
                <a:cubicBezTo>
                  <a:pt x="14883" y="41331"/>
                  <a:pt x="18200" y="44648"/>
                  <a:pt x="22324" y="44648"/>
                </a:cubicBezTo>
                <a:lnTo>
                  <a:pt x="29766" y="44648"/>
                </a:lnTo>
                <a:lnTo>
                  <a:pt x="29766" y="54570"/>
                </a:lnTo>
                <a:cubicBezTo>
                  <a:pt x="29766" y="59841"/>
                  <a:pt x="30789" y="64864"/>
                  <a:pt x="32649" y="69453"/>
                </a:cubicBezTo>
                <a:lnTo>
                  <a:pt x="29766" y="69453"/>
                </a:lnTo>
                <a:lnTo>
                  <a:pt x="29766" y="69453"/>
                </a:lnTo>
                <a:lnTo>
                  <a:pt x="23409" y="69453"/>
                </a:lnTo>
                <a:cubicBezTo>
                  <a:pt x="18697" y="69453"/>
                  <a:pt x="14883" y="73267"/>
                  <a:pt x="14883" y="77980"/>
                </a:cubicBezTo>
                <a:cubicBezTo>
                  <a:pt x="14883" y="78910"/>
                  <a:pt x="15038" y="79809"/>
                  <a:pt x="15317" y="80677"/>
                </a:cubicBezTo>
                <a:lnTo>
                  <a:pt x="24278" y="107528"/>
                </a:lnTo>
                <a:cubicBezTo>
                  <a:pt x="12464" y="117698"/>
                  <a:pt x="4961" y="132736"/>
                  <a:pt x="4961" y="149541"/>
                </a:cubicBezTo>
                <a:cubicBezTo>
                  <a:pt x="4961" y="154626"/>
                  <a:pt x="9085" y="158750"/>
                  <a:pt x="14170" y="158750"/>
                </a:cubicBezTo>
                <a:lnTo>
                  <a:pt x="124737" y="158750"/>
                </a:lnTo>
                <a:cubicBezTo>
                  <a:pt x="129822" y="158750"/>
                  <a:pt x="133945" y="154626"/>
                  <a:pt x="133945" y="149541"/>
                </a:cubicBezTo>
                <a:cubicBezTo>
                  <a:pt x="133945" y="132736"/>
                  <a:pt x="126442" y="117698"/>
                  <a:pt x="114629" y="107559"/>
                </a:cubicBezTo>
                <a:lnTo>
                  <a:pt x="123589" y="80708"/>
                </a:lnTo>
                <a:cubicBezTo>
                  <a:pt x="123868" y="79840"/>
                  <a:pt x="124023" y="78941"/>
                  <a:pt x="124023" y="78011"/>
                </a:cubicBezTo>
                <a:cubicBezTo>
                  <a:pt x="124023" y="73298"/>
                  <a:pt x="120210" y="69484"/>
                  <a:pt x="115497" y="69484"/>
                </a:cubicBezTo>
                <a:lnTo>
                  <a:pt x="109141" y="69484"/>
                </a:lnTo>
                <a:lnTo>
                  <a:pt x="109141" y="69484"/>
                </a:lnTo>
                <a:lnTo>
                  <a:pt x="106257" y="69484"/>
                </a:lnTo>
                <a:cubicBezTo>
                  <a:pt x="108117" y="64895"/>
                  <a:pt x="109141" y="59872"/>
                  <a:pt x="109141" y="54601"/>
                </a:cubicBezTo>
                <a:lnTo>
                  <a:pt x="109141" y="44679"/>
                </a:lnTo>
                <a:lnTo>
                  <a:pt x="116582" y="44679"/>
                </a:lnTo>
                <a:cubicBezTo>
                  <a:pt x="120706" y="44679"/>
                  <a:pt x="124023" y="41362"/>
                  <a:pt x="124023" y="37238"/>
                </a:cubicBezTo>
                <a:cubicBezTo>
                  <a:pt x="124023" y="33114"/>
                  <a:pt x="120706" y="29797"/>
                  <a:pt x="116582" y="29797"/>
                </a:cubicBezTo>
                <a:lnTo>
                  <a:pt x="107063" y="29797"/>
                </a:lnTo>
                <a:cubicBezTo>
                  <a:pt x="103839" y="13146"/>
                  <a:pt x="97172" y="-4930"/>
                  <a:pt x="85886" y="-4930"/>
                </a:cubicBezTo>
                <a:cubicBezTo>
                  <a:pt x="82910" y="-4930"/>
                  <a:pt x="79995" y="-3721"/>
                  <a:pt x="77360" y="-2387"/>
                </a:cubicBezTo>
                <a:cubicBezTo>
                  <a:pt x="74817" y="-1116"/>
                  <a:pt x="71655" y="31"/>
                  <a:pt x="69453" y="31"/>
                </a:cubicBezTo>
                <a:cubicBezTo>
                  <a:pt x="67252" y="31"/>
                  <a:pt x="64089" y="-1116"/>
                  <a:pt x="61547" y="-2387"/>
                </a:cubicBezTo>
                <a:cubicBezTo>
                  <a:pt x="58911" y="-3752"/>
                  <a:pt x="55997" y="-4961"/>
                  <a:pt x="53020" y="-4961"/>
                </a:cubicBezTo>
                <a:close/>
                <a:moveTo>
                  <a:pt x="82073" y="145231"/>
                </a:moveTo>
                <a:lnTo>
                  <a:pt x="74383" y="123248"/>
                </a:lnTo>
                <a:lnTo>
                  <a:pt x="83034" y="113171"/>
                </a:lnTo>
                <a:cubicBezTo>
                  <a:pt x="83871" y="112179"/>
                  <a:pt x="84336" y="110939"/>
                  <a:pt x="84336" y="109637"/>
                </a:cubicBezTo>
                <a:cubicBezTo>
                  <a:pt x="84336" y="106629"/>
                  <a:pt x="81917" y="104211"/>
                  <a:pt x="78910" y="104211"/>
                </a:cubicBezTo>
                <a:lnTo>
                  <a:pt x="59996" y="104211"/>
                </a:lnTo>
                <a:cubicBezTo>
                  <a:pt x="56989" y="104211"/>
                  <a:pt x="54570" y="106629"/>
                  <a:pt x="54570" y="109637"/>
                </a:cubicBezTo>
                <a:cubicBezTo>
                  <a:pt x="54570" y="110939"/>
                  <a:pt x="55035" y="112179"/>
                  <a:pt x="55873" y="113171"/>
                </a:cubicBezTo>
                <a:lnTo>
                  <a:pt x="64523" y="123248"/>
                </a:lnTo>
                <a:lnTo>
                  <a:pt x="56834" y="145231"/>
                </a:lnTo>
                <a:lnTo>
                  <a:pt x="39160" y="89297"/>
                </a:lnTo>
                <a:lnTo>
                  <a:pt x="50229" y="89297"/>
                </a:lnTo>
                <a:cubicBezTo>
                  <a:pt x="55935" y="92459"/>
                  <a:pt x="62477" y="94258"/>
                  <a:pt x="69453" y="94258"/>
                </a:cubicBezTo>
                <a:cubicBezTo>
                  <a:pt x="76429" y="94258"/>
                  <a:pt x="82972" y="92459"/>
                  <a:pt x="88677" y="89297"/>
                </a:cubicBezTo>
                <a:lnTo>
                  <a:pt x="99746" y="89297"/>
                </a:lnTo>
                <a:lnTo>
                  <a:pt x="82073" y="145231"/>
                </a:lnTo>
                <a:close/>
                <a:moveTo>
                  <a:pt x="69453" y="79375"/>
                </a:moveTo>
                <a:cubicBezTo>
                  <a:pt x="58694" y="79375"/>
                  <a:pt x="49547" y="72523"/>
                  <a:pt x="46106" y="62942"/>
                </a:cubicBezTo>
                <a:cubicBezTo>
                  <a:pt x="47873" y="63934"/>
                  <a:pt x="49919" y="64492"/>
                  <a:pt x="52090" y="64492"/>
                </a:cubicBezTo>
                <a:lnTo>
                  <a:pt x="55935" y="64492"/>
                </a:lnTo>
                <a:cubicBezTo>
                  <a:pt x="61051" y="64492"/>
                  <a:pt x="65577" y="61206"/>
                  <a:pt x="67190" y="56369"/>
                </a:cubicBezTo>
                <a:cubicBezTo>
                  <a:pt x="67903" y="54198"/>
                  <a:pt x="70972" y="54198"/>
                  <a:pt x="71686" y="56369"/>
                </a:cubicBezTo>
                <a:cubicBezTo>
                  <a:pt x="73298" y="61206"/>
                  <a:pt x="77856" y="64492"/>
                  <a:pt x="82941" y="64492"/>
                </a:cubicBezTo>
                <a:lnTo>
                  <a:pt x="86785" y="64492"/>
                </a:lnTo>
                <a:cubicBezTo>
                  <a:pt x="88956" y="64492"/>
                  <a:pt x="91002" y="63934"/>
                  <a:pt x="92770" y="62942"/>
                </a:cubicBezTo>
                <a:cubicBezTo>
                  <a:pt x="89328" y="72523"/>
                  <a:pt x="80181" y="79375"/>
                  <a:pt x="69422" y="79375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23" name="Text 21"/>
          <p:cNvSpPr/>
          <p:nvPr/>
        </p:nvSpPr>
        <p:spPr>
          <a:xfrm>
            <a:off x="1016000" y="3683000"/>
            <a:ext cx="4897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Privacy Concerns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16000" y="3968750"/>
            <a:ext cx="48895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requires vast amounts of data, raising questions about surveillance and data protection.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16000" y="4413250"/>
            <a:ext cx="4881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IA kërkon sasi të mëdha të dhënash.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33375" y="4857750"/>
            <a:ext cx="5667375" cy="1000125"/>
          </a:xfrm>
          <a:custGeom>
            <a:avLst/>
            <a:gdLst/>
            <a:ahLst/>
            <a:cxnLst/>
            <a:rect l="l" t="t" r="r" b="b"/>
            <a:pathLst>
              <a:path w="5667375" h="1000125">
                <a:moveTo>
                  <a:pt x="31750" y="0"/>
                </a:moveTo>
                <a:lnTo>
                  <a:pt x="5572123" y="0"/>
                </a:lnTo>
                <a:cubicBezTo>
                  <a:pt x="5624729" y="0"/>
                  <a:pt x="5667375" y="42646"/>
                  <a:pt x="5667375" y="95252"/>
                </a:cubicBezTo>
                <a:lnTo>
                  <a:pt x="5667375" y="904873"/>
                </a:lnTo>
                <a:cubicBezTo>
                  <a:pt x="5667375" y="957479"/>
                  <a:pt x="5624729" y="1000125"/>
                  <a:pt x="5572123" y="1000125"/>
                </a:cubicBezTo>
                <a:lnTo>
                  <a:pt x="31750" y="1000125"/>
                </a:lnTo>
                <a:cubicBezTo>
                  <a:pt x="14227" y="1000125"/>
                  <a:pt x="0" y="985898"/>
                  <a:pt x="0" y="968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3375" y="4857750"/>
            <a:ext cx="31750" cy="1000125"/>
          </a:xfrm>
          <a:custGeom>
            <a:avLst/>
            <a:gdLst/>
            <a:ahLst/>
            <a:cxnLst/>
            <a:rect l="l" t="t" r="r" b="b"/>
            <a:pathLst>
              <a:path w="31750" h="1000125">
                <a:moveTo>
                  <a:pt x="31750" y="0"/>
                </a:moveTo>
                <a:lnTo>
                  <a:pt x="31750" y="0"/>
                </a:lnTo>
                <a:lnTo>
                  <a:pt x="31750" y="1000125"/>
                </a:lnTo>
                <a:lnTo>
                  <a:pt x="31750" y="1000125"/>
                </a:lnTo>
                <a:cubicBezTo>
                  <a:pt x="14227" y="1000125"/>
                  <a:pt x="0" y="985898"/>
                  <a:pt x="0" y="968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28" name="Shape 26"/>
          <p:cNvSpPr/>
          <p:nvPr/>
        </p:nvSpPr>
        <p:spPr>
          <a:xfrm>
            <a:off x="508000" y="5016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FB7AC">
              <a:alpha val="1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19125" y="512762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83933" y="0"/>
                  <a:pt x="88119" y="2511"/>
                  <a:pt x="90289" y="6511"/>
                </a:cubicBezTo>
                <a:lnTo>
                  <a:pt x="157262" y="130535"/>
                </a:lnTo>
                <a:cubicBezTo>
                  <a:pt x="159339" y="134379"/>
                  <a:pt x="159246" y="139030"/>
                  <a:pt x="157014" y="142782"/>
                </a:cubicBezTo>
                <a:cubicBezTo>
                  <a:pt x="154781" y="146534"/>
                  <a:pt x="150719" y="148828"/>
                  <a:pt x="146348" y="148828"/>
                </a:cubicBezTo>
                <a:lnTo>
                  <a:pt x="12402" y="148828"/>
                </a:lnTo>
                <a:cubicBezTo>
                  <a:pt x="8031" y="148828"/>
                  <a:pt x="4000" y="146534"/>
                  <a:pt x="1736" y="142782"/>
                </a:cubicBezTo>
                <a:cubicBezTo>
                  <a:pt x="-527" y="139030"/>
                  <a:pt x="-589" y="134379"/>
                  <a:pt x="1488" y="130535"/>
                </a:cubicBezTo>
                <a:lnTo>
                  <a:pt x="68461" y="6511"/>
                </a:lnTo>
                <a:cubicBezTo>
                  <a:pt x="70631" y="2511"/>
                  <a:pt x="74817" y="0"/>
                  <a:pt x="79375" y="0"/>
                </a:cubicBezTo>
                <a:close/>
                <a:moveTo>
                  <a:pt x="79375" y="52090"/>
                </a:moveTo>
                <a:cubicBezTo>
                  <a:pt x="75251" y="52090"/>
                  <a:pt x="71934" y="55407"/>
                  <a:pt x="71934" y="59531"/>
                </a:cubicBezTo>
                <a:lnTo>
                  <a:pt x="71934" y="94258"/>
                </a:lnTo>
                <a:cubicBezTo>
                  <a:pt x="71934" y="98382"/>
                  <a:pt x="75251" y="101699"/>
                  <a:pt x="79375" y="101699"/>
                </a:cubicBezTo>
                <a:cubicBezTo>
                  <a:pt x="83499" y="101699"/>
                  <a:pt x="86816" y="98382"/>
                  <a:pt x="86816" y="94258"/>
                </a:cubicBezTo>
                <a:lnTo>
                  <a:pt x="86816" y="59531"/>
                </a:lnTo>
                <a:cubicBezTo>
                  <a:pt x="86816" y="55407"/>
                  <a:pt x="83499" y="52090"/>
                  <a:pt x="79375" y="52090"/>
                </a:cubicBezTo>
                <a:close/>
                <a:moveTo>
                  <a:pt x="87654" y="119062"/>
                </a:moveTo>
                <a:cubicBezTo>
                  <a:pt x="87842" y="115990"/>
                  <a:pt x="86309" y="113066"/>
                  <a:pt x="83675" y="111473"/>
                </a:cubicBezTo>
                <a:cubicBezTo>
                  <a:pt x="81041" y="109879"/>
                  <a:pt x="77740" y="109879"/>
                  <a:pt x="75106" y="111473"/>
                </a:cubicBezTo>
                <a:cubicBezTo>
                  <a:pt x="72472" y="113066"/>
                  <a:pt x="70939" y="115990"/>
                  <a:pt x="71127" y="119062"/>
                </a:cubicBezTo>
                <a:cubicBezTo>
                  <a:pt x="70939" y="122135"/>
                  <a:pt x="72472" y="125059"/>
                  <a:pt x="75106" y="126652"/>
                </a:cubicBezTo>
                <a:cubicBezTo>
                  <a:pt x="77740" y="128246"/>
                  <a:pt x="81041" y="128246"/>
                  <a:pt x="83675" y="126652"/>
                </a:cubicBezTo>
                <a:cubicBezTo>
                  <a:pt x="86309" y="125059"/>
                  <a:pt x="87842" y="122135"/>
                  <a:pt x="87654" y="119062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30" name="Text 28"/>
          <p:cNvSpPr/>
          <p:nvPr/>
        </p:nvSpPr>
        <p:spPr>
          <a:xfrm>
            <a:off x="1016000" y="5016500"/>
            <a:ext cx="4302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Risks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16000" y="5302250"/>
            <a:ext cx="4294188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systems can be vulnerable to attacks, manipulation, and adversarial inputs.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16000" y="5540375"/>
            <a:ext cx="4286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Sistemet IA mund të jenë të cenueshme ndaj sulmeve.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07125" y="1270000"/>
            <a:ext cx="5667375" cy="1000125"/>
          </a:xfrm>
          <a:custGeom>
            <a:avLst/>
            <a:gdLst/>
            <a:ahLst/>
            <a:cxnLst/>
            <a:rect l="l" t="t" r="r" b="b"/>
            <a:pathLst>
              <a:path w="5667375" h="1000125">
                <a:moveTo>
                  <a:pt x="31750" y="0"/>
                </a:moveTo>
                <a:lnTo>
                  <a:pt x="5572123" y="0"/>
                </a:lnTo>
                <a:cubicBezTo>
                  <a:pt x="5624729" y="0"/>
                  <a:pt x="5667375" y="42646"/>
                  <a:pt x="5667375" y="95252"/>
                </a:cubicBezTo>
                <a:lnTo>
                  <a:pt x="5667375" y="904873"/>
                </a:lnTo>
                <a:cubicBezTo>
                  <a:pt x="5667375" y="957479"/>
                  <a:pt x="5624729" y="1000125"/>
                  <a:pt x="5572123" y="1000125"/>
                </a:cubicBezTo>
                <a:lnTo>
                  <a:pt x="31750" y="1000125"/>
                </a:lnTo>
                <a:cubicBezTo>
                  <a:pt x="14227" y="1000125"/>
                  <a:pt x="0" y="985898"/>
                  <a:pt x="0" y="968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07125" y="1270000"/>
            <a:ext cx="31750" cy="1000125"/>
          </a:xfrm>
          <a:custGeom>
            <a:avLst/>
            <a:gdLst/>
            <a:ahLst/>
            <a:cxnLst/>
            <a:rect l="l" t="t" r="r" b="b"/>
            <a:pathLst>
              <a:path w="31750" h="1000125">
                <a:moveTo>
                  <a:pt x="31750" y="0"/>
                </a:moveTo>
                <a:lnTo>
                  <a:pt x="31750" y="0"/>
                </a:lnTo>
                <a:lnTo>
                  <a:pt x="31750" y="1000125"/>
                </a:lnTo>
                <a:lnTo>
                  <a:pt x="31750" y="1000125"/>
                </a:lnTo>
                <a:cubicBezTo>
                  <a:pt x="14227" y="1000125"/>
                  <a:pt x="0" y="985898"/>
                  <a:pt x="0" y="968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35" name="Shape 33"/>
          <p:cNvSpPr/>
          <p:nvPr/>
        </p:nvSpPr>
        <p:spPr>
          <a:xfrm>
            <a:off x="6381750" y="1428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FB7AC">
              <a:alpha val="1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492875" y="153987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79375" y="54570"/>
                </a:moveTo>
                <a:cubicBezTo>
                  <a:pt x="73887" y="54570"/>
                  <a:pt x="69453" y="59004"/>
                  <a:pt x="69453" y="64492"/>
                </a:cubicBezTo>
                <a:cubicBezTo>
                  <a:pt x="69453" y="68616"/>
                  <a:pt x="66135" y="71934"/>
                  <a:pt x="62012" y="71934"/>
                </a:cubicBezTo>
                <a:cubicBezTo>
                  <a:pt x="57888" y="71934"/>
                  <a:pt x="54570" y="68616"/>
                  <a:pt x="54570" y="64492"/>
                </a:cubicBezTo>
                <a:cubicBezTo>
                  <a:pt x="54570" y="50788"/>
                  <a:pt x="65670" y="39688"/>
                  <a:pt x="79375" y="39688"/>
                </a:cubicBezTo>
                <a:cubicBezTo>
                  <a:pt x="93080" y="39688"/>
                  <a:pt x="104180" y="50788"/>
                  <a:pt x="104180" y="64492"/>
                </a:cubicBezTo>
                <a:cubicBezTo>
                  <a:pt x="104180" y="79127"/>
                  <a:pt x="93018" y="85328"/>
                  <a:pt x="86816" y="87592"/>
                </a:cubicBezTo>
                <a:lnTo>
                  <a:pt x="86816" y="88770"/>
                </a:lnTo>
                <a:cubicBezTo>
                  <a:pt x="86816" y="92894"/>
                  <a:pt x="83499" y="96211"/>
                  <a:pt x="79375" y="96211"/>
                </a:cubicBezTo>
                <a:cubicBezTo>
                  <a:pt x="75251" y="96211"/>
                  <a:pt x="71934" y="92894"/>
                  <a:pt x="71934" y="88770"/>
                </a:cubicBezTo>
                <a:lnTo>
                  <a:pt x="71934" y="86258"/>
                </a:lnTo>
                <a:cubicBezTo>
                  <a:pt x="71934" y="79902"/>
                  <a:pt x="76522" y="75344"/>
                  <a:pt x="81266" y="73794"/>
                </a:cubicBezTo>
                <a:cubicBezTo>
                  <a:pt x="83251" y="73143"/>
                  <a:pt x="85359" y="72089"/>
                  <a:pt x="86909" y="70600"/>
                </a:cubicBezTo>
                <a:cubicBezTo>
                  <a:pt x="88243" y="69298"/>
                  <a:pt x="89297" y="67500"/>
                  <a:pt x="89297" y="64523"/>
                </a:cubicBezTo>
                <a:cubicBezTo>
                  <a:pt x="89297" y="59035"/>
                  <a:pt x="84863" y="54601"/>
                  <a:pt x="79375" y="54601"/>
                </a:cubicBezTo>
                <a:close/>
                <a:moveTo>
                  <a:pt x="69453" y="114102"/>
                </a:moveTo>
                <a:cubicBezTo>
                  <a:pt x="69453" y="108626"/>
                  <a:pt x="73899" y="104180"/>
                  <a:pt x="79375" y="104180"/>
                </a:cubicBezTo>
                <a:cubicBezTo>
                  <a:pt x="84851" y="104180"/>
                  <a:pt x="89297" y="108626"/>
                  <a:pt x="89297" y="114102"/>
                </a:cubicBezTo>
                <a:cubicBezTo>
                  <a:pt x="89297" y="119578"/>
                  <a:pt x="84851" y="124023"/>
                  <a:pt x="79375" y="124023"/>
                </a:cubicBezTo>
                <a:cubicBezTo>
                  <a:pt x="73899" y="124023"/>
                  <a:pt x="69453" y="119578"/>
                  <a:pt x="69453" y="114102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37" name="Text 35"/>
          <p:cNvSpPr/>
          <p:nvPr/>
        </p:nvSpPr>
        <p:spPr>
          <a:xfrm>
            <a:off x="6889750" y="1428750"/>
            <a:ext cx="4841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Lack of Transparency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889750" y="1714500"/>
            <a:ext cx="4833938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learning models are "black boxes"—hard to understand how they make decisions.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889750" y="1952625"/>
            <a:ext cx="4826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Modelet e deep learning janë "kuti të zeza".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07125" y="2397125"/>
            <a:ext cx="5667375" cy="1000125"/>
          </a:xfrm>
          <a:custGeom>
            <a:avLst/>
            <a:gdLst/>
            <a:ahLst/>
            <a:cxnLst/>
            <a:rect l="l" t="t" r="r" b="b"/>
            <a:pathLst>
              <a:path w="5667375" h="1000125">
                <a:moveTo>
                  <a:pt x="31750" y="0"/>
                </a:moveTo>
                <a:lnTo>
                  <a:pt x="5572123" y="0"/>
                </a:lnTo>
                <a:cubicBezTo>
                  <a:pt x="5624729" y="0"/>
                  <a:pt x="5667375" y="42646"/>
                  <a:pt x="5667375" y="95252"/>
                </a:cubicBezTo>
                <a:lnTo>
                  <a:pt x="5667375" y="904873"/>
                </a:lnTo>
                <a:cubicBezTo>
                  <a:pt x="5667375" y="957479"/>
                  <a:pt x="5624729" y="1000125"/>
                  <a:pt x="5572123" y="1000125"/>
                </a:cubicBezTo>
                <a:lnTo>
                  <a:pt x="31750" y="1000125"/>
                </a:lnTo>
                <a:cubicBezTo>
                  <a:pt x="14227" y="1000125"/>
                  <a:pt x="0" y="985898"/>
                  <a:pt x="0" y="968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07125" y="2397125"/>
            <a:ext cx="31750" cy="1000125"/>
          </a:xfrm>
          <a:custGeom>
            <a:avLst/>
            <a:gdLst/>
            <a:ahLst/>
            <a:cxnLst/>
            <a:rect l="l" t="t" r="r" b="b"/>
            <a:pathLst>
              <a:path w="31750" h="1000125">
                <a:moveTo>
                  <a:pt x="31750" y="0"/>
                </a:moveTo>
                <a:lnTo>
                  <a:pt x="31750" y="0"/>
                </a:lnTo>
                <a:lnTo>
                  <a:pt x="31750" y="1000125"/>
                </a:lnTo>
                <a:lnTo>
                  <a:pt x="31750" y="1000125"/>
                </a:lnTo>
                <a:cubicBezTo>
                  <a:pt x="14227" y="1000125"/>
                  <a:pt x="0" y="985898"/>
                  <a:pt x="0" y="968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42" name="Shape 40"/>
          <p:cNvSpPr/>
          <p:nvPr/>
        </p:nvSpPr>
        <p:spPr>
          <a:xfrm>
            <a:off x="6381750" y="25558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FB7AC">
              <a:alpha val="1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82953" y="2667000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30070" y="29766"/>
                </a:moveTo>
                <a:cubicBezTo>
                  <a:pt x="124923" y="29766"/>
                  <a:pt x="119931" y="31161"/>
                  <a:pt x="115559" y="33703"/>
                </a:cubicBezTo>
                <a:cubicBezTo>
                  <a:pt x="110660" y="28742"/>
                  <a:pt x="104955" y="24588"/>
                  <a:pt x="98661" y="21456"/>
                </a:cubicBezTo>
                <a:cubicBezTo>
                  <a:pt x="107404" y="14015"/>
                  <a:pt x="118535" y="9922"/>
                  <a:pt x="130070" y="9922"/>
                </a:cubicBezTo>
                <a:cubicBezTo>
                  <a:pt x="156859" y="9922"/>
                  <a:pt x="178594" y="31626"/>
                  <a:pt x="178594" y="58446"/>
                </a:cubicBezTo>
                <a:cubicBezTo>
                  <a:pt x="178594" y="71313"/>
                  <a:pt x="173478" y="83654"/>
                  <a:pt x="164393" y="92739"/>
                </a:cubicBezTo>
                <a:lnTo>
                  <a:pt x="142348" y="114784"/>
                </a:lnTo>
                <a:cubicBezTo>
                  <a:pt x="133263" y="123868"/>
                  <a:pt x="120923" y="128984"/>
                  <a:pt x="108055" y="128984"/>
                </a:cubicBezTo>
                <a:cubicBezTo>
                  <a:pt x="81266" y="128984"/>
                  <a:pt x="59531" y="107280"/>
                  <a:pt x="59531" y="80460"/>
                </a:cubicBezTo>
                <a:cubicBezTo>
                  <a:pt x="59531" y="79995"/>
                  <a:pt x="59531" y="79530"/>
                  <a:pt x="59562" y="79065"/>
                </a:cubicBezTo>
                <a:cubicBezTo>
                  <a:pt x="59717" y="73577"/>
                  <a:pt x="64275" y="69267"/>
                  <a:pt x="69763" y="69422"/>
                </a:cubicBezTo>
                <a:cubicBezTo>
                  <a:pt x="75251" y="69577"/>
                  <a:pt x="79561" y="74135"/>
                  <a:pt x="79406" y="79623"/>
                </a:cubicBezTo>
                <a:cubicBezTo>
                  <a:pt x="79406" y="79902"/>
                  <a:pt x="79406" y="80181"/>
                  <a:pt x="79406" y="80429"/>
                </a:cubicBezTo>
                <a:cubicBezTo>
                  <a:pt x="79406" y="96273"/>
                  <a:pt x="92242" y="109110"/>
                  <a:pt x="108086" y="109110"/>
                </a:cubicBezTo>
                <a:cubicBezTo>
                  <a:pt x="115683" y="109110"/>
                  <a:pt x="122969" y="106102"/>
                  <a:pt x="128364" y="100707"/>
                </a:cubicBezTo>
                <a:lnTo>
                  <a:pt x="150409" y="78662"/>
                </a:lnTo>
                <a:cubicBezTo>
                  <a:pt x="155773" y="73298"/>
                  <a:pt x="158812" y="65980"/>
                  <a:pt x="158812" y="58384"/>
                </a:cubicBezTo>
                <a:cubicBezTo>
                  <a:pt x="158812" y="42540"/>
                  <a:pt x="145976" y="29704"/>
                  <a:pt x="130132" y="29704"/>
                </a:cubicBezTo>
                <a:close/>
                <a:moveTo>
                  <a:pt x="85328" y="53733"/>
                </a:moveTo>
                <a:cubicBezTo>
                  <a:pt x="84739" y="53485"/>
                  <a:pt x="84150" y="53144"/>
                  <a:pt x="83623" y="52772"/>
                </a:cubicBezTo>
                <a:cubicBezTo>
                  <a:pt x="79716" y="50757"/>
                  <a:pt x="75251" y="49609"/>
                  <a:pt x="70569" y="49609"/>
                </a:cubicBezTo>
                <a:cubicBezTo>
                  <a:pt x="62973" y="49609"/>
                  <a:pt x="55687" y="52617"/>
                  <a:pt x="50292" y="58012"/>
                </a:cubicBezTo>
                <a:lnTo>
                  <a:pt x="28246" y="80057"/>
                </a:lnTo>
                <a:cubicBezTo>
                  <a:pt x="22882" y="85421"/>
                  <a:pt x="19844" y="92739"/>
                  <a:pt x="19844" y="100335"/>
                </a:cubicBezTo>
                <a:cubicBezTo>
                  <a:pt x="19844" y="116179"/>
                  <a:pt x="32680" y="129015"/>
                  <a:pt x="48524" y="129015"/>
                </a:cubicBezTo>
                <a:cubicBezTo>
                  <a:pt x="53640" y="129015"/>
                  <a:pt x="58632" y="127651"/>
                  <a:pt x="63004" y="125109"/>
                </a:cubicBezTo>
                <a:cubicBezTo>
                  <a:pt x="67903" y="130070"/>
                  <a:pt x="73608" y="134224"/>
                  <a:pt x="79933" y="137356"/>
                </a:cubicBezTo>
                <a:cubicBezTo>
                  <a:pt x="71189" y="144766"/>
                  <a:pt x="60089" y="148890"/>
                  <a:pt x="48524" y="148890"/>
                </a:cubicBezTo>
                <a:cubicBezTo>
                  <a:pt x="21735" y="148890"/>
                  <a:pt x="0" y="127186"/>
                  <a:pt x="0" y="100366"/>
                </a:cubicBezTo>
                <a:cubicBezTo>
                  <a:pt x="0" y="87499"/>
                  <a:pt x="5116" y="75158"/>
                  <a:pt x="14201" y="66073"/>
                </a:cubicBezTo>
                <a:lnTo>
                  <a:pt x="36246" y="44028"/>
                </a:lnTo>
                <a:cubicBezTo>
                  <a:pt x="45331" y="34944"/>
                  <a:pt x="57671" y="29828"/>
                  <a:pt x="70538" y="29828"/>
                </a:cubicBezTo>
                <a:cubicBezTo>
                  <a:pt x="97389" y="29828"/>
                  <a:pt x="119062" y="51718"/>
                  <a:pt x="119062" y="78476"/>
                </a:cubicBezTo>
                <a:cubicBezTo>
                  <a:pt x="119062" y="78879"/>
                  <a:pt x="119062" y="79282"/>
                  <a:pt x="119062" y="79685"/>
                </a:cubicBezTo>
                <a:cubicBezTo>
                  <a:pt x="118938" y="85173"/>
                  <a:pt x="114381" y="89483"/>
                  <a:pt x="108893" y="89359"/>
                </a:cubicBezTo>
                <a:cubicBezTo>
                  <a:pt x="103405" y="89235"/>
                  <a:pt x="99095" y="84677"/>
                  <a:pt x="99219" y="79189"/>
                </a:cubicBezTo>
                <a:cubicBezTo>
                  <a:pt x="99219" y="78941"/>
                  <a:pt x="99219" y="78724"/>
                  <a:pt x="99219" y="78476"/>
                </a:cubicBezTo>
                <a:cubicBezTo>
                  <a:pt x="99219" y="68027"/>
                  <a:pt x="93638" y="58849"/>
                  <a:pt x="85328" y="53795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44" name="Text 42"/>
          <p:cNvSpPr/>
          <p:nvPr/>
        </p:nvSpPr>
        <p:spPr>
          <a:xfrm>
            <a:off x="6889750" y="2555875"/>
            <a:ext cx="4532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Over-Reliance on AI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889750" y="2841625"/>
            <a:ext cx="452437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Excessive dependence on AI may erode human skills and critical thinking abilities.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889750" y="3079750"/>
            <a:ext cx="4516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Varësia e tepërt nga IA mund të erodojë aftësitë njerëzore.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207125" y="3524250"/>
            <a:ext cx="5667375" cy="1000125"/>
          </a:xfrm>
          <a:custGeom>
            <a:avLst/>
            <a:gdLst/>
            <a:ahLst/>
            <a:cxnLst/>
            <a:rect l="l" t="t" r="r" b="b"/>
            <a:pathLst>
              <a:path w="5667375" h="1000125">
                <a:moveTo>
                  <a:pt x="31750" y="0"/>
                </a:moveTo>
                <a:lnTo>
                  <a:pt x="5572123" y="0"/>
                </a:lnTo>
                <a:cubicBezTo>
                  <a:pt x="5624729" y="0"/>
                  <a:pt x="5667375" y="42646"/>
                  <a:pt x="5667375" y="95252"/>
                </a:cubicBezTo>
                <a:lnTo>
                  <a:pt x="5667375" y="904873"/>
                </a:lnTo>
                <a:cubicBezTo>
                  <a:pt x="5667375" y="957479"/>
                  <a:pt x="5624729" y="1000125"/>
                  <a:pt x="5572123" y="1000125"/>
                </a:cubicBezTo>
                <a:lnTo>
                  <a:pt x="31750" y="1000125"/>
                </a:lnTo>
                <a:cubicBezTo>
                  <a:pt x="14227" y="1000125"/>
                  <a:pt x="0" y="985898"/>
                  <a:pt x="0" y="968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207125" y="3524250"/>
            <a:ext cx="31750" cy="1000125"/>
          </a:xfrm>
          <a:custGeom>
            <a:avLst/>
            <a:gdLst/>
            <a:ahLst/>
            <a:cxnLst/>
            <a:rect l="l" t="t" r="r" b="b"/>
            <a:pathLst>
              <a:path w="31750" h="1000125">
                <a:moveTo>
                  <a:pt x="31750" y="0"/>
                </a:moveTo>
                <a:lnTo>
                  <a:pt x="31750" y="0"/>
                </a:lnTo>
                <a:lnTo>
                  <a:pt x="31750" y="1000125"/>
                </a:lnTo>
                <a:lnTo>
                  <a:pt x="31750" y="1000125"/>
                </a:lnTo>
                <a:cubicBezTo>
                  <a:pt x="14227" y="1000125"/>
                  <a:pt x="0" y="985898"/>
                  <a:pt x="0" y="968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49" name="Shape 47"/>
          <p:cNvSpPr/>
          <p:nvPr/>
        </p:nvSpPr>
        <p:spPr>
          <a:xfrm>
            <a:off x="6381750" y="3683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FB7AC">
              <a:alpha val="1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492875" y="379412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46131" y="2077"/>
                </a:moveTo>
                <a:cubicBezTo>
                  <a:pt x="148115" y="186"/>
                  <a:pt x="150999" y="-496"/>
                  <a:pt x="153665" y="372"/>
                </a:cubicBezTo>
                <a:cubicBezTo>
                  <a:pt x="156704" y="1395"/>
                  <a:pt x="158750" y="4248"/>
                  <a:pt x="158750" y="7441"/>
                </a:cubicBezTo>
                <a:lnTo>
                  <a:pt x="158750" y="65391"/>
                </a:lnTo>
                <a:cubicBezTo>
                  <a:pt x="158750" y="106071"/>
                  <a:pt x="125233" y="138906"/>
                  <a:pt x="84708" y="138906"/>
                </a:cubicBezTo>
                <a:cubicBezTo>
                  <a:pt x="60833" y="138906"/>
                  <a:pt x="40246" y="123558"/>
                  <a:pt x="32773" y="102102"/>
                </a:cubicBezTo>
                <a:cubicBezTo>
                  <a:pt x="21797" y="111652"/>
                  <a:pt x="14883" y="125698"/>
                  <a:pt x="14883" y="141387"/>
                </a:cubicBezTo>
                <a:cubicBezTo>
                  <a:pt x="14883" y="145510"/>
                  <a:pt x="11565" y="148828"/>
                  <a:pt x="7441" y="148828"/>
                </a:cubicBezTo>
                <a:cubicBezTo>
                  <a:pt x="3318" y="148828"/>
                  <a:pt x="0" y="145510"/>
                  <a:pt x="0" y="141387"/>
                </a:cubicBezTo>
                <a:cubicBezTo>
                  <a:pt x="0" y="118163"/>
                  <a:pt x="11844" y="97699"/>
                  <a:pt x="29797" y="85669"/>
                </a:cubicBezTo>
                <a:cubicBezTo>
                  <a:pt x="40742" y="78352"/>
                  <a:pt x="53795" y="74414"/>
                  <a:pt x="66973" y="74414"/>
                </a:cubicBezTo>
                <a:lnTo>
                  <a:pt x="91777" y="74414"/>
                </a:lnTo>
                <a:cubicBezTo>
                  <a:pt x="95901" y="74414"/>
                  <a:pt x="99219" y="71096"/>
                  <a:pt x="99219" y="66973"/>
                </a:cubicBezTo>
                <a:cubicBezTo>
                  <a:pt x="99219" y="62849"/>
                  <a:pt x="95901" y="59531"/>
                  <a:pt x="91777" y="59531"/>
                </a:cubicBezTo>
                <a:lnTo>
                  <a:pt x="66973" y="59531"/>
                </a:lnTo>
                <a:cubicBezTo>
                  <a:pt x="54663" y="59531"/>
                  <a:pt x="43005" y="62260"/>
                  <a:pt x="32556" y="67128"/>
                </a:cubicBezTo>
                <a:cubicBezTo>
                  <a:pt x="39781" y="45424"/>
                  <a:pt x="60213" y="29766"/>
                  <a:pt x="84336" y="29766"/>
                </a:cubicBezTo>
                <a:cubicBezTo>
                  <a:pt x="104924" y="29766"/>
                  <a:pt x="120241" y="22913"/>
                  <a:pt x="130442" y="16123"/>
                </a:cubicBezTo>
                <a:cubicBezTo>
                  <a:pt x="136395" y="12154"/>
                  <a:pt x="141449" y="7410"/>
                  <a:pt x="146162" y="2077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51" name="Text 49"/>
          <p:cNvSpPr/>
          <p:nvPr/>
        </p:nvSpPr>
        <p:spPr>
          <a:xfrm>
            <a:off x="6889750" y="3683000"/>
            <a:ext cx="4857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Environmental Impact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889750" y="3968750"/>
            <a:ext cx="4849813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large AI models consumes significant energy, contributing to carbon emissions.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889750" y="4206875"/>
            <a:ext cx="4841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Stërvitja e modeleve të mëdha konsumon energji.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191250" y="4651375"/>
            <a:ext cx="5683250" cy="2127250"/>
          </a:xfrm>
          <a:custGeom>
            <a:avLst/>
            <a:gdLst/>
            <a:ahLst/>
            <a:cxnLst/>
            <a:rect l="l" t="t" r="r" b="b"/>
            <a:pathLst>
              <a:path w="5683250" h="2127250">
                <a:moveTo>
                  <a:pt x="95258" y="0"/>
                </a:moveTo>
                <a:lnTo>
                  <a:pt x="5587992" y="0"/>
                </a:lnTo>
                <a:cubicBezTo>
                  <a:pt x="5640601" y="0"/>
                  <a:pt x="5683250" y="42649"/>
                  <a:pt x="5683250" y="95258"/>
                </a:cubicBezTo>
                <a:lnTo>
                  <a:pt x="5683250" y="2031992"/>
                </a:lnTo>
                <a:cubicBezTo>
                  <a:pt x="5683250" y="2084601"/>
                  <a:pt x="5640601" y="2127250"/>
                  <a:pt x="5587992" y="2127250"/>
                </a:cubicBezTo>
                <a:lnTo>
                  <a:pt x="95258" y="2127250"/>
                </a:lnTo>
                <a:cubicBezTo>
                  <a:pt x="42649" y="2127250"/>
                  <a:pt x="0" y="2084601"/>
                  <a:pt x="0" y="2031992"/>
                </a:cubicBezTo>
                <a:lnTo>
                  <a:pt x="0" y="95258"/>
                </a:lnTo>
                <a:cubicBezTo>
                  <a:pt x="0" y="42684"/>
                  <a:pt x="42684" y="0"/>
                  <a:pt x="95258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A7A"/>
              </a:gs>
              <a:gs pos="100000">
                <a:srgbClr val="2F3E3B"/>
              </a:gs>
            </a:gsLst>
            <a:lin ang="2700000" scaled="1"/>
          </a:gradFill>
          <a:ln/>
        </p:spPr>
      </p:sp>
      <p:sp>
        <p:nvSpPr>
          <p:cNvPr id="55" name="Shape 53"/>
          <p:cNvSpPr/>
          <p:nvPr/>
        </p:nvSpPr>
        <p:spPr>
          <a:xfrm>
            <a:off x="8925719" y="484187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6342063" y="5222875"/>
            <a:ext cx="5381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Path Forward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350000" y="5540375"/>
            <a:ext cx="53657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Addressing these challenges requires </a:t>
            </a: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ethical AI development, transparent algorithms, robust regulations, and human oversight</a:t>
            </a: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81750" y="6048375"/>
            <a:ext cx="5302250" cy="539750"/>
          </a:xfrm>
          <a:custGeom>
            <a:avLst/>
            <a:gdLst/>
            <a:ahLst/>
            <a:cxnLst/>
            <a:rect l="l" t="t" r="r" b="b"/>
            <a:pathLst>
              <a:path w="5302250" h="539750">
                <a:moveTo>
                  <a:pt x="63502" y="0"/>
                </a:moveTo>
                <a:lnTo>
                  <a:pt x="5238748" y="0"/>
                </a:lnTo>
                <a:cubicBezTo>
                  <a:pt x="5273819" y="0"/>
                  <a:pt x="5302250" y="28431"/>
                  <a:pt x="5302250" y="63502"/>
                </a:cubicBezTo>
                <a:lnTo>
                  <a:pt x="5302250" y="476248"/>
                </a:lnTo>
                <a:cubicBezTo>
                  <a:pt x="5302250" y="511319"/>
                  <a:pt x="5273819" y="539750"/>
                  <a:pt x="5238748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6445250" y="6143625"/>
            <a:ext cx="517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should augment, not replace, human judgment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449219" y="6334125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IA duhet të zgjerojë, jo të zëvendësojë, gjykimin njerëzor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F3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63d2ab73072f53ae127b84608f88a5e0e40de2b7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F3E3B">
                  <a:alpha val="98000"/>
                </a:srgbClr>
              </a:gs>
              <a:gs pos="50000">
                <a:srgbClr val="2F3E3B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171575"/>
            <a:ext cx="1943100" cy="533400"/>
          </a:xfrm>
          <a:custGeom>
            <a:avLst/>
            <a:gdLst/>
            <a:ahLst/>
            <a:cxnLst/>
            <a:rect l="l" t="t" r="r" b="b"/>
            <a:pathLst>
              <a:path w="1943100" h="533400">
                <a:moveTo>
                  <a:pt x="266700" y="0"/>
                </a:moveTo>
                <a:lnTo>
                  <a:pt x="1676400" y="0"/>
                </a:lnTo>
                <a:cubicBezTo>
                  <a:pt x="1823596" y="0"/>
                  <a:pt x="1943100" y="119504"/>
                  <a:pt x="1943100" y="266700"/>
                </a:cubicBezTo>
                <a:lnTo>
                  <a:pt x="1943100" y="266700"/>
                </a:lnTo>
                <a:cubicBezTo>
                  <a:pt x="1943100" y="413896"/>
                  <a:pt x="1823596" y="533400"/>
                  <a:pt x="16764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1285875"/>
            <a:ext cx="160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kern="0" spc="18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07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009775"/>
            <a:ext cx="76581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Future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of AI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952875"/>
            <a:ext cx="7458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 Ardhmja e IA-së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60057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4943475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Lies Ahead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Çfarë na Pret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4C8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/ THE FUTURE OF AI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F3E3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AI Trends &amp; Predictions for 2026 and Beyond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920750"/>
            <a:ext cx="1163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Trendet &amp; Parashikimet e IA-së për 2026 dhe Përtej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3375" y="1270000"/>
            <a:ext cx="5667375" cy="1778000"/>
          </a:xfrm>
          <a:custGeom>
            <a:avLst/>
            <a:gdLst/>
            <a:ahLst/>
            <a:cxnLst/>
            <a:rect l="l" t="t" r="r" b="b"/>
            <a:pathLst>
              <a:path w="5667375" h="1778000">
                <a:moveTo>
                  <a:pt x="31750" y="0"/>
                </a:moveTo>
                <a:lnTo>
                  <a:pt x="5572128" y="0"/>
                </a:lnTo>
                <a:cubicBezTo>
                  <a:pt x="5624731" y="0"/>
                  <a:pt x="5667375" y="42644"/>
                  <a:pt x="5667375" y="95247"/>
                </a:cubicBezTo>
                <a:lnTo>
                  <a:pt x="5667375" y="1682753"/>
                </a:lnTo>
                <a:cubicBezTo>
                  <a:pt x="5667375" y="1735356"/>
                  <a:pt x="5624731" y="1778000"/>
                  <a:pt x="5572128" y="1778000"/>
                </a:cubicBezTo>
                <a:lnTo>
                  <a:pt x="31750" y="1778000"/>
                </a:lnTo>
                <a:cubicBezTo>
                  <a:pt x="14215" y="1778000"/>
                  <a:pt x="0" y="1763785"/>
                  <a:pt x="0" y="174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3375" y="1270000"/>
            <a:ext cx="31750" cy="1778000"/>
          </a:xfrm>
          <a:custGeom>
            <a:avLst/>
            <a:gdLst/>
            <a:ahLst/>
            <a:cxnLst/>
            <a:rect l="l" t="t" r="r" b="b"/>
            <a:pathLst>
              <a:path w="31750" h="1778000">
                <a:moveTo>
                  <a:pt x="31750" y="0"/>
                </a:moveTo>
                <a:lnTo>
                  <a:pt x="31750" y="0"/>
                </a:lnTo>
                <a:lnTo>
                  <a:pt x="31750" y="1778000"/>
                </a:lnTo>
                <a:lnTo>
                  <a:pt x="31750" y="1778000"/>
                </a:lnTo>
                <a:cubicBezTo>
                  <a:pt x="14227" y="1778000"/>
                  <a:pt x="0" y="1763773"/>
                  <a:pt x="0" y="174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7" name="Shape 5"/>
          <p:cNvSpPr/>
          <p:nvPr/>
        </p:nvSpPr>
        <p:spPr>
          <a:xfrm>
            <a:off x="508000" y="1428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99281" y="1539875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09141" y="0"/>
                </a:moveTo>
                <a:cubicBezTo>
                  <a:pt x="109141" y="-5488"/>
                  <a:pt x="104707" y="-9922"/>
                  <a:pt x="99219" y="-9922"/>
                </a:cubicBezTo>
                <a:cubicBezTo>
                  <a:pt x="93731" y="-9922"/>
                  <a:pt x="89297" y="-5488"/>
                  <a:pt x="89297" y="0"/>
                </a:cubicBezTo>
                <a:lnTo>
                  <a:pt x="89297" y="19844"/>
                </a:lnTo>
                <a:lnTo>
                  <a:pt x="59531" y="19844"/>
                </a:lnTo>
                <a:cubicBezTo>
                  <a:pt x="43098" y="19844"/>
                  <a:pt x="29766" y="33176"/>
                  <a:pt x="29766" y="49609"/>
                </a:cubicBezTo>
                <a:lnTo>
                  <a:pt x="29766" y="119062"/>
                </a:lnTo>
                <a:cubicBezTo>
                  <a:pt x="29766" y="135496"/>
                  <a:pt x="43098" y="148828"/>
                  <a:pt x="59531" y="148828"/>
                </a:cubicBezTo>
                <a:lnTo>
                  <a:pt x="138906" y="148828"/>
                </a:lnTo>
                <a:cubicBezTo>
                  <a:pt x="155339" y="148828"/>
                  <a:pt x="168672" y="135496"/>
                  <a:pt x="168672" y="119062"/>
                </a:cubicBezTo>
                <a:lnTo>
                  <a:pt x="168672" y="49609"/>
                </a:lnTo>
                <a:cubicBezTo>
                  <a:pt x="168672" y="33176"/>
                  <a:pt x="155339" y="19844"/>
                  <a:pt x="138906" y="19844"/>
                </a:cubicBezTo>
                <a:lnTo>
                  <a:pt x="109141" y="19844"/>
                </a:lnTo>
                <a:lnTo>
                  <a:pt x="109141" y="0"/>
                </a:lnTo>
                <a:close/>
                <a:moveTo>
                  <a:pt x="49609" y="114102"/>
                </a:moveTo>
                <a:cubicBezTo>
                  <a:pt x="49609" y="109978"/>
                  <a:pt x="52927" y="106660"/>
                  <a:pt x="57051" y="106660"/>
                </a:cubicBezTo>
                <a:lnTo>
                  <a:pt x="66973" y="106660"/>
                </a:lnTo>
                <a:cubicBezTo>
                  <a:pt x="71096" y="106660"/>
                  <a:pt x="74414" y="109978"/>
                  <a:pt x="74414" y="114102"/>
                </a:cubicBezTo>
                <a:cubicBezTo>
                  <a:pt x="74414" y="118225"/>
                  <a:pt x="71096" y="121543"/>
                  <a:pt x="66973" y="121543"/>
                </a:cubicBezTo>
                <a:lnTo>
                  <a:pt x="57051" y="121543"/>
                </a:lnTo>
                <a:cubicBezTo>
                  <a:pt x="52927" y="121543"/>
                  <a:pt x="49609" y="118225"/>
                  <a:pt x="49609" y="114102"/>
                </a:cubicBezTo>
                <a:close/>
                <a:moveTo>
                  <a:pt x="86816" y="114102"/>
                </a:moveTo>
                <a:cubicBezTo>
                  <a:pt x="86816" y="109978"/>
                  <a:pt x="90134" y="106660"/>
                  <a:pt x="94258" y="106660"/>
                </a:cubicBezTo>
                <a:lnTo>
                  <a:pt x="104180" y="106660"/>
                </a:lnTo>
                <a:cubicBezTo>
                  <a:pt x="108303" y="106660"/>
                  <a:pt x="111621" y="109978"/>
                  <a:pt x="111621" y="114102"/>
                </a:cubicBezTo>
                <a:cubicBezTo>
                  <a:pt x="111621" y="118225"/>
                  <a:pt x="108303" y="121543"/>
                  <a:pt x="104180" y="121543"/>
                </a:cubicBezTo>
                <a:lnTo>
                  <a:pt x="94258" y="121543"/>
                </a:lnTo>
                <a:cubicBezTo>
                  <a:pt x="90134" y="121543"/>
                  <a:pt x="86816" y="118225"/>
                  <a:pt x="86816" y="114102"/>
                </a:cubicBezTo>
                <a:close/>
                <a:moveTo>
                  <a:pt x="124023" y="114102"/>
                </a:moveTo>
                <a:cubicBezTo>
                  <a:pt x="124023" y="109978"/>
                  <a:pt x="127341" y="106660"/>
                  <a:pt x="131465" y="106660"/>
                </a:cubicBezTo>
                <a:lnTo>
                  <a:pt x="141387" y="106660"/>
                </a:lnTo>
                <a:cubicBezTo>
                  <a:pt x="145510" y="106660"/>
                  <a:pt x="148828" y="109978"/>
                  <a:pt x="148828" y="114102"/>
                </a:cubicBezTo>
                <a:cubicBezTo>
                  <a:pt x="148828" y="118225"/>
                  <a:pt x="145510" y="121543"/>
                  <a:pt x="141387" y="121543"/>
                </a:cubicBezTo>
                <a:lnTo>
                  <a:pt x="131465" y="121543"/>
                </a:lnTo>
                <a:cubicBezTo>
                  <a:pt x="127341" y="121543"/>
                  <a:pt x="124023" y="118225"/>
                  <a:pt x="124023" y="114102"/>
                </a:cubicBezTo>
                <a:close/>
                <a:moveTo>
                  <a:pt x="69453" y="54570"/>
                </a:moveTo>
                <a:cubicBezTo>
                  <a:pt x="77667" y="54570"/>
                  <a:pt x="84336" y="61239"/>
                  <a:pt x="84336" y="69453"/>
                </a:cubicBezTo>
                <a:cubicBezTo>
                  <a:pt x="84336" y="77667"/>
                  <a:pt x="77667" y="84336"/>
                  <a:pt x="69453" y="84336"/>
                </a:cubicBezTo>
                <a:cubicBezTo>
                  <a:pt x="61239" y="84336"/>
                  <a:pt x="54570" y="77667"/>
                  <a:pt x="54570" y="69453"/>
                </a:cubicBezTo>
                <a:cubicBezTo>
                  <a:pt x="54570" y="61239"/>
                  <a:pt x="61239" y="54570"/>
                  <a:pt x="69453" y="54570"/>
                </a:cubicBezTo>
                <a:close/>
                <a:moveTo>
                  <a:pt x="114102" y="69453"/>
                </a:moveTo>
                <a:cubicBezTo>
                  <a:pt x="114102" y="61239"/>
                  <a:pt x="120770" y="54570"/>
                  <a:pt x="128984" y="54570"/>
                </a:cubicBezTo>
                <a:cubicBezTo>
                  <a:pt x="137198" y="54570"/>
                  <a:pt x="143867" y="61239"/>
                  <a:pt x="143867" y="69453"/>
                </a:cubicBezTo>
                <a:cubicBezTo>
                  <a:pt x="143867" y="77667"/>
                  <a:pt x="137198" y="84336"/>
                  <a:pt x="128984" y="84336"/>
                </a:cubicBezTo>
                <a:cubicBezTo>
                  <a:pt x="120770" y="84336"/>
                  <a:pt x="114102" y="77667"/>
                  <a:pt x="114102" y="69453"/>
                </a:cubicBezTo>
                <a:close/>
                <a:moveTo>
                  <a:pt x="19844" y="69453"/>
                </a:moveTo>
                <a:cubicBezTo>
                  <a:pt x="19844" y="63965"/>
                  <a:pt x="15410" y="59531"/>
                  <a:pt x="9922" y="59531"/>
                </a:cubicBezTo>
                <a:cubicBezTo>
                  <a:pt x="4434" y="59531"/>
                  <a:pt x="0" y="63965"/>
                  <a:pt x="0" y="69453"/>
                </a:cubicBezTo>
                <a:lnTo>
                  <a:pt x="0" y="99219"/>
                </a:lnTo>
                <a:cubicBezTo>
                  <a:pt x="0" y="104707"/>
                  <a:pt x="4434" y="109141"/>
                  <a:pt x="9922" y="109141"/>
                </a:cubicBezTo>
                <a:cubicBezTo>
                  <a:pt x="15410" y="109141"/>
                  <a:pt x="19844" y="104707"/>
                  <a:pt x="19844" y="99219"/>
                </a:cubicBezTo>
                <a:lnTo>
                  <a:pt x="19844" y="69453"/>
                </a:lnTo>
                <a:close/>
                <a:moveTo>
                  <a:pt x="188516" y="59531"/>
                </a:moveTo>
                <a:cubicBezTo>
                  <a:pt x="183028" y="59531"/>
                  <a:pt x="178594" y="63965"/>
                  <a:pt x="178594" y="69453"/>
                </a:cubicBezTo>
                <a:lnTo>
                  <a:pt x="178594" y="99219"/>
                </a:lnTo>
                <a:cubicBezTo>
                  <a:pt x="178594" y="104707"/>
                  <a:pt x="183028" y="109141"/>
                  <a:pt x="188516" y="109141"/>
                </a:cubicBezTo>
                <a:cubicBezTo>
                  <a:pt x="194004" y="109141"/>
                  <a:pt x="198438" y="104707"/>
                  <a:pt x="198438" y="99219"/>
                </a:cubicBezTo>
                <a:lnTo>
                  <a:pt x="198438" y="69453"/>
                </a:lnTo>
                <a:cubicBezTo>
                  <a:pt x="198438" y="63965"/>
                  <a:pt x="194004" y="59531"/>
                  <a:pt x="188516" y="59531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9" name="Text 7"/>
          <p:cNvSpPr/>
          <p:nvPr/>
        </p:nvSpPr>
        <p:spPr>
          <a:xfrm>
            <a:off x="984250" y="1508125"/>
            <a:ext cx="698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Agentic AI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8000" y="1905000"/>
            <a:ext cx="53975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Autonomous AI agents</a:t>
            </a:r>
            <a:r>
              <a:rPr lang="en-US" sz="100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will perform complex tasks with minimal human supervision—planning, reasoning, and adapting in real-time.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8000" y="2381250"/>
            <a:ext cx="5389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Agjentët autonomë IA do të kryejnë detyra komplekse.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8000" y="2603500"/>
            <a:ext cx="5334000" cy="285750"/>
          </a:xfrm>
          <a:custGeom>
            <a:avLst/>
            <a:gdLst/>
            <a:ahLst/>
            <a:cxnLst/>
            <a:rect l="l" t="t" r="r" b="b"/>
            <a:pathLst>
              <a:path w="5334000" h="285750">
                <a:moveTo>
                  <a:pt x="63499" y="0"/>
                </a:moveTo>
                <a:lnTo>
                  <a:pt x="5270501" y="0"/>
                </a:lnTo>
                <a:cubicBezTo>
                  <a:pt x="5305570" y="0"/>
                  <a:pt x="5334000" y="28430"/>
                  <a:pt x="5334000" y="63499"/>
                </a:cubicBezTo>
                <a:lnTo>
                  <a:pt x="5334000" y="222251"/>
                </a:lnTo>
                <a:cubicBezTo>
                  <a:pt x="5334000" y="257320"/>
                  <a:pt x="5305570" y="285750"/>
                  <a:pt x="527050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71500" y="2667000"/>
            <a:ext cx="526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Prediction:</a:t>
            </a:r>
            <a:r>
              <a:rPr lang="en-US" sz="875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40% of enterprises will use AI agents by 2026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3375" y="3175000"/>
            <a:ext cx="5667375" cy="1778000"/>
          </a:xfrm>
          <a:custGeom>
            <a:avLst/>
            <a:gdLst/>
            <a:ahLst/>
            <a:cxnLst/>
            <a:rect l="l" t="t" r="r" b="b"/>
            <a:pathLst>
              <a:path w="5667375" h="1778000">
                <a:moveTo>
                  <a:pt x="31750" y="0"/>
                </a:moveTo>
                <a:lnTo>
                  <a:pt x="5572128" y="0"/>
                </a:lnTo>
                <a:cubicBezTo>
                  <a:pt x="5624731" y="0"/>
                  <a:pt x="5667375" y="42644"/>
                  <a:pt x="5667375" y="95247"/>
                </a:cubicBezTo>
                <a:lnTo>
                  <a:pt x="5667375" y="1682753"/>
                </a:lnTo>
                <a:cubicBezTo>
                  <a:pt x="5667375" y="1735356"/>
                  <a:pt x="5624731" y="1778000"/>
                  <a:pt x="5572128" y="1778000"/>
                </a:cubicBezTo>
                <a:lnTo>
                  <a:pt x="31750" y="1778000"/>
                </a:lnTo>
                <a:cubicBezTo>
                  <a:pt x="14215" y="1778000"/>
                  <a:pt x="0" y="1763785"/>
                  <a:pt x="0" y="174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375" y="3175000"/>
            <a:ext cx="31750" cy="1778000"/>
          </a:xfrm>
          <a:custGeom>
            <a:avLst/>
            <a:gdLst/>
            <a:ahLst/>
            <a:cxnLst/>
            <a:rect l="l" t="t" r="r" b="b"/>
            <a:pathLst>
              <a:path w="31750" h="1778000">
                <a:moveTo>
                  <a:pt x="31750" y="0"/>
                </a:moveTo>
                <a:lnTo>
                  <a:pt x="31750" y="0"/>
                </a:lnTo>
                <a:lnTo>
                  <a:pt x="31750" y="1778000"/>
                </a:lnTo>
                <a:lnTo>
                  <a:pt x="31750" y="1778000"/>
                </a:lnTo>
                <a:cubicBezTo>
                  <a:pt x="14227" y="1778000"/>
                  <a:pt x="0" y="1763773"/>
                  <a:pt x="0" y="174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16" name="Shape 14"/>
          <p:cNvSpPr/>
          <p:nvPr/>
        </p:nvSpPr>
        <p:spPr>
          <a:xfrm>
            <a:off x="508000" y="3333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FB7AC">
              <a:alpha val="1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19125" y="344487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36271" y="2170"/>
                </a:moveTo>
                <a:cubicBezTo>
                  <a:pt x="139185" y="-744"/>
                  <a:pt x="143898" y="-744"/>
                  <a:pt x="146782" y="2170"/>
                </a:cubicBezTo>
                <a:lnTo>
                  <a:pt x="156704" y="12092"/>
                </a:lnTo>
                <a:cubicBezTo>
                  <a:pt x="159618" y="15007"/>
                  <a:pt x="159618" y="19720"/>
                  <a:pt x="156704" y="22603"/>
                </a:cubicBezTo>
                <a:lnTo>
                  <a:pt x="129729" y="49578"/>
                </a:lnTo>
                <a:lnTo>
                  <a:pt x="141821" y="61671"/>
                </a:lnTo>
                <a:cubicBezTo>
                  <a:pt x="143960" y="63810"/>
                  <a:pt x="144580" y="67004"/>
                  <a:pt x="143433" y="69794"/>
                </a:cubicBezTo>
                <a:cubicBezTo>
                  <a:pt x="142286" y="72585"/>
                  <a:pt x="139588" y="74414"/>
                  <a:pt x="136581" y="74414"/>
                </a:cubicBezTo>
                <a:lnTo>
                  <a:pt x="91932" y="74414"/>
                </a:lnTo>
                <a:cubicBezTo>
                  <a:pt x="87809" y="74414"/>
                  <a:pt x="84491" y="71096"/>
                  <a:pt x="84491" y="66973"/>
                </a:cubicBezTo>
                <a:lnTo>
                  <a:pt x="84491" y="22324"/>
                </a:lnTo>
                <a:cubicBezTo>
                  <a:pt x="84491" y="19317"/>
                  <a:pt x="86289" y="16588"/>
                  <a:pt x="89080" y="15441"/>
                </a:cubicBezTo>
                <a:cubicBezTo>
                  <a:pt x="91870" y="14294"/>
                  <a:pt x="95064" y="14914"/>
                  <a:pt x="97203" y="17053"/>
                </a:cubicBezTo>
                <a:lnTo>
                  <a:pt x="109296" y="29146"/>
                </a:lnTo>
                <a:lnTo>
                  <a:pt x="136271" y="2170"/>
                </a:lnTo>
                <a:close/>
                <a:moveTo>
                  <a:pt x="22479" y="84336"/>
                </a:moveTo>
                <a:lnTo>
                  <a:pt x="67128" y="84336"/>
                </a:lnTo>
                <a:cubicBezTo>
                  <a:pt x="71251" y="84336"/>
                  <a:pt x="74569" y="87654"/>
                  <a:pt x="74569" y="91777"/>
                </a:cubicBezTo>
                <a:lnTo>
                  <a:pt x="74569" y="136426"/>
                </a:lnTo>
                <a:cubicBezTo>
                  <a:pt x="74569" y="139433"/>
                  <a:pt x="72771" y="142162"/>
                  <a:pt x="69980" y="143309"/>
                </a:cubicBezTo>
                <a:cubicBezTo>
                  <a:pt x="67190" y="144456"/>
                  <a:pt x="63996" y="143836"/>
                  <a:pt x="61857" y="141697"/>
                </a:cubicBezTo>
                <a:lnTo>
                  <a:pt x="49764" y="129604"/>
                </a:lnTo>
                <a:lnTo>
                  <a:pt x="22789" y="156580"/>
                </a:lnTo>
                <a:cubicBezTo>
                  <a:pt x="19875" y="159494"/>
                  <a:pt x="15162" y="159494"/>
                  <a:pt x="12278" y="156580"/>
                </a:cubicBezTo>
                <a:lnTo>
                  <a:pt x="2356" y="146658"/>
                </a:lnTo>
                <a:cubicBezTo>
                  <a:pt x="-558" y="143743"/>
                  <a:pt x="-558" y="139030"/>
                  <a:pt x="2356" y="136147"/>
                </a:cubicBezTo>
                <a:lnTo>
                  <a:pt x="29332" y="109172"/>
                </a:lnTo>
                <a:lnTo>
                  <a:pt x="17239" y="97079"/>
                </a:lnTo>
                <a:cubicBezTo>
                  <a:pt x="15100" y="94940"/>
                  <a:pt x="14480" y="91746"/>
                  <a:pt x="15627" y="88956"/>
                </a:cubicBezTo>
                <a:cubicBezTo>
                  <a:pt x="16774" y="86165"/>
                  <a:pt x="19472" y="84336"/>
                  <a:pt x="22479" y="84336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18" name="Text 16"/>
          <p:cNvSpPr/>
          <p:nvPr/>
        </p:nvSpPr>
        <p:spPr>
          <a:xfrm>
            <a:off x="984250" y="3413125"/>
            <a:ext cx="1976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Small Language Models (SLMs)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8000" y="3810000"/>
            <a:ext cx="53975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Efficient, compact AI models</a:t>
            </a:r>
            <a:r>
              <a:rPr lang="en-US" sz="100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will run on devices, reducing costs and enabling edge computing with less energy consumption.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8000" y="4286250"/>
            <a:ext cx="5389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Modele kompakte IA do të funksionojnë në pajisje.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8000" y="4508500"/>
            <a:ext cx="5334000" cy="285750"/>
          </a:xfrm>
          <a:custGeom>
            <a:avLst/>
            <a:gdLst/>
            <a:ahLst/>
            <a:cxnLst/>
            <a:rect l="l" t="t" r="r" b="b"/>
            <a:pathLst>
              <a:path w="5334000" h="285750">
                <a:moveTo>
                  <a:pt x="63499" y="0"/>
                </a:moveTo>
                <a:lnTo>
                  <a:pt x="5270501" y="0"/>
                </a:lnTo>
                <a:cubicBezTo>
                  <a:pt x="5305570" y="0"/>
                  <a:pt x="5334000" y="28430"/>
                  <a:pt x="5334000" y="63499"/>
                </a:cubicBezTo>
                <a:lnTo>
                  <a:pt x="5334000" y="222251"/>
                </a:lnTo>
                <a:cubicBezTo>
                  <a:pt x="5334000" y="257320"/>
                  <a:pt x="5305570" y="285750"/>
                  <a:pt x="527050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8FB7AC">
              <a:alpha val="1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71500" y="4572000"/>
            <a:ext cx="526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Prediction:</a:t>
            </a:r>
            <a:r>
              <a:rPr lang="en-US" sz="875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SLMs will handle 60% of business AI tasks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33375" y="5080000"/>
            <a:ext cx="5667375" cy="1778000"/>
          </a:xfrm>
          <a:custGeom>
            <a:avLst/>
            <a:gdLst/>
            <a:ahLst/>
            <a:cxnLst/>
            <a:rect l="l" t="t" r="r" b="b"/>
            <a:pathLst>
              <a:path w="5667375" h="1778000">
                <a:moveTo>
                  <a:pt x="31750" y="0"/>
                </a:moveTo>
                <a:lnTo>
                  <a:pt x="5572128" y="0"/>
                </a:lnTo>
                <a:cubicBezTo>
                  <a:pt x="5624731" y="0"/>
                  <a:pt x="5667375" y="42644"/>
                  <a:pt x="5667375" y="95247"/>
                </a:cubicBezTo>
                <a:lnTo>
                  <a:pt x="5667375" y="1682753"/>
                </a:lnTo>
                <a:cubicBezTo>
                  <a:pt x="5667375" y="1735356"/>
                  <a:pt x="5624731" y="1778000"/>
                  <a:pt x="5572128" y="1778000"/>
                </a:cubicBezTo>
                <a:lnTo>
                  <a:pt x="31750" y="1778000"/>
                </a:lnTo>
                <a:cubicBezTo>
                  <a:pt x="14215" y="1778000"/>
                  <a:pt x="0" y="1763785"/>
                  <a:pt x="0" y="174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3375" y="5080000"/>
            <a:ext cx="31750" cy="1778000"/>
          </a:xfrm>
          <a:custGeom>
            <a:avLst/>
            <a:gdLst/>
            <a:ahLst/>
            <a:cxnLst/>
            <a:rect l="l" t="t" r="r" b="b"/>
            <a:pathLst>
              <a:path w="31750" h="1778000">
                <a:moveTo>
                  <a:pt x="31750" y="0"/>
                </a:moveTo>
                <a:lnTo>
                  <a:pt x="31750" y="0"/>
                </a:lnTo>
                <a:lnTo>
                  <a:pt x="31750" y="1778000"/>
                </a:lnTo>
                <a:lnTo>
                  <a:pt x="31750" y="1778000"/>
                </a:lnTo>
                <a:cubicBezTo>
                  <a:pt x="14227" y="1778000"/>
                  <a:pt x="0" y="1763773"/>
                  <a:pt x="0" y="174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25" name="Shape 23"/>
          <p:cNvSpPr/>
          <p:nvPr/>
        </p:nvSpPr>
        <p:spPr>
          <a:xfrm>
            <a:off x="508000" y="5238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99281" y="5349875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28953" y="65267"/>
                </a:moveTo>
                <a:cubicBezTo>
                  <a:pt x="132736" y="64244"/>
                  <a:pt x="136705" y="66042"/>
                  <a:pt x="138410" y="69546"/>
                </a:cubicBezTo>
                <a:lnTo>
                  <a:pt x="144177" y="81204"/>
                </a:lnTo>
                <a:cubicBezTo>
                  <a:pt x="147371" y="81638"/>
                  <a:pt x="150502" y="82507"/>
                  <a:pt x="153448" y="83716"/>
                </a:cubicBezTo>
                <a:lnTo>
                  <a:pt x="164300" y="76491"/>
                </a:lnTo>
                <a:cubicBezTo>
                  <a:pt x="167556" y="74321"/>
                  <a:pt x="171865" y="74755"/>
                  <a:pt x="174625" y="77515"/>
                </a:cubicBezTo>
                <a:lnTo>
                  <a:pt x="180578" y="83468"/>
                </a:lnTo>
                <a:cubicBezTo>
                  <a:pt x="183338" y="86227"/>
                  <a:pt x="183772" y="90568"/>
                  <a:pt x="181601" y="93793"/>
                </a:cubicBezTo>
                <a:lnTo>
                  <a:pt x="174377" y="104614"/>
                </a:lnTo>
                <a:cubicBezTo>
                  <a:pt x="174966" y="106071"/>
                  <a:pt x="175493" y="107590"/>
                  <a:pt x="175927" y="109172"/>
                </a:cubicBezTo>
                <a:cubicBezTo>
                  <a:pt x="176361" y="110753"/>
                  <a:pt x="176640" y="112303"/>
                  <a:pt x="176857" y="113885"/>
                </a:cubicBezTo>
                <a:lnTo>
                  <a:pt x="188547" y="119652"/>
                </a:lnTo>
                <a:cubicBezTo>
                  <a:pt x="192050" y="121388"/>
                  <a:pt x="193849" y="125357"/>
                  <a:pt x="192825" y="129108"/>
                </a:cubicBezTo>
                <a:lnTo>
                  <a:pt x="190655" y="137232"/>
                </a:lnTo>
                <a:cubicBezTo>
                  <a:pt x="189632" y="140984"/>
                  <a:pt x="186128" y="143526"/>
                  <a:pt x="182221" y="143278"/>
                </a:cubicBezTo>
                <a:lnTo>
                  <a:pt x="169199" y="142441"/>
                </a:lnTo>
                <a:cubicBezTo>
                  <a:pt x="167246" y="144952"/>
                  <a:pt x="164982" y="147278"/>
                  <a:pt x="162409" y="149262"/>
                </a:cubicBezTo>
                <a:lnTo>
                  <a:pt x="163246" y="162254"/>
                </a:lnTo>
                <a:cubicBezTo>
                  <a:pt x="163494" y="166160"/>
                  <a:pt x="160951" y="169695"/>
                  <a:pt x="157200" y="170687"/>
                </a:cubicBezTo>
                <a:lnTo>
                  <a:pt x="149076" y="172858"/>
                </a:lnTo>
                <a:cubicBezTo>
                  <a:pt x="145293" y="173881"/>
                  <a:pt x="141356" y="172083"/>
                  <a:pt x="139619" y="168579"/>
                </a:cubicBezTo>
                <a:lnTo>
                  <a:pt x="133852" y="156921"/>
                </a:lnTo>
                <a:cubicBezTo>
                  <a:pt x="130659" y="156487"/>
                  <a:pt x="127527" y="155618"/>
                  <a:pt x="124582" y="154409"/>
                </a:cubicBezTo>
                <a:lnTo>
                  <a:pt x="113729" y="161634"/>
                </a:lnTo>
                <a:cubicBezTo>
                  <a:pt x="110474" y="163804"/>
                  <a:pt x="106164" y="163370"/>
                  <a:pt x="103405" y="160610"/>
                </a:cubicBezTo>
                <a:lnTo>
                  <a:pt x="97451" y="154657"/>
                </a:lnTo>
                <a:cubicBezTo>
                  <a:pt x="94692" y="151898"/>
                  <a:pt x="94258" y="147588"/>
                  <a:pt x="96428" y="144332"/>
                </a:cubicBezTo>
                <a:lnTo>
                  <a:pt x="103653" y="133480"/>
                </a:lnTo>
                <a:cubicBezTo>
                  <a:pt x="103063" y="132023"/>
                  <a:pt x="102536" y="130504"/>
                  <a:pt x="102102" y="128922"/>
                </a:cubicBezTo>
                <a:cubicBezTo>
                  <a:pt x="101668" y="127341"/>
                  <a:pt x="101389" y="125760"/>
                  <a:pt x="101172" y="124209"/>
                </a:cubicBezTo>
                <a:lnTo>
                  <a:pt x="89483" y="118442"/>
                </a:lnTo>
                <a:cubicBezTo>
                  <a:pt x="85979" y="116706"/>
                  <a:pt x="84212" y="112737"/>
                  <a:pt x="85204" y="108986"/>
                </a:cubicBezTo>
                <a:lnTo>
                  <a:pt x="87375" y="100862"/>
                </a:lnTo>
                <a:cubicBezTo>
                  <a:pt x="88398" y="97110"/>
                  <a:pt x="91901" y="94568"/>
                  <a:pt x="95808" y="94816"/>
                </a:cubicBezTo>
                <a:lnTo>
                  <a:pt x="108800" y="95653"/>
                </a:lnTo>
                <a:cubicBezTo>
                  <a:pt x="110753" y="93142"/>
                  <a:pt x="113016" y="90816"/>
                  <a:pt x="115590" y="88832"/>
                </a:cubicBezTo>
                <a:lnTo>
                  <a:pt x="114753" y="75871"/>
                </a:lnTo>
                <a:cubicBezTo>
                  <a:pt x="114505" y="71965"/>
                  <a:pt x="117047" y="68430"/>
                  <a:pt x="120799" y="67438"/>
                </a:cubicBezTo>
                <a:lnTo>
                  <a:pt x="128922" y="65267"/>
                </a:lnTo>
                <a:close/>
                <a:moveTo>
                  <a:pt x="139030" y="105420"/>
                </a:moveTo>
                <a:cubicBezTo>
                  <a:pt x="131501" y="105428"/>
                  <a:pt x="125395" y="111548"/>
                  <a:pt x="125403" y="119078"/>
                </a:cubicBezTo>
                <a:cubicBezTo>
                  <a:pt x="125412" y="126608"/>
                  <a:pt x="131532" y="132714"/>
                  <a:pt x="139061" y="132705"/>
                </a:cubicBezTo>
                <a:cubicBezTo>
                  <a:pt x="146591" y="132697"/>
                  <a:pt x="152697" y="126577"/>
                  <a:pt x="152688" y="119047"/>
                </a:cubicBezTo>
                <a:cubicBezTo>
                  <a:pt x="152680" y="111517"/>
                  <a:pt x="146560" y="105411"/>
                  <a:pt x="139030" y="105420"/>
                </a:cubicBezTo>
                <a:close/>
                <a:moveTo>
                  <a:pt x="69732" y="-14108"/>
                </a:moveTo>
                <a:lnTo>
                  <a:pt x="77856" y="-11937"/>
                </a:lnTo>
                <a:cubicBezTo>
                  <a:pt x="81607" y="-10914"/>
                  <a:pt x="84150" y="-7379"/>
                  <a:pt x="83902" y="-3504"/>
                </a:cubicBezTo>
                <a:lnTo>
                  <a:pt x="83065" y="9457"/>
                </a:lnTo>
                <a:cubicBezTo>
                  <a:pt x="85638" y="11441"/>
                  <a:pt x="87902" y="13736"/>
                  <a:pt x="89855" y="16278"/>
                </a:cubicBezTo>
                <a:lnTo>
                  <a:pt x="102877" y="15441"/>
                </a:lnTo>
                <a:cubicBezTo>
                  <a:pt x="106753" y="15193"/>
                  <a:pt x="110288" y="17735"/>
                  <a:pt x="111311" y="21487"/>
                </a:cubicBezTo>
                <a:lnTo>
                  <a:pt x="113481" y="29611"/>
                </a:lnTo>
                <a:cubicBezTo>
                  <a:pt x="114474" y="33362"/>
                  <a:pt x="112706" y="37331"/>
                  <a:pt x="109203" y="39067"/>
                </a:cubicBezTo>
                <a:lnTo>
                  <a:pt x="97513" y="44834"/>
                </a:lnTo>
                <a:cubicBezTo>
                  <a:pt x="97296" y="46416"/>
                  <a:pt x="96986" y="47997"/>
                  <a:pt x="96583" y="49547"/>
                </a:cubicBezTo>
                <a:cubicBezTo>
                  <a:pt x="96180" y="51098"/>
                  <a:pt x="95622" y="52648"/>
                  <a:pt x="95033" y="54105"/>
                </a:cubicBezTo>
                <a:lnTo>
                  <a:pt x="102257" y="64957"/>
                </a:lnTo>
                <a:cubicBezTo>
                  <a:pt x="104428" y="68213"/>
                  <a:pt x="103994" y="72523"/>
                  <a:pt x="101234" y="75282"/>
                </a:cubicBezTo>
                <a:lnTo>
                  <a:pt x="95281" y="81235"/>
                </a:lnTo>
                <a:cubicBezTo>
                  <a:pt x="92521" y="83995"/>
                  <a:pt x="88212" y="84429"/>
                  <a:pt x="84956" y="82259"/>
                </a:cubicBezTo>
                <a:lnTo>
                  <a:pt x="74104" y="75034"/>
                </a:lnTo>
                <a:cubicBezTo>
                  <a:pt x="71158" y="76243"/>
                  <a:pt x="68027" y="77112"/>
                  <a:pt x="64833" y="77546"/>
                </a:cubicBezTo>
                <a:lnTo>
                  <a:pt x="59066" y="89204"/>
                </a:lnTo>
                <a:cubicBezTo>
                  <a:pt x="57330" y="92708"/>
                  <a:pt x="53361" y="94475"/>
                  <a:pt x="49609" y="93483"/>
                </a:cubicBezTo>
                <a:lnTo>
                  <a:pt x="41486" y="91312"/>
                </a:lnTo>
                <a:cubicBezTo>
                  <a:pt x="37703" y="90289"/>
                  <a:pt x="35192" y="86754"/>
                  <a:pt x="35440" y="82879"/>
                </a:cubicBezTo>
                <a:lnTo>
                  <a:pt x="36277" y="69887"/>
                </a:lnTo>
                <a:cubicBezTo>
                  <a:pt x="33703" y="67903"/>
                  <a:pt x="31440" y="65608"/>
                  <a:pt x="29487" y="63066"/>
                </a:cubicBezTo>
                <a:lnTo>
                  <a:pt x="16464" y="63903"/>
                </a:lnTo>
                <a:cubicBezTo>
                  <a:pt x="12588" y="64151"/>
                  <a:pt x="9054" y="61609"/>
                  <a:pt x="8031" y="57857"/>
                </a:cubicBezTo>
                <a:lnTo>
                  <a:pt x="5860" y="49733"/>
                </a:lnTo>
                <a:cubicBezTo>
                  <a:pt x="4868" y="45982"/>
                  <a:pt x="6635" y="42013"/>
                  <a:pt x="10139" y="40277"/>
                </a:cubicBezTo>
                <a:lnTo>
                  <a:pt x="21828" y="34510"/>
                </a:lnTo>
                <a:cubicBezTo>
                  <a:pt x="22045" y="32928"/>
                  <a:pt x="22355" y="31378"/>
                  <a:pt x="22758" y="29797"/>
                </a:cubicBezTo>
                <a:cubicBezTo>
                  <a:pt x="23192" y="28215"/>
                  <a:pt x="23688" y="26696"/>
                  <a:pt x="24309" y="25239"/>
                </a:cubicBezTo>
                <a:lnTo>
                  <a:pt x="17084" y="14418"/>
                </a:lnTo>
                <a:cubicBezTo>
                  <a:pt x="14914" y="11162"/>
                  <a:pt x="15348" y="6852"/>
                  <a:pt x="18107" y="4093"/>
                </a:cubicBezTo>
                <a:lnTo>
                  <a:pt x="24061" y="-1860"/>
                </a:lnTo>
                <a:cubicBezTo>
                  <a:pt x="26820" y="-4620"/>
                  <a:pt x="31130" y="-5054"/>
                  <a:pt x="34385" y="-2884"/>
                </a:cubicBezTo>
                <a:lnTo>
                  <a:pt x="45238" y="4341"/>
                </a:lnTo>
                <a:cubicBezTo>
                  <a:pt x="48183" y="3132"/>
                  <a:pt x="51315" y="2263"/>
                  <a:pt x="54508" y="1829"/>
                </a:cubicBezTo>
                <a:lnTo>
                  <a:pt x="60275" y="-9829"/>
                </a:lnTo>
                <a:cubicBezTo>
                  <a:pt x="62012" y="-13333"/>
                  <a:pt x="65949" y="-15100"/>
                  <a:pt x="69732" y="-14108"/>
                </a:cubicBezTo>
                <a:close/>
                <a:moveTo>
                  <a:pt x="59655" y="26045"/>
                </a:moveTo>
                <a:cubicBezTo>
                  <a:pt x="52126" y="26045"/>
                  <a:pt x="46013" y="32158"/>
                  <a:pt x="46013" y="39688"/>
                </a:cubicBezTo>
                <a:cubicBezTo>
                  <a:pt x="46013" y="47217"/>
                  <a:pt x="52126" y="53330"/>
                  <a:pt x="59655" y="53330"/>
                </a:cubicBezTo>
                <a:cubicBezTo>
                  <a:pt x="67185" y="53330"/>
                  <a:pt x="73298" y="47217"/>
                  <a:pt x="73298" y="39688"/>
                </a:cubicBezTo>
                <a:cubicBezTo>
                  <a:pt x="73298" y="32158"/>
                  <a:pt x="67185" y="26045"/>
                  <a:pt x="59655" y="26045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27" name="Text 25"/>
          <p:cNvSpPr/>
          <p:nvPr/>
        </p:nvSpPr>
        <p:spPr>
          <a:xfrm>
            <a:off x="984250" y="5318125"/>
            <a:ext cx="1666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AI-Robotics Convergence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8000" y="5715000"/>
            <a:ext cx="53975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Physical AI</a:t>
            </a:r>
            <a:r>
              <a:rPr lang="en-US" sz="100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will enable robots with human-like dexterity and intelligence—transforming manufacturing, healthcare, and logistics.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8000" y="6191250"/>
            <a:ext cx="5389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IA fizike do të mundësojë robotë me aftësi njerëzore.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08000" y="6413500"/>
            <a:ext cx="5334000" cy="285750"/>
          </a:xfrm>
          <a:custGeom>
            <a:avLst/>
            <a:gdLst/>
            <a:ahLst/>
            <a:cxnLst/>
            <a:rect l="l" t="t" r="r" b="b"/>
            <a:pathLst>
              <a:path w="5334000" h="285750">
                <a:moveTo>
                  <a:pt x="63499" y="0"/>
                </a:moveTo>
                <a:lnTo>
                  <a:pt x="5270501" y="0"/>
                </a:lnTo>
                <a:cubicBezTo>
                  <a:pt x="5305570" y="0"/>
                  <a:pt x="5334000" y="28430"/>
                  <a:pt x="5334000" y="63499"/>
                </a:cubicBezTo>
                <a:lnTo>
                  <a:pt x="5334000" y="222251"/>
                </a:lnTo>
                <a:cubicBezTo>
                  <a:pt x="5334000" y="257320"/>
                  <a:pt x="5305570" y="285750"/>
                  <a:pt x="527050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71500" y="6477000"/>
            <a:ext cx="526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Prediction:</a:t>
            </a:r>
            <a:r>
              <a:rPr lang="en-US" sz="875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25% productivity boost in physical labor sectors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07125" y="1270000"/>
            <a:ext cx="5667375" cy="1778000"/>
          </a:xfrm>
          <a:custGeom>
            <a:avLst/>
            <a:gdLst/>
            <a:ahLst/>
            <a:cxnLst/>
            <a:rect l="l" t="t" r="r" b="b"/>
            <a:pathLst>
              <a:path w="5667375" h="1778000">
                <a:moveTo>
                  <a:pt x="31750" y="0"/>
                </a:moveTo>
                <a:lnTo>
                  <a:pt x="5572128" y="0"/>
                </a:lnTo>
                <a:cubicBezTo>
                  <a:pt x="5624731" y="0"/>
                  <a:pt x="5667375" y="42644"/>
                  <a:pt x="5667375" y="95247"/>
                </a:cubicBezTo>
                <a:lnTo>
                  <a:pt x="5667375" y="1682753"/>
                </a:lnTo>
                <a:cubicBezTo>
                  <a:pt x="5667375" y="1735356"/>
                  <a:pt x="5624731" y="1778000"/>
                  <a:pt x="5572128" y="1778000"/>
                </a:cubicBezTo>
                <a:lnTo>
                  <a:pt x="31750" y="1778000"/>
                </a:lnTo>
                <a:cubicBezTo>
                  <a:pt x="14215" y="1778000"/>
                  <a:pt x="0" y="1763785"/>
                  <a:pt x="0" y="174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07125" y="1270000"/>
            <a:ext cx="31750" cy="1778000"/>
          </a:xfrm>
          <a:custGeom>
            <a:avLst/>
            <a:gdLst/>
            <a:ahLst/>
            <a:cxnLst/>
            <a:rect l="l" t="t" r="r" b="b"/>
            <a:pathLst>
              <a:path w="31750" h="1778000">
                <a:moveTo>
                  <a:pt x="31750" y="0"/>
                </a:moveTo>
                <a:lnTo>
                  <a:pt x="31750" y="0"/>
                </a:lnTo>
                <a:lnTo>
                  <a:pt x="31750" y="1778000"/>
                </a:lnTo>
                <a:lnTo>
                  <a:pt x="31750" y="1778000"/>
                </a:lnTo>
                <a:cubicBezTo>
                  <a:pt x="14227" y="1778000"/>
                  <a:pt x="0" y="1763773"/>
                  <a:pt x="0" y="174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34" name="Shape 32"/>
          <p:cNvSpPr/>
          <p:nvPr/>
        </p:nvSpPr>
        <p:spPr>
          <a:xfrm>
            <a:off x="6381750" y="1428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FB7AC">
              <a:alpha val="1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473031" y="1539875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36649" y="19348"/>
                </a:moveTo>
                <a:cubicBezTo>
                  <a:pt x="31471" y="17611"/>
                  <a:pt x="28649" y="11968"/>
                  <a:pt x="30386" y="6790"/>
                </a:cubicBezTo>
                <a:cubicBezTo>
                  <a:pt x="32122" y="1612"/>
                  <a:pt x="37734" y="-1209"/>
                  <a:pt x="42943" y="496"/>
                </a:cubicBezTo>
                <a:lnTo>
                  <a:pt x="77980" y="12185"/>
                </a:lnTo>
                <a:cubicBezTo>
                  <a:pt x="82290" y="4899"/>
                  <a:pt x="90258" y="0"/>
                  <a:pt x="99343" y="0"/>
                </a:cubicBezTo>
                <a:cubicBezTo>
                  <a:pt x="113047" y="0"/>
                  <a:pt x="124147" y="11100"/>
                  <a:pt x="124147" y="24805"/>
                </a:cubicBezTo>
                <a:cubicBezTo>
                  <a:pt x="124147" y="25735"/>
                  <a:pt x="124085" y="26634"/>
                  <a:pt x="123992" y="27533"/>
                </a:cubicBezTo>
                <a:lnTo>
                  <a:pt x="162006" y="40215"/>
                </a:lnTo>
                <a:cubicBezTo>
                  <a:pt x="167215" y="41951"/>
                  <a:pt x="170005" y="47563"/>
                  <a:pt x="168269" y="52772"/>
                </a:cubicBezTo>
                <a:cubicBezTo>
                  <a:pt x="166532" y="57981"/>
                  <a:pt x="160920" y="60771"/>
                  <a:pt x="155711" y="59035"/>
                </a:cubicBezTo>
                <a:lnTo>
                  <a:pt x="113698" y="45021"/>
                </a:lnTo>
                <a:cubicBezTo>
                  <a:pt x="112303" y="46013"/>
                  <a:pt x="110815" y="46850"/>
                  <a:pt x="109234" y="47563"/>
                </a:cubicBezTo>
                <a:lnTo>
                  <a:pt x="109234" y="148859"/>
                </a:lnTo>
                <a:cubicBezTo>
                  <a:pt x="109234" y="154347"/>
                  <a:pt x="104800" y="158781"/>
                  <a:pt x="99312" y="158781"/>
                </a:cubicBezTo>
                <a:lnTo>
                  <a:pt x="39781" y="158781"/>
                </a:lnTo>
                <a:cubicBezTo>
                  <a:pt x="34292" y="158781"/>
                  <a:pt x="29859" y="154347"/>
                  <a:pt x="29859" y="148859"/>
                </a:cubicBezTo>
                <a:cubicBezTo>
                  <a:pt x="29859" y="143371"/>
                  <a:pt x="34292" y="138937"/>
                  <a:pt x="39781" y="138937"/>
                </a:cubicBezTo>
                <a:lnTo>
                  <a:pt x="89390" y="138937"/>
                </a:lnTo>
                <a:lnTo>
                  <a:pt x="89390" y="47563"/>
                </a:lnTo>
                <a:cubicBezTo>
                  <a:pt x="82879" y="44710"/>
                  <a:pt x="77856" y="39191"/>
                  <a:pt x="75685" y="32370"/>
                </a:cubicBezTo>
                <a:lnTo>
                  <a:pt x="36649" y="19348"/>
                </a:lnTo>
                <a:close/>
                <a:moveTo>
                  <a:pt x="62260" y="89297"/>
                </a:moveTo>
                <a:lnTo>
                  <a:pt x="39781" y="50788"/>
                </a:lnTo>
                <a:lnTo>
                  <a:pt x="17332" y="89297"/>
                </a:lnTo>
                <a:lnTo>
                  <a:pt x="62260" y="89297"/>
                </a:lnTo>
                <a:close/>
                <a:moveTo>
                  <a:pt x="39812" y="119062"/>
                </a:moveTo>
                <a:cubicBezTo>
                  <a:pt x="20309" y="119062"/>
                  <a:pt x="4093" y="108521"/>
                  <a:pt x="744" y="94599"/>
                </a:cubicBezTo>
                <a:cubicBezTo>
                  <a:pt x="-62" y="91188"/>
                  <a:pt x="1054" y="87685"/>
                  <a:pt x="2822" y="84646"/>
                </a:cubicBezTo>
                <a:lnTo>
                  <a:pt x="32339" y="34044"/>
                </a:lnTo>
                <a:cubicBezTo>
                  <a:pt x="33889" y="31378"/>
                  <a:pt x="36742" y="29766"/>
                  <a:pt x="39812" y="29766"/>
                </a:cubicBezTo>
                <a:cubicBezTo>
                  <a:pt x="42881" y="29766"/>
                  <a:pt x="45734" y="31409"/>
                  <a:pt x="47284" y="34044"/>
                </a:cubicBezTo>
                <a:lnTo>
                  <a:pt x="76802" y="84646"/>
                </a:lnTo>
                <a:cubicBezTo>
                  <a:pt x="78569" y="87685"/>
                  <a:pt x="79685" y="91188"/>
                  <a:pt x="78879" y="94599"/>
                </a:cubicBezTo>
                <a:cubicBezTo>
                  <a:pt x="75530" y="108490"/>
                  <a:pt x="59314" y="119062"/>
                  <a:pt x="39812" y="119062"/>
                </a:cubicBezTo>
                <a:close/>
                <a:moveTo>
                  <a:pt x="158502" y="90475"/>
                </a:moveTo>
                <a:lnTo>
                  <a:pt x="136054" y="128984"/>
                </a:lnTo>
                <a:lnTo>
                  <a:pt x="180981" y="128984"/>
                </a:lnTo>
                <a:lnTo>
                  <a:pt x="158533" y="90475"/>
                </a:lnTo>
                <a:close/>
                <a:moveTo>
                  <a:pt x="197569" y="134286"/>
                </a:moveTo>
                <a:cubicBezTo>
                  <a:pt x="194221" y="148208"/>
                  <a:pt x="178005" y="158750"/>
                  <a:pt x="158502" y="158750"/>
                </a:cubicBezTo>
                <a:cubicBezTo>
                  <a:pt x="138999" y="158750"/>
                  <a:pt x="122783" y="148208"/>
                  <a:pt x="119435" y="134286"/>
                </a:cubicBezTo>
                <a:cubicBezTo>
                  <a:pt x="118628" y="130876"/>
                  <a:pt x="119745" y="127372"/>
                  <a:pt x="121512" y="124333"/>
                </a:cubicBezTo>
                <a:lnTo>
                  <a:pt x="151030" y="73732"/>
                </a:lnTo>
                <a:cubicBezTo>
                  <a:pt x="152580" y="71065"/>
                  <a:pt x="155432" y="69453"/>
                  <a:pt x="158502" y="69453"/>
                </a:cubicBezTo>
                <a:cubicBezTo>
                  <a:pt x="161572" y="69453"/>
                  <a:pt x="164424" y="71096"/>
                  <a:pt x="165974" y="73732"/>
                </a:cubicBezTo>
                <a:lnTo>
                  <a:pt x="195492" y="124333"/>
                </a:lnTo>
                <a:cubicBezTo>
                  <a:pt x="197259" y="127372"/>
                  <a:pt x="198375" y="130876"/>
                  <a:pt x="197569" y="134286"/>
                </a:cubicBez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0" y="1508125"/>
            <a:ext cx="1849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Strengthened AI Governance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81750" y="1905000"/>
            <a:ext cx="53975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Ethical frameworks and regulations</a:t>
            </a:r>
            <a:r>
              <a:rPr lang="en-US" sz="100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will become mandatory—ensuring transparency, accountability, and fairness in AI systems.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81750" y="2381250"/>
            <a:ext cx="5389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Kornizat etike do të bëhen të detyrueshme.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81750" y="2603500"/>
            <a:ext cx="5334000" cy="285750"/>
          </a:xfrm>
          <a:custGeom>
            <a:avLst/>
            <a:gdLst/>
            <a:ahLst/>
            <a:cxnLst/>
            <a:rect l="l" t="t" r="r" b="b"/>
            <a:pathLst>
              <a:path w="5334000" h="285750">
                <a:moveTo>
                  <a:pt x="63499" y="0"/>
                </a:moveTo>
                <a:lnTo>
                  <a:pt x="5270501" y="0"/>
                </a:lnTo>
                <a:cubicBezTo>
                  <a:pt x="5305570" y="0"/>
                  <a:pt x="5334000" y="28430"/>
                  <a:pt x="5334000" y="63499"/>
                </a:cubicBezTo>
                <a:lnTo>
                  <a:pt x="5334000" y="222251"/>
                </a:lnTo>
                <a:cubicBezTo>
                  <a:pt x="5334000" y="257320"/>
                  <a:pt x="5305570" y="285750"/>
                  <a:pt x="527050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8FB7AC">
              <a:alpha val="1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445250" y="2667000"/>
            <a:ext cx="526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Prediction:</a:t>
            </a:r>
            <a:r>
              <a:rPr lang="en-US" sz="875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80% of regulated industries will require AI audits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07125" y="3175000"/>
            <a:ext cx="5667375" cy="1778000"/>
          </a:xfrm>
          <a:custGeom>
            <a:avLst/>
            <a:gdLst/>
            <a:ahLst/>
            <a:cxnLst/>
            <a:rect l="l" t="t" r="r" b="b"/>
            <a:pathLst>
              <a:path w="5667375" h="1778000">
                <a:moveTo>
                  <a:pt x="31750" y="0"/>
                </a:moveTo>
                <a:lnTo>
                  <a:pt x="5572128" y="0"/>
                </a:lnTo>
                <a:cubicBezTo>
                  <a:pt x="5624731" y="0"/>
                  <a:pt x="5667375" y="42644"/>
                  <a:pt x="5667375" y="95247"/>
                </a:cubicBezTo>
                <a:lnTo>
                  <a:pt x="5667375" y="1682753"/>
                </a:lnTo>
                <a:cubicBezTo>
                  <a:pt x="5667375" y="1735356"/>
                  <a:pt x="5624731" y="1778000"/>
                  <a:pt x="5572128" y="1778000"/>
                </a:cubicBezTo>
                <a:lnTo>
                  <a:pt x="31750" y="1778000"/>
                </a:lnTo>
                <a:cubicBezTo>
                  <a:pt x="14215" y="1778000"/>
                  <a:pt x="0" y="1763785"/>
                  <a:pt x="0" y="174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207125" y="3175000"/>
            <a:ext cx="31750" cy="1778000"/>
          </a:xfrm>
          <a:custGeom>
            <a:avLst/>
            <a:gdLst/>
            <a:ahLst/>
            <a:cxnLst/>
            <a:rect l="l" t="t" r="r" b="b"/>
            <a:pathLst>
              <a:path w="31750" h="1778000">
                <a:moveTo>
                  <a:pt x="31750" y="0"/>
                </a:moveTo>
                <a:lnTo>
                  <a:pt x="31750" y="0"/>
                </a:lnTo>
                <a:lnTo>
                  <a:pt x="31750" y="1778000"/>
                </a:lnTo>
                <a:lnTo>
                  <a:pt x="31750" y="1778000"/>
                </a:lnTo>
                <a:cubicBezTo>
                  <a:pt x="14227" y="1778000"/>
                  <a:pt x="0" y="1763773"/>
                  <a:pt x="0" y="174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43" name="Shape 41"/>
          <p:cNvSpPr/>
          <p:nvPr/>
        </p:nvSpPr>
        <p:spPr>
          <a:xfrm>
            <a:off x="6381750" y="3333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473031" y="3444875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79530" y="2480"/>
                </a:moveTo>
                <a:cubicBezTo>
                  <a:pt x="100065" y="2480"/>
                  <a:pt x="116737" y="19152"/>
                  <a:pt x="116737" y="39688"/>
                </a:cubicBezTo>
                <a:cubicBezTo>
                  <a:pt x="116737" y="60223"/>
                  <a:pt x="100065" y="76895"/>
                  <a:pt x="79530" y="76895"/>
                </a:cubicBezTo>
                <a:cubicBezTo>
                  <a:pt x="58995" y="76895"/>
                  <a:pt x="42323" y="60223"/>
                  <a:pt x="42323" y="39688"/>
                </a:cubicBezTo>
                <a:cubicBezTo>
                  <a:pt x="42323" y="19152"/>
                  <a:pt x="58995" y="2480"/>
                  <a:pt x="79530" y="2480"/>
                </a:cubicBezTo>
                <a:close/>
                <a:moveTo>
                  <a:pt x="70290" y="94258"/>
                </a:moveTo>
                <a:lnTo>
                  <a:pt x="88708" y="94258"/>
                </a:lnTo>
                <a:lnTo>
                  <a:pt x="89173" y="94258"/>
                </a:lnTo>
                <a:cubicBezTo>
                  <a:pt x="85173" y="102567"/>
                  <a:pt x="86754" y="112303"/>
                  <a:pt x="92739" y="118907"/>
                </a:cubicBezTo>
                <a:cubicBezTo>
                  <a:pt x="86475" y="125822"/>
                  <a:pt x="85049" y="136209"/>
                  <a:pt x="89824" y="144766"/>
                </a:cubicBezTo>
                <a:lnTo>
                  <a:pt x="96800" y="157293"/>
                </a:lnTo>
                <a:cubicBezTo>
                  <a:pt x="97079" y="157789"/>
                  <a:pt x="97389" y="158285"/>
                  <a:pt x="97699" y="158750"/>
                </a:cubicBezTo>
                <a:lnTo>
                  <a:pt x="24216" y="158750"/>
                </a:lnTo>
                <a:cubicBezTo>
                  <a:pt x="19131" y="158750"/>
                  <a:pt x="15007" y="154626"/>
                  <a:pt x="15007" y="149541"/>
                </a:cubicBezTo>
                <a:cubicBezTo>
                  <a:pt x="15007" y="119000"/>
                  <a:pt x="39750" y="94258"/>
                  <a:pt x="70290" y="94258"/>
                </a:cubicBezTo>
                <a:close/>
                <a:moveTo>
                  <a:pt x="134131" y="76771"/>
                </a:moveTo>
                <a:cubicBezTo>
                  <a:pt x="134131" y="72647"/>
                  <a:pt x="137449" y="69329"/>
                  <a:pt x="141573" y="69329"/>
                </a:cubicBezTo>
                <a:lnTo>
                  <a:pt x="156456" y="69329"/>
                </a:lnTo>
                <a:cubicBezTo>
                  <a:pt x="160579" y="69329"/>
                  <a:pt x="163897" y="72647"/>
                  <a:pt x="163897" y="76771"/>
                </a:cubicBezTo>
                <a:lnTo>
                  <a:pt x="163897" y="78662"/>
                </a:lnTo>
                <a:cubicBezTo>
                  <a:pt x="163897" y="84522"/>
                  <a:pt x="171369" y="88832"/>
                  <a:pt x="176454" y="85917"/>
                </a:cubicBezTo>
                <a:lnTo>
                  <a:pt x="178005" y="85018"/>
                </a:lnTo>
                <a:cubicBezTo>
                  <a:pt x="181601" y="82941"/>
                  <a:pt x="186221" y="84212"/>
                  <a:pt x="188237" y="87840"/>
                </a:cubicBezTo>
                <a:lnTo>
                  <a:pt x="195182" y="100304"/>
                </a:lnTo>
                <a:cubicBezTo>
                  <a:pt x="197104" y="103777"/>
                  <a:pt x="195988" y="108117"/>
                  <a:pt x="192639" y="110226"/>
                </a:cubicBezTo>
                <a:lnTo>
                  <a:pt x="191182" y="111125"/>
                </a:lnTo>
                <a:cubicBezTo>
                  <a:pt x="186159" y="114257"/>
                  <a:pt x="186159" y="123496"/>
                  <a:pt x="191182" y="126659"/>
                </a:cubicBezTo>
                <a:lnTo>
                  <a:pt x="192608" y="127558"/>
                </a:lnTo>
                <a:cubicBezTo>
                  <a:pt x="195957" y="129667"/>
                  <a:pt x="197104" y="134007"/>
                  <a:pt x="195182" y="137480"/>
                </a:cubicBezTo>
                <a:lnTo>
                  <a:pt x="188206" y="150006"/>
                </a:lnTo>
                <a:cubicBezTo>
                  <a:pt x="186190" y="153634"/>
                  <a:pt x="181570" y="154936"/>
                  <a:pt x="177974" y="152828"/>
                </a:cubicBezTo>
                <a:lnTo>
                  <a:pt x="176454" y="151929"/>
                </a:lnTo>
                <a:cubicBezTo>
                  <a:pt x="171369" y="148983"/>
                  <a:pt x="163897" y="153324"/>
                  <a:pt x="163897" y="159184"/>
                </a:cubicBezTo>
                <a:lnTo>
                  <a:pt x="163897" y="161075"/>
                </a:lnTo>
                <a:cubicBezTo>
                  <a:pt x="163897" y="165199"/>
                  <a:pt x="160579" y="168517"/>
                  <a:pt x="156456" y="168517"/>
                </a:cubicBezTo>
                <a:lnTo>
                  <a:pt x="141573" y="168517"/>
                </a:lnTo>
                <a:cubicBezTo>
                  <a:pt x="137449" y="168517"/>
                  <a:pt x="134131" y="165199"/>
                  <a:pt x="134131" y="161075"/>
                </a:cubicBezTo>
                <a:lnTo>
                  <a:pt x="134131" y="159246"/>
                </a:lnTo>
                <a:cubicBezTo>
                  <a:pt x="134131" y="153355"/>
                  <a:pt x="126628" y="149014"/>
                  <a:pt x="121512" y="151960"/>
                </a:cubicBezTo>
                <a:lnTo>
                  <a:pt x="120024" y="152828"/>
                </a:lnTo>
                <a:cubicBezTo>
                  <a:pt x="116427" y="154905"/>
                  <a:pt x="111838" y="153634"/>
                  <a:pt x="109792" y="150006"/>
                </a:cubicBezTo>
                <a:lnTo>
                  <a:pt x="102784" y="137480"/>
                </a:lnTo>
                <a:cubicBezTo>
                  <a:pt x="100862" y="134007"/>
                  <a:pt x="101978" y="129635"/>
                  <a:pt x="105358" y="127527"/>
                </a:cubicBezTo>
                <a:lnTo>
                  <a:pt x="106722" y="126690"/>
                </a:lnTo>
                <a:cubicBezTo>
                  <a:pt x="111776" y="123558"/>
                  <a:pt x="111776" y="114257"/>
                  <a:pt x="106722" y="111125"/>
                </a:cubicBezTo>
                <a:lnTo>
                  <a:pt x="105327" y="110257"/>
                </a:lnTo>
                <a:cubicBezTo>
                  <a:pt x="101947" y="108148"/>
                  <a:pt x="100831" y="103777"/>
                  <a:pt x="102753" y="100304"/>
                </a:cubicBezTo>
                <a:lnTo>
                  <a:pt x="109730" y="87809"/>
                </a:lnTo>
                <a:cubicBezTo>
                  <a:pt x="111745" y="84181"/>
                  <a:pt x="116365" y="82910"/>
                  <a:pt x="119931" y="84987"/>
                </a:cubicBezTo>
                <a:lnTo>
                  <a:pt x="121419" y="85855"/>
                </a:lnTo>
                <a:cubicBezTo>
                  <a:pt x="126535" y="88801"/>
                  <a:pt x="134038" y="84460"/>
                  <a:pt x="134038" y="78569"/>
                </a:cubicBezTo>
                <a:lnTo>
                  <a:pt x="134038" y="76740"/>
                </a:lnTo>
                <a:close/>
                <a:moveTo>
                  <a:pt x="165106" y="119000"/>
                </a:moveTo>
                <a:cubicBezTo>
                  <a:pt x="165106" y="110102"/>
                  <a:pt x="157882" y="102877"/>
                  <a:pt x="148983" y="102877"/>
                </a:cubicBezTo>
                <a:cubicBezTo>
                  <a:pt x="140085" y="102877"/>
                  <a:pt x="132860" y="110102"/>
                  <a:pt x="132860" y="119000"/>
                </a:cubicBezTo>
                <a:cubicBezTo>
                  <a:pt x="132860" y="127899"/>
                  <a:pt x="140085" y="135124"/>
                  <a:pt x="148983" y="135124"/>
                </a:cubicBezTo>
                <a:cubicBezTo>
                  <a:pt x="157882" y="135124"/>
                  <a:pt x="165106" y="127899"/>
                  <a:pt x="165106" y="119000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45" name="Text 43"/>
          <p:cNvSpPr/>
          <p:nvPr/>
        </p:nvSpPr>
        <p:spPr>
          <a:xfrm>
            <a:off x="6858000" y="3413125"/>
            <a:ext cx="1444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Hyper-Personalization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381750" y="3810000"/>
            <a:ext cx="53975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will deliver tailored experiences</a:t>
            </a:r>
            <a:r>
              <a:rPr lang="en-US" sz="1000" dirty="0">
                <a:solidFill>
                  <a:srgbClr val="1F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 scale—customizing education, healthcare, marketing, and entertainment for each individual.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381750" y="4286250"/>
            <a:ext cx="5389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F6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IA do të ofrojë përvoja të personalizuara.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81750" y="4508500"/>
            <a:ext cx="5334000" cy="285750"/>
          </a:xfrm>
          <a:custGeom>
            <a:avLst/>
            <a:gdLst/>
            <a:ahLst/>
            <a:cxnLst/>
            <a:rect l="l" t="t" r="r" b="b"/>
            <a:pathLst>
              <a:path w="5334000" h="285750">
                <a:moveTo>
                  <a:pt x="63499" y="0"/>
                </a:moveTo>
                <a:lnTo>
                  <a:pt x="5270501" y="0"/>
                </a:lnTo>
                <a:cubicBezTo>
                  <a:pt x="5305570" y="0"/>
                  <a:pt x="5334000" y="28430"/>
                  <a:pt x="5334000" y="63499"/>
                </a:cubicBezTo>
                <a:lnTo>
                  <a:pt x="5334000" y="222251"/>
                </a:lnTo>
                <a:cubicBezTo>
                  <a:pt x="5334000" y="257320"/>
                  <a:pt x="5305570" y="285750"/>
                  <a:pt x="527050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4C8A7A">
              <a:alpha val="10196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6445250" y="4572000"/>
            <a:ext cx="526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Prediction:</a:t>
            </a:r>
            <a:r>
              <a:rPr lang="en-US" sz="875" dirty="0">
                <a:solidFill>
                  <a:srgbClr val="2F3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20-30% uplift in engagement metrics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91250" y="5080000"/>
            <a:ext cx="5683250" cy="2571750"/>
          </a:xfrm>
          <a:custGeom>
            <a:avLst/>
            <a:gdLst/>
            <a:ahLst/>
            <a:cxnLst/>
            <a:rect l="l" t="t" r="r" b="b"/>
            <a:pathLst>
              <a:path w="5683250" h="2571750">
                <a:moveTo>
                  <a:pt x="95258" y="0"/>
                </a:moveTo>
                <a:lnTo>
                  <a:pt x="5587992" y="0"/>
                </a:lnTo>
                <a:cubicBezTo>
                  <a:pt x="5640602" y="0"/>
                  <a:pt x="5683250" y="42648"/>
                  <a:pt x="5683250" y="95258"/>
                </a:cubicBezTo>
                <a:lnTo>
                  <a:pt x="5683250" y="2476492"/>
                </a:lnTo>
                <a:cubicBezTo>
                  <a:pt x="5683250" y="2529102"/>
                  <a:pt x="5640602" y="2571750"/>
                  <a:pt x="5587992" y="2571750"/>
                </a:cubicBezTo>
                <a:lnTo>
                  <a:pt x="95258" y="2571750"/>
                </a:lnTo>
                <a:cubicBezTo>
                  <a:pt x="42648" y="2571750"/>
                  <a:pt x="0" y="2529102"/>
                  <a:pt x="0" y="2476492"/>
                </a:cubicBezTo>
                <a:lnTo>
                  <a:pt x="0" y="95258"/>
                </a:lnTo>
                <a:cubicBezTo>
                  <a:pt x="0" y="42684"/>
                  <a:pt x="42684" y="0"/>
                  <a:pt x="95258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A7A"/>
              </a:gs>
              <a:gs pos="100000">
                <a:srgbClr val="2F3E3B"/>
              </a:gs>
            </a:gsLst>
            <a:lin ang="2700000" scaled="1"/>
          </a:gradFill>
          <a:ln/>
        </p:spPr>
      </p:sp>
      <p:sp>
        <p:nvSpPr>
          <p:cNvPr id="51" name="Text 49"/>
          <p:cNvSpPr/>
          <p:nvPr/>
        </p:nvSpPr>
        <p:spPr>
          <a:xfrm>
            <a:off x="6342063" y="5270500"/>
            <a:ext cx="5381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AGI Timeline Predictions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81750" y="5619750"/>
            <a:ext cx="5302250" cy="412750"/>
          </a:xfrm>
          <a:custGeom>
            <a:avLst/>
            <a:gdLst/>
            <a:ahLst/>
            <a:cxnLst/>
            <a:rect l="l" t="t" r="r" b="b"/>
            <a:pathLst>
              <a:path w="5302250" h="412750">
                <a:moveTo>
                  <a:pt x="63502" y="0"/>
                </a:moveTo>
                <a:lnTo>
                  <a:pt x="5238748" y="0"/>
                </a:lnTo>
                <a:cubicBezTo>
                  <a:pt x="5273819" y="0"/>
                  <a:pt x="5302250" y="28431"/>
                  <a:pt x="5302250" y="63502"/>
                </a:cubicBezTo>
                <a:lnTo>
                  <a:pt x="5302250" y="349248"/>
                </a:lnTo>
                <a:cubicBezTo>
                  <a:pt x="5302250" y="384319"/>
                  <a:pt x="5273819" y="412750"/>
                  <a:pt x="523874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6477000" y="5730875"/>
            <a:ext cx="1373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DeepMind (Shane Legg)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0758041" y="5715000"/>
            <a:ext cx="904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50% by 2028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81750" y="6096000"/>
            <a:ext cx="5302250" cy="412750"/>
          </a:xfrm>
          <a:custGeom>
            <a:avLst/>
            <a:gdLst/>
            <a:ahLst/>
            <a:cxnLst/>
            <a:rect l="l" t="t" r="r" b="b"/>
            <a:pathLst>
              <a:path w="5302250" h="412750">
                <a:moveTo>
                  <a:pt x="63502" y="0"/>
                </a:moveTo>
                <a:lnTo>
                  <a:pt x="5238748" y="0"/>
                </a:lnTo>
                <a:cubicBezTo>
                  <a:pt x="5273819" y="0"/>
                  <a:pt x="5302250" y="28431"/>
                  <a:pt x="5302250" y="63502"/>
                </a:cubicBezTo>
                <a:lnTo>
                  <a:pt x="5302250" y="349248"/>
                </a:lnTo>
                <a:cubicBezTo>
                  <a:pt x="5302250" y="384319"/>
                  <a:pt x="5273819" y="412750"/>
                  <a:pt x="523874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6477000" y="6207125"/>
            <a:ext cx="147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Anthropic (Dario Amodei)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1096253" y="6191250"/>
            <a:ext cx="563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2027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81750" y="6572250"/>
            <a:ext cx="5302250" cy="412750"/>
          </a:xfrm>
          <a:custGeom>
            <a:avLst/>
            <a:gdLst/>
            <a:ahLst/>
            <a:cxnLst/>
            <a:rect l="l" t="t" r="r" b="b"/>
            <a:pathLst>
              <a:path w="5302250" h="412750">
                <a:moveTo>
                  <a:pt x="63502" y="0"/>
                </a:moveTo>
                <a:lnTo>
                  <a:pt x="5238748" y="0"/>
                </a:lnTo>
                <a:cubicBezTo>
                  <a:pt x="5273819" y="0"/>
                  <a:pt x="5302250" y="28431"/>
                  <a:pt x="5302250" y="63502"/>
                </a:cubicBezTo>
                <a:lnTo>
                  <a:pt x="5302250" y="349248"/>
                </a:lnTo>
                <a:cubicBezTo>
                  <a:pt x="5302250" y="384319"/>
                  <a:pt x="5273819" y="412750"/>
                  <a:pt x="523874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6477000" y="6683375"/>
            <a:ext cx="769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Ray Kurzweil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1082610" y="6667500"/>
            <a:ext cx="579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2029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381750" y="7048500"/>
            <a:ext cx="5302250" cy="412750"/>
          </a:xfrm>
          <a:custGeom>
            <a:avLst/>
            <a:gdLst/>
            <a:ahLst/>
            <a:cxnLst/>
            <a:rect l="l" t="t" r="r" b="b"/>
            <a:pathLst>
              <a:path w="5302250" h="412750">
                <a:moveTo>
                  <a:pt x="63502" y="0"/>
                </a:moveTo>
                <a:lnTo>
                  <a:pt x="5238748" y="0"/>
                </a:lnTo>
                <a:cubicBezTo>
                  <a:pt x="5273819" y="0"/>
                  <a:pt x="5302250" y="28431"/>
                  <a:pt x="5302250" y="63502"/>
                </a:cubicBezTo>
                <a:lnTo>
                  <a:pt x="5302250" y="349248"/>
                </a:lnTo>
                <a:cubicBezTo>
                  <a:pt x="5302250" y="384319"/>
                  <a:pt x="5273819" y="412750"/>
                  <a:pt x="523874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6477000" y="7159625"/>
            <a:ext cx="1262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OpenAI (Sam Altman)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1080874" y="7143750"/>
            <a:ext cx="579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2035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F3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341c6a2d6c4f1319714ebde786eb5896d65beb08.jpeg"/>
          <p:cNvPicPr>
            <a:picLocks noChangeAspect="1"/>
          </p:cNvPicPr>
          <p:nvPr/>
        </p:nvPicPr>
        <p:blipFill>
          <a:blip r:embed="rId3">
            <a:alphaModFix amt="30000"/>
          </a:blip>
          <a:srcRect l="191" r="191"/>
          <a:stretch/>
        </p:blipFill>
        <p:spPr>
          <a:xfrm>
            <a:off x="0" y="0"/>
            <a:ext cx="12192000" cy="6859636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9636"/>
          </a:xfrm>
          <a:custGeom>
            <a:avLst/>
            <a:gdLst/>
            <a:ahLst/>
            <a:cxnLst/>
            <a:rect l="l" t="t" r="r" b="b"/>
            <a:pathLst>
              <a:path w="12192000" h="6859636">
                <a:moveTo>
                  <a:pt x="0" y="0"/>
                </a:moveTo>
                <a:lnTo>
                  <a:pt x="12192000" y="0"/>
                </a:lnTo>
                <a:lnTo>
                  <a:pt x="12192000" y="6859636"/>
                </a:lnTo>
                <a:lnTo>
                  <a:pt x="0" y="685963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F3E3B">
                  <a:alpha val="95000"/>
                </a:srgbClr>
              </a:gs>
              <a:gs pos="50000">
                <a:srgbClr val="2F3E3B">
                  <a:alpha val="90000"/>
                </a:srgbClr>
              </a:gs>
              <a:gs pos="100000">
                <a:srgbClr val="4C8A7A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704636" y="-283636"/>
            <a:ext cx="785455" cy="628364"/>
          </a:xfrm>
          <a:custGeom>
            <a:avLst/>
            <a:gdLst/>
            <a:ahLst/>
            <a:cxnLst/>
            <a:rect l="l" t="t" r="r" b="b"/>
            <a:pathLst>
              <a:path w="785455" h="628364">
                <a:moveTo>
                  <a:pt x="0" y="314182"/>
                </a:moveTo>
                <a:cubicBezTo>
                  <a:pt x="0" y="205691"/>
                  <a:pt x="87873" y="117818"/>
                  <a:pt x="196364" y="117818"/>
                </a:cubicBezTo>
                <a:cubicBezTo>
                  <a:pt x="258218" y="117818"/>
                  <a:pt x="316391" y="146905"/>
                  <a:pt x="353455" y="196364"/>
                </a:cubicBezTo>
                <a:lnTo>
                  <a:pt x="392727" y="248768"/>
                </a:lnTo>
                <a:lnTo>
                  <a:pt x="432000" y="196364"/>
                </a:lnTo>
                <a:cubicBezTo>
                  <a:pt x="469064" y="146905"/>
                  <a:pt x="527236" y="117818"/>
                  <a:pt x="589091" y="117818"/>
                </a:cubicBezTo>
                <a:cubicBezTo>
                  <a:pt x="697582" y="117818"/>
                  <a:pt x="785455" y="205691"/>
                  <a:pt x="785455" y="314182"/>
                </a:cubicBezTo>
                <a:cubicBezTo>
                  <a:pt x="785455" y="422673"/>
                  <a:pt x="697582" y="510545"/>
                  <a:pt x="589091" y="510545"/>
                </a:cubicBezTo>
                <a:cubicBezTo>
                  <a:pt x="527236" y="510545"/>
                  <a:pt x="469064" y="481459"/>
                  <a:pt x="432000" y="432000"/>
                </a:cubicBezTo>
                <a:lnTo>
                  <a:pt x="392727" y="379595"/>
                </a:lnTo>
                <a:lnTo>
                  <a:pt x="353455" y="432000"/>
                </a:lnTo>
                <a:cubicBezTo>
                  <a:pt x="316391" y="481459"/>
                  <a:pt x="258218" y="510545"/>
                  <a:pt x="196364" y="510545"/>
                </a:cubicBezTo>
                <a:cubicBezTo>
                  <a:pt x="87873" y="510545"/>
                  <a:pt x="0" y="422673"/>
                  <a:pt x="0" y="314182"/>
                </a:cubicBezTo>
                <a:close/>
                <a:moveTo>
                  <a:pt x="343636" y="314182"/>
                </a:moveTo>
                <a:lnTo>
                  <a:pt x="290618" y="243491"/>
                </a:lnTo>
                <a:cubicBezTo>
                  <a:pt x="268405" y="213791"/>
                  <a:pt x="233427" y="196364"/>
                  <a:pt x="196364" y="196364"/>
                </a:cubicBezTo>
                <a:cubicBezTo>
                  <a:pt x="131318" y="196364"/>
                  <a:pt x="78545" y="249136"/>
                  <a:pt x="78545" y="314182"/>
                </a:cubicBezTo>
                <a:cubicBezTo>
                  <a:pt x="78545" y="379227"/>
                  <a:pt x="131318" y="432000"/>
                  <a:pt x="196364" y="432000"/>
                </a:cubicBezTo>
                <a:cubicBezTo>
                  <a:pt x="233427" y="432000"/>
                  <a:pt x="268405" y="414573"/>
                  <a:pt x="290618" y="384873"/>
                </a:cubicBezTo>
                <a:lnTo>
                  <a:pt x="343636" y="314182"/>
                </a:lnTo>
                <a:close/>
                <a:moveTo>
                  <a:pt x="441818" y="314182"/>
                </a:moveTo>
                <a:lnTo>
                  <a:pt x="494836" y="384873"/>
                </a:lnTo>
                <a:cubicBezTo>
                  <a:pt x="517050" y="414573"/>
                  <a:pt x="552027" y="432000"/>
                  <a:pt x="589091" y="432000"/>
                </a:cubicBezTo>
                <a:cubicBezTo>
                  <a:pt x="654136" y="432000"/>
                  <a:pt x="706909" y="379227"/>
                  <a:pt x="706909" y="314182"/>
                </a:cubicBezTo>
                <a:cubicBezTo>
                  <a:pt x="706909" y="249136"/>
                  <a:pt x="654136" y="196364"/>
                  <a:pt x="589091" y="196364"/>
                </a:cubicBezTo>
                <a:cubicBezTo>
                  <a:pt x="552027" y="196364"/>
                  <a:pt x="517050" y="213791"/>
                  <a:pt x="494836" y="243491"/>
                </a:cubicBezTo>
                <a:lnTo>
                  <a:pt x="441818" y="314182"/>
                </a:ln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5" name="Text 2"/>
          <p:cNvSpPr/>
          <p:nvPr/>
        </p:nvSpPr>
        <p:spPr>
          <a:xfrm>
            <a:off x="4575682" y="833455"/>
            <a:ext cx="3045818" cy="1309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123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Journey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123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Continues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987500" y="2352000"/>
            <a:ext cx="2216727" cy="314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62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Udhëtimi Vazhdon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135182" y="2945455"/>
            <a:ext cx="7924364" cy="680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49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is not just the future—it's the present. The question is not whether AI will change our world, but </a:t>
            </a:r>
            <a:r>
              <a:rPr lang="en-US" sz="1649" b="1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we will shape that change</a:t>
            </a:r>
            <a:r>
              <a:rPr lang="en-US" sz="1649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143909" y="3765818"/>
            <a:ext cx="7906909" cy="567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74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IA nuk është vetëm e ardhmja—është e tashmja. Pyetja nuk është nëse IA do të ndryshojë botën tonë, por si ne do ta formësojmë atë ndryshim.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746091" y="4682182"/>
            <a:ext cx="6702545" cy="1832727"/>
          </a:xfrm>
          <a:custGeom>
            <a:avLst/>
            <a:gdLst/>
            <a:ahLst/>
            <a:cxnLst/>
            <a:rect l="l" t="t" r="r" b="b"/>
            <a:pathLst>
              <a:path w="6702545" h="1832727">
                <a:moveTo>
                  <a:pt x="139635" y="0"/>
                </a:moveTo>
                <a:lnTo>
                  <a:pt x="6562910" y="0"/>
                </a:lnTo>
                <a:cubicBezTo>
                  <a:pt x="6640029" y="0"/>
                  <a:pt x="6702545" y="62517"/>
                  <a:pt x="6702545" y="139635"/>
                </a:cubicBezTo>
                <a:lnTo>
                  <a:pt x="6702545" y="1693092"/>
                </a:lnTo>
                <a:cubicBezTo>
                  <a:pt x="6702545" y="1770210"/>
                  <a:pt x="6640029" y="1832727"/>
                  <a:pt x="6562910" y="1832727"/>
                </a:cubicBezTo>
                <a:lnTo>
                  <a:pt x="139635" y="1832727"/>
                </a:lnTo>
                <a:cubicBezTo>
                  <a:pt x="62569" y="1832727"/>
                  <a:pt x="0" y="1770159"/>
                  <a:pt x="0" y="1693092"/>
                </a:cubicBezTo>
                <a:lnTo>
                  <a:pt x="0" y="139635"/>
                </a:lnTo>
                <a:cubicBezTo>
                  <a:pt x="0" y="62517"/>
                  <a:pt x="62517" y="0"/>
                  <a:pt x="13963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2973000" y="4961455"/>
            <a:ext cx="6248727" cy="680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4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future belongs to those who learn to work alongside AI, </a:t>
            </a:r>
            <a:r>
              <a:rPr lang="en-US" sz="1649" b="1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amplifying human creativity and potential</a:t>
            </a:r>
            <a:r>
              <a:rPr lang="en-US" sz="164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981727" y="5746909"/>
            <a:ext cx="6231273" cy="488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4" dirty="0">
                <a:solidFill>
                  <a:srgbClr val="8FB7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 ardhmja i përket atyre që mësojnë të punojnë krahas IA-së, duke zgjeruar kreativitetin dhe potencialin njerëzor.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500318" y="6898909"/>
            <a:ext cx="209455" cy="209455"/>
          </a:xfrm>
          <a:custGeom>
            <a:avLst/>
            <a:gdLst/>
            <a:ahLst/>
            <a:cxnLst/>
            <a:rect l="l" t="t" r="r" b="b"/>
            <a:pathLst>
              <a:path w="209455" h="209455">
                <a:moveTo>
                  <a:pt x="49091" y="22909"/>
                </a:moveTo>
                <a:cubicBezTo>
                  <a:pt x="49091" y="10268"/>
                  <a:pt x="59359" y="0"/>
                  <a:pt x="72000" y="0"/>
                </a:cubicBezTo>
                <a:lnTo>
                  <a:pt x="81818" y="0"/>
                </a:lnTo>
                <a:cubicBezTo>
                  <a:pt x="89059" y="0"/>
                  <a:pt x="94909" y="5850"/>
                  <a:pt x="94909" y="13091"/>
                </a:cubicBezTo>
                <a:lnTo>
                  <a:pt x="94909" y="196364"/>
                </a:lnTo>
                <a:cubicBezTo>
                  <a:pt x="94909" y="203605"/>
                  <a:pt x="89059" y="209455"/>
                  <a:pt x="81818" y="209455"/>
                </a:cubicBezTo>
                <a:lnTo>
                  <a:pt x="68727" y="209455"/>
                </a:lnTo>
                <a:cubicBezTo>
                  <a:pt x="56536" y="209455"/>
                  <a:pt x="46268" y="201109"/>
                  <a:pt x="43364" y="189818"/>
                </a:cubicBezTo>
                <a:cubicBezTo>
                  <a:pt x="43077" y="189818"/>
                  <a:pt x="42832" y="189818"/>
                  <a:pt x="42545" y="189818"/>
                </a:cubicBezTo>
                <a:cubicBezTo>
                  <a:pt x="24464" y="189818"/>
                  <a:pt x="9818" y="175173"/>
                  <a:pt x="9818" y="157091"/>
                </a:cubicBezTo>
                <a:cubicBezTo>
                  <a:pt x="9818" y="149727"/>
                  <a:pt x="12273" y="142936"/>
                  <a:pt x="16364" y="137455"/>
                </a:cubicBezTo>
                <a:cubicBezTo>
                  <a:pt x="8427" y="131482"/>
                  <a:pt x="3273" y="121991"/>
                  <a:pt x="3273" y="111273"/>
                </a:cubicBezTo>
                <a:cubicBezTo>
                  <a:pt x="3273" y="98632"/>
                  <a:pt x="10473" y="87627"/>
                  <a:pt x="20945" y="82186"/>
                </a:cubicBezTo>
                <a:cubicBezTo>
                  <a:pt x="18041" y="77277"/>
                  <a:pt x="16364" y="71550"/>
                  <a:pt x="16364" y="65455"/>
                </a:cubicBezTo>
                <a:cubicBezTo>
                  <a:pt x="16364" y="47373"/>
                  <a:pt x="31009" y="32727"/>
                  <a:pt x="49091" y="32727"/>
                </a:cubicBezTo>
                <a:lnTo>
                  <a:pt x="49091" y="22909"/>
                </a:lnTo>
                <a:close/>
                <a:moveTo>
                  <a:pt x="160364" y="22909"/>
                </a:moveTo>
                <a:lnTo>
                  <a:pt x="160364" y="32727"/>
                </a:lnTo>
                <a:cubicBezTo>
                  <a:pt x="178445" y="32727"/>
                  <a:pt x="193091" y="47373"/>
                  <a:pt x="193091" y="65455"/>
                </a:cubicBezTo>
                <a:cubicBezTo>
                  <a:pt x="193091" y="71591"/>
                  <a:pt x="191414" y="77318"/>
                  <a:pt x="188509" y="82186"/>
                </a:cubicBezTo>
                <a:cubicBezTo>
                  <a:pt x="199023" y="87627"/>
                  <a:pt x="206182" y="98591"/>
                  <a:pt x="206182" y="111273"/>
                </a:cubicBezTo>
                <a:cubicBezTo>
                  <a:pt x="206182" y="121991"/>
                  <a:pt x="201027" y="131482"/>
                  <a:pt x="193091" y="137455"/>
                </a:cubicBezTo>
                <a:cubicBezTo>
                  <a:pt x="197182" y="142936"/>
                  <a:pt x="199636" y="149727"/>
                  <a:pt x="199636" y="157091"/>
                </a:cubicBezTo>
                <a:cubicBezTo>
                  <a:pt x="199636" y="175173"/>
                  <a:pt x="184991" y="189818"/>
                  <a:pt x="166909" y="189818"/>
                </a:cubicBezTo>
                <a:cubicBezTo>
                  <a:pt x="166623" y="189818"/>
                  <a:pt x="166377" y="189818"/>
                  <a:pt x="166091" y="189818"/>
                </a:cubicBezTo>
                <a:cubicBezTo>
                  <a:pt x="163186" y="201109"/>
                  <a:pt x="152918" y="209455"/>
                  <a:pt x="140727" y="209455"/>
                </a:cubicBezTo>
                <a:lnTo>
                  <a:pt x="127636" y="209455"/>
                </a:lnTo>
                <a:cubicBezTo>
                  <a:pt x="120395" y="209455"/>
                  <a:pt x="114545" y="203605"/>
                  <a:pt x="114545" y="196364"/>
                </a:cubicBezTo>
                <a:lnTo>
                  <a:pt x="114545" y="13091"/>
                </a:lnTo>
                <a:cubicBezTo>
                  <a:pt x="114545" y="5850"/>
                  <a:pt x="120395" y="0"/>
                  <a:pt x="127636" y="0"/>
                </a:cubicBezTo>
                <a:lnTo>
                  <a:pt x="137455" y="0"/>
                </a:lnTo>
                <a:cubicBezTo>
                  <a:pt x="150095" y="0"/>
                  <a:pt x="160364" y="10268"/>
                  <a:pt x="160364" y="22909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3" name="Text 10"/>
          <p:cNvSpPr/>
          <p:nvPr/>
        </p:nvSpPr>
        <p:spPr>
          <a:xfrm>
            <a:off x="3801409" y="6881455"/>
            <a:ext cx="968727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37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 / Mëso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012045" y="6864000"/>
            <a:ext cx="8727" cy="279273"/>
          </a:xfrm>
          <a:custGeom>
            <a:avLst/>
            <a:gdLst/>
            <a:ahLst/>
            <a:cxnLst/>
            <a:rect l="l" t="t" r="r" b="b"/>
            <a:pathLst>
              <a:path w="8727" h="279273">
                <a:moveTo>
                  <a:pt x="0" y="0"/>
                </a:moveTo>
                <a:lnTo>
                  <a:pt x="8727" y="0"/>
                </a:lnTo>
                <a:lnTo>
                  <a:pt x="8727" y="279273"/>
                </a:lnTo>
                <a:lnTo>
                  <a:pt x="0" y="279273"/>
                </a:lnTo>
                <a:lnTo>
                  <a:pt x="0" y="0"/>
                </a:ln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15" name="Shape 12"/>
          <p:cNvSpPr/>
          <p:nvPr/>
        </p:nvSpPr>
        <p:spPr>
          <a:xfrm>
            <a:off x="5352409" y="6898909"/>
            <a:ext cx="157091" cy="209455"/>
          </a:xfrm>
          <a:custGeom>
            <a:avLst/>
            <a:gdLst/>
            <a:ahLst/>
            <a:cxnLst/>
            <a:rect l="l" t="t" r="r" b="b"/>
            <a:pathLst>
              <a:path w="157091" h="209455">
                <a:moveTo>
                  <a:pt x="119823" y="157091"/>
                </a:moveTo>
                <a:cubicBezTo>
                  <a:pt x="122809" y="147968"/>
                  <a:pt x="128782" y="139705"/>
                  <a:pt x="135532" y="132586"/>
                </a:cubicBezTo>
                <a:cubicBezTo>
                  <a:pt x="148909" y="118514"/>
                  <a:pt x="157091" y="99491"/>
                  <a:pt x="157091" y="78545"/>
                </a:cubicBezTo>
                <a:cubicBezTo>
                  <a:pt x="157091" y="35182"/>
                  <a:pt x="121909" y="0"/>
                  <a:pt x="78545" y="0"/>
                </a:cubicBezTo>
                <a:cubicBezTo>
                  <a:pt x="35182" y="0"/>
                  <a:pt x="0" y="35182"/>
                  <a:pt x="0" y="78545"/>
                </a:cubicBezTo>
                <a:cubicBezTo>
                  <a:pt x="0" y="99491"/>
                  <a:pt x="8182" y="118514"/>
                  <a:pt x="21559" y="132586"/>
                </a:cubicBezTo>
                <a:cubicBezTo>
                  <a:pt x="28309" y="139705"/>
                  <a:pt x="34323" y="147968"/>
                  <a:pt x="37268" y="157091"/>
                </a:cubicBezTo>
                <a:lnTo>
                  <a:pt x="119782" y="157091"/>
                </a:lnTo>
                <a:close/>
                <a:moveTo>
                  <a:pt x="117818" y="176727"/>
                </a:moveTo>
                <a:lnTo>
                  <a:pt x="39273" y="176727"/>
                </a:lnTo>
                <a:lnTo>
                  <a:pt x="39273" y="183273"/>
                </a:lnTo>
                <a:cubicBezTo>
                  <a:pt x="39273" y="201355"/>
                  <a:pt x="53918" y="216000"/>
                  <a:pt x="72000" y="216000"/>
                </a:cubicBezTo>
                <a:lnTo>
                  <a:pt x="85091" y="216000"/>
                </a:lnTo>
                <a:cubicBezTo>
                  <a:pt x="103173" y="216000"/>
                  <a:pt x="117818" y="201355"/>
                  <a:pt x="117818" y="183273"/>
                </a:cubicBezTo>
                <a:lnTo>
                  <a:pt x="117818" y="176727"/>
                </a:lnTo>
                <a:close/>
                <a:moveTo>
                  <a:pt x="75273" y="45818"/>
                </a:moveTo>
                <a:cubicBezTo>
                  <a:pt x="58991" y="45818"/>
                  <a:pt x="45818" y="58991"/>
                  <a:pt x="45818" y="75273"/>
                </a:cubicBezTo>
                <a:cubicBezTo>
                  <a:pt x="45818" y="80714"/>
                  <a:pt x="41441" y="85091"/>
                  <a:pt x="36000" y="85091"/>
                </a:cubicBezTo>
                <a:cubicBezTo>
                  <a:pt x="30559" y="85091"/>
                  <a:pt x="26182" y="80714"/>
                  <a:pt x="26182" y="75273"/>
                </a:cubicBezTo>
                <a:cubicBezTo>
                  <a:pt x="26182" y="48150"/>
                  <a:pt x="48150" y="26182"/>
                  <a:pt x="75273" y="26182"/>
                </a:cubicBezTo>
                <a:cubicBezTo>
                  <a:pt x="80714" y="26182"/>
                  <a:pt x="85091" y="30559"/>
                  <a:pt x="85091" y="36000"/>
                </a:cubicBezTo>
                <a:cubicBezTo>
                  <a:pt x="85091" y="41441"/>
                  <a:pt x="80714" y="45818"/>
                  <a:pt x="75273" y="45818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6" name="Text 13"/>
          <p:cNvSpPr/>
          <p:nvPr/>
        </p:nvSpPr>
        <p:spPr>
          <a:xfrm>
            <a:off x="5627318" y="6881455"/>
            <a:ext cx="1300364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37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 / Adaptohu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166591" y="6864000"/>
            <a:ext cx="8727" cy="279273"/>
          </a:xfrm>
          <a:custGeom>
            <a:avLst/>
            <a:gdLst/>
            <a:ahLst/>
            <a:cxnLst/>
            <a:rect l="l" t="t" r="r" b="b"/>
            <a:pathLst>
              <a:path w="8727" h="279273">
                <a:moveTo>
                  <a:pt x="0" y="0"/>
                </a:moveTo>
                <a:lnTo>
                  <a:pt x="8727" y="0"/>
                </a:lnTo>
                <a:lnTo>
                  <a:pt x="8727" y="279273"/>
                </a:lnTo>
                <a:lnTo>
                  <a:pt x="0" y="279273"/>
                </a:lnTo>
                <a:lnTo>
                  <a:pt x="0" y="0"/>
                </a:lnTo>
                <a:close/>
              </a:path>
            </a:pathLst>
          </a:custGeom>
          <a:solidFill>
            <a:srgbClr val="8FB7AC"/>
          </a:solidFill>
          <a:ln/>
        </p:spPr>
      </p:sp>
      <p:sp>
        <p:nvSpPr>
          <p:cNvPr id="18" name="Shape 15"/>
          <p:cNvSpPr/>
          <p:nvPr/>
        </p:nvSpPr>
        <p:spPr>
          <a:xfrm>
            <a:off x="7480773" y="6898909"/>
            <a:ext cx="209455" cy="209455"/>
          </a:xfrm>
          <a:custGeom>
            <a:avLst/>
            <a:gdLst/>
            <a:ahLst/>
            <a:cxnLst/>
            <a:rect l="l" t="t" r="r" b="b"/>
            <a:pathLst>
              <a:path w="209455" h="209455">
                <a:moveTo>
                  <a:pt x="52364" y="130909"/>
                </a:moveTo>
                <a:lnTo>
                  <a:pt x="10023" y="130909"/>
                </a:lnTo>
                <a:cubicBezTo>
                  <a:pt x="-164" y="130909"/>
                  <a:pt x="-6423" y="119823"/>
                  <a:pt x="-1186" y="111068"/>
                </a:cubicBezTo>
                <a:lnTo>
                  <a:pt x="20455" y="74986"/>
                </a:lnTo>
                <a:cubicBezTo>
                  <a:pt x="24014" y="69055"/>
                  <a:pt x="30395" y="65455"/>
                  <a:pt x="37309" y="65455"/>
                </a:cubicBezTo>
                <a:lnTo>
                  <a:pt x="76173" y="65455"/>
                </a:lnTo>
                <a:cubicBezTo>
                  <a:pt x="107305" y="12723"/>
                  <a:pt x="153736" y="10064"/>
                  <a:pt x="184786" y="14605"/>
                </a:cubicBezTo>
                <a:cubicBezTo>
                  <a:pt x="190023" y="15382"/>
                  <a:pt x="194114" y="19473"/>
                  <a:pt x="194850" y="24668"/>
                </a:cubicBezTo>
                <a:cubicBezTo>
                  <a:pt x="199391" y="55718"/>
                  <a:pt x="196732" y="102150"/>
                  <a:pt x="144000" y="133282"/>
                </a:cubicBezTo>
                <a:lnTo>
                  <a:pt x="144000" y="172145"/>
                </a:lnTo>
                <a:cubicBezTo>
                  <a:pt x="144000" y="179059"/>
                  <a:pt x="140400" y="185441"/>
                  <a:pt x="134468" y="189000"/>
                </a:cubicBezTo>
                <a:lnTo>
                  <a:pt x="98386" y="210641"/>
                </a:lnTo>
                <a:cubicBezTo>
                  <a:pt x="89673" y="215877"/>
                  <a:pt x="78545" y="209577"/>
                  <a:pt x="78545" y="199432"/>
                </a:cubicBezTo>
                <a:lnTo>
                  <a:pt x="78545" y="157091"/>
                </a:lnTo>
                <a:cubicBezTo>
                  <a:pt x="78545" y="142650"/>
                  <a:pt x="66805" y="130909"/>
                  <a:pt x="52364" y="130909"/>
                </a:cubicBezTo>
                <a:lnTo>
                  <a:pt x="52323" y="130909"/>
                </a:lnTo>
                <a:close/>
                <a:moveTo>
                  <a:pt x="163636" y="65455"/>
                </a:moveTo>
                <a:cubicBezTo>
                  <a:pt x="163636" y="54617"/>
                  <a:pt x="154838" y="45818"/>
                  <a:pt x="144000" y="45818"/>
                </a:cubicBezTo>
                <a:cubicBezTo>
                  <a:pt x="133162" y="45818"/>
                  <a:pt x="124364" y="54617"/>
                  <a:pt x="124364" y="65455"/>
                </a:cubicBezTo>
                <a:cubicBezTo>
                  <a:pt x="124364" y="76292"/>
                  <a:pt x="133162" y="85091"/>
                  <a:pt x="144000" y="85091"/>
                </a:cubicBezTo>
                <a:cubicBezTo>
                  <a:pt x="154838" y="85091"/>
                  <a:pt x="163636" y="76292"/>
                  <a:pt x="163636" y="65455"/>
                </a:cubicBezTo>
                <a:close/>
              </a:path>
            </a:pathLst>
          </a:custGeom>
          <a:solidFill>
            <a:srgbClr val="4C8A7A"/>
          </a:solidFill>
          <a:ln/>
        </p:spPr>
      </p:sp>
      <p:sp>
        <p:nvSpPr>
          <p:cNvPr id="19" name="Text 16"/>
          <p:cNvSpPr/>
          <p:nvPr/>
        </p:nvSpPr>
        <p:spPr>
          <a:xfrm>
            <a:off x="7781864" y="6881455"/>
            <a:ext cx="977455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37" dirty="0">
                <a:solidFill>
                  <a:srgbClr val="E3E7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/ Krijo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3921</Words>
  <Application>Microsoft Office PowerPoint</Application>
  <PresentationFormat>Widescreen</PresentationFormat>
  <Paragraphs>666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Quattrocento Sans</vt:lpstr>
      <vt:lpstr>Arial</vt:lpstr>
      <vt:lpstr>Calibri</vt:lpstr>
      <vt:lpstr>微软雅黑</vt:lpstr>
      <vt:lpstr>Sorts Mill Goudy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Artificial Intelligence</dc:title>
  <dc:subject>Introduction to Artificial Intelligence</dc:subject>
  <dc:creator>Kimi</dc:creator>
  <cp:lastModifiedBy>Admin</cp:lastModifiedBy>
  <cp:revision>3</cp:revision>
  <dcterms:created xsi:type="dcterms:W3CDTF">2026-04-11T16:37:36Z</dcterms:created>
  <dcterms:modified xsi:type="dcterms:W3CDTF">2026-04-11T17:01:23Z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{"Label":"Introduction to Artificial Intelligence","ContentProducer":"001191110108MACG2KBH8F10000","ProduceID":"19d7d603-6832-85e2-8000-000003c692cb","ReservedCode1":"","ContentPropagator":"001191110108MACG2KBH8F20000","PropagateID":"19d7d603-6832-85e2-80</vt:lpwstr>
  </property>
</Properties>
</file>