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Liter" panose="020B0604020202020204" charset="0"/>
      <p:regular r:id="rId25"/>
    </p:embeddedFont>
    <p:embeddedFont>
      <p:font typeface="Quattrocento Sans" panose="020B0604020202020204" charset="0"/>
      <p:regular r:id="rId26"/>
    </p:embeddedFont>
  </p:embeddedFontLst>
  <p:defaultTextStyle>
    <a:defPPr>
      <a:defRPr lang="en-A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2686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31de001fad0b1d29118d8cd137f711c370b41889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7779" b="77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12529">
                  <a:alpha val="90000"/>
                </a:srgbClr>
              </a:gs>
              <a:gs pos="50000">
                <a:srgbClr val="495057">
                  <a:alpha val="80000"/>
                </a:srgbClr>
              </a:gs>
              <a:gs pos="100000">
                <a:srgbClr val="212529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224784" y="967978"/>
            <a:ext cx="3743325" cy="419100"/>
          </a:xfrm>
          <a:custGeom>
            <a:avLst/>
            <a:gdLst/>
            <a:ahLst/>
            <a:cxnLst/>
            <a:rect l="l" t="t" r="r" b="b"/>
            <a:pathLst>
              <a:path w="3743325" h="419100">
                <a:moveTo>
                  <a:pt x="209550" y="0"/>
                </a:moveTo>
                <a:lnTo>
                  <a:pt x="3533775" y="0"/>
                </a:lnTo>
                <a:cubicBezTo>
                  <a:pt x="3649429" y="0"/>
                  <a:pt x="3743325" y="93896"/>
                  <a:pt x="3743325" y="209550"/>
                </a:cubicBezTo>
                <a:lnTo>
                  <a:pt x="3743325" y="209550"/>
                </a:lnTo>
                <a:cubicBezTo>
                  <a:pt x="3743325" y="325204"/>
                  <a:pt x="3649429" y="419100"/>
                  <a:pt x="3533775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410521" y="1044178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kern="0" spc="135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Reference Guide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75136" y="1615678"/>
            <a:ext cx="76390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413027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8F9FA">
              <a:alpha val="50196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432298" y="4396978"/>
            <a:ext cx="73247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 Essential Algorithms Across 5 Categories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698700" y="564237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022550" y="5623322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223123" y="564237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546973" y="5623322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947124" y="564237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85262" y="5623322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364" y="346364"/>
            <a:ext cx="1156854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kern="0" spc="55" dirty="0">
                <a:solidFill>
                  <a:srgbClr val="49505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6364" y="623455"/>
            <a:ext cx="11707091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73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364" y="1177636"/>
            <a:ext cx="692727" cy="34636"/>
          </a:xfrm>
          <a:custGeom>
            <a:avLst/>
            <a:gdLst/>
            <a:ahLst/>
            <a:cxnLst/>
            <a:rect l="l" t="t" r="r" b="b"/>
            <a:pathLst>
              <a:path w="692727" h="34636">
                <a:moveTo>
                  <a:pt x="0" y="0"/>
                </a:moveTo>
                <a:lnTo>
                  <a:pt x="692727" y="0"/>
                </a:lnTo>
                <a:lnTo>
                  <a:pt x="692727" y="34636"/>
                </a:lnTo>
                <a:lnTo>
                  <a:pt x="0" y="34636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5" name="Shape 3"/>
          <p:cNvSpPr/>
          <p:nvPr/>
        </p:nvSpPr>
        <p:spPr>
          <a:xfrm>
            <a:off x="363682" y="1489364"/>
            <a:ext cx="5524500" cy="1575955"/>
          </a:xfrm>
          <a:custGeom>
            <a:avLst/>
            <a:gdLst/>
            <a:ahLst/>
            <a:cxnLst/>
            <a:rect l="l" t="t" r="r" b="b"/>
            <a:pathLst>
              <a:path w="5524500" h="1575955">
                <a:moveTo>
                  <a:pt x="34636" y="0"/>
                </a:moveTo>
                <a:lnTo>
                  <a:pt x="5420597" y="0"/>
                </a:lnTo>
                <a:cubicBezTo>
                  <a:pt x="5477981" y="0"/>
                  <a:pt x="5524500" y="46519"/>
                  <a:pt x="5524500" y="103903"/>
                </a:cubicBezTo>
                <a:lnTo>
                  <a:pt x="5524500" y="1472052"/>
                </a:lnTo>
                <a:cubicBezTo>
                  <a:pt x="5524500" y="1529436"/>
                  <a:pt x="5477981" y="1575955"/>
                  <a:pt x="5420597" y="1575955"/>
                </a:cubicBezTo>
                <a:lnTo>
                  <a:pt x="34636" y="1575955"/>
                </a:lnTo>
                <a:cubicBezTo>
                  <a:pt x="15507" y="1575955"/>
                  <a:pt x="0" y="1560447"/>
                  <a:pt x="0" y="1541318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977" dist="865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3682" y="1489364"/>
            <a:ext cx="34636" cy="1575955"/>
          </a:xfrm>
          <a:custGeom>
            <a:avLst/>
            <a:gdLst/>
            <a:ahLst/>
            <a:cxnLst/>
            <a:rect l="l" t="t" r="r" b="b"/>
            <a:pathLst>
              <a:path w="34636" h="1575955">
                <a:moveTo>
                  <a:pt x="34636" y="0"/>
                </a:moveTo>
                <a:lnTo>
                  <a:pt x="34636" y="0"/>
                </a:lnTo>
                <a:lnTo>
                  <a:pt x="34636" y="1575955"/>
                </a:lnTo>
                <a:lnTo>
                  <a:pt x="34636" y="1575955"/>
                </a:lnTo>
                <a:cubicBezTo>
                  <a:pt x="15507" y="1575955"/>
                  <a:pt x="0" y="1560447"/>
                  <a:pt x="0" y="1541318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7" name="Shape 5"/>
          <p:cNvSpPr/>
          <p:nvPr/>
        </p:nvSpPr>
        <p:spPr>
          <a:xfrm>
            <a:off x="588818" y="1697182"/>
            <a:ext cx="484909" cy="484909"/>
          </a:xfrm>
          <a:custGeom>
            <a:avLst/>
            <a:gdLst/>
            <a:ahLst/>
            <a:cxnLst/>
            <a:rect l="l" t="t" r="r" b="b"/>
            <a:pathLst>
              <a:path w="484909" h="484909">
                <a:moveTo>
                  <a:pt x="242455" y="0"/>
                </a:moveTo>
                <a:lnTo>
                  <a:pt x="242455" y="0"/>
                </a:lnTo>
                <a:cubicBezTo>
                  <a:pt x="376269" y="0"/>
                  <a:pt x="484909" y="108640"/>
                  <a:pt x="484909" y="242455"/>
                </a:cubicBezTo>
                <a:lnTo>
                  <a:pt x="484909" y="242455"/>
                </a:lnTo>
                <a:cubicBezTo>
                  <a:pt x="484909" y="376269"/>
                  <a:pt x="376269" y="484909"/>
                  <a:pt x="242455" y="484909"/>
                </a:cubicBezTo>
                <a:lnTo>
                  <a:pt x="242455" y="484909"/>
                </a:lnTo>
                <a:cubicBezTo>
                  <a:pt x="108640" y="484909"/>
                  <a:pt x="0" y="376269"/>
                  <a:pt x="0" y="242455"/>
                </a:cubicBezTo>
                <a:lnTo>
                  <a:pt x="0" y="242455"/>
                </a:lnTo>
                <a:cubicBezTo>
                  <a:pt x="0" y="108640"/>
                  <a:pt x="108640" y="0"/>
                  <a:pt x="242455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8" name="Text 6"/>
          <p:cNvSpPr/>
          <p:nvPr/>
        </p:nvSpPr>
        <p:spPr>
          <a:xfrm>
            <a:off x="536864" y="1697182"/>
            <a:ext cx="588818" cy="484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2273" y="1801091"/>
            <a:ext cx="1974273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2273" y="2286000"/>
            <a:ext cx="4537364" cy="225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 and classification algorithms that learn from labeled data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12273" y="2615045"/>
            <a:ext cx="1125682" cy="242455"/>
          </a:xfrm>
          <a:custGeom>
            <a:avLst/>
            <a:gdLst/>
            <a:ahLst/>
            <a:cxnLst/>
            <a:rect l="l" t="t" r="r" b="b"/>
            <a:pathLst>
              <a:path w="1125682" h="242455">
                <a:moveTo>
                  <a:pt x="121227" y="0"/>
                </a:moveTo>
                <a:lnTo>
                  <a:pt x="1004455" y="0"/>
                </a:lnTo>
                <a:cubicBezTo>
                  <a:pt x="1071362" y="0"/>
                  <a:pt x="1125682" y="54320"/>
                  <a:pt x="1125682" y="121227"/>
                </a:cubicBezTo>
                <a:lnTo>
                  <a:pt x="1125682" y="121227"/>
                </a:lnTo>
                <a:cubicBezTo>
                  <a:pt x="1125682" y="188134"/>
                  <a:pt x="1071362" y="242455"/>
                  <a:pt x="1004455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1212273" y="2615045"/>
            <a:ext cx="1186295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08580" y="2615045"/>
            <a:ext cx="978477" cy="242455"/>
          </a:xfrm>
          <a:custGeom>
            <a:avLst/>
            <a:gdLst/>
            <a:ahLst/>
            <a:cxnLst/>
            <a:rect l="l" t="t" r="r" b="b"/>
            <a:pathLst>
              <a:path w="978477" h="242455">
                <a:moveTo>
                  <a:pt x="121227" y="0"/>
                </a:moveTo>
                <a:lnTo>
                  <a:pt x="857250" y="0"/>
                </a:lnTo>
                <a:cubicBezTo>
                  <a:pt x="924157" y="0"/>
                  <a:pt x="978477" y="54320"/>
                  <a:pt x="978477" y="121227"/>
                </a:cubicBezTo>
                <a:lnTo>
                  <a:pt x="978477" y="121227"/>
                </a:lnTo>
                <a:cubicBezTo>
                  <a:pt x="978477" y="188134"/>
                  <a:pt x="924157" y="242455"/>
                  <a:pt x="857250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2408580" y="2615045"/>
            <a:ext cx="1039091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Trees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53083" y="2615045"/>
            <a:ext cx="458932" cy="242455"/>
          </a:xfrm>
          <a:custGeom>
            <a:avLst/>
            <a:gdLst/>
            <a:ahLst/>
            <a:cxnLst/>
            <a:rect l="l" t="t" r="r" b="b"/>
            <a:pathLst>
              <a:path w="458932" h="242455">
                <a:moveTo>
                  <a:pt x="121227" y="0"/>
                </a:moveTo>
                <a:lnTo>
                  <a:pt x="337705" y="0"/>
                </a:lnTo>
                <a:cubicBezTo>
                  <a:pt x="404612" y="0"/>
                  <a:pt x="458932" y="54320"/>
                  <a:pt x="458932" y="121227"/>
                </a:cubicBezTo>
                <a:lnTo>
                  <a:pt x="458932" y="121227"/>
                </a:lnTo>
                <a:cubicBezTo>
                  <a:pt x="458932" y="188134"/>
                  <a:pt x="404612" y="242455"/>
                  <a:pt x="337705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3453083" y="2615045"/>
            <a:ext cx="519545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77364" y="2615045"/>
            <a:ext cx="450273" cy="242455"/>
          </a:xfrm>
          <a:custGeom>
            <a:avLst/>
            <a:gdLst/>
            <a:ahLst/>
            <a:cxnLst/>
            <a:rect l="l" t="t" r="r" b="b"/>
            <a:pathLst>
              <a:path w="450273" h="242455">
                <a:moveTo>
                  <a:pt x="121227" y="0"/>
                </a:moveTo>
                <a:lnTo>
                  <a:pt x="329045" y="0"/>
                </a:lnTo>
                <a:cubicBezTo>
                  <a:pt x="395953" y="0"/>
                  <a:pt x="450273" y="54320"/>
                  <a:pt x="450273" y="121227"/>
                </a:cubicBezTo>
                <a:lnTo>
                  <a:pt x="450273" y="121227"/>
                </a:lnTo>
                <a:cubicBezTo>
                  <a:pt x="450273" y="188134"/>
                  <a:pt x="395953" y="242455"/>
                  <a:pt x="329045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3977364" y="2615045"/>
            <a:ext cx="510886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21136" y="1489364"/>
            <a:ext cx="5524500" cy="1575955"/>
          </a:xfrm>
          <a:custGeom>
            <a:avLst/>
            <a:gdLst/>
            <a:ahLst/>
            <a:cxnLst/>
            <a:rect l="l" t="t" r="r" b="b"/>
            <a:pathLst>
              <a:path w="5524500" h="1575955">
                <a:moveTo>
                  <a:pt x="34636" y="0"/>
                </a:moveTo>
                <a:lnTo>
                  <a:pt x="5420597" y="0"/>
                </a:lnTo>
                <a:cubicBezTo>
                  <a:pt x="5477981" y="0"/>
                  <a:pt x="5524500" y="46519"/>
                  <a:pt x="5524500" y="103903"/>
                </a:cubicBezTo>
                <a:lnTo>
                  <a:pt x="5524500" y="1472052"/>
                </a:lnTo>
                <a:cubicBezTo>
                  <a:pt x="5524500" y="1529436"/>
                  <a:pt x="5477981" y="1575955"/>
                  <a:pt x="5420597" y="1575955"/>
                </a:cubicBezTo>
                <a:lnTo>
                  <a:pt x="34636" y="1575955"/>
                </a:lnTo>
                <a:cubicBezTo>
                  <a:pt x="15507" y="1575955"/>
                  <a:pt x="0" y="1560447"/>
                  <a:pt x="0" y="1541318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977" dist="865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21136" y="1489364"/>
            <a:ext cx="34636" cy="1575955"/>
          </a:xfrm>
          <a:custGeom>
            <a:avLst/>
            <a:gdLst/>
            <a:ahLst/>
            <a:cxnLst/>
            <a:rect l="l" t="t" r="r" b="b"/>
            <a:pathLst>
              <a:path w="34636" h="1575955">
                <a:moveTo>
                  <a:pt x="34636" y="0"/>
                </a:moveTo>
                <a:lnTo>
                  <a:pt x="34636" y="0"/>
                </a:lnTo>
                <a:lnTo>
                  <a:pt x="34636" y="1575955"/>
                </a:lnTo>
                <a:lnTo>
                  <a:pt x="34636" y="1575955"/>
                </a:lnTo>
                <a:cubicBezTo>
                  <a:pt x="15507" y="1575955"/>
                  <a:pt x="0" y="1560447"/>
                  <a:pt x="0" y="1541318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21" name="Shape 19"/>
          <p:cNvSpPr/>
          <p:nvPr/>
        </p:nvSpPr>
        <p:spPr>
          <a:xfrm>
            <a:off x="6546273" y="1697182"/>
            <a:ext cx="484909" cy="484909"/>
          </a:xfrm>
          <a:custGeom>
            <a:avLst/>
            <a:gdLst/>
            <a:ahLst/>
            <a:cxnLst/>
            <a:rect l="l" t="t" r="r" b="b"/>
            <a:pathLst>
              <a:path w="484909" h="484909">
                <a:moveTo>
                  <a:pt x="242455" y="0"/>
                </a:moveTo>
                <a:lnTo>
                  <a:pt x="242455" y="0"/>
                </a:lnTo>
                <a:cubicBezTo>
                  <a:pt x="376269" y="0"/>
                  <a:pt x="484909" y="108640"/>
                  <a:pt x="484909" y="242455"/>
                </a:cubicBezTo>
                <a:lnTo>
                  <a:pt x="484909" y="242455"/>
                </a:lnTo>
                <a:cubicBezTo>
                  <a:pt x="484909" y="376269"/>
                  <a:pt x="376269" y="484909"/>
                  <a:pt x="242455" y="484909"/>
                </a:cubicBezTo>
                <a:lnTo>
                  <a:pt x="242455" y="484909"/>
                </a:lnTo>
                <a:cubicBezTo>
                  <a:pt x="108640" y="484909"/>
                  <a:pt x="0" y="376269"/>
                  <a:pt x="0" y="242455"/>
                </a:cubicBezTo>
                <a:lnTo>
                  <a:pt x="0" y="242455"/>
                </a:lnTo>
                <a:cubicBezTo>
                  <a:pt x="0" y="108640"/>
                  <a:pt x="108640" y="0"/>
                  <a:pt x="242455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22" name="Text 20"/>
          <p:cNvSpPr/>
          <p:nvPr/>
        </p:nvSpPr>
        <p:spPr>
          <a:xfrm>
            <a:off x="6494318" y="1697182"/>
            <a:ext cx="588818" cy="484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69727" y="1801091"/>
            <a:ext cx="2208068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69727" y="2286000"/>
            <a:ext cx="4537364" cy="225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Clustering and dimensionality reduction for pattern discovery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69727" y="2615045"/>
            <a:ext cx="684068" cy="242455"/>
          </a:xfrm>
          <a:custGeom>
            <a:avLst/>
            <a:gdLst/>
            <a:ahLst/>
            <a:cxnLst/>
            <a:rect l="l" t="t" r="r" b="b"/>
            <a:pathLst>
              <a:path w="684068" h="242455">
                <a:moveTo>
                  <a:pt x="121227" y="0"/>
                </a:moveTo>
                <a:lnTo>
                  <a:pt x="562841" y="0"/>
                </a:lnTo>
                <a:cubicBezTo>
                  <a:pt x="629748" y="0"/>
                  <a:pt x="684068" y="54320"/>
                  <a:pt x="684068" y="121227"/>
                </a:cubicBezTo>
                <a:lnTo>
                  <a:pt x="684068" y="121227"/>
                </a:lnTo>
                <a:cubicBezTo>
                  <a:pt x="684068" y="188134"/>
                  <a:pt x="629748" y="242455"/>
                  <a:pt x="562841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6" name="Text 24"/>
          <p:cNvSpPr/>
          <p:nvPr/>
        </p:nvSpPr>
        <p:spPr>
          <a:xfrm>
            <a:off x="7169727" y="2615045"/>
            <a:ext cx="744682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23068" y="2615045"/>
            <a:ext cx="666750" cy="242455"/>
          </a:xfrm>
          <a:custGeom>
            <a:avLst/>
            <a:gdLst/>
            <a:ahLst/>
            <a:cxnLst/>
            <a:rect l="l" t="t" r="r" b="b"/>
            <a:pathLst>
              <a:path w="666750" h="242455">
                <a:moveTo>
                  <a:pt x="121227" y="0"/>
                </a:moveTo>
                <a:lnTo>
                  <a:pt x="545523" y="0"/>
                </a:lnTo>
                <a:cubicBezTo>
                  <a:pt x="612430" y="0"/>
                  <a:pt x="666750" y="54320"/>
                  <a:pt x="666750" y="121227"/>
                </a:cubicBezTo>
                <a:lnTo>
                  <a:pt x="666750" y="121227"/>
                </a:lnTo>
                <a:cubicBezTo>
                  <a:pt x="666750" y="188134"/>
                  <a:pt x="612430" y="242455"/>
                  <a:pt x="545523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8" name="Text 26"/>
          <p:cNvSpPr/>
          <p:nvPr/>
        </p:nvSpPr>
        <p:spPr>
          <a:xfrm>
            <a:off x="7923068" y="2615045"/>
            <a:ext cx="727364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DBSCAN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661120" y="2615045"/>
            <a:ext cx="424295" cy="242455"/>
          </a:xfrm>
          <a:custGeom>
            <a:avLst/>
            <a:gdLst/>
            <a:ahLst/>
            <a:cxnLst/>
            <a:rect l="l" t="t" r="r" b="b"/>
            <a:pathLst>
              <a:path w="424295" h="242455">
                <a:moveTo>
                  <a:pt x="121227" y="0"/>
                </a:moveTo>
                <a:lnTo>
                  <a:pt x="303068" y="0"/>
                </a:lnTo>
                <a:cubicBezTo>
                  <a:pt x="369975" y="0"/>
                  <a:pt x="424295" y="54320"/>
                  <a:pt x="424295" y="121227"/>
                </a:cubicBezTo>
                <a:lnTo>
                  <a:pt x="424295" y="121227"/>
                </a:lnTo>
                <a:cubicBezTo>
                  <a:pt x="424295" y="188134"/>
                  <a:pt x="369975" y="242455"/>
                  <a:pt x="303068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0" name="Text 28"/>
          <p:cNvSpPr/>
          <p:nvPr/>
        </p:nvSpPr>
        <p:spPr>
          <a:xfrm>
            <a:off x="8661120" y="2615045"/>
            <a:ext cx="484909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158071" y="2615045"/>
            <a:ext cx="519545" cy="242455"/>
          </a:xfrm>
          <a:custGeom>
            <a:avLst/>
            <a:gdLst/>
            <a:ahLst/>
            <a:cxnLst/>
            <a:rect l="l" t="t" r="r" b="b"/>
            <a:pathLst>
              <a:path w="519545" h="242455">
                <a:moveTo>
                  <a:pt x="121227" y="0"/>
                </a:moveTo>
                <a:lnTo>
                  <a:pt x="398318" y="0"/>
                </a:lnTo>
                <a:cubicBezTo>
                  <a:pt x="465225" y="0"/>
                  <a:pt x="519545" y="54320"/>
                  <a:pt x="519545" y="121227"/>
                </a:cubicBezTo>
                <a:lnTo>
                  <a:pt x="519545" y="121227"/>
                </a:lnTo>
                <a:cubicBezTo>
                  <a:pt x="519545" y="188134"/>
                  <a:pt x="465225" y="242455"/>
                  <a:pt x="398318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2" name="Text 30"/>
          <p:cNvSpPr/>
          <p:nvPr/>
        </p:nvSpPr>
        <p:spPr>
          <a:xfrm>
            <a:off x="9158071" y="2615045"/>
            <a:ext cx="580159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t-SNE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3682" y="3342409"/>
            <a:ext cx="5524500" cy="1575955"/>
          </a:xfrm>
          <a:custGeom>
            <a:avLst/>
            <a:gdLst/>
            <a:ahLst/>
            <a:cxnLst/>
            <a:rect l="l" t="t" r="r" b="b"/>
            <a:pathLst>
              <a:path w="5524500" h="1575955">
                <a:moveTo>
                  <a:pt x="34636" y="0"/>
                </a:moveTo>
                <a:lnTo>
                  <a:pt x="5420597" y="0"/>
                </a:lnTo>
                <a:cubicBezTo>
                  <a:pt x="5477981" y="0"/>
                  <a:pt x="5524500" y="46519"/>
                  <a:pt x="5524500" y="103903"/>
                </a:cubicBezTo>
                <a:lnTo>
                  <a:pt x="5524500" y="1472052"/>
                </a:lnTo>
                <a:cubicBezTo>
                  <a:pt x="5524500" y="1529436"/>
                  <a:pt x="5477981" y="1575955"/>
                  <a:pt x="5420597" y="1575955"/>
                </a:cubicBezTo>
                <a:lnTo>
                  <a:pt x="34636" y="1575955"/>
                </a:lnTo>
                <a:cubicBezTo>
                  <a:pt x="15507" y="1575955"/>
                  <a:pt x="0" y="1560447"/>
                  <a:pt x="0" y="1541318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977" dist="865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3682" y="3342409"/>
            <a:ext cx="34636" cy="1575955"/>
          </a:xfrm>
          <a:custGeom>
            <a:avLst/>
            <a:gdLst/>
            <a:ahLst/>
            <a:cxnLst/>
            <a:rect l="l" t="t" r="r" b="b"/>
            <a:pathLst>
              <a:path w="34636" h="1575955">
                <a:moveTo>
                  <a:pt x="34636" y="0"/>
                </a:moveTo>
                <a:lnTo>
                  <a:pt x="34636" y="0"/>
                </a:lnTo>
                <a:lnTo>
                  <a:pt x="34636" y="1575955"/>
                </a:lnTo>
                <a:lnTo>
                  <a:pt x="34636" y="1575955"/>
                </a:lnTo>
                <a:cubicBezTo>
                  <a:pt x="15507" y="1575955"/>
                  <a:pt x="0" y="1560447"/>
                  <a:pt x="0" y="1541318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35" name="Shape 33"/>
          <p:cNvSpPr/>
          <p:nvPr/>
        </p:nvSpPr>
        <p:spPr>
          <a:xfrm>
            <a:off x="588818" y="3550227"/>
            <a:ext cx="484909" cy="484909"/>
          </a:xfrm>
          <a:custGeom>
            <a:avLst/>
            <a:gdLst/>
            <a:ahLst/>
            <a:cxnLst/>
            <a:rect l="l" t="t" r="r" b="b"/>
            <a:pathLst>
              <a:path w="484909" h="484909">
                <a:moveTo>
                  <a:pt x="242455" y="0"/>
                </a:moveTo>
                <a:lnTo>
                  <a:pt x="242455" y="0"/>
                </a:lnTo>
                <a:cubicBezTo>
                  <a:pt x="376269" y="0"/>
                  <a:pt x="484909" y="108640"/>
                  <a:pt x="484909" y="242455"/>
                </a:cubicBezTo>
                <a:lnTo>
                  <a:pt x="484909" y="242455"/>
                </a:lnTo>
                <a:cubicBezTo>
                  <a:pt x="484909" y="376269"/>
                  <a:pt x="376269" y="484909"/>
                  <a:pt x="242455" y="484909"/>
                </a:cubicBezTo>
                <a:lnTo>
                  <a:pt x="242455" y="484909"/>
                </a:lnTo>
                <a:cubicBezTo>
                  <a:pt x="108640" y="484909"/>
                  <a:pt x="0" y="376269"/>
                  <a:pt x="0" y="242455"/>
                </a:cubicBezTo>
                <a:lnTo>
                  <a:pt x="0" y="242455"/>
                </a:lnTo>
                <a:cubicBezTo>
                  <a:pt x="0" y="108640"/>
                  <a:pt x="108640" y="0"/>
                  <a:pt x="242455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36" name="Text 34"/>
          <p:cNvSpPr/>
          <p:nvPr/>
        </p:nvSpPr>
        <p:spPr>
          <a:xfrm>
            <a:off x="536864" y="3550227"/>
            <a:ext cx="588818" cy="484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12273" y="3654136"/>
            <a:ext cx="1437409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12273" y="4139045"/>
            <a:ext cx="4537364" cy="225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Neural network architectures for complex pattern recognition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12273" y="4468091"/>
            <a:ext cx="458932" cy="242455"/>
          </a:xfrm>
          <a:custGeom>
            <a:avLst/>
            <a:gdLst/>
            <a:ahLst/>
            <a:cxnLst/>
            <a:rect l="l" t="t" r="r" b="b"/>
            <a:pathLst>
              <a:path w="458932" h="242455">
                <a:moveTo>
                  <a:pt x="121227" y="0"/>
                </a:moveTo>
                <a:lnTo>
                  <a:pt x="337705" y="0"/>
                </a:lnTo>
                <a:cubicBezTo>
                  <a:pt x="404612" y="0"/>
                  <a:pt x="458932" y="54320"/>
                  <a:pt x="458932" y="121227"/>
                </a:cubicBezTo>
                <a:lnTo>
                  <a:pt x="458932" y="121227"/>
                </a:lnTo>
                <a:cubicBezTo>
                  <a:pt x="458932" y="188134"/>
                  <a:pt x="404612" y="242455"/>
                  <a:pt x="337705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0" name="Text 38"/>
          <p:cNvSpPr/>
          <p:nvPr/>
        </p:nvSpPr>
        <p:spPr>
          <a:xfrm>
            <a:off x="1212273" y="4468091"/>
            <a:ext cx="519545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737907" y="4468091"/>
            <a:ext cx="450273" cy="242455"/>
          </a:xfrm>
          <a:custGeom>
            <a:avLst/>
            <a:gdLst/>
            <a:ahLst/>
            <a:cxnLst/>
            <a:rect l="l" t="t" r="r" b="b"/>
            <a:pathLst>
              <a:path w="450273" h="242455">
                <a:moveTo>
                  <a:pt x="121227" y="0"/>
                </a:moveTo>
                <a:lnTo>
                  <a:pt x="329045" y="0"/>
                </a:lnTo>
                <a:cubicBezTo>
                  <a:pt x="395953" y="0"/>
                  <a:pt x="450273" y="54320"/>
                  <a:pt x="450273" y="121227"/>
                </a:cubicBezTo>
                <a:lnTo>
                  <a:pt x="450273" y="121227"/>
                </a:lnTo>
                <a:cubicBezTo>
                  <a:pt x="450273" y="188134"/>
                  <a:pt x="395953" y="242455"/>
                  <a:pt x="329045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2" name="Text 40"/>
          <p:cNvSpPr/>
          <p:nvPr/>
        </p:nvSpPr>
        <p:spPr>
          <a:xfrm>
            <a:off x="1737907" y="4468091"/>
            <a:ext cx="510886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RNN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2257858" y="4468091"/>
            <a:ext cx="502227" cy="242455"/>
          </a:xfrm>
          <a:custGeom>
            <a:avLst/>
            <a:gdLst/>
            <a:ahLst/>
            <a:cxnLst/>
            <a:rect l="l" t="t" r="r" b="b"/>
            <a:pathLst>
              <a:path w="502227" h="242455">
                <a:moveTo>
                  <a:pt x="121227" y="0"/>
                </a:moveTo>
                <a:lnTo>
                  <a:pt x="381000" y="0"/>
                </a:lnTo>
                <a:cubicBezTo>
                  <a:pt x="447907" y="0"/>
                  <a:pt x="502227" y="54320"/>
                  <a:pt x="502227" y="121227"/>
                </a:cubicBezTo>
                <a:lnTo>
                  <a:pt x="502227" y="121227"/>
                </a:lnTo>
                <a:cubicBezTo>
                  <a:pt x="502227" y="188134"/>
                  <a:pt x="447907" y="242455"/>
                  <a:pt x="381000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4" name="Text 42"/>
          <p:cNvSpPr/>
          <p:nvPr/>
        </p:nvSpPr>
        <p:spPr>
          <a:xfrm>
            <a:off x="2257858" y="4468091"/>
            <a:ext cx="562841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LSTM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827599" y="4468091"/>
            <a:ext cx="909205" cy="242455"/>
          </a:xfrm>
          <a:custGeom>
            <a:avLst/>
            <a:gdLst/>
            <a:ahLst/>
            <a:cxnLst/>
            <a:rect l="l" t="t" r="r" b="b"/>
            <a:pathLst>
              <a:path w="909205" h="242455">
                <a:moveTo>
                  <a:pt x="121227" y="0"/>
                </a:moveTo>
                <a:lnTo>
                  <a:pt x="787977" y="0"/>
                </a:lnTo>
                <a:cubicBezTo>
                  <a:pt x="854884" y="0"/>
                  <a:pt x="909205" y="54320"/>
                  <a:pt x="909205" y="121227"/>
                </a:cubicBezTo>
                <a:lnTo>
                  <a:pt x="909205" y="121227"/>
                </a:lnTo>
                <a:cubicBezTo>
                  <a:pt x="909205" y="188134"/>
                  <a:pt x="854884" y="242455"/>
                  <a:pt x="787977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6" name="Text 44"/>
          <p:cNvSpPr/>
          <p:nvPr/>
        </p:nvSpPr>
        <p:spPr>
          <a:xfrm>
            <a:off x="2827599" y="4468091"/>
            <a:ext cx="969818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21136" y="3342409"/>
            <a:ext cx="5524500" cy="1575955"/>
          </a:xfrm>
          <a:custGeom>
            <a:avLst/>
            <a:gdLst/>
            <a:ahLst/>
            <a:cxnLst/>
            <a:rect l="l" t="t" r="r" b="b"/>
            <a:pathLst>
              <a:path w="5524500" h="1575955">
                <a:moveTo>
                  <a:pt x="34636" y="0"/>
                </a:moveTo>
                <a:lnTo>
                  <a:pt x="5420597" y="0"/>
                </a:lnTo>
                <a:cubicBezTo>
                  <a:pt x="5477981" y="0"/>
                  <a:pt x="5524500" y="46519"/>
                  <a:pt x="5524500" y="103903"/>
                </a:cubicBezTo>
                <a:lnTo>
                  <a:pt x="5524500" y="1472052"/>
                </a:lnTo>
                <a:cubicBezTo>
                  <a:pt x="5524500" y="1529436"/>
                  <a:pt x="5477981" y="1575955"/>
                  <a:pt x="5420597" y="1575955"/>
                </a:cubicBezTo>
                <a:lnTo>
                  <a:pt x="34636" y="1575955"/>
                </a:lnTo>
                <a:cubicBezTo>
                  <a:pt x="15507" y="1575955"/>
                  <a:pt x="0" y="1560447"/>
                  <a:pt x="0" y="1541318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977" dist="865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21136" y="3342409"/>
            <a:ext cx="34636" cy="1575955"/>
          </a:xfrm>
          <a:custGeom>
            <a:avLst/>
            <a:gdLst/>
            <a:ahLst/>
            <a:cxnLst/>
            <a:rect l="l" t="t" r="r" b="b"/>
            <a:pathLst>
              <a:path w="34636" h="1575955">
                <a:moveTo>
                  <a:pt x="34636" y="0"/>
                </a:moveTo>
                <a:lnTo>
                  <a:pt x="34636" y="0"/>
                </a:lnTo>
                <a:lnTo>
                  <a:pt x="34636" y="1575955"/>
                </a:lnTo>
                <a:lnTo>
                  <a:pt x="34636" y="1575955"/>
                </a:lnTo>
                <a:cubicBezTo>
                  <a:pt x="15507" y="1575955"/>
                  <a:pt x="0" y="1560447"/>
                  <a:pt x="0" y="1541318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49" name="Shape 47"/>
          <p:cNvSpPr/>
          <p:nvPr/>
        </p:nvSpPr>
        <p:spPr>
          <a:xfrm>
            <a:off x="6546273" y="3550227"/>
            <a:ext cx="484909" cy="484909"/>
          </a:xfrm>
          <a:custGeom>
            <a:avLst/>
            <a:gdLst/>
            <a:ahLst/>
            <a:cxnLst/>
            <a:rect l="l" t="t" r="r" b="b"/>
            <a:pathLst>
              <a:path w="484909" h="484909">
                <a:moveTo>
                  <a:pt x="242455" y="0"/>
                </a:moveTo>
                <a:lnTo>
                  <a:pt x="242455" y="0"/>
                </a:lnTo>
                <a:cubicBezTo>
                  <a:pt x="376269" y="0"/>
                  <a:pt x="484909" y="108640"/>
                  <a:pt x="484909" y="242455"/>
                </a:cubicBezTo>
                <a:lnTo>
                  <a:pt x="484909" y="242455"/>
                </a:lnTo>
                <a:cubicBezTo>
                  <a:pt x="484909" y="376269"/>
                  <a:pt x="376269" y="484909"/>
                  <a:pt x="242455" y="484909"/>
                </a:cubicBezTo>
                <a:lnTo>
                  <a:pt x="242455" y="484909"/>
                </a:lnTo>
                <a:cubicBezTo>
                  <a:pt x="108640" y="484909"/>
                  <a:pt x="0" y="376269"/>
                  <a:pt x="0" y="242455"/>
                </a:cubicBezTo>
                <a:lnTo>
                  <a:pt x="0" y="242455"/>
                </a:lnTo>
                <a:cubicBezTo>
                  <a:pt x="0" y="108640"/>
                  <a:pt x="108640" y="0"/>
                  <a:pt x="242455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50" name="Text 48"/>
          <p:cNvSpPr/>
          <p:nvPr/>
        </p:nvSpPr>
        <p:spPr>
          <a:xfrm>
            <a:off x="6494318" y="3550227"/>
            <a:ext cx="588818" cy="484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169727" y="3654136"/>
            <a:ext cx="2303318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169727" y="4139045"/>
            <a:ext cx="4537364" cy="225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Algorithms that learn through environment interaction and rewards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169727" y="4468091"/>
            <a:ext cx="805295" cy="242455"/>
          </a:xfrm>
          <a:custGeom>
            <a:avLst/>
            <a:gdLst/>
            <a:ahLst/>
            <a:cxnLst/>
            <a:rect l="l" t="t" r="r" b="b"/>
            <a:pathLst>
              <a:path w="805295" h="242455">
                <a:moveTo>
                  <a:pt x="121227" y="0"/>
                </a:moveTo>
                <a:lnTo>
                  <a:pt x="684068" y="0"/>
                </a:lnTo>
                <a:cubicBezTo>
                  <a:pt x="750975" y="0"/>
                  <a:pt x="805295" y="54320"/>
                  <a:pt x="805295" y="121227"/>
                </a:cubicBezTo>
                <a:lnTo>
                  <a:pt x="805295" y="121227"/>
                </a:lnTo>
                <a:cubicBezTo>
                  <a:pt x="805295" y="188134"/>
                  <a:pt x="750975" y="242455"/>
                  <a:pt x="684068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4" name="Text 52"/>
          <p:cNvSpPr/>
          <p:nvPr/>
        </p:nvSpPr>
        <p:spPr>
          <a:xfrm>
            <a:off x="7169727" y="4468091"/>
            <a:ext cx="865909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Q-Learning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044160" y="4468091"/>
            <a:ext cx="467591" cy="242455"/>
          </a:xfrm>
          <a:custGeom>
            <a:avLst/>
            <a:gdLst/>
            <a:ahLst/>
            <a:cxnLst/>
            <a:rect l="l" t="t" r="r" b="b"/>
            <a:pathLst>
              <a:path w="467591" h="242455">
                <a:moveTo>
                  <a:pt x="121227" y="0"/>
                </a:moveTo>
                <a:lnTo>
                  <a:pt x="346364" y="0"/>
                </a:lnTo>
                <a:cubicBezTo>
                  <a:pt x="413271" y="0"/>
                  <a:pt x="467591" y="54320"/>
                  <a:pt x="467591" y="121227"/>
                </a:cubicBezTo>
                <a:lnTo>
                  <a:pt x="467591" y="121227"/>
                </a:lnTo>
                <a:cubicBezTo>
                  <a:pt x="467591" y="188134"/>
                  <a:pt x="413271" y="242455"/>
                  <a:pt x="346364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6" name="Text 54"/>
          <p:cNvSpPr/>
          <p:nvPr/>
        </p:nvSpPr>
        <p:spPr>
          <a:xfrm>
            <a:off x="8044160" y="4468091"/>
            <a:ext cx="528205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DQN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63682" y="5126182"/>
            <a:ext cx="11481955" cy="935182"/>
          </a:xfrm>
          <a:custGeom>
            <a:avLst/>
            <a:gdLst/>
            <a:ahLst/>
            <a:cxnLst/>
            <a:rect l="l" t="t" r="r" b="b"/>
            <a:pathLst>
              <a:path w="11481955" h="935182">
                <a:moveTo>
                  <a:pt x="34636" y="0"/>
                </a:moveTo>
                <a:lnTo>
                  <a:pt x="11378046" y="0"/>
                </a:lnTo>
                <a:cubicBezTo>
                  <a:pt x="11435433" y="0"/>
                  <a:pt x="11481955" y="46521"/>
                  <a:pt x="11481955" y="103908"/>
                </a:cubicBezTo>
                <a:lnTo>
                  <a:pt x="11481955" y="831274"/>
                </a:lnTo>
                <a:cubicBezTo>
                  <a:pt x="11481955" y="888661"/>
                  <a:pt x="11435433" y="935182"/>
                  <a:pt x="11378046" y="935182"/>
                </a:cubicBezTo>
                <a:lnTo>
                  <a:pt x="34636" y="935182"/>
                </a:lnTo>
                <a:cubicBezTo>
                  <a:pt x="15507" y="935182"/>
                  <a:pt x="0" y="919675"/>
                  <a:pt x="0" y="900545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977" dist="865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63682" y="5126182"/>
            <a:ext cx="34636" cy="935182"/>
          </a:xfrm>
          <a:custGeom>
            <a:avLst/>
            <a:gdLst/>
            <a:ahLst/>
            <a:cxnLst/>
            <a:rect l="l" t="t" r="r" b="b"/>
            <a:pathLst>
              <a:path w="34636" h="935182">
                <a:moveTo>
                  <a:pt x="34636" y="0"/>
                </a:moveTo>
                <a:lnTo>
                  <a:pt x="34636" y="0"/>
                </a:lnTo>
                <a:lnTo>
                  <a:pt x="34636" y="935182"/>
                </a:lnTo>
                <a:lnTo>
                  <a:pt x="34636" y="935182"/>
                </a:lnTo>
                <a:cubicBezTo>
                  <a:pt x="15507" y="935182"/>
                  <a:pt x="0" y="919675"/>
                  <a:pt x="0" y="900545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59" name="Shape 57"/>
          <p:cNvSpPr/>
          <p:nvPr/>
        </p:nvSpPr>
        <p:spPr>
          <a:xfrm>
            <a:off x="588818" y="5351318"/>
            <a:ext cx="484909" cy="484909"/>
          </a:xfrm>
          <a:custGeom>
            <a:avLst/>
            <a:gdLst/>
            <a:ahLst/>
            <a:cxnLst/>
            <a:rect l="l" t="t" r="r" b="b"/>
            <a:pathLst>
              <a:path w="484909" h="484909">
                <a:moveTo>
                  <a:pt x="242455" y="0"/>
                </a:moveTo>
                <a:lnTo>
                  <a:pt x="242455" y="0"/>
                </a:lnTo>
                <a:cubicBezTo>
                  <a:pt x="376269" y="0"/>
                  <a:pt x="484909" y="108640"/>
                  <a:pt x="484909" y="242455"/>
                </a:cubicBezTo>
                <a:lnTo>
                  <a:pt x="484909" y="242455"/>
                </a:lnTo>
                <a:cubicBezTo>
                  <a:pt x="484909" y="376269"/>
                  <a:pt x="376269" y="484909"/>
                  <a:pt x="242455" y="484909"/>
                </a:cubicBezTo>
                <a:lnTo>
                  <a:pt x="242455" y="484909"/>
                </a:lnTo>
                <a:cubicBezTo>
                  <a:pt x="108640" y="484909"/>
                  <a:pt x="0" y="376269"/>
                  <a:pt x="0" y="242455"/>
                </a:cubicBezTo>
                <a:lnTo>
                  <a:pt x="0" y="242455"/>
                </a:lnTo>
                <a:cubicBezTo>
                  <a:pt x="0" y="108640"/>
                  <a:pt x="108640" y="0"/>
                  <a:pt x="242455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60" name="Text 58"/>
          <p:cNvSpPr/>
          <p:nvPr/>
        </p:nvSpPr>
        <p:spPr>
          <a:xfrm>
            <a:off x="536864" y="5351318"/>
            <a:ext cx="588818" cy="484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212273" y="5334000"/>
            <a:ext cx="4234295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Ensemble Methods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212273" y="5645727"/>
            <a:ext cx="4199659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Techniques that combine multiple models for improved performance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414191" y="5472545"/>
            <a:ext cx="666750" cy="242455"/>
          </a:xfrm>
          <a:custGeom>
            <a:avLst/>
            <a:gdLst/>
            <a:ahLst/>
            <a:cxnLst/>
            <a:rect l="l" t="t" r="r" b="b"/>
            <a:pathLst>
              <a:path w="666750" h="242455">
                <a:moveTo>
                  <a:pt x="121227" y="0"/>
                </a:moveTo>
                <a:lnTo>
                  <a:pt x="545523" y="0"/>
                </a:lnTo>
                <a:cubicBezTo>
                  <a:pt x="612430" y="0"/>
                  <a:pt x="666750" y="54320"/>
                  <a:pt x="666750" y="121227"/>
                </a:cubicBezTo>
                <a:lnTo>
                  <a:pt x="666750" y="121227"/>
                </a:lnTo>
                <a:cubicBezTo>
                  <a:pt x="666750" y="188134"/>
                  <a:pt x="612430" y="242455"/>
                  <a:pt x="545523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4" name="Text 62"/>
          <p:cNvSpPr/>
          <p:nvPr/>
        </p:nvSpPr>
        <p:spPr>
          <a:xfrm>
            <a:off x="9414191" y="5472545"/>
            <a:ext cx="727364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146290" y="5472545"/>
            <a:ext cx="710045" cy="242455"/>
          </a:xfrm>
          <a:custGeom>
            <a:avLst/>
            <a:gdLst/>
            <a:ahLst/>
            <a:cxnLst/>
            <a:rect l="l" t="t" r="r" b="b"/>
            <a:pathLst>
              <a:path w="710045" h="242455">
                <a:moveTo>
                  <a:pt x="121227" y="0"/>
                </a:moveTo>
                <a:lnTo>
                  <a:pt x="588818" y="0"/>
                </a:lnTo>
                <a:cubicBezTo>
                  <a:pt x="655725" y="0"/>
                  <a:pt x="710045" y="54320"/>
                  <a:pt x="710045" y="121227"/>
                </a:cubicBezTo>
                <a:lnTo>
                  <a:pt x="710045" y="121227"/>
                </a:lnTo>
                <a:cubicBezTo>
                  <a:pt x="710045" y="188134"/>
                  <a:pt x="655725" y="242455"/>
                  <a:pt x="588818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6" name="Text 64"/>
          <p:cNvSpPr/>
          <p:nvPr/>
        </p:nvSpPr>
        <p:spPr>
          <a:xfrm>
            <a:off x="10146290" y="5472545"/>
            <a:ext cx="770659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AdaBoost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0926555" y="5472545"/>
            <a:ext cx="710045" cy="242455"/>
          </a:xfrm>
          <a:custGeom>
            <a:avLst/>
            <a:gdLst/>
            <a:ahLst/>
            <a:cxnLst/>
            <a:rect l="l" t="t" r="r" b="b"/>
            <a:pathLst>
              <a:path w="710045" h="242455">
                <a:moveTo>
                  <a:pt x="121227" y="0"/>
                </a:moveTo>
                <a:lnTo>
                  <a:pt x="588818" y="0"/>
                </a:lnTo>
                <a:cubicBezTo>
                  <a:pt x="655725" y="0"/>
                  <a:pt x="710045" y="54320"/>
                  <a:pt x="710045" y="121227"/>
                </a:cubicBezTo>
                <a:lnTo>
                  <a:pt x="710045" y="121227"/>
                </a:lnTo>
                <a:cubicBezTo>
                  <a:pt x="710045" y="188134"/>
                  <a:pt x="655725" y="242455"/>
                  <a:pt x="588818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8" name="Text 66"/>
          <p:cNvSpPr/>
          <p:nvPr/>
        </p:nvSpPr>
        <p:spPr>
          <a:xfrm>
            <a:off x="10926555" y="5472545"/>
            <a:ext cx="770659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LightGBM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4e4d78eebd0b5f185f39b88e1c9e047cc6d2ac7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12529">
                  <a:alpha val="95000"/>
                </a:srgbClr>
              </a:gs>
              <a:gs pos="50000">
                <a:srgbClr val="495057">
                  <a:alpha val="90000"/>
                </a:srgbClr>
              </a:gs>
              <a:gs pos="100000">
                <a:srgbClr val="212529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47775"/>
            <a:ext cx="1276350" cy="381000"/>
          </a:xfrm>
          <a:custGeom>
            <a:avLst/>
            <a:gdLst/>
            <a:ahLst/>
            <a:cxnLst/>
            <a:rect l="l" t="t" r="r" b="b"/>
            <a:pathLst>
              <a:path w="1276350" h="381000">
                <a:moveTo>
                  <a:pt x="190500" y="0"/>
                </a:moveTo>
                <a:lnTo>
                  <a:pt x="1085850" y="0"/>
                </a:lnTo>
                <a:cubicBezTo>
                  <a:pt x="1190990" y="0"/>
                  <a:pt x="1276350" y="85360"/>
                  <a:pt x="1276350" y="190500"/>
                </a:cubicBezTo>
                <a:lnTo>
                  <a:pt x="1276350" y="190500"/>
                </a:lnTo>
                <a:cubicBezTo>
                  <a:pt x="1276350" y="295640"/>
                  <a:pt x="1190990" y="381000"/>
                  <a:pt x="108585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1323975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0977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95287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8F9FA">
              <a:alpha val="50196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2195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Algorithms that learn from labeled data to make predictions on new, unseen data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5362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343525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831181" y="53625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9130" y="17458"/>
                </a:moveTo>
                <a:lnTo>
                  <a:pt x="245299" y="84564"/>
                </a:lnTo>
                <a:cubicBezTo>
                  <a:pt x="257666" y="97110"/>
                  <a:pt x="257666" y="117202"/>
                  <a:pt x="245299" y="129748"/>
                </a:cubicBezTo>
                <a:lnTo>
                  <a:pt x="175468" y="200427"/>
                </a:lnTo>
                <a:cubicBezTo>
                  <a:pt x="171316" y="204624"/>
                  <a:pt x="164529" y="204668"/>
                  <a:pt x="160333" y="200516"/>
                </a:cubicBezTo>
                <a:cubicBezTo>
                  <a:pt x="156136" y="196364"/>
                  <a:pt x="156091" y="189577"/>
                  <a:pt x="160243" y="185380"/>
                </a:cubicBezTo>
                <a:lnTo>
                  <a:pt x="230073" y="114657"/>
                </a:lnTo>
                <a:cubicBezTo>
                  <a:pt x="234181" y="110505"/>
                  <a:pt x="234181" y="103763"/>
                  <a:pt x="230073" y="99611"/>
                </a:cubicBezTo>
                <a:lnTo>
                  <a:pt x="163860" y="32549"/>
                </a:lnTo>
                <a:cubicBezTo>
                  <a:pt x="159707" y="28352"/>
                  <a:pt x="159752" y="21565"/>
                  <a:pt x="163949" y="17413"/>
                </a:cubicBezTo>
                <a:cubicBezTo>
                  <a:pt x="168146" y="13261"/>
                  <a:pt x="174933" y="13305"/>
                  <a:pt x="179085" y="17502"/>
                </a:cubicBezTo>
                <a:close/>
                <a:moveTo>
                  <a:pt x="14332" y="102468"/>
                </a:moveTo>
                <a:lnTo>
                  <a:pt x="14332" y="42863"/>
                </a:lnTo>
                <a:cubicBezTo>
                  <a:pt x="14332" y="27102"/>
                  <a:pt x="27146" y="14288"/>
                  <a:pt x="42907" y="14288"/>
                </a:cubicBezTo>
                <a:lnTo>
                  <a:pt x="102513" y="14288"/>
                </a:lnTo>
                <a:cubicBezTo>
                  <a:pt x="110103" y="14288"/>
                  <a:pt x="117381" y="17279"/>
                  <a:pt x="122739" y="22637"/>
                </a:cubicBezTo>
                <a:lnTo>
                  <a:pt x="187032" y="86931"/>
                </a:lnTo>
                <a:cubicBezTo>
                  <a:pt x="198194" y="98093"/>
                  <a:pt x="198194" y="116175"/>
                  <a:pt x="187032" y="127337"/>
                </a:cubicBezTo>
                <a:lnTo>
                  <a:pt x="127427" y="186943"/>
                </a:lnTo>
                <a:cubicBezTo>
                  <a:pt x="116265" y="198105"/>
                  <a:pt x="98182" y="198105"/>
                  <a:pt x="87020" y="186943"/>
                </a:cubicBezTo>
                <a:lnTo>
                  <a:pt x="22726" y="122649"/>
                </a:lnTo>
                <a:cubicBezTo>
                  <a:pt x="17368" y="117291"/>
                  <a:pt x="14377" y="110014"/>
                  <a:pt x="14377" y="102424"/>
                </a:cubicBezTo>
                <a:close/>
                <a:moveTo>
                  <a:pt x="78626" y="64294"/>
                </a:moveTo>
                <a:cubicBezTo>
                  <a:pt x="78626" y="56408"/>
                  <a:pt x="72224" y="50006"/>
                  <a:pt x="64338" y="50006"/>
                </a:cubicBezTo>
                <a:cubicBezTo>
                  <a:pt x="56453" y="50006"/>
                  <a:pt x="50051" y="56408"/>
                  <a:pt x="50051" y="64294"/>
                </a:cubicBezTo>
                <a:cubicBezTo>
                  <a:pt x="50051" y="72179"/>
                  <a:pt x="56453" y="78581"/>
                  <a:pt x="64338" y="78581"/>
                </a:cubicBezTo>
                <a:cubicBezTo>
                  <a:pt x="72224" y="78581"/>
                  <a:pt x="78626" y="72179"/>
                  <a:pt x="78626" y="64294"/>
                </a:cubicBez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2216944" y="5343525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9505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 Algorithms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 continuous numerical values based on input features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752600"/>
            <a:ext cx="5638800" cy="1885950"/>
          </a:xfrm>
          <a:custGeom>
            <a:avLst/>
            <a:gdLst/>
            <a:ahLst/>
            <a:cxnLst/>
            <a:rect l="l" t="t" r="r" b="b"/>
            <a:pathLst>
              <a:path w="5638800" h="1885950">
                <a:moveTo>
                  <a:pt x="114307" y="0"/>
                </a:moveTo>
                <a:lnTo>
                  <a:pt x="5524493" y="0"/>
                </a:lnTo>
                <a:cubicBezTo>
                  <a:pt x="5587623" y="0"/>
                  <a:pt x="5638800" y="51177"/>
                  <a:pt x="5638800" y="114307"/>
                </a:cubicBezTo>
                <a:lnTo>
                  <a:pt x="5638800" y="1771643"/>
                </a:lnTo>
                <a:cubicBezTo>
                  <a:pt x="5638800" y="1834773"/>
                  <a:pt x="5587623" y="1885950"/>
                  <a:pt x="552449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3400" y="1905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8" name="Shape 6"/>
          <p:cNvSpPr/>
          <p:nvPr/>
        </p:nvSpPr>
        <p:spPr>
          <a:xfrm>
            <a:off x="640556" y="2009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" y="1905000"/>
            <a:ext cx="493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highlight>
                  <a:srgbClr val="FFFF00"/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Linear Regression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10" name="Text 8"/>
          <p:cNvSpPr/>
          <p:nvPr/>
        </p:nvSpPr>
        <p:spPr>
          <a:xfrm>
            <a:off x="1028700" y="2209800"/>
            <a:ext cx="4905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linear relationship between independent and dependent variables by fitting a straight line. Simple yet powerful for predicting continuous outcomes.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8700" y="2757488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28043" y="2757488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House price prediction, sales forecasting, trend analysis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8700" y="3024188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82651" y="3024188"/>
            <a:ext cx="402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Highly interpretable, fast training, works well with linear relationships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8700" y="3290888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63167" y="3290888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Assumes linearity, sensitive to outliers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2200" y="1752600"/>
            <a:ext cx="5638800" cy="1885950"/>
          </a:xfrm>
          <a:custGeom>
            <a:avLst/>
            <a:gdLst/>
            <a:ahLst/>
            <a:cxnLst/>
            <a:rect l="l" t="t" r="r" b="b"/>
            <a:pathLst>
              <a:path w="5638800" h="1885950">
                <a:moveTo>
                  <a:pt x="114307" y="0"/>
                </a:moveTo>
                <a:lnTo>
                  <a:pt x="5524493" y="0"/>
                </a:lnTo>
                <a:cubicBezTo>
                  <a:pt x="5587623" y="0"/>
                  <a:pt x="5638800" y="51177"/>
                  <a:pt x="5638800" y="114307"/>
                </a:cubicBezTo>
                <a:lnTo>
                  <a:pt x="5638800" y="1771643"/>
                </a:lnTo>
                <a:cubicBezTo>
                  <a:pt x="5638800" y="1834773"/>
                  <a:pt x="5587623" y="1885950"/>
                  <a:pt x="552449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24600" y="1905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19" name="Shape 17"/>
          <p:cNvSpPr/>
          <p:nvPr/>
        </p:nvSpPr>
        <p:spPr>
          <a:xfrm>
            <a:off x="6431756" y="2009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2698" y="75009"/>
                </a:moveTo>
                <a:lnTo>
                  <a:pt x="104477" y="75009"/>
                </a:lnTo>
                <a:cubicBezTo>
                  <a:pt x="100024" y="75009"/>
                  <a:pt x="96441" y="71426"/>
                  <a:pt x="96441" y="66973"/>
                </a:cubicBezTo>
                <a:lnTo>
                  <a:pt x="96441" y="18752"/>
                </a:lnTo>
                <a:cubicBezTo>
                  <a:pt x="96441" y="15504"/>
                  <a:pt x="98383" y="12557"/>
                  <a:pt x="101397" y="11318"/>
                </a:cubicBezTo>
                <a:cubicBezTo>
                  <a:pt x="104410" y="10079"/>
                  <a:pt x="107859" y="10783"/>
                  <a:pt x="110170" y="13060"/>
                </a:cubicBezTo>
                <a:lnTo>
                  <a:pt x="123565" y="26454"/>
                </a:lnTo>
                <a:lnTo>
                  <a:pt x="148144" y="1875"/>
                </a:lnTo>
                <a:cubicBezTo>
                  <a:pt x="149349" y="670"/>
                  <a:pt x="150990" y="0"/>
                  <a:pt x="152698" y="0"/>
                </a:cubicBezTo>
                <a:cubicBezTo>
                  <a:pt x="154405" y="0"/>
                  <a:pt x="156046" y="670"/>
                  <a:pt x="157285" y="1909"/>
                </a:cubicBezTo>
                <a:lnTo>
                  <a:pt x="169575" y="14198"/>
                </a:lnTo>
                <a:cubicBezTo>
                  <a:pt x="170780" y="15404"/>
                  <a:pt x="171450" y="17045"/>
                  <a:pt x="171450" y="18752"/>
                </a:cubicBezTo>
                <a:cubicBezTo>
                  <a:pt x="171450" y="20460"/>
                  <a:pt x="170780" y="22101"/>
                  <a:pt x="169541" y="23340"/>
                </a:cubicBezTo>
                <a:lnTo>
                  <a:pt x="144996" y="47885"/>
                </a:lnTo>
                <a:lnTo>
                  <a:pt x="158390" y="61280"/>
                </a:lnTo>
                <a:cubicBezTo>
                  <a:pt x="160701" y="63591"/>
                  <a:pt x="161371" y="67040"/>
                  <a:pt x="160132" y="70053"/>
                </a:cubicBezTo>
                <a:cubicBezTo>
                  <a:pt x="158893" y="73067"/>
                  <a:pt x="155946" y="75009"/>
                  <a:pt x="152698" y="75009"/>
                </a:cubicBezTo>
                <a:close/>
                <a:moveTo>
                  <a:pt x="152698" y="96441"/>
                </a:moveTo>
                <a:cubicBezTo>
                  <a:pt x="155946" y="96441"/>
                  <a:pt x="158893" y="98383"/>
                  <a:pt x="160132" y="101397"/>
                </a:cubicBezTo>
                <a:cubicBezTo>
                  <a:pt x="161371" y="104410"/>
                  <a:pt x="160701" y="107859"/>
                  <a:pt x="158390" y="110170"/>
                </a:cubicBezTo>
                <a:lnTo>
                  <a:pt x="144996" y="123565"/>
                </a:lnTo>
                <a:lnTo>
                  <a:pt x="169575" y="148144"/>
                </a:lnTo>
                <a:cubicBezTo>
                  <a:pt x="170780" y="149349"/>
                  <a:pt x="171483" y="150990"/>
                  <a:pt x="171483" y="152731"/>
                </a:cubicBezTo>
                <a:cubicBezTo>
                  <a:pt x="171483" y="154472"/>
                  <a:pt x="170814" y="156080"/>
                  <a:pt x="169575" y="157319"/>
                </a:cubicBezTo>
                <a:lnTo>
                  <a:pt x="157285" y="169608"/>
                </a:lnTo>
                <a:cubicBezTo>
                  <a:pt x="156046" y="170780"/>
                  <a:pt x="154405" y="171450"/>
                  <a:pt x="152698" y="171450"/>
                </a:cubicBezTo>
                <a:cubicBezTo>
                  <a:pt x="150990" y="171450"/>
                  <a:pt x="149349" y="170780"/>
                  <a:pt x="148110" y="169541"/>
                </a:cubicBezTo>
                <a:lnTo>
                  <a:pt x="123565" y="144996"/>
                </a:lnTo>
                <a:lnTo>
                  <a:pt x="110170" y="158390"/>
                </a:lnTo>
                <a:cubicBezTo>
                  <a:pt x="107859" y="160701"/>
                  <a:pt x="104410" y="161371"/>
                  <a:pt x="101397" y="160132"/>
                </a:cubicBezTo>
                <a:cubicBezTo>
                  <a:pt x="98383" y="158893"/>
                  <a:pt x="96441" y="155946"/>
                  <a:pt x="96441" y="152698"/>
                </a:cubicBezTo>
                <a:lnTo>
                  <a:pt x="96441" y="104477"/>
                </a:lnTo>
                <a:cubicBezTo>
                  <a:pt x="96441" y="100024"/>
                  <a:pt x="100024" y="96441"/>
                  <a:pt x="104477" y="96441"/>
                </a:cubicBezTo>
                <a:lnTo>
                  <a:pt x="152698" y="96441"/>
                </a:lnTo>
                <a:close/>
                <a:moveTo>
                  <a:pt x="66973" y="96441"/>
                </a:moveTo>
                <a:cubicBezTo>
                  <a:pt x="71426" y="96441"/>
                  <a:pt x="75009" y="100024"/>
                  <a:pt x="75009" y="104477"/>
                </a:cubicBezTo>
                <a:lnTo>
                  <a:pt x="75009" y="152698"/>
                </a:lnTo>
                <a:cubicBezTo>
                  <a:pt x="75009" y="155946"/>
                  <a:pt x="73067" y="158893"/>
                  <a:pt x="70053" y="160132"/>
                </a:cubicBezTo>
                <a:cubicBezTo>
                  <a:pt x="67040" y="161371"/>
                  <a:pt x="63591" y="160701"/>
                  <a:pt x="61280" y="158390"/>
                </a:cubicBezTo>
                <a:lnTo>
                  <a:pt x="47885" y="144996"/>
                </a:lnTo>
                <a:lnTo>
                  <a:pt x="23306" y="169575"/>
                </a:lnTo>
                <a:cubicBezTo>
                  <a:pt x="22101" y="170780"/>
                  <a:pt x="20460" y="171450"/>
                  <a:pt x="18752" y="171450"/>
                </a:cubicBezTo>
                <a:cubicBezTo>
                  <a:pt x="17045" y="171450"/>
                  <a:pt x="15404" y="170780"/>
                  <a:pt x="14165" y="169541"/>
                </a:cubicBezTo>
                <a:lnTo>
                  <a:pt x="1909" y="157285"/>
                </a:lnTo>
                <a:cubicBezTo>
                  <a:pt x="670" y="156046"/>
                  <a:pt x="0" y="154405"/>
                  <a:pt x="0" y="152698"/>
                </a:cubicBezTo>
                <a:cubicBezTo>
                  <a:pt x="0" y="150990"/>
                  <a:pt x="670" y="149349"/>
                  <a:pt x="1909" y="148110"/>
                </a:cubicBezTo>
                <a:lnTo>
                  <a:pt x="26454" y="123565"/>
                </a:lnTo>
                <a:lnTo>
                  <a:pt x="13060" y="110170"/>
                </a:lnTo>
                <a:cubicBezTo>
                  <a:pt x="10749" y="107859"/>
                  <a:pt x="10079" y="104410"/>
                  <a:pt x="11318" y="101397"/>
                </a:cubicBezTo>
                <a:cubicBezTo>
                  <a:pt x="12557" y="98383"/>
                  <a:pt x="15504" y="96441"/>
                  <a:pt x="18752" y="96441"/>
                </a:cubicBezTo>
                <a:lnTo>
                  <a:pt x="66973" y="96441"/>
                </a:lnTo>
                <a:close/>
                <a:moveTo>
                  <a:pt x="18752" y="75009"/>
                </a:moveTo>
                <a:cubicBezTo>
                  <a:pt x="15504" y="75009"/>
                  <a:pt x="12557" y="73067"/>
                  <a:pt x="11318" y="70053"/>
                </a:cubicBezTo>
                <a:cubicBezTo>
                  <a:pt x="10079" y="67040"/>
                  <a:pt x="10783" y="63591"/>
                  <a:pt x="13060" y="61280"/>
                </a:cubicBezTo>
                <a:lnTo>
                  <a:pt x="26454" y="47885"/>
                </a:lnTo>
                <a:lnTo>
                  <a:pt x="1909" y="23340"/>
                </a:lnTo>
                <a:cubicBezTo>
                  <a:pt x="670" y="22101"/>
                  <a:pt x="0" y="20460"/>
                  <a:pt x="0" y="18752"/>
                </a:cubicBezTo>
                <a:cubicBezTo>
                  <a:pt x="0" y="17045"/>
                  <a:pt x="670" y="15404"/>
                  <a:pt x="1909" y="14165"/>
                </a:cubicBezTo>
                <a:lnTo>
                  <a:pt x="14165" y="1909"/>
                </a:lnTo>
                <a:cubicBezTo>
                  <a:pt x="15404" y="670"/>
                  <a:pt x="17045" y="0"/>
                  <a:pt x="18752" y="0"/>
                </a:cubicBezTo>
                <a:cubicBezTo>
                  <a:pt x="20460" y="0"/>
                  <a:pt x="22101" y="670"/>
                  <a:pt x="23340" y="1909"/>
                </a:cubicBezTo>
                <a:lnTo>
                  <a:pt x="47885" y="26454"/>
                </a:lnTo>
                <a:lnTo>
                  <a:pt x="61280" y="13060"/>
                </a:lnTo>
                <a:cubicBezTo>
                  <a:pt x="63591" y="10749"/>
                  <a:pt x="67040" y="10079"/>
                  <a:pt x="70053" y="11318"/>
                </a:cubicBezTo>
                <a:cubicBezTo>
                  <a:pt x="73067" y="12557"/>
                  <a:pt x="75009" y="15504"/>
                  <a:pt x="75009" y="18752"/>
                </a:cubicBezTo>
                <a:lnTo>
                  <a:pt x="75009" y="66973"/>
                </a:lnTo>
                <a:cubicBezTo>
                  <a:pt x="75009" y="71426"/>
                  <a:pt x="71426" y="75009"/>
                  <a:pt x="66973" y="75009"/>
                </a:cubicBezTo>
                <a:lnTo>
                  <a:pt x="18752" y="7500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19900" y="1905000"/>
            <a:ext cx="493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Ridge Regression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9900" y="2209800"/>
            <a:ext cx="4905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regression with L2 regularization that penalizes large coefficients. Prevents overfitting by adding a penalty term to the loss function.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9900" y="2757488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19243" y="2757488"/>
            <a:ext cx="283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Multicollinearity problems, feature-rich datasets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9900" y="3024188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73851" y="3024188"/>
            <a:ext cx="309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multicollinearity, reduces model complexity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19900" y="3290888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54367" y="3290888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not perform feature selection, requires tuning alpha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3786188"/>
            <a:ext cx="5638800" cy="1885950"/>
          </a:xfrm>
          <a:custGeom>
            <a:avLst/>
            <a:gdLst/>
            <a:ahLst/>
            <a:cxnLst/>
            <a:rect l="l" t="t" r="r" b="b"/>
            <a:pathLst>
              <a:path w="5638800" h="1885950">
                <a:moveTo>
                  <a:pt x="114307" y="0"/>
                </a:moveTo>
                <a:lnTo>
                  <a:pt x="5524493" y="0"/>
                </a:lnTo>
                <a:cubicBezTo>
                  <a:pt x="5587623" y="0"/>
                  <a:pt x="5638800" y="51177"/>
                  <a:pt x="5638800" y="114307"/>
                </a:cubicBezTo>
                <a:lnTo>
                  <a:pt x="5638800" y="1771643"/>
                </a:lnTo>
                <a:cubicBezTo>
                  <a:pt x="5638800" y="1834773"/>
                  <a:pt x="5587623" y="1885950"/>
                  <a:pt x="552449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3400" y="39385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30" name="Shape 28"/>
          <p:cNvSpPr/>
          <p:nvPr/>
        </p:nvSpPr>
        <p:spPr>
          <a:xfrm>
            <a:off x="651272" y="404336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53578" y="21431"/>
                </a:moveTo>
                <a:cubicBezTo>
                  <a:pt x="53578" y="15504"/>
                  <a:pt x="48790" y="10716"/>
                  <a:pt x="42863" y="10716"/>
                </a:cubicBezTo>
                <a:cubicBezTo>
                  <a:pt x="36935" y="10716"/>
                  <a:pt x="32147" y="15504"/>
                  <a:pt x="32147" y="21431"/>
                </a:cubicBezTo>
                <a:lnTo>
                  <a:pt x="32147" y="42863"/>
                </a:lnTo>
                <a:lnTo>
                  <a:pt x="10716" y="42863"/>
                </a:lnTo>
                <a:cubicBezTo>
                  <a:pt x="4789" y="42863"/>
                  <a:pt x="0" y="47651"/>
                  <a:pt x="0" y="53578"/>
                </a:cubicBezTo>
                <a:cubicBezTo>
                  <a:pt x="0" y="59505"/>
                  <a:pt x="4789" y="64294"/>
                  <a:pt x="10716" y="64294"/>
                </a:cubicBezTo>
                <a:lnTo>
                  <a:pt x="42863" y="64294"/>
                </a:lnTo>
                <a:cubicBezTo>
                  <a:pt x="48790" y="64294"/>
                  <a:pt x="53578" y="59505"/>
                  <a:pt x="53578" y="53578"/>
                </a:cubicBezTo>
                <a:lnTo>
                  <a:pt x="53578" y="21431"/>
                </a:lnTo>
                <a:close/>
                <a:moveTo>
                  <a:pt x="10716" y="107156"/>
                </a:moveTo>
                <a:cubicBezTo>
                  <a:pt x="4789" y="107156"/>
                  <a:pt x="0" y="111945"/>
                  <a:pt x="0" y="117872"/>
                </a:cubicBezTo>
                <a:cubicBezTo>
                  <a:pt x="0" y="123799"/>
                  <a:pt x="4789" y="128588"/>
                  <a:pt x="10716" y="128588"/>
                </a:cubicBezTo>
                <a:lnTo>
                  <a:pt x="32147" y="128588"/>
                </a:lnTo>
                <a:lnTo>
                  <a:pt x="32147" y="150019"/>
                </a:lnTo>
                <a:cubicBezTo>
                  <a:pt x="32147" y="155946"/>
                  <a:pt x="36935" y="160734"/>
                  <a:pt x="42863" y="160734"/>
                </a:cubicBezTo>
                <a:cubicBezTo>
                  <a:pt x="48790" y="160734"/>
                  <a:pt x="53578" y="155946"/>
                  <a:pt x="53578" y="150019"/>
                </a:cubicBezTo>
                <a:lnTo>
                  <a:pt x="53578" y="117872"/>
                </a:lnTo>
                <a:cubicBezTo>
                  <a:pt x="53578" y="111945"/>
                  <a:pt x="48790" y="107156"/>
                  <a:pt x="42863" y="107156"/>
                </a:cubicBezTo>
                <a:lnTo>
                  <a:pt x="10716" y="107156"/>
                </a:lnTo>
                <a:close/>
                <a:moveTo>
                  <a:pt x="117872" y="21431"/>
                </a:moveTo>
                <a:cubicBezTo>
                  <a:pt x="117872" y="15504"/>
                  <a:pt x="113083" y="10716"/>
                  <a:pt x="107156" y="10716"/>
                </a:cubicBezTo>
                <a:cubicBezTo>
                  <a:pt x="101229" y="10716"/>
                  <a:pt x="96441" y="15504"/>
                  <a:pt x="96441" y="21431"/>
                </a:cubicBezTo>
                <a:lnTo>
                  <a:pt x="96441" y="53578"/>
                </a:lnTo>
                <a:cubicBezTo>
                  <a:pt x="96441" y="59505"/>
                  <a:pt x="101229" y="64294"/>
                  <a:pt x="107156" y="64294"/>
                </a:cubicBezTo>
                <a:lnTo>
                  <a:pt x="139303" y="64294"/>
                </a:lnTo>
                <a:cubicBezTo>
                  <a:pt x="145230" y="64294"/>
                  <a:pt x="150019" y="59505"/>
                  <a:pt x="150019" y="53578"/>
                </a:cubicBezTo>
                <a:cubicBezTo>
                  <a:pt x="150019" y="47651"/>
                  <a:pt x="145230" y="42863"/>
                  <a:pt x="139303" y="42863"/>
                </a:cubicBezTo>
                <a:lnTo>
                  <a:pt x="117872" y="42863"/>
                </a:lnTo>
                <a:lnTo>
                  <a:pt x="117872" y="21431"/>
                </a:lnTo>
                <a:close/>
                <a:moveTo>
                  <a:pt x="107156" y="107156"/>
                </a:moveTo>
                <a:cubicBezTo>
                  <a:pt x="101229" y="107156"/>
                  <a:pt x="96441" y="111945"/>
                  <a:pt x="96441" y="117872"/>
                </a:cubicBezTo>
                <a:lnTo>
                  <a:pt x="96441" y="150019"/>
                </a:lnTo>
                <a:cubicBezTo>
                  <a:pt x="96441" y="155946"/>
                  <a:pt x="101229" y="160734"/>
                  <a:pt x="107156" y="160734"/>
                </a:cubicBezTo>
                <a:cubicBezTo>
                  <a:pt x="113083" y="160734"/>
                  <a:pt x="117872" y="155946"/>
                  <a:pt x="117872" y="150019"/>
                </a:cubicBezTo>
                <a:lnTo>
                  <a:pt x="117872" y="128588"/>
                </a:lnTo>
                <a:lnTo>
                  <a:pt x="139303" y="128588"/>
                </a:lnTo>
                <a:cubicBezTo>
                  <a:pt x="145230" y="128588"/>
                  <a:pt x="150019" y="123799"/>
                  <a:pt x="150019" y="117872"/>
                </a:cubicBezTo>
                <a:cubicBezTo>
                  <a:pt x="150019" y="111945"/>
                  <a:pt x="145230" y="107156"/>
                  <a:pt x="139303" y="107156"/>
                </a:cubicBezTo>
                <a:lnTo>
                  <a:pt x="107156" y="10715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28700" y="3938588"/>
            <a:ext cx="493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Lasso Regression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28700" y="4243388"/>
            <a:ext cx="4905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regression with L1 regularization that can shrink coefficients to zero. Performs automatic feature selection by eliminating irrelevant features.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8700" y="4791075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728043" y="4791075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High-dimensional data, feature selection, sparse models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28700" y="505777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682651" y="5057775"/>
            <a:ext cx="300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feature selection, creates sparse models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28700" y="5324475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763167" y="5324475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Struggles with highly correlated features, selects only one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72200" y="3786188"/>
            <a:ext cx="5638800" cy="1885950"/>
          </a:xfrm>
          <a:custGeom>
            <a:avLst/>
            <a:gdLst/>
            <a:ahLst/>
            <a:cxnLst/>
            <a:rect l="l" t="t" r="r" b="b"/>
            <a:pathLst>
              <a:path w="5638800" h="1885950">
                <a:moveTo>
                  <a:pt x="114307" y="0"/>
                </a:moveTo>
                <a:lnTo>
                  <a:pt x="5524493" y="0"/>
                </a:lnTo>
                <a:cubicBezTo>
                  <a:pt x="5587623" y="0"/>
                  <a:pt x="5638800" y="51177"/>
                  <a:pt x="5638800" y="114307"/>
                </a:cubicBezTo>
                <a:lnTo>
                  <a:pt x="5638800" y="1771643"/>
                </a:lnTo>
                <a:cubicBezTo>
                  <a:pt x="5638800" y="1834773"/>
                  <a:pt x="5587623" y="1885950"/>
                  <a:pt x="552449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I" dirty="0"/>
          </a:p>
        </p:txBody>
      </p:sp>
      <p:sp>
        <p:nvSpPr>
          <p:cNvPr id="40" name="Shape 38"/>
          <p:cNvSpPr/>
          <p:nvPr/>
        </p:nvSpPr>
        <p:spPr>
          <a:xfrm>
            <a:off x="6324600" y="39385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41" name="Shape 39"/>
          <p:cNvSpPr/>
          <p:nvPr/>
        </p:nvSpPr>
        <p:spPr>
          <a:xfrm>
            <a:off x="6431756" y="404336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2067" y="76516"/>
                </a:moveTo>
                <a:cubicBezTo>
                  <a:pt x="26521" y="45374"/>
                  <a:pt x="53344" y="21431"/>
                  <a:pt x="85725" y="21431"/>
                </a:cubicBezTo>
                <a:cubicBezTo>
                  <a:pt x="103473" y="21431"/>
                  <a:pt x="119546" y="28631"/>
                  <a:pt x="131199" y="40251"/>
                </a:cubicBezTo>
                <a:cubicBezTo>
                  <a:pt x="131266" y="40318"/>
                  <a:pt x="131333" y="40385"/>
                  <a:pt x="131400" y="40451"/>
                </a:cubicBezTo>
                <a:lnTo>
                  <a:pt x="133945" y="42863"/>
                </a:lnTo>
                <a:lnTo>
                  <a:pt x="117905" y="42863"/>
                </a:lnTo>
                <a:cubicBezTo>
                  <a:pt x="111978" y="42863"/>
                  <a:pt x="107190" y="47651"/>
                  <a:pt x="107190" y="53578"/>
                </a:cubicBezTo>
                <a:cubicBezTo>
                  <a:pt x="107190" y="59505"/>
                  <a:pt x="111978" y="64294"/>
                  <a:pt x="117905" y="64294"/>
                </a:cubicBezTo>
                <a:lnTo>
                  <a:pt x="160768" y="64294"/>
                </a:lnTo>
                <a:cubicBezTo>
                  <a:pt x="166695" y="64294"/>
                  <a:pt x="171483" y="59505"/>
                  <a:pt x="171483" y="53578"/>
                </a:cubicBezTo>
                <a:lnTo>
                  <a:pt x="171483" y="10716"/>
                </a:lnTo>
                <a:cubicBezTo>
                  <a:pt x="171483" y="4789"/>
                  <a:pt x="166695" y="0"/>
                  <a:pt x="160768" y="0"/>
                </a:cubicBezTo>
                <a:cubicBezTo>
                  <a:pt x="154841" y="0"/>
                  <a:pt x="150052" y="4789"/>
                  <a:pt x="150052" y="10716"/>
                </a:cubicBezTo>
                <a:lnTo>
                  <a:pt x="150052" y="28597"/>
                </a:lnTo>
                <a:lnTo>
                  <a:pt x="146268" y="25014"/>
                </a:lnTo>
                <a:cubicBezTo>
                  <a:pt x="130764" y="9577"/>
                  <a:pt x="109333" y="0"/>
                  <a:pt x="85725" y="0"/>
                </a:cubicBezTo>
                <a:cubicBezTo>
                  <a:pt x="42528" y="0"/>
                  <a:pt x="6798" y="31946"/>
                  <a:pt x="871" y="73502"/>
                </a:cubicBezTo>
                <a:cubicBezTo>
                  <a:pt x="33" y="79363"/>
                  <a:pt x="4085" y="84787"/>
                  <a:pt x="9945" y="85625"/>
                </a:cubicBezTo>
                <a:cubicBezTo>
                  <a:pt x="15806" y="86462"/>
                  <a:pt x="21230" y="82376"/>
                  <a:pt x="22067" y="76550"/>
                </a:cubicBezTo>
                <a:close/>
                <a:moveTo>
                  <a:pt x="170579" y="97948"/>
                </a:moveTo>
                <a:cubicBezTo>
                  <a:pt x="171417" y="92087"/>
                  <a:pt x="167331" y="86663"/>
                  <a:pt x="161505" y="85825"/>
                </a:cubicBezTo>
                <a:cubicBezTo>
                  <a:pt x="155678" y="84988"/>
                  <a:pt x="150220" y="89074"/>
                  <a:pt x="149383" y="94900"/>
                </a:cubicBezTo>
                <a:cubicBezTo>
                  <a:pt x="144929" y="126043"/>
                  <a:pt x="118106" y="149985"/>
                  <a:pt x="85725" y="149985"/>
                </a:cubicBezTo>
                <a:cubicBezTo>
                  <a:pt x="67977" y="149985"/>
                  <a:pt x="51904" y="142786"/>
                  <a:pt x="40251" y="131166"/>
                </a:cubicBezTo>
                <a:cubicBezTo>
                  <a:pt x="40184" y="131099"/>
                  <a:pt x="40117" y="131032"/>
                  <a:pt x="40050" y="130965"/>
                </a:cubicBezTo>
                <a:lnTo>
                  <a:pt x="37505" y="128554"/>
                </a:lnTo>
                <a:lnTo>
                  <a:pt x="53545" y="128554"/>
                </a:lnTo>
                <a:cubicBezTo>
                  <a:pt x="59472" y="128554"/>
                  <a:pt x="64260" y="123765"/>
                  <a:pt x="64260" y="117838"/>
                </a:cubicBezTo>
                <a:cubicBezTo>
                  <a:pt x="64260" y="111911"/>
                  <a:pt x="59472" y="107123"/>
                  <a:pt x="53545" y="107123"/>
                </a:cubicBezTo>
                <a:lnTo>
                  <a:pt x="10716" y="107156"/>
                </a:lnTo>
                <a:cubicBezTo>
                  <a:pt x="7869" y="107156"/>
                  <a:pt x="5123" y="108295"/>
                  <a:pt x="3114" y="110337"/>
                </a:cubicBezTo>
                <a:cubicBezTo>
                  <a:pt x="1105" y="112380"/>
                  <a:pt x="-33" y="115093"/>
                  <a:pt x="0" y="117972"/>
                </a:cubicBezTo>
                <a:lnTo>
                  <a:pt x="335" y="160500"/>
                </a:lnTo>
                <a:cubicBezTo>
                  <a:pt x="368" y="166427"/>
                  <a:pt x="5224" y="171182"/>
                  <a:pt x="11151" y="171115"/>
                </a:cubicBezTo>
                <a:cubicBezTo>
                  <a:pt x="17078" y="171048"/>
                  <a:pt x="21833" y="166226"/>
                  <a:pt x="21766" y="160299"/>
                </a:cubicBezTo>
                <a:lnTo>
                  <a:pt x="21632" y="143054"/>
                </a:lnTo>
                <a:lnTo>
                  <a:pt x="25215" y="146436"/>
                </a:lnTo>
                <a:cubicBezTo>
                  <a:pt x="40719" y="161873"/>
                  <a:pt x="62117" y="171450"/>
                  <a:pt x="85725" y="171450"/>
                </a:cubicBezTo>
                <a:cubicBezTo>
                  <a:pt x="128922" y="171450"/>
                  <a:pt x="164652" y="139504"/>
                  <a:pt x="170579" y="9794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819900" y="3938588"/>
            <a:ext cx="493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highlight>
                  <a:srgbClr val="FFFF00"/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Logistic Regression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43" name="Text 41"/>
          <p:cNvSpPr/>
          <p:nvPr/>
        </p:nvSpPr>
        <p:spPr>
          <a:xfrm>
            <a:off x="6819900" y="4243388"/>
            <a:ext cx="4905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algorithm using sigmoid function to predict probabilities. Despite its name, it's used for binary and multiclass classification tasks.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19900" y="4791075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19243" y="4791075"/>
            <a:ext cx="2886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Spam detection, disease diagnosis, credit scoring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19900" y="505777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473851" y="5057775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Fast, interpretable, provides probability estimates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19900" y="5324475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554367" y="5324475"/>
            <a:ext cx="394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Assumes linear decision boundary, struggles with complex patterns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9505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Algorithms - 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Algorithms that assign input data to predefined categories or classes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714500"/>
            <a:ext cx="5638800" cy="1885950"/>
          </a:xfrm>
          <a:custGeom>
            <a:avLst/>
            <a:gdLst/>
            <a:ahLst/>
            <a:cxnLst/>
            <a:rect l="l" t="t" r="r" b="b"/>
            <a:pathLst>
              <a:path w="5638800" h="1885950">
                <a:moveTo>
                  <a:pt x="114307" y="0"/>
                </a:moveTo>
                <a:lnTo>
                  <a:pt x="5524493" y="0"/>
                </a:lnTo>
                <a:cubicBezTo>
                  <a:pt x="5587623" y="0"/>
                  <a:pt x="5638800" y="51177"/>
                  <a:pt x="5638800" y="114307"/>
                </a:cubicBezTo>
                <a:lnTo>
                  <a:pt x="5638800" y="1771643"/>
                </a:lnTo>
                <a:cubicBezTo>
                  <a:pt x="5638800" y="1834773"/>
                  <a:pt x="5587623" y="1885950"/>
                  <a:pt x="552449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34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8" name="Shape 6"/>
          <p:cNvSpPr/>
          <p:nvPr/>
        </p:nvSpPr>
        <p:spPr>
          <a:xfrm>
            <a:off x="640556" y="1971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" y="1866900"/>
            <a:ext cx="493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highlight>
                  <a:srgbClr val="FFFF00"/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Decision Trees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10" name="Text 8"/>
          <p:cNvSpPr/>
          <p:nvPr/>
        </p:nvSpPr>
        <p:spPr>
          <a:xfrm>
            <a:off x="1028700" y="2171700"/>
            <a:ext cx="4905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Tree-like model that splits data based on feature values to make decisions. Each internal node represents a test on an attribute, each branch represents the outcome.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8700" y="2719388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28043" y="2719388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segmentation, medical diagnosis, fraud detection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8700" y="2986088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82651" y="2986088"/>
            <a:ext cx="421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Highly interpretable, handles non-linear relationships, no scaling needed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8700" y="3252788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63167" y="3252788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Prone to overfitting, unstable with small data changes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2200" y="1714500"/>
            <a:ext cx="5638800" cy="1885950"/>
          </a:xfrm>
          <a:custGeom>
            <a:avLst/>
            <a:gdLst/>
            <a:ahLst/>
            <a:cxnLst/>
            <a:rect l="l" t="t" r="r" b="b"/>
            <a:pathLst>
              <a:path w="5638800" h="1885950">
                <a:moveTo>
                  <a:pt x="114307" y="0"/>
                </a:moveTo>
                <a:lnTo>
                  <a:pt x="5524493" y="0"/>
                </a:lnTo>
                <a:cubicBezTo>
                  <a:pt x="5587623" y="0"/>
                  <a:pt x="5638800" y="51177"/>
                  <a:pt x="5638800" y="114307"/>
                </a:cubicBezTo>
                <a:lnTo>
                  <a:pt x="5638800" y="1771643"/>
                </a:lnTo>
                <a:cubicBezTo>
                  <a:pt x="5638800" y="1834773"/>
                  <a:pt x="5587623" y="1885950"/>
                  <a:pt x="552449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246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2472" y="19716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-10716"/>
                </a:moveTo>
                <a:cubicBezTo>
                  <a:pt x="77353" y="-10716"/>
                  <a:pt x="79597" y="-9678"/>
                  <a:pt x="81137" y="-7869"/>
                </a:cubicBezTo>
                <a:lnTo>
                  <a:pt x="126679" y="45709"/>
                </a:lnTo>
                <a:cubicBezTo>
                  <a:pt x="128721" y="48086"/>
                  <a:pt x="129157" y="51435"/>
                  <a:pt x="127851" y="54281"/>
                </a:cubicBezTo>
                <a:cubicBezTo>
                  <a:pt x="126545" y="57128"/>
                  <a:pt x="123698" y="58936"/>
                  <a:pt x="120551" y="58936"/>
                </a:cubicBezTo>
                <a:lnTo>
                  <a:pt x="112213" y="58936"/>
                </a:lnTo>
                <a:lnTo>
                  <a:pt x="137394" y="88571"/>
                </a:lnTo>
                <a:cubicBezTo>
                  <a:pt x="139437" y="90949"/>
                  <a:pt x="139872" y="94298"/>
                  <a:pt x="138566" y="97144"/>
                </a:cubicBezTo>
                <a:cubicBezTo>
                  <a:pt x="137260" y="99990"/>
                  <a:pt x="134414" y="101798"/>
                  <a:pt x="131266" y="101798"/>
                </a:cubicBezTo>
                <a:lnTo>
                  <a:pt x="118374" y="101798"/>
                </a:lnTo>
                <a:lnTo>
                  <a:pt x="148110" y="136792"/>
                </a:lnTo>
                <a:cubicBezTo>
                  <a:pt x="150153" y="139169"/>
                  <a:pt x="150588" y="142518"/>
                  <a:pt x="149282" y="145364"/>
                </a:cubicBezTo>
                <a:cubicBezTo>
                  <a:pt x="147976" y="148210"/>
                  <a:pt x="145130" y="150019"/>
                  <a:pt x="141982" y="150019"/>
                </a:cubicBezTo>
                <a:lnTo>
                  <a:pt x="85725" y="150019"/>
                </a:lnTo>
                <a:lnTo>
                  <a:pt x="85725" y="171450"/>
                </a:lnTo>
                <a:cubicBezTo>
                  <a:pt x="85725" y="177377"/>
                  <a:pt x="80936" y="182166"/>
                  <a:pt x="75009" y="182166"/>
                </a:cubicBezTo>
                <a:cubicBezTo>
                  <a:pt x="69082" y="182166"/>
                  <a:pt x="64294" y="177377"/>
                  <a:pt x="64294" y="171450"/>
                </a:cubicBezTo>
                <a:lnTo>
                  <a:pt x="64294" y="150019"/>
                </a:lnTo>
                <a:lnTo>
                  <a:pt x="8037" y="150019"/>
                </a:lnTo>
                <a:cubicBezTo>
                  <a:pt x="4889" y="150019"/>
                  <a:pt x="2043" y="148210"/>
                  <a:pt x="737" y="145364"/>
                </a:cubicBezTo>
                <a:cubicBezTo>
                  <a:pt x="-569" y="142518"/>
                  <a:pt x="-134" y="139169"/>
                  <a:pt x="1909" y="136792"/>
                </a:cubicBezTo>
                <a:lnTo>
                  <a:pt x="31645" y="101798"/>
                </a:lnTo>
                <a:lnTo>
                  <a:pt x="18752" y="101798"/>
                </a:lnTo>
                <a:cubicBezTo>
                  <a:pt x="15605" y="101798"/>
                  <a:pt x="12758" y="99990"/>
                  <a:pt x="11452" y="97144"/>
                </a:cubicBezTo>
                <a:cubicBezTo>
                  <a:pt x="10146" y="94298"/>
                  <a:pt x="10582" y="90949"/>
                  <a:pt x="12624" y="88571"/>
                </a:cubicBezTo>
                <a:lnTo>
                  <a:pt x="37806" y="58936"/>
                </a:lnTo>
                <a:lnTo>
                  <a:pt x="29468" y="58936"/>
                </a:lnTo>
                <a:cubicBezTo>
                  <a:pt x="26320" y="58936"/>
                  <a:pt x="23474" y="57128"/>
                  <a:pt x="22168" y="54281"/>
                </a:cubicBezTo>
                <a:cubicBezTo>
                  <a:pt x="20862" y="51435"/>
                  <a:pt x="21297" y="48086"/>
                  <a:pt x="23340" y="45709"/>
                </a:cubicBezTo>
                <a:lnTo>
                  <a:pt x="68881" y="-7869"/>
                </a:lnTo>
                <a:cubicBezTo>
                  <a:pt x="70422" y="-9678"/>
                  <a:pt x="72665" y="-10716"/>
                  <a:pt x="75009" y="-107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19900" y="1866900"/>
            <a:ext cx="493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highlight>
                  <a:srgbClr val="FFFF00"/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19900" y="2171700"/>
            <a:ext cx="4905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of decision trees that combines predictions through majority voting. Each tree is trained on a random subset of data and features to reduce overfitting.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9900" y="2719388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19243" y="2719388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 scoring, stock market prediction, feature importance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9900" y="2986088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73851" y="2986088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overfitting, handles high dimensionality, robust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19900" y="3252788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54367" y="3252788"/>
            <a:ext cx="366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 interpretable than single trees, computationally expensive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3748087"/>
            <a:ext cx="5638800" cy="1885950"/>
          </a:xfrm>
          <a:custGeom>
            <a:avLst/>
            <a:gdLst/>
            <a:ahLst/>
            <a:cxnLst/>
            <a:rect l="l" t="t" r="r" b="b"/>
            <a:pathLst>
              <a:path w="5638800" h="1885950">
                <a:moveTo>
                  <a:pt x="114307" y="0"/>
                </a:moveTo>
                <a:lnTo>
                  <a:pt x="5524493" y="0"/>
                </a:lnTo>
                <a:cubicBezTo>
                  <a:pt x="5587623" y="0"/>
                  <a:pt x="5638800" y="51177"/>
                  <a:pt x="5638800" y="114307"/>
                </a:cubicBezTo>
                <a:lnTo>
                  <a:pt x="5638800" y="1771643"/>
                </a:lnTo>
                <a:cubicBezTo>
                  <a:pt x="5638800" y="1834773"/>
                  <a:pt x="5587623" y="1885950"/>
                  <a:pt x="552449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3400" y="39004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556" y="400526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2067" y="76516"/>
                </a:moveTo>
                <a:cubicBezTo>
                  <a:pt x="26521" y="45374"/>
                  <a:pt x="53344" y="21431"/>
                  <a:pt x="85725" y="21431"/>
                </a:cubicBezTo>
                <a:cubicBezTo>
                  <a:pt x="103473" y="21431"/>
                  <a:pt x="119546" y="28631"/>
                  <a:pt x="131199" y="40251"/>
                </a:cubicBezTo>
                <a:cubicBezTo>
                  <a:pt x="131266" y="40318"/>
                  <a:pt x="131333" y="40385"/>
                  <a:pt x="131400" y="40451"/>
                </a:cubicBezTo>
                <a:lnTo>
                  <a:pt x="133945" y="42863"/>
                </a:lnTo>
                <a:lnTo>
                  <a:pt x="117905" y="42863"/>
                </a:lnTo>
                <a:cubicBezTo>
                  <a:pt x="111978" y="42863"/>
                  <a:pt x="107190" y="47651"/>
                  <a:pt x="107190" y="53578"/>
                </a:cubicBezTo>
                <a:cubicBezTo>
                  <a:pt x="107190" y="59505"/>
                  <a:pt x="111978" y="64294"/>
                  <a:pt x="117905" y="64294"/>
                </a:cubicBezTo>
                <a:lnTo>
                  <a:pt x="160768" y="64294"/>
                </a:lnTo>
                <a:cubicBezTo>
                  <a:pt x="166695" y="64294"/>
                  <a:pt x="171483" y="59505"/>
                  <a:pt x="171483" y="53578"/>
                </a:cubicBezTo>
                <a:lnTo>
                  <a:pt x="171483" y="10716"/>
                </a:lnTo>
                <a:cubicBezTo>
                  <a:pt x="171483" y="4789"/>
                  <a:pt x="166695" y="0"/>
                  <a:pt x="160768" y="0"/>
                </a:cubicBezTo>
                <a:cubicBezTo>
                  <a:pt x="154841" y="0"/>
                  <a:pt x="150052" y="4789"/>
                  <a:pt x="150052" y="10716"/>
                </a:cubicBezTo>
                <a:lnTo>
                  <a:pt x="150052" y="28597"/>
                </a:lnTo>
                <a:lnTo>
                  <a:pt x="146268" y="25014"/>
                </a:lnTo>
                <a:cubicBezTo>
                  <a:pt x="130764" y="9577"/>
                  <a:pt x="109333" y="0"/>
                  <a:pt x="85725" y="0"/>
                </a:cubicBezTo>
                <a:cubicBezTo>
                  <a:pt x="42528" y="0"/>
                  <a:pt x="6798" y="31946"/>
                  <a:pt x="871" y="73502"/>
                </a:cubicBezTo>
                <a:cubicBezTo>
                  <a:pt x="33" y="79363"/>
                  <a:pt x="4085" y="84787"/>
                  <a:pt x="9945" y="85625"/>
                </a:cubicBezTo>
                <a:cubicBezTo>
                  <a:pt x="15806" y="86462"/>
                  <a:pt x="21230" y="82376"/>
                  <a:pt x="22067" y="76550"/>
                </a:cubicBezTo>
                <a:close/>
                <a:moveTo>
                  <a:pt x="170579" y="97948"/>
                </a:moveTo>
                <a:cubicBezTo>
                  <a:pt x="171417" y="92087"/>
                  <a:pt x="167331" y="86663"/>
                  <a:pt x="161505" y="85825"/>
                </a:cubicBezTo>
                <a:cubicBezTo>
                  <a:pt x="155678" y="84988"/>
                  <a:pt x="150220" y="89074"/>
                  <a:pt x="149383" y="94900"/>
                </a:cubicBezTo>
                <a:cubicBezTo>
                  <a:pt x="144929" y="126043"/>
                  <a:pt x="118106" y="149985"/>
                  <a:pt x="85725" y="149985"/>
                </a:cubicBezTo>
                <a:cubicBezTo>
                  <a:pt x="67977" y="149985"/>
                  <a:pt x="51904" y="142786"/>
                  <a:pt x="40251" y="131166"/>
                </a:cubicBezTo>
                <a:cubicBezTo>
                  <a:pt x="40184" y="131099"/>
                  <a:pt x="40117" y="131032"/>
                  <a:pt x="40050" y="130965"/>
                </a:cubicBezTo>
                <a:lnTo>
                  <a:pt x="37505" y="128554"/>
                </a:lnTo>
                <a:lnTo>
                  <a:pt x="53545" y="128554"/>
                </a:lnTo>
                <a:cubicBezTo>
                  <a:pt x="59472" y="128554"/>
                  <a:pt x="64260" y="123765"/>
                  <a:pt x="64260" y="117838"/>
                </a:cubicBezTo>
                <a:cubicBezTo>
                  <a:pt x="64260" y="111911"/>
                  <a:pt x="59472" y="107123"/>
                  <a:pt x="53545" y="107123"/>
                </a:cubicBezTo>
                <a:lnTo>
                  <a:pt x="10716" y="107156"/>
                </a:lnTo>
                <a:cubicBezTo>
                  <a:pt x="7869" y="107156"/>
                  <a:pt x="5123" y="108295"/>
                  <a:pt x="3114" y="110337"/>
                </a:cubicBezTo>
                <a:cubicBezTo>
                  <a:pt x="1105" y="112380"/>
                  <a:pt x="-33" y="115093"/>
                  <a:pt x="0" y="117972"/>
                </a:cubicBezTo>
                <a:lnTo>
                  <a:pt x="335" y="160500"/>
                </a:lnTo>
                <a:cubicBezTo>
                  <a:pt x="368" y="166427"/>
                  <a:pt x="5224" y="171182"/>
                  <a:pt x="11151" y="171115"/>
                </a:cubicBezTo>
                <a:cubicBezTo>
                  <a:pt x="17078" y="171048"/>
                  <a:pt x="21833" y="166226"/>
                  <a:pt x="21766" y="160299"/>
                </a:cubicBezTo>
                <a:lnTo>
                  <a:pt x="21632" y="143054"/>
                </a:lnTo>
                <a:lnTo>
                  <a:pt x="25215" y="146436"/>
                </a:lnTo>
                <a:cubicBezTo>
                  <a:pt x="40719" y="161873"/>
                  <a:pt x="62117" y="171450"/>
                  <a:pt x="85725" y="171450"/>
                </a:cubicBezTo>
                <a:cubicBezTo>
                  <a:pt x="128922" y="171450"/>
                  <a:pt x="164652" y="139504"/>
                  <a:pt x="170579" y="9794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28700" y="3900488"/>
            <a:ext cx="493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highlight>
                  <a:srgbClr val="FFFF00"/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Support Vector Machines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28700" y="4205288"/>
            <a:ext cx="4905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Finds optimal hyperplane that maximally separates different classes. Can use kernel tricks to handle non-linear decision boundaries in high-dimensional spaces.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8700" y="4752975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728043" y="4752975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classification, text categorization, bioinformatics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28700" y="501967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682651" y="5019675"/>
            <a:ext cx="399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Effective in high dimensions, versatile with kernels, memory efficient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28700" y="5286375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763167" y="5286375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Computationally intensive, sensitive to feature scaling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72200" y="3748087"/>
            <a:ext cx="5638800" cy="1885950"/>
          </a:xfrm>
          <a:custGeom>
            <a:avLst/>
            <a:gdLst/>
            <a:ahLst/>
            <a:cxnLst/>
            <a:rect l="l" t="t" r="r" b="b"/>
            <a:pathLst>
              <a:path w="5638800" h="1885950">
                <a:moveTo>
                  <a:pt x="114307" y="0"/>
                </a:moveTo>
                <a:lnTo>
                  <a:pt x="5524493" y="0"/>
                </a:lnTo>
                <a:cubicBezTo>
                  <a:pt x="5587623" y="0"/>
                  <a:pt x="5638800" y="51177"/>
                  <a:pt x="5638800" y="114307"/>
                </a:cubicBezTo>
                <a:lnTo>
                  <a:pt x="5638800" y="1771643"/>
                </a:lnTo>
                <a:cubicBezTo>
                  <a:pt x="5638800" y="1834773"/>
                  <a:pt x="5587623" y="1885950"/>
                  <a:pt x="552449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24600" y="39004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41" name="Shape 39"/>
          <p:cNvSpPr/>
          <p:nvPr/>
        </p:nvSpPr>
        <p:spPr>
          <a:xfrm>
            <a:off x="6410325" y="4005262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819900" y="3900488"/>
            <a:ext cx="493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highlight>
                  <a:srgbClr val="FFFF00"/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K-Nearest Neighbors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43" name="Text 41"/>
          <p:cNvSpPr/>
          <p:nvPr/>
        </p:nvSpPr>
        <p:spPr>
          <a:xfrm>
            <a:off x="6819900" y="4205288"/>
            <a:ext cx="4905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Instance-based learning that classifies new data points based on the majority class of their k nearest neighbors in the feature space.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19900" y="4752975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19243" y="4752975"/>
            <a:ext cx="3819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 systems, image recognition, anomaly detection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19900" y="501967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473851" y="5019675"/>
            <a:ext cx="4210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to understand, no training phase, works with any distance metric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19900" y="5286375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554367" y="5286375"/>
            <a:ext cx="3724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 prediction, sensitive to irrelevant features, requires scaling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735" y="369735"/>
            <a:ext cx="1152647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kern="0" spc="58" dirty="0">
                <a:solidFill>
                  <a:srgbClr val="49505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9735" y="665522"/>
            <a:ext cx="11618911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Algorithms - 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9735" y="1109204"/>
            <a:ext cx="11535721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Probabilistic and statistical approaches to classification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9735" y="1478939"/>
            <a:ext cx="739469" cy="36973"/>
          </a:xfrm>
          <a:custGeom>
            <a:avLst/>
            <a:gdLst/>
            <a:ahLst/>
            <a:cxnLst/>
            <a:rect l="l" t="t" r="r" b="b"/>
            <a:pathLst>
              <a:path w="739469" h="36973">
                <a:moveTo>
                  <a:pt x="0" y="0"/>
                </a:moveTo>
                <a:lnTo>
                  <a:pt x="739469" y="0"/>
                </a:lnTo>
                <a:lnTo>
                  <a:pt x="739469" y="36973"/>
                </a:lnTo>
                <a:lnTo>
                  <a:pt x="0" y="36973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6" name="Shape 4"/>
          <p:cNvSpPr/>
          <p:nvPr/>
        </p:nvSpPr>
        <p:spPr>
          <a:xfrm>
            <a:off x="369735" y="1700779"/>
            <a:ext cx="5619967" cy="3272152"/>
          </a:xfrm>
          <a:custGeom>
            <a:avLst/>
            <a:gdLst/>
            <a:ahLst/>
            <a:cxnLst/>
            <a:rect l="l" t="t" r="r" b="b"/>
            <a:pathLst>
              <a:path w="5619967" h="3272152">
                <a:moveTo>
                  <a:pt x="110926" y="0"/>
                </a:moveTo>
                <a:lnTo>
                  <a:pt x="5509041" y="0"/>
                </a:lnTo>
                <a:cubicBezTo>
                  <a:pt x="5570303" y="0"/>
                  <a:pt x="5619967" y="49663"/>
                  <a:pt x="5619967" y="110926"/>
                </a:cubicBezTo>
                <a:lnTo>
                  <a:pt x="5619967" y="3161226"/>
                </a:lnTo>
                <a:cubicBezTo>
                  <a:pt x="5619967" y="3222488"/>
                  <a:pt x="5570303" y="3272152"/>
                  <a:pt x="5509041" y="3272152"/>
                </a:cubicBezTo>
                <a:lnTo>
                  <a:pt x="110926" y="3272152"/>
                </a:lnTo>
                <a:cubicBezTo>
                  <a:pt x="49663" y="3272152"/>
                  <a:pt x="0" y="3222488"/>
                  <a:pt x="0" y="3161226"/>
                </a:cubicBezTo>
                <a:lnTo>
                  <a:pt x="0" y="110926"/>
                </a:lnTo>
                <a:cubicBezTo>
                  <a:pt x="0" y="49704"/>
                  <a:pt x="49704" y="0"/>
                  <a:pt x="11092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30" dist="924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4602" y="1885647"/>
            <a:ext cx="443682" cy="443682"/>
          </a:xfrm>
          <a:custGeom>
            <a:avLst/>
            <a:gdLst/>
            <a:ahLst/>
            <a:cxnLst/>
            <a:rect l="l" t="t" r="r" b="b"/>
            <a:pathLst>
              <a:path w="443682" h="443682">
                <a:moveTo>
                  <a:pt x="73948" y="0"/>
                </a:moveTo>
                <a:lnTo>
                  <a:pt x="369733" y="0"/>
                </a:lnTo>
                <a:cubicBezTo>
                  <a:pt x="410574" y="0"/>
                  <a:pt x="443682" y="33108"/>
                  <a:pt x="443682" y="73948"/>
                </a:cubicBezTo>
                <a:lnTo>
                  <a:pt x="443682" y="369733"/>
                </a:lnTo>
                <a:cubicBezTo>
                  <a:pt x="443682" y="410574"/>
                  <a:pt x="410574" y="443682"/>
                  <a:pt x="369733" y="443682"/>
                </a:cubicBezTo>
                <a:lnTo>
                  <a:pt x="73948" y="443682"/>
                </a:lnTo>
                <a:cubicBezTo>
                  <a:pt x="33108" y="443682"/>
                  <a:pt x="0" y="410574"/>
                  <a:pt x="0" y="369733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8" name="Shape 6"/>
          <p:cNvSpPr/>
          <p:nvPr/>
        </p:nvSpPr>
        <p:spPr>
          <a:xfrm>
            <a:off x="707118" y="2015054"/>
            <a:ext cx="138650" cy="184867"/>
          </a:xfrm>
          <a:custGeom>
            <a:avLst/>
            <a:gdLst/>
            <a:ahLst/>
            <a:cxnLst/>
            <a:rect l="l" t="t" r="r" b="b"/>
            <a:pathLst>
              <a:path w="138650" h="184867">
                <a:moveTo>
                  <a:pt x="23108" y="0"/>
                </a:moveTo>
                <a:cubicBezTo>
                  <a:pt x="10363" y="0"/>
                  <a:pt x="0" y="10363"/>
                  <a:pt x="0" y="23108"/>
                </a:cubicBezTo>
                <a:lnTo>
                  <a:pt x="0" y="161759"/>
                </a:lnTo>
                <a:cubicBezTo>
                  <a:pt x="0" y="174505"/>
                  <a:pt x="10363" y="184867"/>
                  <a:pt x="23108" y="184867"/>
                </a:cubicBezTo>
                <a:lnTo>
                  <a:pt x="115542" y="184867"/>
                </a:lnTo>
                <a:cubicBezTo>
                  <a:pt x="128288" y="184867"/>
                  <a:pt x="138650" y="174505"/>
                  <a:pt x="138650" y="161759"/>
                </a:cubicBezTo>
                <a:lnTo>
                  <a:pt x="138650" y="23108"/>
                </a:lnTo>
                <a:cubicBezTo>
                  <a:pt x="138650" y="10363"/>
                  <a:pt x="128288" y="0"/>
                  <a:pt x="115542" y="0"/>
                </a:cubicBezTo>
                <a:lnTo>
                  <a:pt x="23108" y="0"/>
                </a:lnTo>
                <a:close/>
                <a:moveTo>
                  <a:pt x="34663" y="23108"/>
                </a:moveTo>
                <a:lnTo>
                  <a:pt x="103988" y="23108"/>
                </a:lnTo>
                <a:cubicBezTo>
                  <a:pt x="110379" y="23108"/>
                  <a:pt x="115542" y="28272"/>
                  <a:pt x="115542" y="34663"/>
                </a:cubicBezTo>
                <a:lnTo>
                  <a:pt x="115542" y="46217"/>
                </a:lnTo>
                <a:cubicBezTo>
                  <a:pt x="115542" y="52608"/>
                  <a:pt x="110379" y="57771"/>
                  <a:pt x="103988" y="57771"/>
                </a:cubicBezTo>
                <a:lnTo>
                  <a:pt x="34663" y="57771"/>
                </a:lnTo>
                <a:cubicBezTo>
                  <a:pt x="28272" y="57771"/>
                  <a:pt x="23108" y="52608"/>
                  <a:pt x="23108" y="46217"/>
                </a:cubicBezTo>
                <a:lnTo>
                  <a:pt x="23108" y="34663"/>
                </a:lnTo>
                <a:cubicBezTo>
                  <a:pt x="23108" y="28272"/>
                  <a:pt x="28272" y="23108"/>
                  <a:pt x="34663" y="23108"/>
                </a:cubicBezTo>
                <a:close/>
                <a:moveTo>
                  <a:pt x="40440" y="83768"/>
                </a:moveTo>
                <a:cubicBezTo>
                  <a:pt x="40440" y="88551"/>
                  <a:pt x="36557" y="92434"/>
                  <a:pt x="31774" y="92434"/>
                </a:cubicBezTo>
                <a:cubicBezTo>
                  <a:pt x="26991" y="92434"/>
                  <a:pt x="23108" y="88551"/>
                  <a:pt x="23108" y="83768"/>
                </a:cubicBezTo>
                <a:cubicBezTo>
                  <a:pt x="23108" y="78985"/>
                  <a:pt x="26991" y="75102"/>
                  <a:pt x="31774" y="75102"/>
                </a:cubicBezTo>
                <a:cubicBezTo>
                  <a:pt x="36557" y="75102"/>
                  <a:pt x="40440" y="78985"/>
                  <a:pt x="40440" y="83768"/>
                </a:cubicBezTo>
                <a:close/>
                <a:moveTo>
                  <a:pt x="69325" y="92434"/>
                </a:moveTo>
                <a:cubicBezTo>
                  <a:pt x="64543" y="92434"/>
                  <a:pt x="60660" y="88551"/>
                  <a:pt x="60660" y="83768"/>
                </a:cubicBezTo>
                <a:cubicBezTo>
                  <a:pt x="60660" y="78985"/>
                  <a:pt x="64543" y="75102"/>
                  <a:pt x="69325" y="75102"/>
                </a:cubicBezTo>
                <a:cubicBezTo>
                  <a:pt x="74108" y="75102"/>
                  <a:pt x="77991" y="78985"/>
                  <a:pt x="77991" y="83768"/>
                </a:cubicBezTo>
                <a:cubicBezTo>
                  <a:pt x="77991" y="88551"/>
                  <a:pt x="74108" y="92434"/>
                  <a:pt x="69325" y="92434"/>
                </a:cubicBezTo>
                <a:close/>
                <a:moveTo>
                  <a:pt x="115542" y="83768"/>
                </a:moveTo>
                <a:cubicBezTo>
                  <a:pt x="115542" y="88551"/>
                  <a:pt x="111659" y="92434"/>
                  <a:pt x="106876" y="92434"/>
                </a:cubicBezTo>
                <a:cubicBezTo>
                  <a:pt x="102094" y="92434"/>
                  <a:pt x="98211" y="88551"/>
                  <a:pt x="98211" y="83768"/>
                </a:cubicBezTo>
                <a:cubicBezTo>
                  <a:pt x="98211" y="78985"/>
                  <a:pt x="102094" y="75102"/>
                  <a:pt x="106876" y="75102"/>
                </a:cubicBezTo>
                <a:cubicBezTo>
                  <a:pt x="111659" y="75102"/>
                  <a:pt x="115542" y="78985"/>
                  <a:pt x="115542" y="83768"/>
                </a:cubicBezTo>
                <a:close/>
                <a:moveTo>
                  <a:pt x="31774" y="127096"/>
                </a:moveTo>
                <a:cubicBezTo>
                  <a:pt x="26991" y="127096"/>
                  <a:pt x="23108" y="123213"/>
                  <a:pt x="23108" y="118431"/>
                </a:cubicBezTo>
                <a:cubicBezTo>
                  <a:pt x="23108" y="113648"/>
                  <a:pt x="26991" y="109765"/>
                  <a:pt x="31774" y="109765"/>
                </a:cubicBezTo>
                <a:cubicBezTo>
                  <a:pt x="36557" y="109765"/>
                  <a:pt x="40440" y="113648"/>
                  <a:pt x="40440" y="118431"/>
                </a:cubicBezTo>
                <a:cubicBezTo>
                  <a:pt x="40440" y="123213"/>
                  <a:pt x="36557" y="127096"/>
                  <a:pt x="31774" y="127096"/>
                </a:cubicBezTo>
                <a:close/>
                <a:moveTo>
                  <a:pt x="77991" y="118431"/>
                </a:moveTo>
                <a:cubicBezTo>
                  <a:pt x="77991" y="123213"/>
                  <a:pt x="74108" y="127096"/>
                  <a:pt x="69325" y="127096"/>
                </a:cubicBezTo>
                <a:cubicBezTo>
                  <a:pt x="64543" y="127096"/>
                  <a:pt x="60660" y="123213"/>
                  <a:pt x="60660" y="118431"/>
                </a:cubicBezTo>
                <a:cubicBezTo>
                  <a:pt x="60660" y="113648"/>
                  <a:pt x="64543" y="109765"/>
                  <a:pt x="69325" y="109765"/>
                </a:cubicBezTo>
                <a:cubicBezTo>
                  <a:pt x="74108" y="109765"/>
                  <a:pt x="77991" y="113648"/>
                  <a:pt x="77991" y="118431"/>
                </a:cubicBezTo>
                <a:close/>
                <a:moveTo>
                  <a:pt x="106876" y="127096"/>
                </a:moveTo>
                <a:cubicBezTo>
                  <a:pt x="102094" y="127096"/>
                  <a:pt x="98211" y="123213"/>
                  <a:pt x="98211" y="118431"/>
                </a:cubicBezTo>
                <a:cubicBezTo>
                  <a:pt x="98211" y="113648"/>
                  <a:pt x="102094" y="109765"/>
                  <a:pt x="106876" y="109765"/>
                </a:cubicBezTo>
                <a:cubicBezTo>
                  <a:pt x="111659" y="109765"/>
                  <a:pt x="115542" y="113648"/>
                  <a:pt x="115542" y="118431"/>
                </a:cubicBezTo>
                <a:cubicBezTo>
                  <a:pt x="115542" y="123213"/>
                  <a:pt x="111659" y="127096"/>
                  <a:pt x="106876" y="127096"/>
                </a:cubicBezTo>
                <a:close/>
                <a:moveTo>
                  <a:pt x="23108" y="153093"/>
                </a:moveTo>
                <a:cubicBezTo>
                  <a:pt x="23108" y="148291"/>
                  <a:pt x="26972" y="144428"/>
                  <a:pt x="31774" y="144428"/>
                </a:cubicBezTo>
                <a:lnTo>
                  <a:pt x="72214" y="144428"/>
                </a:lnTo>
                <a:cubicBezTo>
                  <a:pt x="77016" y="144428"/>
                  <a:pt x="80879" y="148291"/>
                  <a:pt x="80879" y="153093"/>
                </a:cubicBezTo>
                <a:cubicBezTo>
                  <a:pt x="80879" y="157895"/>
                  <a:pt x="77016" y="161759"/>
                  <a:pt x="72214" y="161759"/>
                </a:cubicBezTo>
                <a:lnTo>
                  <a:pt x="31774" y="161759"/>
                </a:lnTo>
                <a:cubicBezTo>
                  <a:pt x="26972" y="161759"/>
                  <a:pt x="23108" y="157895"/>
                  <a:pt x="23108" y="153093"/>
                </a:cubicBezTo>
                <a:close/>
                <a:moveTo>
                  <a:pt x="106876" y="144428"/>
                </a:moveTo>
                <a:cubicBezTo>
                  <a:pt x="111679" y="144428"/>
                  <a:pt x="115542" y="148291"/>
                  <a:pt x="115542" y="153093"/>
                </a:cubicBezTo>
                <a:cubicBezTo>
                  <a:pt x="115542" y="157895"/>
                  <a:pt x="111679" y="161759"/>
                  <a:pt x="106876" y="161759"/>
                </a:cubicBezTo>
                <a:cubicBezTo>
                  <a:pt x="102074" y="161759"/>
                  <a:pt x="98211" y="157895"/>
                  <a:pt x="98211" y="153093"/>
                </a:cubicBezTo>
                <a:cubicBezTo>
                  <a:pt x="98211" y="148291"/>
                  <a:pt x="102074" y="144428"/>
                  <a:pt x="106876" y="14442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46177" y="1885647"/>
            <a:ext cx="4769577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Naive Bayes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6177" y="2255381"/>
            <a:ext cx="4732603" cy="720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Probabilistic classifier based on Bayes' theorem with strong independence assumptions between features. Despite its simplifying assumptions, it performs surprisingly well.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6177" y="3124258"/>
            <a:ext cx="76719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11210" y="3124258"/>
            <a:ext cx="3771293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Spam filtering, sentiment analysis, document classification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6177" y="3457019"/>
            <a:ext cx="71173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60805" y="3457019"/>
            <a:ext cx="4011621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Extremely fast, works well with high dimensions, handles missing values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6177" y="4011621"/>
            <a:ext cx="804173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50206" y="4011621"/>
            <a:ext cx="3928431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independence assumption rarely holds, zero frequency problem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6177" y="4566223"/>
            <a:ext cx="62854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Variants: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76893" y="4566223"/>
            <a:ext cx="3004094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Gaussian, Multinomial, Bernoulli, Complement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07354" y="1700779"/>
            <a:ext cx="5619967" cy="3272152"/>
          </a:xfrm>
          <a:custGeom>
            <a:avLst/>
            <a:gdLst/>
            <a:ahLst/>
            <a:cxnLst/>
            <a:rect l="l" t="t" r="r" b="b"/>
            <a:pathLst>
              <a:path w="5619967" h="3272152">
                <a:moveTo>
                  <a:pt x="110926" y="0"/>
                </a:moveTo>
                <a:lnTo>
                  <a:pt x="5509041" y="0"/>
                </a:lnTo>
                <a:cubicBezTo>
                  <a:pt x="5570303" y="0"/>
                  <a:pt x="5619967" y="49663"/>
                  <a:pt x="5619967" y="110926"/>
                </a:cubicBezTo>
                <a:lnTo>
                  <a:pt x="5619967" y="3161226"/>
                </a:lnTo>
                <a:cubicBezTo>
                  <a:pt x="5619967" y="3222488"/>
                  <a:pt x="5570303" y="3272152"/>
                  <a:pt x="5509041" y="3272152"/>
                </a:cubicBezTo>
                <a:lnTo>
                  <a:pt x="110926" y="3272152"/>
                </a:lnTo>
                <a:cubicBezTo>
                  <a:pt x="49663" y="3272152"/>
                  <a:pt x="0" y="3222488"/>
                  <a:pt x="0" y="3161226"/>
                </a:cubicBezTo>
                <a:lnTo>
                  <a:pt x="0" y="110926"/>
                </a:lnTo>
                <a:cubicBezTo>
                  <a:pt x="0" y="49704"/>
                  <a:pt x="49704" y="0"/>
                  <a:pt x="11092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30" dist="924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92221" y="1885647"/>
            <a:ext cx="443682" cy="443682"/>
          </a:xfrm>
          <a:custGeom>
            <a:avLst/>
            <a:gdLst/>
            <a:ahLst/>
            <a:cxnLst/>
            <a:rect l="l" t="t" r="r" b="b"/>
            <a:pathLst>
              <a:path w="443682" h="443682">
                <a:moveTo>
                  <a:pt x="73948" y="0"/>
                </a:moveTo>
                <a:lnTo>
                  <a:pt x="369733" y="0"/>
                </a:lnTo>
                <a:cubicBezTo>
                  <a:pt x="410574" y="0"/>
                  <a:pt x="443682" y="33108"/>
                  <a:pt x="443682" y="73948"/>
                </a:cubicBezTo>
                <a:lnTo>
                  <a:pt x="443682" y="369733"/>
                </a:lnTo>
                <a:cubicBezTo>
                  <a:pt x="443682" y="410574"/>
                  <a:pt x="410574" y="443682"/>
                  <a:pt x="369733" y="443682"/>
                </a:cubicBezTo>
                <a:lnTo>
                  <a:pt x="73948" y="443682"/>
                </a:lnTo>
                <a:cubicBezTo>
                  <a:pt x="33108" y="443682"/>
                  <a:pt x="0" y="410574"/>
                  <a:pt x="0" y="369733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21" name="Shape 19"/>
          <p:cNvSpPr/>
          <p:nvPr/>
        </p:nvSpPr>
        <p:spPr>
          <a:xfrm>
            <a:off x="6521628" y="2015054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11554" y="11554"/>
                </a:moveTo>
                <a:cubicBezTo>
                  <a:pt x="17945" y="11554"/>
                  <a:pt x="23108" y="16717"/>
                  <a:pt x="23108" y="23108"/>
                </a:cubicBezTo>
                <a:lnTo>
                  <a:pt x="23108" y="144428"/>
                </a:lnTo>
                <a:cubicBezTo>
                  <a:pt x="23108" y="147605"/>
                  <a:pt x="25708" y="150205"/>
                  <a:pt x="28886" y="150205"/>
                </a:cubicBezTo>
                <a:lnTo>
                  <a:pt x="173313" y="150205"/>
                </a:lnTo>
                <a:cubicBezTo>
                  <a:pt x="179704" y="150205"/>
                  <a:pt x="184867" y="155368"/>
                  <a:pt x="184867" y="161759"/>
                </a:cubicBezTo>
                <a:cubicBezTo>
                  <a:pt x="184867" y="168150"/>
                  <a:pt x="179704" y="173313"/>
                  <a:pt x="173313" y="173313"/>
                </a:cubicBezTo>
                <a:lnTo>
                  <a:pt x="28886" y="173313"/>
                </a:lnTo>
                <a:cubicBezTo>
                  <a:pt x="12926" y="173313"/>
                  <a:pt x="0" y="160387"/>
                  <a:pt x="0" y="144428"/>
                </a:cubicBezTo>
                <a:lnTo>
                  <a:pt x="0" y="23108"/>
                </a:lnTo>
                <a:cubicBezTo>
                  <a:pt x="0" y="16717"/>
                  <a:pt x="5163" y="11554"/>
                  <a:pt x="11554" y="11554"/>
                </a:cubicBezTo>
                <a:close/>
                <a:moveTo>
                  <a:pt x="46217" y="34663"/>
                </a:moveTo>
                <a:cubicBezTo>
                  <a:pt x="46217" y="28272"/>
                  <a:pt x="51380" y="23108"/>
                  <a:pt x="57771" y="23108"/>
                </a:cubicBezTo>
                <a:lnTo>
                  <a:pt x="127096" y="23108"/>
                </a:lnTo>
                <a:cubicBezTo>
                  <a:pt x="133487" y="23108"/>
                  <a:pt x="138650" y="28272"/>
                  <a:pt x="138650" y="34663"/>
                </a:cubicBezTo>
                <a:cubicBezTo>
                  <a:pt x="138650" y="41054"/>
                  <a:pt x="133487" y="46217"/>
                  <a:pt x="127096" y="46217"/>
                </a:cubicBezTo>
                <a:lnTo>
                  <a:pt x="57771" y="46217"/>
                </a:lnTo>
                <a:cubicBezTo>
                  <a:pt x="51380" y="46217"/>
                  <a:pt x="46217" y="41054"/>
                  <a:pt x="46217" y="34663"/>
                </a:cubicBezTo>
                <a:close/>
                <a:moveTo>
                  <a:pt x="57771" y="63548"/>
                </a:moveTo>
                <a:lnTo>
                  <a:pt x="103988" y="63548"/>
                </a:lnTo>
                <a:cubicBezTo>
                  <a:pt x="110379" y="63548"/>
                  <a:pt x="115542" y="68711"/>
                  <a:pt x="115542" y="75102"/>
                </a:cubicBezTo>
                <a:cubicBezTo>
                  <a:pt x="115542" y="81493"/>
                  <a:pt x="110379" y="86657"/>
                  <a:pt x="103988" y="86657"/>
                </a:cubicBezTo>
                <a:lnTo>
                  <a:pt x="57771" y="86657"/>
                </a:lnTo>
                <a:cubicBezTo>
                  <a:pt x="51380" y="86657"/>
                  <a:pt x="46217" y="81493"/>
                  <a:pt x="46217" y="75102"/>
                </a:cubicBezTo>
                <a:cubicBezTo>
                  <a:pt x="46217" y="68711"/>
                  <a:pt x="51380" y="63548"/>
                  <a:pt x="57771" y="63548"/>
                </a:cubicBezTo>
                <a:close/>
                <a:moveTo>
                  <a:pt x="57771" y="103988"/>
                </a:moveTo>
                <a:lnTo>
                  <a:pt x="150205" y="103988"/>
                </a:lnTo>
                <a:cubicBezTo>
                  <a:pt x="156596" y="103988"/>
                  <a:pt x="161759" y="109151"/>
                  <a:pt x="161759" y="115542"/>
                </a:cubicBezTo>
                <a:cubicBezTo>
                  <a:pt x="161759" y="121933"/>
                  <a:pt x="156596" y="127096"/>
                  <a:pt x="150205" y="127096"/>
                </a:cubicBezTo>
                <a:lnTo>
                  <a:pt x="57771" y="127096"/>
                </a:lnTo>
                <a:cubicBezTo>
                  <a:pt x="51380" y="127096"/>
                  <a:pt x="46217" y="121933"/>
                  <a:pt x="46217" y="115542"/>
                </a:cubicBezTo>
                <a:cubicBezTo>
                  <a:pt x="46217" y="109151"/>
                  <a:pt x="51380" y="103988"/>
                  <a:pt x="57771" y="1039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983796" y="1885647"/>
            <a:ext cx="4769577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Discriminant Analysis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83796" y="2255381"/>
            <a:ext cx="4732603" cy="720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 dimensionality reduction technique that finds linear combinations of features to maximize separation between classes while minimizing within-class variance.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83796" y="3124258"/>
            <a:ext cx="76719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48829" y="3124258"/>
            <a:ext cx="3909944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recognition, customer segmentation, medical diagnosis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83796" y="3457019"/>
            <a:ext cx="71173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98424" y="3457019"/>
            <a:ext cx="4011621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dimensionality, handles multicollinearity, stable with small samples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83796" y="4011621"/>
            <a:ext cx="804173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87825" y="4011621"/>
            <a:ext cx="338307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Assumes Gaussian distributions, sensitive to outliers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83796" y="4344382"/>
            <a:ext cx="887363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Relationship: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874481" y="4344382"/>
            <a:ext cx="3835997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Similar to PCA but uses class labels for supervised reduction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69735" y="5157798"/>
            <a:ext cx="11452531" cy="1109204"/>
          </a:xfrm>
          <a:custGeom>
            <a:avLst/>
            <a:gdLst/>
            <a:ahLst/>
            <a:cxnLst/>
            <a:rect l="l" t="t" r="r" b="b"/>
            <a:pathLst>
              <a:path w="11452531" h="1109204">
                <a:moveTo>
                  <a:pt x="110920" y="0"/>
                </a:moveTo>
                <a:lnTo>
                  <a:pt x="11341610" y="0"/>
                </a:lnTo>
                <a:cubicBezTo>
                  <a:pt x="11402870" y="0"/>
                  <a:pt x="11452531" y="49661"/>
                  <a:pt x="11452531" y="110920"/>
                </a:cubicBezTo>
                <a:lnTo>
                  <a:pt x="11452531" y="998284"/>
                </a:lnTo>
                <a:cubicBezTo>
                  <a:pt x="11452531" y="1059543"/>
                  <a:pt x="11402870" y="1109204"/>
                  <a:pt x="11341610" y="1109204"/>
                </a:cubicBezTo>
                <a:lnTo>
                  <a:pt x="110920" y="1109204"/>
                </a:lnTo>
                <a:cubicBezTo>
                  <a:pt x="49661" y="1109204"/>
                  <a:pt x="0" y="1059543"/>
                  <a:pt x="0" y="998284"/>
                </a:cubicBezTo>
                <a:lnTo>
                  <a:pt x="0" y="110920"/>
                </a:lnTo>
                <a:cubicBezTo>
                  <a:pt x="0" y="49661"/>
                  <a:pt x="49661" y="0"/>
                  <a:pt x="1109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30" dist="924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3845" y="5342666"/>
            <a:ext cx="138650" cy="184867"/>
          </a:xfrm>
          <a:custGeom>
            <a:avLst/>
            <a:gdLst/>
            <a:ahLst/>
            <a:cxnLst/>
            <a:rect l="l" t="t" r="r" b="b"/>
            <a:pathLst>
              <a:path w="138650" h="184867">
                <a:moveTo>
                  <a:pt x="105757" y="138650"/>
                </a:moveTo>
                <a:cubicBezTo>
                  <a:pt x="108393" y="130599"/>
                  <a:pt x="113665" y="123305"/>
                  <a:pt x="119622" y="117022"/>
                </a:cubicBezTo>
                <a:cubicBezTo>
                  <a:pt x="131429" y="104602"/>
                  <a:pt x="138650" y="87812"/>
                  <a:pt x="138650" y="69325"/>
                </a:cubicBezTo>
                <a:cubicBezTo>
                  <a:pt x="138650" y="31052"/>
                  <a:pt x="107599" y="0"/>
                  <a:pt x="69325" y="0"/>
                </a:cubicBezTo>
                <a:cubicBezTo>
                  <a:pt x="31052" y="0"/>
                  <a:pt x="0" y="31052"/>
                  <a:pt x="0" y="69325"/>
                </a:cubicBezTo>
                <a:cubicBezTo>
                  <a:pt x="0" y="87812"/>
                  <a:pt x="7221" y="104602"/>
                  <a:pt x="19028" y="117022"/>
                </a:cubicBezTo>
                <a:cubicBezTo>
                  <a:pt x="24986" y="123305"/>
                  <a:pt x="30294" y="130599"/>
                  <a:pt x="32893" y="138650"/>
                </a:cubicBezTo>
                <a:lnTo>
                  <a:pt x="105721" y="138650"/>
                </a:lnTo>
                <a:close/>
                <a:moveTo>
                  <a:pt x="103988" y="155982"/>
                </a:moveTo>
                <a:lnTo>
                  <a:pt x="34663" y="155982"/>
                </a:lnTo>
                <a:lnTo>
                  <a:pt x="34663" y="161759"/>
                </a:lnTo>
                <a:cubicBezTo>
                  <a:pt x="34663" y="177718"/>
                  <a:pt x="47589" y="190644"/>
                  <a:pt x="63548" y="190644"/>
                </a:cubicBezTo>
                <a:lnTo>
                  <a:pt x="75102" y="190644"/>
                </a:lnTo>
                <a:cubicBezTo>
                  <a:pt x="91062" y="190644"/>
                  <a:pt x="103988" y="177718"/>
                  <a:pt x="103988" y="161759"/>
                </a:cubicBezTo>
                <a:lnTo>
                  <a:pt x="103988" y="155982"/>
                </a:lnTo>
                <a:close/>
                <a:moveTo>
                  <a:pt x="66437" y="40440"/>
                </a:moveTo>
                <a:cubicBezTo>
                  <a:pt x="52066" y="40440"/>
                  <a:pt x="40440" y="52066"/>
                  <a:pt x="40440" y="66437"/>
                </a:cubicBezTo>
                <a:cubicBezTo>
                  <a:pt x="40440" y="71239"/>
                  <a:pt x="36576" y="75102"/>
                  <a:pt x="31774" y="75102"/>
                </a:cubicBezTo>
                <a:cubicBezTo>
                  <a:pt x="26972" y="75102"/>
                  <a:pt x="23108" y="71239"/>
                  <a:pt x="23108" y="66437"/>
                </a:cubicBezTo>
                <a:cubicBezTo>
                  <a:pt x="23108" y="42498"/>
                  <a:pt x="42498" y="23108"/>
                  <a:pt x="66437" y="23108"/>
                </a:cubicBezTo>
                <a:cubicBezTo>
                  <a:pt x="71239" y="23108"/>
                  <a:pt x="75102" y="26972"/>
                  <a:pt x="75102" y="31774"/>
                </a:cubicBezTo>
                <a:cubicBezTo>
                  <a:pt x="75102" y="36576"/>
                  <a:pt x="71239" y="40440"/>
                  <a:pt x="66437" y="4044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34" name="Text 32"/>
          <p:cNvSpPr/>
          <p:nvPr/>
        </p:nvSpPr>
        <p:spPr>
          <a:xfrm>
            <a:off x="748713" y="5305692"/>
            <a:ext cx="11018092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6115" y="5712400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73947" y="147894"/>
                </a:moveTo>
                <a:cubicBezTo>
                  <a:pt x="114759" y="147894"/>
                  <a:pt x="147894" y="114759"/>
                  <a:pt x="147894" y="73947"/>
                </a:cubicBezTo>
                <a:cubicBezTo>
                  <a:pt x="147894" y="33135"/>
                  <a:pt x="114759" y="0"/>
                  <a:pt x="73947" y="0"/>
                </a:cubicBezTo>
                <a:cubicBezTo>
                  <a:pt x="33135" y="0"/>
                  <a:pt x="0" y="33135"/>
                  <a:pt x="0" y="73947"/>
                </a:cubicBezTo>
                <a:cubicBezTo>
                  <a:pt x="0" y="114759"/>
                  <a:pt x="33135" y="147894"/>
                  <a:pt x="73947" y="147894"/>
                </a:cubicBezTo>
                <a:close/>
                <a:moveTo>
                  <a:pt x="98326" y="61439"/>
                </a:moveTo>
                <a:lnTo>
                  <a:pt x="75218" y="98413"/>
                </a:lnTo>
                <a:cubicBezTo>
                  <a:pt x="74005" y="100348"/>
                  <a:pt x="71925" y="101561"/>
                  <a:pt x="69643" y="101677"/>
                </a:cubicBezTo>
                <a:cubicBezTo>
                  <a:pt x="67361" y="101793"/>
                  <a:pt x="65166" y="100753"/>
                  <a:pt x="63808" y="98904"/>
                </a:cubicBezTo>
                <a:lnTo>
                  <a:pt x="49943" y="80417"/>
                </a:lnTo>
                <a:cubicBezTo>
                  <a:pt x="47632" y="77355"/>
                  <a:pt x="48268" y="73023"/>
                  <a:pt x="51330" y="70712"/>
                </a:cubicBezTo>
                <a:cubicBezTo>
                  <a:pt x="54391" y="68401"/>
                  <a:pt x="58724" y="69036"/>
                  <a:pt x="61035" y="72098"/>
                </a:cubicBezTo>
                <a:lnTo>
                  <a:pt x="68834" y="82497"/>
                </a:lnTo>
                <a:lnTo>
                  <a:pt x="86570" y="54103"/>
                </a:lnTo>
                <a:cubicBezTo>
                  <a:pt x="88592" y="50867"/>
                  <a:pt x="92867" y="49856"/>
                  <a:pt x="96131" y="51907"/>
                </a:cubicBezTo>
                <a:cubicBezTo>
                  <a:pt x="99395" y="53958"/>
                  <a:pt x="100377" y="58204"/>
                  <a:pt x="98326" y="61468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36" name="Text 34"/>
          <p:cNvSpPr/>
          <p:nvPr/>
        </p:nvSpPr>
        <p:spPr>
          <a:xfrm>
            <a:off x="776443" y="5675427"/>
            <a:ext cx="3438532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Naive Bayes</a:t>
            </a:r>
            <a:r>
              <a:rPr lang="en-US" sz="116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excels with text data despite its simplifying assumptions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04665" y="5712400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73947" y="147894"/>
                </a:moveTo>
                <a:cubicBezTo>
                  <a:pt x="114759" y="147894"/>
                  <a:pt x="147894" y="114759"/>
                  <a:pt x="147894" y="73947"/>
                </a:cubicBezTo>
                <a:cubicBezTo>
                  <a:pt x="147894" y="33135"/>
                  <a:pt x="114759" y="0"/>
                  <a:pt x="73947" y="0"/>
                </a:cubicBezTo>
                <a:cubicBezTo>
                  <a:pt x="33135" y="0"/>
                  <a:pt x="0" y="33135"/>
                  <a:pt x="0" y="73947"/>
                </a:cubicBezTo>
                <a:cubicBezTo>
                  <a:pt x="0" y="114759"/>
                  <a:pt x="33135" y="147894"/>
                  <a:pt x="73947" y="147894"/>
                </a:cubicBezTo>
                <a:close/>
                <a:moveTo>
                  <a:pt x="98326" y="61439"/>
                </a:moveTo>
                <a:lnTo>
                  <a:pt x="75218" y="98413"/>
                </a:lnTo>
                <a:cubicBezTo>
                  <a:pt x="74005" y="100348"/>
                  <a:pt x="71925" y="101561"/>
                  <a:pt x="69643" y="101677"/>
                </a:cubicBezTo>
                <a:cubicBezTo>
                  <a:pt x="67361" y="101793"/>
                  <a:pt x="65166" y="100753"/>
                  <a:pt x="63808" y="98904"/>
                </a:cubicBezTo>
                <a:lnTo>
                  <a:pt x="49943" y="80417"/>
                </a:lnTo>
                <a:cubicBezTo>
                  <a:pt x="47632" y="77355"/>
                  <a:pt x="48268" y="73023"/>
                  <a:pt x="51330" y="70712"/>
                </a:cubicBezTo>
                <a:cubicBezTo>
                  <a:pt x="54391" y="68401"/>
                  <a:pt x="58724" y="69036"/>
                  <a:pt x="61035" y="72098"/>
                </a:cubicBezTo>
                <a:lnTo>
                  <a:pt x="68834" y="82497"/>
                </a:lnTo>
                <a:lnTo>
                  <a:pt x="86570" y="54103"/>
                </a:lnTo>
                <a:cubicBezTo>
                  <a:pt x="88592" y="50867"/>
                  <a:pt x="92867" y="49856"/>
                  <a:pt x="96131" y="51907"/>
                </a:cubicBezTo>
                <a:cubicBezTo>
                  <a:pt x="99395" y="53958"/>
                  <a:pt x="100377" y="58204"/>
                  <a:pt x="98326" y="61468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38" name="Text 36"/>
          <p:cNvSpPr/>
          <p:nvPr/>
        </p:nvSpPr>
        <p:spPr>
          <a:xfrm>
            <a:off x="4544992" y="5675427"/>
            <a:ext cx="3438532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LDA</a:t>
            </a:r>
            <a:r>
              <a:rPr lang="en-US" sz="116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both classification and dimensionality reduction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73214" y="5712400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73947" y="147894"/>
                </a:moveTo>
                <a:cubicBezTo>
                  <a:pt x="114759" y="147894"/>
                  <a:pt x="147894" y="114759"/>
                  <a:pt x="147894" y="73947"/>
                </a:cubicBezTo>
                <a:cubicBezTo>
                  <a:pt x="147894" y="33135"/>
                  <a:pt x="114759" y="0"/>
                  <a:pt x="73947" y="0"/>
                </a:cubicBezTo>
                <a:cubicBezTo>
                  <a:pt x="33135" y="0"/>
                  <a:pt x="0" y="33135"/>
                  <a:pt x="0" y="73947"/>
                </a:cubicBezTo>
                <a:cubicBezTo>
                  <a:pt x="0" y="114759"/>
                  <a:pt x="33135" y="147894"/>
                  <a:pt x="73947" y="147894"/>
                </a:cubicBezTo>
                <a:close/>
                <a:moveTo>
                  <a:pt x="98326" y="61439"/>
                </a:moveTo>
                <a:lnTo>
                  <a:pt x="75218" y="98413"/>
                </a:lnTo>
                <a:cubicBezTo>
                  <a:pt x="74005" y="100348"/>
                  <a:pt x="71925" y="101561"/>
                  <a:pt x="69643" y="101677"/>
                </a:cubicBezTo>
                <a:cubicBezTo>
                  <a:pt x="67361" y="101793"/>
                  <a:pt x="65166" y="100753"/>
                  <a:pt x="63808" y="98904"/>
                </a:cubicBezTo>
                <a:lnTo>
                  <a:pt x="49943" y="80417"/>
                </a:lnTo>
                <a:cubicBezTo>
                  <a:pt x="47632" y="77355"/>
                  <a:pt x="48268" y="73023"/>
                  <a:pt x="51330" y="70712"/>
                </a:cubicBezTo>
                <a:cubicBezTo>
                  <a:pt x="54391" y="68401"/>
                  <a:pt x="58724" y="69036"/>
                  <a:pt x="61035" y="72098"/>
                </a:cubicBezTo>
                <a:lnTo>
                  <a:pt x="68834" y="82497"/>
                </a:lnTo>
                <a:lnTo>
                  <a:pt x="86570" y="54103"/>
                </a:lnTo>
                <a:cubicBezTo>
                  <a:pt x="88592" y="50867"/>
                  <a:pt x="92867" y="49856"/>
                  <a:pt x="96131" y="51907"/>
                </a:cubicBezTo>
                <a:cubicBezTo>
                  <a:pt x="99395" y="53958"/>
                  <a:pt x="100377" y="58204"/>
                  <a:pt x="98326" y="61468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40" name="Text 38"/>
          <p:cNvSpPr/>
          <p:nvPr/>
        </p:nvSpPr>
        <p:spPr>
          <a:xfrm>
            <a:off x="8313541" y="5675427"/>
            <a:ext cx="3438532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algorithms are fast and work well with limited training data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6f5d8592dd23c573be4809ec3f2107bc4cc9f15e.jpg"/>
          <p:cNvPicPr>
            <a:picLocks noChangeAspect="1"/>
          </p:cNvPicPr>
          <p:nvPr/>
        </p:nvPicPr>
        <p:blipFill>
          <a:blip r:embed="rId3">
            <a:alphaModFix amt="15000"/>
          </a:blip>
          <a:srcRect l="18" r="1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95057">
                  <a:alpha val="95000"/>
                </a:srgbClr>
              </a:gs>
              <a:gs pos="50000">
                <a:srgbClr val="212529">
                  <a:alpha val="90000"/>
                </a:srgbClr>
              </a:gs>
              <a:gs pos="100000">
                <a:srgbClr val="495057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433513"/>
            <a:ext cx="1304925" cy="381000"/>
          </a:xfrm>
          <a:custGeom>
            <a:avLst/>
            <a:gdLst/>
            <a:ahLst/>
            <a:cxnLst/>
            <a:rect l="l" t="t" r="r" b="b"/>
            <a:pathLst>
              <a:path w="1304925" h="381000">
                <a:moveTo>
                  <a:pt x="190500" y="0"/>
                </a:moveTo>
                <a:lnTo>
                  <a:pt x="1114425" y="0"/>
                </a:lnTo>
                <a:cubicBezTo>
                  <a:pt x="1219565" y="0"/>
                  <a:pt x="1304925" y="85360"/>
                  <a:pt x="1304925" y="190500"/>
                </a:cubicBezTo>
                <a:lnTo>
                  <a:pt x="1304925" y="190500"/>
                </a:lnTo>
                <a:cubicBezTo>
                  <a:pt x="1304925" y="295640"/>
                  <a:pt x="1219565" y="381000"/>
                  <a:pt x="111442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1509713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95513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386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8F9FA">
              <a:alpha val="50196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405313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Algorithms that discover hidden patterns and structures in unlabeled data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95288" y="517683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4288" y="53310"/>
                </a:moveTo>
                <a:cubicBezTo>
                  <a:pt x="5760" y="48399"/>
                  <a:pt x="0" y="39157"/>
                  <a:pt x="0" y="28575"/>
                </a:cubicBezTo>
                <a:cubicBezTo>
                  <a:pt x="0" y="12814"/>
                  <a:pt x="12814" y="0"/>
                  <a:pt x="28575" y="0"/>
                </a:cubicBezTo>
                <a:cubicBezTo>
                  <a:pt x="39157" y="0"/>
                  <a:pt x="48399" y="5760"/>
                  <a:pt x="53310" y="14288"/>
                </a:cubicBezTo>
                <a:lnTo>
                  <a:pt x="203820" y="14288"/>
                </a:lnTo>
                <a:cubicBezTo>
                  <a:pt x="208776" y="5760"/>
                  <a:pt x="217974" y="0"/>
                  <a:pt x="228555" y="0"/>
                </a:cubicBezTo>
                <a:cubicBezTo>
                  <a:pt x="244316" y="0"/>
                  <a:pt x="257130" y="12814"/>
                  <a:pt x="257130" y="28575"/>
                </a:cubicBezTo>
                <a:cubicBezTo>
                  <a:pt x="257130" y="39157"/>
                  <a:pt x="251371" y="48399"/>
                  <a:pt x="242843" y="53310"/>
                </a:cubicBezTo>
                <a:lnTo>
                  <a:pt x="242843" y="175245"/>
                </a:lnTo>
                <a:cubicBezTo>
                  <a:pt x="251371" y="180201"/>
                  <a:pt x="257130" y="189399"/>
                  <a:pt x="257130" y="199980"/>
                </a:cubicBezTo>
                <a:cubicBezTo>
                  <a:pt x="257130" y="215741"/>
                  <a:pt x="244316" y="228555"/>
                  <a:pt x="228555" y="228555"/>
                </a:cubicBezTo>
                <a:cubicBezTo>
                  <a:pt x="217974" y="228555"/>
                  <a:pt x="208731" y="222796"/>
                  <a:pt x="203820" y="214268"/>
                </a:cubicBezTo>
                <a:lnTo>
                  <a:pt x="53310" y="214268"/>
                </a:lnTo>
                <a:cubicBezTo>
                  <a:pt x="48354" y="222796"/>
                  <a:pt x="39157" y="228555"/>
                  <a:pt x="28575" y="228555"/>
                </a:cubicBezTo>
                <a:cubicBezTo>
                  <a:pt x="12814" y="228555"/>
                  <a:pt x="0" y="215741"/>
                  <a:pt x="0" y="199980"/>
                </a:cubicBezTo>
                <a:cubicBezTo>
                  <a:pt x="0" y="189399"/>
                  <a:pt x="5760" y="180156"/>
                  <a:pt x="14287" y="175245"/>
                </a:cubicBezTo>
                <a:lnTo>
                  <a:pt x="14287" y="53310"/>
                </a:lnTo>
                <a:close/>
                <a:moveTo>
                  <a:pt x="214313" y="53310"/>
                </a:moveTo>
                <a:cubicBezTo>
                  <a:pt x="209982" y="50810"/>
                  <a:pt x="206365" y="47193"/>
                  <a:pt x="203865" y="42863"/>
                </a:cubicBezTo>
                <a:lnTo>
                  <a:pt x="53310" y="42863"/>
                </a:lnTo>
                <a:cubicBezTo>
                  <a:pt x="50810" y="47193"/>
                  <a:pt x="47193" y="50810"/>
                  <a:pt x="42863" y="53310"/>
                </a:cubicBezTo>
                <a:lnTo>
                  <a:pt x="42863" y="175245"/>
                </a:lnTo>
                <a:cubicBezTo>
                  <a:pt x="47193" y="177745"/>
                  <a:pt x="50810" y="181362"/>
                  <a:pt x="53310" y="185693"/>
                </a:cubicBezTo>
                <a:lnTo>
                  <a:pt x="203820" y="185693"/>
                </a:lnTo>
                <a:cubicBezTo>
                  <a:pt x="206320" y="181362"/>
                  <a:pt x="209937" y="177745"/>
                  <a:pt x="214268" y="175245"/>
                </a:cubicBezTo>
                <a:lnTo>
                  <a:pt x="214268" y="53310"/>
                </a:lnTo>
                <a:close/>
                <a:moveTo>
                  <a:pt x="64294" y="78581"/>
                </a:moveTo>
                <a:cubicBezTo>
                  <a:pt x="64294" y="70678"/>
                  <a:pt x="70678" y="64294"/>
                  <a:pt x="78581" y="64294"/>
                </a:cubicBezTo>
                <a:lnTo>
                  <a:pt x="128588" y="64294"/>
                </a:lnTo>
                <a:cubicBezTo>
                  <a:pt x="136490" y="64294"/>
                  <a:pt x="142875" y="70678"/>
                  <a:pt x="142875" y="78581"/>
                </a:cubicBezTo>
                <a:lnTo>
                  <a:pt x="142875" y="107156"/>
                </a:lnTo>
                <a:cubicBezTo>
                  <a:pt x="142875" y="115059"/>
                  <a:pt x="136490" y="121444"/>
                  <a:pt x="128588" y="121444"/>
                </a:cubicBezTo>
                <a:lnTo>
                  <a:pt x="78581" y="121444"/>
                </a:lnTo>
                <a:cubicBezTo>
                  <a:pt x="70678" y="121444"/>
                  <a:pt x="64294" y="115059"/>
                  <a:pt x="64294" y="107156"/>
                </a:cubicBezTo>
                <a:lnTo>
                  <a:pt x="64294" y="78581"/>
                </a:lnTo>
                <a:close/>
                <a:moveTo>
                  <a:pt x="114300" y="142875"/>
                </a:moveTo>
                <a:lnTo>
                  <a:pt x="128588" y="142875"/>
                </a:lnTo>
                <a:cubicBezTo>
                  <a:pt x="148322" y="142875"/>
                  <a:pt x="164306" y="126891"/>
                  <a:pt x="164306" y="107156"/>
                </a:cubicBezTo>
                <a:lnTo>
                  <a:pt x="178594" y="107156"/>
                </a:lnTo>
                <a:cubicBezTo>
                  <a:pt x="186497" y="107156"/>
                  <a:pt x="192881" y="113541"/>
                  <a:pt x="192881" y="121444"/>
                </a:cubicBezTo>
                <a:lnTo>
                  <a:pt x="192881" y="150019"/>
                </a:lnTo>
                <a:cubicBezTo>
                  <a:pt x="192881" y="157922"/>
                  <a:pt x="186497" y="164306"/>
                  <a:pt x="178594" y="164306"/>
                </a:cubicBezTo>
                <a:lnTo>
                  <a:pt x="128588" y="164306"/>
                </a:lnTo>
                <a:cubicBezTo>
                  <a:pt x="120685" y="164306"/>
                  <a:pt x="114300" y="157922"/>
                  <a:pt x="114300" y="150019"/>
                </a:cubicBezTo>
                <a:lnTo>
                  <a:pt x="114300" y="142875"/>
                </a:ln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157788"/>
            <a:ext cx="82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780877" y="51768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6230" y="3125"/>
                </a:moveTo>
                <a:cubicBezTo>
                  <a:pt x="200427" y="-1072"/>
                  <a:pt x="207213" y="-1072"/>
                  <a:pt x="211366" y="3125"/>
                </a:cubicBezTo>
                <a:lnTo>
                  <a:pt x="225653" y="17413"/>
                </a:lnTo>
                <a:cubicBezTo>
                  <a:pt x="229850" y="21610"/>
                  <a:pt x="229850" y="28396"/>
                  <a:pt x="225653" y="32549"/>
                </a:cubicBezTo>
                <a:lnTo>
                  <a:pt x="186809" y="71393"/>
                </a:lnTo>
                <a:lnTo>
                  <a:pt x="204222" y="88806"/>
                </a:lnTo>
                <a:cubicBezTo>
                  <a:pt x="207303" y="91886"/>
                  <a:pt x="208196" y="96485"/>
                  <a:pt x="206544" y="100504"/>
                </a:cubicBezTo>
                <a:cubicBezTo>
                  <a:pt x="204892" y="104522"/>
                  <a:pt x="201007" y="107156"/>
                  <a:pt x="196676" y="107156"/>
                </a:cubicBezTo>
                <a:lnTo>
                  <a:pt x="132383" y="107156"/>
                </a:lnTo>
                <a:cubicBezTo>
                  <a:pt x="126444" y="107156"/>
                  <a:pt x="121667" y="102379"/>
                  <a:pt x="121667" y="96441"/>
                </a:cubicBezTo>
                <a:lnTo>
                  <a:pt x="121667" y="32147"/>
                </a:lnTo>
                <a:cubicBezTo>
                  <a:pt x="121667" y="27816"/>
                  <a:pt x="124257" y="23887"/>
                  <a:pt x="128275" y="22235"/>
                </a:cubicBezTo>
                <a:cubicBezTo>
                  <a:pt x="132293" y="20583"/>
                  <a:pt x="136892" y="21476"/>
                  <a:pt x="139973" y="24557"/>
                </a:cubicBezTo>
                <a:lnTo>
                  <a:pt x="157386" y="41970"/>
                </a:lnTo>
                <a:lnTo>
                  <a:pt x="196230" y="3125"/>
                </a:lnTo>
                <a:close/>
                <a:moveTo>
                  <a:pt x="32370" y="121444"/>
                </a:moveTo>
                <a:lnTo>
                  <a:pt x="96664" y="121444"/>
                </a:lnTo>
                <a:cubicBezTo>
                  <a:pt x="102602" y="121444"/>
                  <a:pt x="107379" y="126221"/>
                  <a:pt x="107379" y="132159"/>
                </a:cubicBezTo>
                <a:lnTo>
                  <a:pt x="107379" y="196453"/>
                </a:lnTo>
                <a:cubicBezTo>
                  <a:pt x="107379" y="200784"/>
                  <a:pt x="104790" y="204713"/>
                  <a:pt x="100772" y="206365"/>
                </a:cubicBezTo>
                <a:cubicBezTo>
                  <a:pt x="96753" y="208017"/>
                  <a:pt x="92154" y="207124"/>
                  <a:pt x="89074" y="204043"/>
                </a:cubicBezTo>
                <a:lnTo>
                  <a:pt x="71661" y="186630"/>
                </a:lnTo>
                <a:lnTo>
                  <a:pt x="32817" y="225475"/>
                </a:lnTo>
                <a:cubicBezTo>
                  <a:pt x="28620" y="229672"/>
                  <a:pt x="21833" y="229672"/>
                  <a:pt x="17681" y="225475"/>
                </a:cubicBezTo>
                <a:lnTo>
                  <a:pt x="3393" y="211187"/>
                </a:lnTo>
                <a:cubicBezTo>
                  <a:pt x="-804" y="206990"/>
                  <a:pt x="-804" y="200204"/>
                  <a:pt x="3393" y="196051"/>
                </a:cubicBezTo>
                <a:lnTo>
                  <a:pt x="42237" y="157207"/>
                </a:lnTo>
                <a:lnTo>
                  <a:pt x="24825" y="139794"/>
                </a:lnTo>
                <a:cubicBezTo>
                  <a:pt x="21744" y="136714"/>
                  <a:pt x="20851" y="132115"/>
                  <a:pt x="22503" y="128096"/>
                </a:cubicBezTo>
                <a:cubicBezTo>
                  <a:pt x="24155" y="124078"/>
                  <a:pt x="28039" y="121444"/>
                  <a:pt x="32370" y="121444"/>
                </a:cubicBez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2152352" y="5157788"/>
            <a:ext cx="198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Dimensionality Reduction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9505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 Algorithms - 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similar data points together based on feature similarity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714500"/>
            <a:ext cx="3705225" cy="2667000"/>
          </a:xfrm>
          <a:custGeom>
            <a:avLst/>
            <a:gdLst/>
            <a:ahLst/>
            <a:cxnLst/>
            <a:rect l="l" t="t" r="r" b="b"/>
            <a:pathLst>
              <a:path w="3705225" h="2667000">
                <a:moveTo>
                  <a:pt x="114308" y="0"/>
                </a:moveTo>
                <a:lnTo>
                  <a:pt x="3590917" y="0"/>
                </a:lnTo>
                <a:cubicBezTo>
                  <a:pt x="3654048" y="0"/>
                  <a:pt x="3705225" y="51177"/>
                  <a:pt x="3705225" y="114308"/>
                </a:cubicBezTo>
                <a:lnTo>
                  <a:pt x="3705225" y="2552692"/>
                </a:lnTo>
                <a:cubicBezTo>
                  <a:pt x="3705225" y="2615823"/>
                  <a:pt x="3654048" y="2667000"/>
                  <a:pt x="3590917" y="2667000"/>
                </a:cubicBezTo>
                <a:lnTo>
                  <a:pt x="114308" y="2667000"/>
                </a:lnTo>
                <a:cubicBezTo>
                  <a:pt x="51177" y="2667000"/>
                  <a:pt x="0" y="2615823"/>
                  <a:pt x="0" y="2552692"/>
                </a:cubicBezTo>
                <a:lnTo>
                  <a:pt x="0" y="114308"/>
                </a:lnTo>
                <a:cubicBezTo>
                  <a:pt x="0" y="51177"/>
                  <a:pt x="51177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34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8" name="Shape 6"/>
          <p:cNvSpPr/>
          <p:nvPr/>
        </p:nvSpPr>
        <p:spPr>
          <a:xfrm>
            <a:off x="640556" y="1971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" y="19240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highlight>
                  <a:srgbClr val="FFFF00"/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K-Means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10" name="Text 8"/>
          <p:cNvSpPr/>
          <p:nvPr/>
        </p:nvSpPr>
        <p:spPr>
          <a:xfrm>
            <a:off x="533400" y="2362200"/>
            <a:ext cx="34671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Partitions data into k clusters by minimizing within-cluster sum of squares. Iteratively assigns points to nearest centroid and updates centroids.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3400" y="3126581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2743" y="3126581"/>
            <a:ext cx="2771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segmentation, image compression, document clustering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3400" y="3583781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7351" y="3583781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Simple, fast, scalable to large datasets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3400" y="3850481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67867" y="3850481"/>
            <a:ext cx="2733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k specification, sensitive to initialization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1750" y="1714500"/>
            <a:ext cx="3705225" cy="2667000"/>
          </a:xfrm>
          <a:custGeom>
            <a:avLst/>
            <a:gdLst/>
            <a:ahLst/>
            <a:cxnLst/>
            <a:rect l="l" t="t" r="r" b="b"/>
            <a:pathLst>
              <a:path w="3705225" h="2667000">
                <a:moveTo>
                  <a:pt x="114308" y="0"/>
                </a:moveTo>
                <a:lnTo>
                  <a:pt x="3590917" y="0"/>
                </a:lnTo>
                <a:cubicBezTo>
                  <a:pt x="3654048" y="0"/>
                  <a:pt x="3705225" y="51177"/>
                  <a:pt x="3705225" y="114308"/>
                </a:cubicBezTo>
                <a:lnTo>
                  <a:pt x="3705225" y="2552692"/>
                </a:lnTo>
                <a:cubicBezTo>
                  <a:pt x="3705225" y="2615823"/>
                  <a:pt x="3654048" y="2667000"/>
                  <a:pt x="3590917" y="2667000"/>
                </a:cubicBezTo>
                <a:lnTo>
                  <a:pt x="114308" y="2667000"/>
                </a:lnTo>
                <a:cubicBezTo>
                  <a:pt x="51177" y="2667000"/>
                  <a:pt x="0" y="2615823"/>
                  <a:pt x="0" y="2552692"/>
                </a:cubicBezTo>
                <a:lnTo>
                  <a:pt x="0" y="114308"/>
                </a:lnTo>
                <a:cubicBezTo>
                  <a:pt x="0" y="51177"/>
                  <a:pt x="51177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9415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19" name="Shape 17"/>
          <p:cNvSpPr/>
          <p:nvPr/>
        </p:nvSpPr>
        <p:spPr>
          <a:xfrm>
            <a:off x="4501307" y="1971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32147"/>
                </a:moveTo>
                <a:cubicBezTo>
                  <a:pt x="0" y="26220"/>
                  <a:pt x="4789" y="21431"/>
                  <a:pt x="10716" y="21431"/>
                </a:cubicBezTo>
                <a:lnTo>
                  <a:pt x="139303" y="21431"/>
                </a:lnTo>
                <a:cubicBezTo>
                  <a:pt x="145230" y="21431"/>
                  <a:pt x="150019" y="26220"/>
                  <a:pt x="150019" y="32147"/>
                </a:cubicBezTo>
                <a:cubicBezTo>
                  <a:pt x="150019" y="38074"/>
                  <a:pt x="145230" y="42863"/>
                  <a:pt x="139303" y="42863"/>
                </a:cubicBezTo>
                <a:lnTo>
                  <a:pt x="10716" y="42863"/>
                </a:lnTo>
                <a:cubicBezTo>
                  <a:pt x="4789" y="42863"/>
                  <a:pt x="0" y="38074"/>
                  <a:pt x="0" y="32147"/>
                </a:cubicBezTo>
                <a:close/>
                <a:moveTo>
                  <a:pt x="21431" y="85725"/>
                </a:moveTo>
                <a:cubicBezTo>
                  <a:pt x="21431" y="79798"/>
                  <a:pt x="26220" y="75009"/>
                  <a:pt x="32147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32147" y="96441"/>
                </a:lnTo>
                <a:cubicBezTo>
                  <a:pt x="26220" y="96441"/>
                  <a:pt x="21431" y="91652"/>
                  <a:pt x="21431" y="85725"/>
                </a:cubicBezTo>
                <a:close/>
                <a:moveTo>
                  <a:pt x="150019" y="139303"/>
                </a:moveTo>
                <a:cubicBezTo>
                  <a:pt x="150019" y="145230"/>
                  <a:pt x="145230" y="150019"/>
                  <a:pt x="139303" y="150019"/>
                </a:cubicBezTo>
                <a:lnTo>
                  <a:pt x="10716" y="150019"/>
                </a:lnTo>
                <a:cubicBezTo>
                  <a:pt x="4789" y="150019"/>
                  <a:pt x="0" y="145230"/>
                  <a:pt x="0" y="139303"/>
                </a:cubicBezTo>
                <a:cubicBezTo>
                  <a:pt x="0" y="133376"/>
                  <a:pt x="4789" y="128588"/>
                  <a:pt x="10716" y="128588"/>
                </a:cubicBezTo>
                <a:lnTo>
                  <a:pt x="139303" y="128588"/>
                </a:lnTo>
                <a:cubicBezTo>
                  <a:pt x="145230" y="128588"/>
                  <a:pt x="150019" y="133376"/>
                  <a:pt x="150019" y="1393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889450" y="1924050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Hierarchical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94150" y="2362200"/>
            <a:ext cx="34671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tree of clusters (dendrogram) by merging or splitting clusters. Agglomerative (bottom-up) and divisive (top-down) approaches.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94150" y="3126581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93494" y="3126581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Taxonomy creation, gene expression analysis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94150" y="3393281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48101" y="3393281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need to specify k, provides hierarchy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94150" y="3659981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8617" y="3659981"/>
            <a:ext cx="2733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Computationally expensive, irreversible decisions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02501" y="1714500"/>
            <a:ext cx="3705225" cy="2667000"/>
          </a:xfrm>
          <a:custGeom>
            <a:avLst/>
            <a:gdLst/>
            <a:ahLst/>
            <a:cxnLst/>
            <a:rect l="l" t="t" r="r" b="b"/>
            <a:pathLst>
              <a:path w="3705225" h="2667000">
                <a:moveTo>
                  <a:pt x="114308" y="0"/>
                </a:moveTo>
                <a:lnTo>
                  <a:pt x="3590917" y="0"/>
                </a:lnTo>
                <a:cubicBezTo>
                  <a:pt x="3654048" y="0"/>
                  <a:pt x="3705225" y="51177"/>
                  <a:pt x="3705225" y="114308"/>
                </a:cubicBezTo>
                <a:lnTo>
                  <a:pt x="3705225" y="2552692"/>
                </a:lnTo>
                <a:cubicBezTo>
                  <a:pt x="3705225" y="2615823"/>
                  <a:pt x="3654048" y="2667000"/>
                  <a:pt x="3590917" y="2667000"/>
                </a:cubicBezTo>
                <a:lnTo>
                  <a:pt x="114308" y="2667000"/>
                </a:lnTo>
                <a:cubicBezTo>
                  <a:pt x="51177" y="2667000"/>
                  <a:pt x="0" y="2615823"/>
                  <a:pt x="0" y="2552692"/>
                </a:cubicBezTo>
                <a:lnTo>
                  <a:pt x="0" y="114308"/>
                </a:lnTo>
                <a:cubicBezTo>
                  <a:pt x="0" y="51177"/>
                  <a:pt x="51177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54901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2057" y="1971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0"/>
                </a:moveTo>
                <a:cubicBezTo>
                  <a:pt x="29368" y="0"/>
                  <a:pt x="36299" y="4320"/>
                  <a:pt x="39983" y="10716"/>
                </a:cubicBezTo>
                <a:lnTo>
                  <a:pt x="131434" y="10716"/>
                </a:lnTo>
                <a:cubicBezTo>
                  <a:pt x="135151" y="4320"/>
                  <a:pt x="142049" y="0"/>
                  <a:pt x="149985" y="0"/>
                </a:cubicBezTo>
                <a:cubicBezTo>
                  <a:pt x="161806" y="0"/>
                  <a:pt x="171417" y="9611"/>
                  <a:pt x="171417" y="21431"/>
                </a:cubicBezTo>
                <a:cubicBezTo>
                  <a:pt x="171417" y="32817"/>
                  <a:pt x="162543" y="42126"/>
                  <a:pt x="151325" y="42829"/>
                </a:cubicBezTo>
                <a:lnTo>
                  <a:pt x="150622" y="43800"/>
                </a:lnTo>
                <a:lnTo>
                  <a:pt x="126679" y="76985"/>
                </a:lnTo>
                <a:cubicBezTo>
                  <a:pt x="127884" y="79664"/>
                  <a:pt x="128554" y="82644"/>
                  <a:pt x="128554" y="85758"/>
                </a:cubicBezTo>
                <a:cubicBezTo>
                  <a:pt x="128554" y="88873"/>
                  <a:pt x="127884" y="91853"/>
                  <a:pt x="126679" y="94532"/>
                </a:cubicBezTo>
                <a:lnTo>
                  <a:pt x="127415" y="95570"/>
                </a:lnTo>
                <a:lnTo>
                  <a:pt x="150622" y="127717"/>
                </a:lnTo>
                <a:lnTo>
                  <a:pt x="151325" y="128688"/>
                </a:lnTo>
                <a:cubicBezTo>
                  <a:pt x="162543" y="129391"/>
                  <a:pt x="171417" y="138700"/>
                  <a:pt x="171417" y="150086"/>
                </a:cubicBezTo>
                <a:cubicBezTo>
                  <a:pt x="171417" y="161906"/>
                  <a:pt x="161806" y="171517"/>
                  <a:pt x="149985" y="171517"/>
                </a:cubicBezTo>
                <a:cubicBezTo>
                  <a:pt x="142049" y="171517"/>
                  <a:pt x="135117" y="167197"/>
                  <a:pt x="131434" y="160801"/>
                </a:cubicBezTo>
                <a:lnTo>
                  <a:pt x="39983" y="160801"/>
                </a:lnTo>
                <a:cubicBezTo>
                  <a:pt x="36266" y="167197"/>
                  <a:pt x="29368" y="171517"/>
                  <a:pt x="21431" y="171517"/>
                </a:cubicBezTo>
                <a:cubicBezTo>
                  <a:pt x="9611" y="171517"/>
                  <a:pt x="0" y="161906"/>
                  <a:pt x="0" y="150086"/>
                </a:cubicBezTo>
                <a:cubicBezTo>
                  <a:pt x="0" y="142149"/>
                  <a:pt x="4320" y="135218"/>
                  <a:pt x="10716" y="131534"/>
                </a:cubicBezTo>
                <a:lnTo>
                  <a:pt x="10716" y="40083"/>
                </a:lnTo>
                <a:cubicBezTo>
                  <a:pt x="4320" y="36299"/>
                  <a:pt x="0" y="29368"/>
                  <a:pt x="0" y="21431"/>
                </a:cubicBezTo>
                <a:cubicBezTo>
                  <a:pt x="0" y="9611"/>
                  <a:pt x="9611" y="0"/>
                  <a:pt x="21431" y="0"/>
                </a:cubicBezTo>
                <a:close/>
                <a:moveTo>
                  <a:pt x="132003" y="138432"/>
                </a:moveTo>
                <a:lnTo>
                  <a:pt x="110070" y="108094"/>
                </a:lnTo>
                <a:lnTo>
                  <a:pt x="109333" y="107056"/>
                </a:lnTo>
                <a:cubicBezTo>
                  <a:pt x="108630" y="107123"/>
                  <a:pt x="107893" y="107156"/>
                  <a:pt x="107156" y="107156"/>
                </a:cubicBezTo>
                <a:cubicBezTo>
                  <a:pt x="95336" y="107156"/>
                  <a:pt x="85725" y="97546"/>
                  <a:pt x="85725" y="85725"/>
                </a:cubicBezTo>
                <a:cubicBezTo>
                  <a:pt x="85725" y="73904"/>
                  <a:pt x="95336" y="64294"/>
                  <a:pt x="107156" y="64294"/>
                </a:cubicBezTo>
                <a:cubicBezTo>
                  <a:pt x="107893" y="64294"/>
                  <a:pt x="108630" y="64327"/>
                  <a:pt x="109333" y="64394"/>
                </a:cubicBezTo>
                <a:lnTo>
                  <a:pt x="132003" y="33018"/>
                </a:lnTo>
                <a:cubicBezTo>
                  <a:pt x="131802" y="32716"/>
                  <a:pt x="131635" y="32448"/>
                  <a:pt x="131467" y="32147"/>
                </a:cubicBezTo>
                <a:lnTo>
                  <a:pt x="39983" y="32147"/>
                </a:lnTo>
                <a:cubicBezTo>
                  <a:pt x="38107" y="35395"/>
                  <a:pt x="35395" y="38107"/>
                  <a:pt x="32147" y="39983"/>
                </a:cubicBezTo>
                <a:lnTo>
                  <a:pt x="32147" y="131434"/>
                </a:lnTo>
                <a:cubicBezTo>
                  <a:pt x="35395" y="133309"/>
                  <a:pt x="38107" y="136021"/>
                  <a:pt x="39983" y="139270"/>
                </a:cubicBezTo>
                <a:lnTo>
                  <a:pt x="131434" y="139270"/>
                </a:lnTo>
                <a:cubicBezTo>
                  <a:pt x="131601" y="138968"/>
                  <a:pt x="131802" y="138667"/>
                  <a:pt x="131970" y="13839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750201" y="1924050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DBSCAN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54901" y="2362200"/>
            <a:ext cx="34671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Density-based clustering that groups points in high-density regions and marks outliers. Does not require specifying cluster count.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54901" y="3126581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54244" y="3126581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Anomaly detection, spatial data analysis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54901" y="3393281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08852" y="3393281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Finds arbitrary shapes, identifies outliers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54901" y="3659981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89368" y="3659981"/>
            <a:ext cx="2733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Struggles with varying densities, parameter sensitive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1000" y="4536281"/>
            <a:ext cx="11430000" cy="1600200"/>
          </a:xfrm>
          <a:custGeom>
            <a:avLst/>
            <a:gdLst/>
            <a:ahLst/>
            <a:cxnLst/>
            <a:rect l="l" t="t" r="r" b="b"/>
            <a:pathLst>
              <a:path w="11430000" h="1600200">
                <a:moveTo>
                  <a:pt x="114302" y="0"/>
                </a:moveTo>
                <a:lnTo>
                  <a:pt x="11315698" y="0"/>
                </a:lnTo>
                <a:cubicBezTo>
                  <a:pt x="11378783" y="0"/>
                  <a:pt x="11430000" y="51217"/>
                  <a:pt x="11430000" y="114302"/>
                </a:cubicBezTo>
                <a:lnTo>
                  <a:pt x="11430000" y="1485898"/>
                </a:lnTo>
                <a:cubicBezTo>
                  <a:pt x="11430000" y="1548983"/>
                  <a:pt x="11378783" y="1600200"/>
                  <a:pt x="11315698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35781" y="4736306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41" name="Text 39"/>
          <p:cNvSpPr/>
          <p:nvPr/>
        </p:nvSpPr>
        <p:spPr>
          <a:xfrm>
            <a:off x="752475" y="4688681"/>
            <a:ext cx="1099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 Algorithm Comparison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3400" y="5069681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3400" y="5336381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Requires specifying k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3400" y="5564981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Assumes spherical clusters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33400" y="5793581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O(n*k*i) complexity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292501" y="5069681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292501" y="5336381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 k required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292501" y="5564981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Creates dendrogram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292501" y="5793581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O(n²) to O(n³) complexity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051750" y="5069681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DBSCAN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051750" y="5336381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Auto-detects clusters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051750" y="5564981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Handles arbitrary shapes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051750" y="5793581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O(n log n) complexity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9505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 Algorithms - 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clustering techniques for complex data distributions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714500"/>
            <a:ext cx="3705225" cy="2667000"/>
          </a:xfrm>
          <a:custGeom>
            <a:avLst/>
            <a:gdLst/>
            <a:ahLst/>
            <a:cxnLst/>
            <a:rect l="l" t="t" r="r" b="b"/>
            <a:pathLst>
              <a:path w="3705225" h="2667000">
                <a:moveTo>
                  <a:pt x="114308" y="0"/>
                </a:moveTo>
                <a:lnTo>
                  <a:pt x="3590917" y="0"/>
                </a:lnTo>
                <a:cubicBezTo>
                  <a:pt x="3654048" y="0"/>
                  <a:pt x="3705225" y="51177"/>
                  <a:pt x="3705225" y="114308"/>
                </a:cubicBezTo>
                <a:lnTo>
                  <a:pt x="3705225" y="2552692"/>
                </a:lnTo>
                <a:cubicBezTo>
                  <a:pt x="3705225" y="2615823"/>
                  <a:pt x="3654048" y="2667000"/>
                  <a:pt x="3590917" y="2667000"/>
                </a:cubicBezTo>
                <a:lnTo>
                  <a:pt x="114308" y="2667000"/>
                </a:lnTo>
                <a:cubicBezTo>
                  <a:pt x="51177" y="2667000"/>
                  <a:pt x="0" y="2615823"/>
                  <a:pt x="0" y="2552692"/>
                </a:cubicBezTo>
                <a:lnTo>
                  <a:pt x="0" y="114308"/>
                </a:lnTo>
                <a:cubicBezTo>
                  <a:pt x="0" y="51177"/>
                  <a:pt x="51177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34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8" name="Shape 6"/>
          <p:cNvSpPr/>
          <p:nvPr/>
        </p:nvSpPr>
        <p:spPr>
          <a:xfrm>
            <a:off x="640556" y="1971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80367" y="32147"/>
                </a:moveTo>
                <a:cubicBezTo>
                  <a:pt x="82611" y="32147"/>
                  <a:pt x="84754" y="33084"/>
                  <a:pt x="86294" y="34759"/>
                </a:cubicBezTo>
                <a:lnTo>
                  <a:pt x="110103" y="60711"/>
                </a:lnTo>
                <a:lnTo>
                  <a:pt x="125574" y="45207"/>
                </a:lnTo>
                <a:cubicBezTo>
                  <a:pt x="128721" y="42059"/>
                  <a:pt x="133811" y="42059"/>
                  <a:pt x="136926" y="45207"/>
                </a:cubicBezTo>
                <a:lnTo>
                  <a:pt x="158357" y="66638"/>
                </a:lnTo>
                <a:cubicBezTo>
                  <a:pt x="159864" y="68145"/>
                  <a:pt x="160701" y="70187"/>
                  <a:pt x="160701" y="72330"/>
                </a:cubicBezTo>
                <a:lnTo>
                  <a:pt x="160701" y="109835"/>
                </a:lnTo>
                <a:cubicBezTo>
                  <a:pt x="160701" y="114289"/>
                  <a:pt x="157118" y="117872"/>
                  <a:pt x="152664" y="117872"/>
                </a:cubicBezTo>
                <a:lnTo>
                  <a:pt x="50866" y="117872"/>
                </a:lnTo>
                <a:cubicBezTo>
                  <a:pt x="46412" y="117872"/>
                  <a:pt x="42829" y="114289"/>
                  <a:pt x="42829" y="109835"/>
                </a:cubicBezTo>
                <a:lnTo>
                  <a:pt x="42829" y="72330"/>
                </a:lnTo>
                <a:cubicBezTo>
                  <a:pt x="42829" y="70321"/>
                  <a:pt x="43599" y="68379"/>
                  <a:pt x="44939" y="66906"/>
                </a:cubicBezTo>
                <a:lnTo>
                  <a:pt x="74407" y="34759"/>
                </a:lnTo>
                <a:cubicBezTo>
                  <a:pt x="75914" y="33084"/>
                  <a:pt x="78090" y="32147"/>
                  <a:pt x="80334" y="3214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" y="1924050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Gaussian Mixture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2362200"/>
            <a:ext cx="34671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Probabilistic model assuming data generated from Gaussian distributions. Uses EM algorithm to estimate parameters and provides soft cluster assignments.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3400" y="3126581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2743" y="3126581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segmentation, density estimation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3400" y="3393281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7351" y="3393281"/>
            <a:ext cx="2600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 clustering, handles overlapping clusters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3400" y="3659981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67867" y="3659981"/>
            <a:ext cx="2733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Assumes Gaussian distributions, slow convergence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1750" y="1714500"/>
            <a:ext cx="3705225" cy="2667000"/>
          </a:xfrm>
          <a:custGeom>
            <a:avLst/>
            <a:gdLst/>
            <a:ahLst/>
            <a:cxnLst/>
            <a:rect l="l" t="t" r="r" b="b"/>
            <a:pathLst>
              <a:path w="3705225" h="2667000">
                <a:moveTo>
                  <a:pt x="114308" y="0"/>
                </a:moveTo>
                <a:lnTo>
                  <a:pt x="3590917" y="0"/>
                </a:lnTo>
                <a:cubicBezTo>
                  <a:pt x="3654048" y="0"/>
                  <a:pt x="3705225" y="51177"/>
                  <a:pt x="3705225" y="114308"/>
                </a:cubicBezTo>
                <a:lnTo>
                  <a:pt x="3705225" y="2552692"/>
                </a:lnTo>
                <a:cubicBezTo>
                  <a:pt x="3705225" y="2615823"/>
                  <a:pt x="3654048" y="2667000"/>
                  <a:pt x="3590917" y="2667000"/>
                </a:cubicBezTo>
                <a:lnTo>
                  <a:pt x="114308" y="2667000"/>
                </a:lnTo>
                <a:cubicBezTo>
                  <a:pt x="51177" y="2667000"/>
                  <a:pt x="0" y="2615823"/>
                  <a:pt x="0" y="2552692"/>
                </a:cubicBezTo>
                <a:lnTo>
                  <a:pt x="0" y="114308"/>
                </a:lnTo>
                <a:cubicBezTo>
                  <a:pt x="0" y="51177"/>
                  <a:pt x="51177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9415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19" name="Shape 17"/>
          <p:cNvSpPr/>
          <p:nvPr/>
        </p:nvSpPr>
        <p:spPr>
          <a:xfrm>
            <a:off x="4501307" y="1971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889450" y="1924050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Spectral Clustering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94150" y="2362200"/>
            <a:ext cx="34671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eigenvalues of similarity matrix to reduce dimensionality before clustering. Effective for non-convex clusters and graph-based data.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94150" y="3126581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93494" y="3126581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segmentation, social network analysis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94150" y="3393281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48101" y="3393281"/>
            <a:ext cx="2514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non-convex shapes, graph-based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94150" y="3659981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8617" y="3659981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Computationally expensive, memory intensive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02501" y="1714500"/>
            <a:ext cx="3705225" cy="2667000"/>
          </a:xfrm>
          <a:custGeom>
            <a:avLst/>
            <a:gdLst/>
            <a:ahLst/>
            <a:cxnLst/>
            <a:rect l="l" t="t" r="r" b="b"/>
            <a:pathLst>
              <a:path w="3705225" h="2667000">
                <a:moveTo>
                  <a:pt x="114308" y="0"/>
                </a:moveTo>
                <a:lnTo>
                  <a:pt x="3590917" y="0"/>
                </a:lnTo>
                <a:cubicBezTo>
                  <a:pt x="3654048" y="0"/>
                  <a:pt x="3705225" y="51177"/>
                  <a:pt x="3705225" y="114308"/>
                </a:cubicBezTo>
                <a:lnTo>
                  <a:pt x="3705225" y="2552692"/>
                </a:lnTo>
                <a:cubicBezTo>
                  <a:pt x="3705225" y="2615823"/>
                  <a:pt x="3654048" y="2667000"/>
                  <a:pt x="3590917" y="2667000"/>
                </a:cubicBezTo>
                <a:lnTo>
                  <a:pt x="114308" y="2667000"/>
                </a:lnTo>
                <a:cubicBezTo>
                  <a:pt x="51177" y="2667000"/>
                  <a:pt x="0" y="2615823"/>
                  <a:pt x="0" y="2552692"/>
                </a:cubicBezTo>
                <a:lnTo>
                  <a:pt x="0" y="114308"/>
                </a:lnTo>
                <a:cubicBezTo>
                  <a:pt x="0" y="51177"/>
                  <a:pt x="51177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54901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2057" y="1971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3293" y="3148"/>
                </a:moveTo>
                <a:cubicBezTo>
                  <a:pt x="89107" y="-1038"/>
                  <a:pt x="82309" y="-1038"/>
                  <a:pt x="78124" y="3148"/>
                </a:cubicBezTo>
                <a:lnTo>
                  <a:pt x="56692" y="24579"/>
                </a:lnTo>
                <a:cubicBezTo>
                  <a:pt x="53612" y="27660"/>
                  <a:pt x="52707" y="32247"/>
                  <a:pt x="54382" y="36266"/>
                </a:cubicBezTo>
                <a:cubicBezTo>
                  <a:pt x="56056" y="40284"/>
                  <a:pt x="59974" y="42863"/>
                  <a:pt x="64294" y="42863"/>
                </a:cubicBezTo>
                <a:lnTo>
                  <a:pt x="75009" y="42863"/>
                </a:lnTo>
                <a:lnTo>
                  <a:pt x="75009" y="75009"/>
                </a:lnTo>
                <a:lnTo>
                  <a:pt x="42863" y="75009"/>
                </a:lnTo>
                <a:lnTo>
                  <a:pt x="42863" y="64294"/>
                </a:lnTo>
                <a:cubicBezTo>
                  <a:pt x="42863" y="59974"/>
                  <a:pt x="40251" y="56056"/>
                  <a:pt x="36232" y="54382"/>
                </a:cubicBezTo>
                <a:cubicBezTo>
                  <a:pt x="32214" y="52707"/>
                  <a:pt x="27626" y="53645"/>
                  <a:pt x="24545" y="56692"/>
                </a:cubicBezTo>
                <a:lnTo>
                  <a:pt x="3114" y="78124"/>
                </a:lnTo>
                <a:cubicBezTo>
                  <a:pt x="-1072" y="82309"/>
                  <a:pt x="-1072" y="89107"/>
                  <a:pt x="3114" y="93293"/>
                </a:cubicBezTo>
                <a:lnTo>
                  <a:pt x="24545" y="114724"/>
                </a:lnTo>
                <a:cubicBezTo>
                  <a:pt x="27626" y="117805"/>
                  <a:pt x="32214" y="118709"/>
                  <a:pt x="36232" y="117035"/>
                </a:cubicBezTo>
                <a:cubicBezTo>
                  <a:pt x="40251" y="115360"/>
                  <a:pt x="42863" y="111476"/>
                  <a:pt x="42863" y="107156"/>
                </a:cubicBezTo>
                <a:lnTo>
                  <a:pt x="42863" y="96441"/>
                </a:lnTo>
                <a:lnTo>
                  <a:pt x="75009" y="96441"/>
                </a:lnTo>
                <a:lnTo>
                  <a:pt x="75009" y="128588"/>
                </a:lnTo>
                <a:lnTo>
                  <a:pt x="64294" y="128588"/>
                </a:lnTo>
                <a:cubicBezTo>
                  <a:pt x="59974" y="128588"/>
                  <a:pt x="56056" y="131199"/>
                  <a:pt x="54382" y="135218"/>
                </a:cubicBezTo>
                <a:cubicBezTo>
                  <a:pt x="52707" y="139236"/>
                  <a:pt x="53645" y="143824"/>
                  <a:pt x="56692" y="146905"/>
                </a:cubicBezTo>
                <a:lnTo>
                  <a:pt x="78124" y="168336"/>
                </a:lnTo>
                <a:cubicBezTo>
                  <a:pt x="82309" y="172522"/>
                  <a:pt x="89107" y="172522"/>
                  <a:pt x="93293" y="168336"/>
                </a:cubicBezTo>
                <a:lnTo>
                  <a:pt x="114724" y="146905"/>
                </a:lnTo>
                <a:cubicBezTo>
                  <a:pt x="117805" y="143824"/>
                  <a:pt x="118709" y="139236"/>
                  <a:pt x="117035" y="135218"/>
                </a:cubicBezTo>
                <a:cubicBezTo>
                  <a:pt x="115360" y="131199"/>
                  <a:pt x="111476" y="128588"/>
                  <a:pt x="107156" y="128588"/>
                </a:cubicBezTo>
                <a:lnTo>
                  <a:pt x="96441" y="128588"/>
                </a:lnTo>
                <a:lnTo>
                  <a:pt x="96441" y="96441"/>
                </a:lnTo>
                <a:lnTo>
                  <a:pt x="128588" y="96441"/>
                </a:lnTo>
                <a:lnTo>
                  <a:pt x="128588" y="107156"/>
                </a:lnTo>
                <a:cubicBezTo>
                  <a:pt x="128588" y="111476"/>
                  <a:pt x="131199" y="115394"/>
                  <a:pt x="135218" y="117068"/>
                </a:cubicBezTo>
                <a:cubicBezTo>
                  <a:pt x="139236" y="118743"/>
                  <a:pt x="143824" y="117805"/>
                  <a:pt x="146905" y="114758"/>
                </a:cubicBezTo>
                <a:lnTo>
                  <a:pt x="168336" y="93326"/>
                </a:lnTo>
                <a:cubicBezTo>
                  <a:pt x="172522" y="89141"/>
                  <a:pt x="172522" y="82343"/>
                  <a:pt x="168336" y="78157"/>
                </a:cubicBezTo>
                <a:lnTo>
                  <a:pt x="146905" y="56726"/>
                </a:lnTo>
                <a:cubicBezTo>
                  <a:pt x="143824" y="53645"/>
                  <a:pt x="139236" y="52741"/>
                  <a:pt x="135218" y="54415"/>
                </a:cubicBezTo>
                <a:cubicBezTo>
                  <a:pt x="131199" y="56090"/>
                  <a:pt x="128588" y="59974"/>
                  <a:pt x="128588" y="64294"/>
                </a:cubicBezTo>
                <a:lnTo>
                  <a:pt x="128588" y="75009"/>
                </a:lnTo>
                <a:lnTo>
                  <a:pt x="96441" y="75009"/>
                </a:lnTo>
                <a:lnTo>
                  <a:pt x="96441" y="42863"/>
                </a:lnTo>
                <a:lnTo>
                  <a:pt x="107156" y="42863"/>
                </a:lnTo>
                <a:cubicBezTo>
                  <a:pt x="111476" y="42863"/>
                  <a:pt x="115394" y="40251"/>
                  <a:pt x="117068" y="36232"/>
                </a:cubicBezTo>
                <a:cubicBezTo>
                  <a:pt x="118743" y="32214"/>
                  <a:pt x="117805" y="27626"/>
                  <a:pt x="114758" y="24545"/>
                </a:cubicBezTo>
                <a:lnTo>
                  <a:pt x="93326" y="311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750201" y="1924050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 Shift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54901" y="2362200"/>
            <a:ext cx="34671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Non-parametric clustering that finds dense regions by shifting points towards mode of density function. Automatically determines cluster count.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54901" y="3126581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54244" y="3126581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segmentation, object tracking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54901" y="3393281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08852" y="3393281"/>
            <a:ext cx="2819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assumptions about cluster shape, finds modes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54901" y="3850481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89368" y="3850481"/>
            <a:ext cx="2733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Computationally expensive, bandwidth selection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1000" y="4536281"/>
            <a:ext cx="11430000" cy="1066800"/>
          </a:xfrm>
          <a:custGeom>
            <a:avLst/>
            <a:gdLst/>
            <a:ahLst/>
            <a:cxnLst/>
            <a:rect l="l" t="t" r="r" b="b"/>
            <a:pathLst>
              <a:path w="11430000" h="10668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952503"/>
                </a:lnTo>
                <a:cubicBezTo>
                  <a:pt x="11430000" y="1015628"/>
                  <a:pt x="11378828" y="1066800"/>
                  <a:pt x="11315703" y="1066800"/>
                </a:cubicBezTo>
                <a:lnTo>
                  <a:pt x="114297" y="1066800"/>
                </a:lnTo>
                <a:cubicBezTo>
                  <a:pt x="51172" y="1066800"/>
                  <a:pt x="0" y="1015628"/>
                  <a:pt x="0" y="952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57213" y="473630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41" name="Text 39"/>
          <p:cNvSpPr/>
          <p:nvPr/>
        </p:nvSpPr>
        <p:spPr>
          <a:xfrm>
            <a:off x="752475" y="4688681"/>
            <a:ext cx="1099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Clustering Insights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44116" y="5107781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0609" y="-4922"/>
                </a:moveTo>
                <a:cubicBezTo>
                  <a:pt x="79541" y="-7006"/>
                  <a:pt x="77379" y="-8334"/>
                  <a:pt x="75035" y="-8334"/>
                </a:cubicBezTo>
                <a:cubicBezTo>
                  <a:pt x="72691" y="-8334"/>
                  <a:pt x="70530" y="-7006"/>
                  <a:pt x="69462" y="-4922"/>
                </a:cubicBezTo>
                <a:lnTo>
                  <a:pt x="50293" y="32634"/>
                </a:lnTo>
                <a:lnTo>
                  <a:pt x="8647" y="39250"/>
                </a:lnTo>
                <a:cubicBezTo>
                  <a:pt x="6329" y="39614"/>
                  <a:pt x="4402" y="41255"/>
                  <a:pt x="3672" y="43495"/>
                </a:cubicBezTo>
                <a:cubicBezTo>
                  <a:pt x="2943" y="45735"/>
                  <a:pt x="3542" y="48183"/>
                  <a:pt x="5183" y="49850"/>
                </a:cubicBezTo>
                <a:lnTo>
                  <a:pt x="34978" y="79671"/>
                </a:lnTo>
                <a:lnTo>
                  <a:pt x="28415" y="121317"/>
                </a:lnTo>
                <a:cubicBezTo>
                  <a:pt x="28050" y="123635"/>
                  <a:pt x="29014" y="125979"/>
                  <a:pt x="30915" y="127360"/>
                </a:cubicBezTo>
                <a:cubicBezTo>
                  <a:pt x="32817" y="128740"/>
                  <a:pt x="35317" y="128948"/>
                  <a:pt x="37427" y="127881"/>
                </a:cubicBezTo>
                <a:lnTo>
                  <a:pt x="75035" y="108764"/>
                </a:lnTo>
                <a:lnTo>
                  <a:pt x="112618" y="127881"/>
                </a:lnTo>
                <a:cubicBezTo>
                  <a:pt x="114702" y="128948"/>
                  <a:pt x="117228" y="128740"/>
                  <a:pt x="119129" y="127360"/>
                </a:cubicBezTo>
                <a:cubicBezTo>
                  <a:pt x="121031" y="125979"/>
                  <a:pt x="121994" y="123661"/>
                  <a:pt x="121630" y="121317"/>
                </a:cubicBezTo>
                <a:lnTo>
                  <a:pt x="115040" y="79671"/>
                </a:lnTo>
                <a:lnTo>
                  <a:pt x="144836" y="49850"/>
                </a:lnTo>
                <a:cubicBezTo>
                  <a:pt x="146503" y="48183"/>
                  <a:pt x="147076" y="45735"/>
                  <a:pt x="146346" y="43495"/>
                </a:cubicBezTo>
                <a:cubicBezTo>
                  <a:pt x="145617" y="41255"/>
                  <a:pt x="143716" y="39614"/>
                  <a:pt x="141372" y="39250"/>
                </a:cubicBezTo>
                <a:lnTo>
                  <a:pt x="99752" y="32634"/>
                </a:lnTo>
                <a:lnTo>
                  <a:pt x="80609" y="-4922"/>
                </a:ln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43" name="Text 41"/>
          <p:cNvSpPr/>
          <p:nvPr/>
        </p:nvSpPr>
        <p:spPr>
          <a:xfrm>
            <a:off x="776288" y="5069681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Gaussian Mixture</a:t>
            </a: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probabilistic cluster membership, useful when clusters overlap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303216" y="5107781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0609" y="-4922"/>
                </a:moveTo>
                <a:cubicBezTo>
                  <a:pt x="79541" y="-7006"/>
                  <a:pt x="77379" y="-8334"/>
                  <a:pt x="75035" y="-8334"/>
                </a:cubicBezTo>
                <a:cubicBezTo>
                  <a:pt x="72691" y="-8334"/>
                  <a:pt x="70530" y="-7006"/>
                  <a:pt x="69462" y="-4922"/>
                </a:cubicBezTo>
                <a:lnTo>
                  <a:pt x="50293" y="32634"/>
                </a:lnTo>
                <a:lnTo>
                  <a:pt x="8647" y="39250"/>
                </a:lnTo>
                <a:cubicBezTo>
                  <a:pt x="6329" y="39614"/>
                  <a:pt x="4402" y="41255"/>
                  <a:pt x="3672" y="43495"/>
                </a:cubicBezTo>
                <a:cubicBezTo>
                  <a:pt x="2943" y="45735"/>
                  <a:pt x="3542" y="48183"/>
                  <a:pt x="5183" y="49850"/>
                </a:cubicBezTo>
                <a:lnTo>
                  <a:pt x="34978" y="79671"/>
                </a:lnTo>
                <a:lnTo>
                  <a:pt x="28415" y="121317"/>
                </a:lnTo>
                <a:cubicBezTo>
                  <a:pt x="28050" y="123635"/>
                  <a:pt x="29014" y="125979"/>
                  <a:pt x="30915" y="127360"/>
                </a:cubicBezTo>
                <a:cubicBezTo>
                  <a:pt x="32817" y="128740"/>
                  <a:pt x="35317" y="128948"/>
                  <a:pt x="37427" y="127881"/>
                </a:cubicBezTo>
                <a:lnTo>
                  <a:pt x="75035" y="108764"/>
                </a:lnTo>
                <a:lnTo>
                  <a:pt x="112618" y="127881"/>
                </a:lnTo>
                <a:cubicBezTo>
                  <a:pt x="114702" y="128948"/>
                  <a:pt x="117228" y="128740"/>
                  <a:pt x="119129" y="127360"/>
                </a:cubicBezTo>
                <a:cubicBezTo>
                  <a:pt x="121031" y="125979"/>
                  <a:pt x="121994" y="123661"/>
                  <a:pt x="121630" y="121317"/>
                </a:cubicBezTo>
                <a:lnTo>
                  <a:pt x="115040" y="79671"/>
                </a:lnTo>
                <a:lnTo>
                  <a:pt x="144836" y="49850"/>
                </a:lnTo>
                <a:cubicBezTo>
                  <a:pt x="146503" y="48183"/>
                  <a:pt x="147076" y="45735"/>
                  <a:pt x="146346" y="43495"/>
                </a:cubicBezTo>
                <a:cubicBezTo>
                  <a:pt x="145617" y="41255"/>
                  <a:pt x="143716" y="39614"/>
                  <a:pt x="141372" y="39250"/>
                </a:cubicBezTo>
                <a:lnTo>
                  <a:pt x="99752" y="32634"/>
                </a:lnTo>
                <a:lnTo>
                  <a:pt x="80609" y="-4922"/>
                </a:ln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45" name="Text 43"/>
          <p:cNvSpPr/>
          <p:nvPr/>
        </p:nvSpPr>
        <p:spPr>
          <a:xfrm>
            <a:off x="4535388" y="5069681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Spectral Clustering</a:t>
            </a: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excels with graph data and non-convex cluster shapes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062466" y="5107781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0609" y="-4922"/>
                </a:moveTo>
                <a:cubicBezTo>
                  <a:pt x="79541" y="-7006"/>
                  <a:pt x="77379" y="-8334"/>
                  <a:pt x="75035" y="-8334"/>
                </a:cubicBezTo>
                <a:cubicBezTo>
                  <a:pt x="72691" y="-8334"/>
                  <a:pt x="70530" y="-7006"/>
                  <a:pt x="69462" y="-4922"/>
                </a:cubicBezTo>
                <a:lnTo>
                  <a:pt x="50293" y="32634"/>
                </a:lnTo>
                <a:lnTo>
                  <a:pt x="8647" y="39250"/>
                </a:lnTo>
                <a:cubicBezTo>
                  <a:pt x="6329" y="39614"/>
                  <a:pt x="4402" y="41255"/>
                  <a:pt x="3672" y="43495"/>
                </a:cubicBezTo>
                <a:cubicBezTo>
                  <a:pt x="2943" y="45735"/>
                  <a:pt x="3542" y="48183"/>
                  <a:pt x="5183" y="49850"/>
                </a:cubicBezTo>
                <a:lnTo>
                  <a:pt x="34978" y="79671"/>
                </a:lnTo>
                <a:lnTo>
                  <a:pt x="28415" y="121317"/>
                </a:lnTo>
                <a:cubicBezTo>
                  <a:pt x="28050" y="123635"/>
                  <a:pt x="29014" y="125979"/>
                  <a:pt x="30915" y="127360"/>
                </a:cubicBezTo>
                <a:cubicBezTo>
                  <a:pt x="32817" y="128740"/>
                  <a:pt x="35317" y="128948"/>
                  <a:pt x="37427" y="127881"/>
                </a:cubicBezTo>
                <a:lnTo>
                  <a:pt x="75035" y="108764"/>
                </a:lnTo>
                <a:lnTo>
                  <a:pt x="112618" y="127881"/>
                </a:lnTo>
                <a:cubicBezTo>
                  <a:pt x="114702" y="128948"/>
                  <a:pt x="117228" y="128740"/>
                  <a:pt x="119129" y="127360"/>
                </a:cubicBezTo>
                <a:cubicBezTo>
                  <a:pt x="121031" y="125979"/>
                  <a:pt x="121994" y="123661"/>
                  <a:pt x="121630" y="121317"/>
                </a:cubicBezTo>
                <a:lnTo>
                  <a:pt x="115040" y="79671"/>
                </a:lnTo>
                <a:lnTo>
                  <a:pt x="144836" y="49850"/>
                </a:lnTo>
                <a:cubicBezTo>
                  <a:pt x="146503" y="48183"/>
                  <a:pt x="147076" y="45735"/>
                  <a:pt x="146346" y="43495"/>
                </a:cubicBezTo>
                <a:cubicBezTo>
                  <a:pt x="145617" y="41255"/>
                  <a:pt x="143716" y="39614"/>
                  <a:pt x="141372" y="39250"/>
                </a:cubicBezTo>
                <a:lnTo>
                  <a:pt x="99752" y="32634"/>
                </a:lnTo>
                <a:lnTo>
                  <a:pt x="80609" y="-4922"/>
                </a:ln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47" name="Text 45"/>
          <p:cNvSpPr/>
          <p:nvPr/>
        </p:nvSpPr>
        <p:spPr>
          <a:xfrm>
            <a:off x="8294638" y="5069681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Shift</a:t>
            </a: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automatically discovers cluster count without prior specification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9505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Dimensionality Reduction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Techniques to reduce feature space while preserving essential information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714500"/>
            <a:ext cx="5638800" cy="1885950"/>
          </a:xfrm>
          <a:custGeom>
            <a:avLst/>
            <a:gdLst/>
            <a:ahLst/>
            <a:cxnLst/>
            <a:rect l="l" t="t" r="r" b="b"/>
            <a:pathLst>
              <a:path w="5638800" h="1885950">
                <a:moveTo>
                  <a:pt x="114307" y="0"/>
                </a:moveTo>
                <a:lnTo>
                  <a:pt x="5524493" y="0"/>
                </a:lnTo>
                <a:cubicBezTo>
                  <a:pt x="5587623" y="0"/>
                  <a:pt x="5638800" y="51177"/>
                  <a:pt x="5638800" y="114307"/>
                </a:cubicBezTo>
                <a:lnTo>
                  <a:pt x="5638800" y="1771643"/>
                </a:lnTo>
                <a:cubicBezTo>
                  <a:pt x="5638800" y="1834773"/>
                  <a:pt x="5587623" y="1885950"/>
                  <a:pt x="552449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34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8" name="Shape 6"/>
          <p:cNvSpPr/>
          <p:nvPr/>
        </p:nvSpPr>
        <p:spPr>
          <a:xfrm>
            <a:off x="640556" y="1971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2698" y="75009"/>
                </a:moveTo>
                <a:lnTo>
                  <a:pt x="104477" y="75009"/>
                </a:lnTo>
                <a:cubicBezTo>
                  <a:pt x="100024" y="75009"/>
                  <a:pt x="96441" y="71426"/>
                  <a:pt x="96441" y="66973"/>
                </a:cubicBezTo>
                <a:lnTo>
                  <a:pt x="96441" y="18752"/>
                </a:lnTo>
                <a:cubicBezTo>
                  <a:pt x="96441" y="15504"/>
                  <a:pt x="98383" y="12557"/>
                  <a:pt x="101397" y="11318"/>
                </a:cubicBezTo>
                <a:cubicBezTo>
                  <a:pt x="104410" y="10079"/>
                  <a:pt x="107859" y="10783"/>
                  <a:pt x="110170" y="13060"/>
                </a:cubicBezTo>
                <a:lnTo>
                  <a:pt x="123565" y="26454"/>
                </a:lnTo>
                <a:lnTo>
                  <a:pt x="148144" y="1875"/>
                </a:lnTo>
                <a:cubicBezTo>
                  <a:pt x="149349" y="670"/>
                  <a:pt x="150990" y="0"/>
                  <a:pt x="152698" y="0"/>
                </a:cubicBezTo>
                <a:cubicBezTo>
                  <a:pt x="154405" y="0"/>
                  <a:pt x="156046" y="670"/>
                  <a:pt x="157285" y="1909"/>
                </a:cubicBezTo>
                <a:lnTo>
                  <a:pt x="169575" y="14198"/>
                </a:lnTo>
                <a:cubicBezTo>
                  <a:pt x="170780" y="15404"/>
                  <a:pt x="171450" y="17045"/>
                  <a:pt x="171450" y="18752"/>
                </a:cubicBezTo>
                <a:cubicBezTo>
                  <a:pt x="171450" y="20460"/>
                  <a:pt x="170780" y="22101"/>
                  <a:pt x="169541" y="23340"/>
                </a:cubicBezTo>
                <a:lnTo>
                  <a:pt x="144996" y="47885"/>
                </a:lnTo>
                <a:lnTo>
                  <a:pt x="158390" y="61280"/>
                </a:lnTo>
                <a:cubicBezTo>
                  <a:pt x="160701" y="63591"/>
                  <a:pt x="161371" y="67040"/>
                  <a:pt x="160132" y="70053"/>
                </a:cubicBezTo>
                <a:cubicBezTo>
                  <a:pt x="158893" y="73067"/>
                  <a:pt x="155946" y="75009"/>
                  <a:pt x="152698" y="75009"/>
                </a:cubicBezTo>
                <a:close/>
                <a:moveTo>
                  <a:pt x="152698" y="96441"/>
                </a:moveTo>
                <a:cubicBezTo>
                  <a:pt x="155946" y="96441"/>
                  <a:pt x="158893" y="98383"/>
                  <a:pt x="160132" y="101397"/>
                </a:cubicBezTo>
                <a:cubicBezTo>
                  <a:pt x="161371" y="104410"/>
                  <a:pt x="160701" y="107859"/>
                  <a:pt x="158390" y="110170"/>
                </a:cubicBezTo>
                <a:lnTo>
                  <a:pt x="144996" y="123565"/>
                </a:lnTo>
                <a:lnTo>
                  <a:pt x="169575" y="148144"/>
                </a:lnTo>
                <a:cubicBezTo>
                  <a:pt x="170780" y="149349"/>
                  <a:pt x="171483" y="150990"/>
                  <a:pt x="171483" y="152731"/>
                </a:cubicBezTo>
                <a:cubicBezTo>
                  <a:pt x="171483" y="154472"/>
                  <a:pt x="170814" y="156080"/>
                  <a:pt x="169575" y="157319"/>
                </a:cubicBezTo>
                <a:lnTo>
                  <a:pt x="157285" y="169608"/>
                </a:lnTo>
                <a:cubicBezTo>
                  <a:pt x="156046" y="170780"/>
                  <a:pt x="154405" y="171450"/>
                  <a:pt x="152698" y="171450"/>
                </a:cubicBezTo>
                <a:cubicBezTo>
                  <a:pt x="150990" y="171450"/>
                  <a:pt x="149349" y="170780"/>
                  <a:pt x="148110" y="169541"/>
                </a:cubicBezTo>
                <a:lnTo>
                  <a:pt x="123565" y="144996"/>
                </a:lnTo>
                <a:lnTo>
                  <a:pt x="110170" y="158390"/>
                </a:lnTo>
                <a:cubicBezTo>
                  <a:pt x="107859" y="160701"/>
                  <a:pt x="104410" y="161371"/>
                  <a:pt x="101397" y="160132"/>
                </a:cubicBezTo>
                <a:cubicBezTo>
                  <a:pt x="98383" y="158893"/>
                  <a:pt x="96441" y="155946"/>
                  <a:pt x="96441" y="152698"/>
                </a:cubicBezTo>
                <a:lnTo>
                  <a:pt x="96441" y="104477"/>
                </a:lnTo>
                <a:cubicBezTo>
                  <a:pt x="96441" y="100024"/>
                  <a:pt x="100024" y="96441"/>
                  <a:pt x="104477" y="96441"/>
                </a:cubicBezTo>
                <a:lnTo>
                  <a:pt x="152698" y="96441"/>
                </a:lnTo>
                <a:close/>
                <a:moveTo>
                  <a:pt x="66973" y="96441"/>
                </a:moveTo>
                <a:cubicBezTo>
                  <a:pt x="71426" y="96441"/>
                  <a:pt x="75009" y="100024"/>
                  <a:pt x="75009" y="104477"/>
                </a:cubicBezTo>
                <a:lnTo>
                  <a:pt x="75009" y="152698"/>
                </a:lnTo>
                <a:cubicBezTo>
                  <a:pt x="75009" y="155946"/>
                  <a:pt x="73067" y="158893"/>
                  <a:pt x="70053" y="160132"/>
                </a:cubicBezTo>
                <a:cubicBezTo>
                  <a:pt x="67040" y="161371"/>
                  <a:pt x="63591" y="160701"/>
                  <a:pt x="61280" y="158390"/>
                </a:cubicBezTo>
                <a:lnTo>
                  <a:pt x="47885" y="144996"/>
                </a:lnTo>
                <a:lnTo>
                  <a:pt x="23306" y="169575"/>
                </a:lnTo>
                <a:cubicBezTo>
                  <a:pt x="22101" y="170780"/>
                  <a:pt x="20460" y="171450"/>
                  <a:pt x="18752" y="171450"/>
                </a:cubicBezTo>
                <a:cubicBezTo>
                  <a:pt x="17045" y="171450"/>
                  <a:pt x="15404" y="170780"/>
                  <a:pt x="14165" y="169541"/>
                </a:cubicBezTo>
                <a:lnTo>
                  <a:pt x="1909" y="157285"/>
                </a:lnTo>
                <a:cubicBezTo>
                  <a:pt x="670" y="156046"/>
                  <a:pt x="0" y="154405"/>
                  <a:pt x="0" y="152698"/>
                </a:cubicBezTo>
                <a:cubicBezTo>
                  <a:pt x="0" y="150990"/>
                  <a:pt x="670" y="149349"/>
                  <a:pt x="1909" y="148110"/>
                </a:cubicBezTo>
                <a:lnTo>
                  <a:pt x="26454" y="123565"/>
                </a:lnTo>
                <a:lnTo>
                  <a:pt x="13060" y="110170"/>
                </a:lnTo>
                <a:cubicBezTo>
                  <a:pt x="10749" y="107859"/>
                  <a:pt x="10079" y="104410"/>
                  <a:pt x="11318" y="101397"/>
                </a:cubicBezTo>
                <a:cubicBezTo>
                  <a:pt x="12557" y="98383"/>
                  <a:pt x="15504" y="96441"/>
                  <a:pt x="18752" y="96441"/>
                </a:cubicBezTo>
                <a:lnTo>
                  <a:pt x="66973" y="96441"/>
                </a:lnTo>
                <a:close/>
                <a:moveTo>
                  <a:pt x="18752" y="75009"/>
                </a:moveTo>
                <a:cubicBezTo>
                  <a:pt x="15504" y="75009"/>
                  <a:pt x="12557" y="73067"/>
                  <a:pt x="11318" y="70053"/>
                </a:cubicBezTo>
                <a:cubicBezTo>
                  <a:pt x="10079" y="67040"/>
                  <a:pt x="10783" y="63591"/>
                  <a:pt x="13060" y="61280"/>
                </a:cubicBezTo>
                <a:lnTo>
                  <a:pt x="26454" y="47885"/>
                </a:lnTo>
                <a:lnTo>
                  <a:pt x="1909" y="23340"/>
                </a:lnTo>
                <a:cubicBezTo>
                  <a:pt x="670" y="22101"/>
                  <a:pt x="0" y="20460"/>
                  <a:pt x="0" y="18752"/>
                </a:cubicBezTo>
                <a:cubicBezTo>
                  <a:pt x="0" y="17045"/>
                  <a:pt x="670" y="15404"/>
                  <a:pt x="1909" y="14165"/>
                </a:cubicBezTo>
                <a:lnTo>
                  <a:pt x="14165" y="1909"/>
                </a:lnTo>
                <a:cubicBezTo>
                  <a:pt x="15404" y="670"/>
                  <a:pt x="17045" y="0"/>
                  <a:pt x="18752" y="0"/>
                </a:cubicBezTo>
                <a:cubicBezTo>
                  <a:pt x="20460" y="0"/>
                  <a:pt x="22101" y="670"/>
                  <a:pt x="23340" y="1909"/>
                </a:cubicBezTo>
                <a:lnTo>
                  <a:pt x="47885" y="26454"/>
                </a:lnTo>
                <a:lnTo>
                  <a:pt x="61280" y="13060"/>
                </a:lnTo>
                <a:cubicBezTo>
                  <a:pt x="63591" y="10749"/>
                  <a:pt x="67040" y="10079"/>
                  <a:pt x="70053" y="11318"/>
                </a:cubicBezTo>
                <a:cubicBezTo>
                  <a:pt x="73067" y="12557"/>
                  <a:pt x="75009" y="15504"/>
                  <a:pt x="75009" y="18752"/>
                </a:cubicBezTo>
                <a:lnTo>
                  <a:pt x="75009" y="66973"/>
                </a:lnTo>
                <a:cubicBezTo>
                  <a:pt x="75009" y="71426"/>
                  <a:pt x="71426" y="75009"/>
                  <a:pt x="66973" y="75009"/>
                </a:cubicBezTo>
                <a:lnTo>
                  <a:pt x="18752" y="7500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" y="1866900"/>
            <a:ext cx="493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Principal Component Analysis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8700" y="2171700"/>
            <a:ext cx="4905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technique projecting data onto orthogonal axes (principal components) that capture maximum variance. First component captures most variance.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8700" y="2719388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28043" y="2719388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visualization, noise reduction, feature extraction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8700" y="2986088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82651" y="2986088"/>
            <a:ext cx="3600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Computationally efficient, removes correlations, interpretable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8700" y="3252788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63167" y="3252788"/>
            <a:ext cx="3076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only, sensitive to scaling, loses interpretability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2200" y="1714500"/>
            <a:ext cx="5638800" cy="1885950"/>
          </a:xfrm>
          <a:custGeom>
            <a:avLst/>
            <a:gdLst/>
            <a:ahLst/>
            <a:cxnLst/>
            <a:rect l="l" t="t" r="r" b="b"/>
            <a:pathLst>
              <a:path w="5638800" h="1885950">
                <a:moveTo>
                  <a:pt x="114307" y="0"/>
                </a:moveTo>
                <a:lnTo>
                  <a:pt x="5524493" y="0"/>
                </a:lnTo>
                <a:cubicBezTo>
                  <a:pt x="5587623" y="0"/>
                  <a:pt x="5638800" y="51177"/>
                  <a:pt x="5638800" y="114307"/>
                </a:cubicBezTo>
                <a:lnTo>
                  <a:pt x="5638800" y="1771643"/>
                </a:lnTo>
                <a:cubicBezTo>
                  <a:pt x="5638800" y="1834773"/>
                  <a:pt x="5587623" y="1885950"/>
                  <a:pt x="552449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246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19" name="Shape 17"/>
          <p:cNvSpPr/>
          <p:nvPr/>
        </p:nvSpPr>
        <p:spPr>
          <a:xfrm>
            <a:off x="6421041" y="19716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10716"/>
                </a:moveTo>
                <a:cubicBezTo>
                  <a:pt x="69384" y="10716"/>
                  <a:pt x="47718" y="23039"/>
                  <a:pt x="31946" y="37706"/>
                </a:cubicBezTo>
                <a:cubicBezTo>
                  <a:pt x="16274" y="52272"/>
                  <a:pt x="5793" y="69652"/>
                  <a:pt x="804" y="81606"/>
                </a:cubicBezTo>
                <a:cubicBezTo>
                  <a:pt x="-301" y="84252"/>
                  <a:pt x="-301" y="87198"/>
                  <a:pt x="804" y="89844"/>
                </a:cubicBezTo>
                <a:cubicBezTo>
                  <a:pt x="5793" y="101798"/>
                  <a:pt x="16274" y="119211"/>
                  <a:pt x="31946" y="133744"/>
                </a:cubicBezTo>
                <a:cubicBezTo>
                  <a:pt x="47718" y="148378"/>
                  <a:pt x="69384" y="160734"/>
                  <a:pt x="96441" y="160734"/>
                </a:cubicBezTo>
                <a:cubicBezTo>
                  <a:pt x="123498" y="160734"/>
                  <a:pt x="145163" y="148411"/>
                  <a:pt x="160935" y="133744"/>
                </a:cubicBezTo>
                <a:cubicBezTo>
                  <a:pt x="176607" y="119178"/>
                  <a:pt x="187088" y="101798"/>
                  <a:pt x="192078" y="89844"/>
                </a:cubicBezTo>
                <a:cubicBezTo>
                  <a:pt x="193183" y="87198"/>
                  <a:pt x="193183" y="84252"/>
                  <a:pt x="192078" y="81606"/>
                </a:cubicBezTo>
                <a:cubicBezTo>
                  <a:pt x="187088" y="69652"/>
                  <a:pt x="176607" y="52239"/>
                  <a:pt x="160935" y="37706"/>
                </a:cubicBezTo>
                <a:cubicBezTo>
                  <a:pt x="145163" y="23072"/>
                  <a:pt x="123498" y="10716"/>
                  <a:pt x="96441" y="10716"/>
                </a:cubicBezTo>
                <a:close/>
                <a:moveTo>
                  <a:pt x="48220" y="85725"/>
                </a:moveTo>
                <a:cubicBezTo>
                  <a:pt x="48220" y="59111"/>
                  <a:pt x="69827" y="37505"/>
                  <a:pt x="96441" y="37505"/>
                </a:cubicBezTo>
                <a:cubicBezTo>
                  <a:pt x="123054" y="37505"/>
                  <a:pt x="144661" y="59111"/>
                  <a:pt x="144661" y="85725"/>
                </a:cubicBezTo>
                <a:cubicBezTo>
                  <a:pt x="144661" y="112339"/>
                  <a:pt x="123054" y="133945"/>
                  <a:pt x="96441" y="133945"/>
                </a:cubicBezTo>
                <a:cubicBezTo>
                  <a:pt x="69827" y="133945"/>
                  <a:pt x="48220" y="112339"/>
                  <a:pt x="48220" y="85725"/>
                </a:cubicBezTo>
                <a:close/>
                <a:moveTo>
                  <a:pt x="96441" y="64294"/>
                </a:moveTo>
                <a:cubicBezTo>
                  <a:pt x="96441" y="76114"/>
                  <a:pt x="86830" y="85725"/>
                  <a:pt x="75009" y="85725"/>
                </a:cubicBezTo>
                <a:cubicBezTo>
                  <a:pt x="71158" y="85725"/>
                  <a:pt x="67542" y="84720"/>
                  <a:pt x="64394" y="82912"/>
                </a:cubicBezTo>
                <a:cubicBezTo>
                  <a:pt x="64059" y="86562"/>
                  <a:pt x="64361" y="90313"/>
                  <a:pt x="65365" y="94030"/>
                </a:cubicBezTo>
                <a:cubicBezTo>
                  <a:pt x="69953" y="111175"/>
                  <a:pt x="87600" y="121354"/>
                  <a:pt x="104745" y="116767"/>
                </a:cubicBezTo>
                <a:cubicBezTo>
                  <a:pt x="121890" y="112179"/>
                  <a:pt x="132070" y="94532"/>
                  <a:pt x="127482" y="77387"/>
                </a:cubicBezTo>
                <a:cubicBezTo>
                  <a:pt x="123397" y="62084"/>
                  <a:pt x="108898" y="52339"/>
                  <a:pt x="93628" y="53679"/>
                </a:cubicBezTo>
                <a:cubicBezTo>
                  <a:pt x="95403" y="56793"/>
                  <a:pt x="96441" y="60409"/>
                  <a:pt x="96441" y="642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19900" y="1866900"/>
            <a:ext cx="493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t-SNE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9900" y="2171700"/>
            <a:ext cx="4905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Non-linear technique that preserves local structure by converting similarities to probabilities. Excellent for visualizing high-dimensional data in 2D/3D.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9900" y="2719388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19243" y="2719388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visualization, cluster exploration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9900" y="2986088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73851" y="2986088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Preserves local structure, reveals clusters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19900" y="3252788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54367" y="3252788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Slow, stochastic, hyperparameter sensitive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3748087"/>
            <a:ext cx="5638800" cy="1885950"/>
          </a:xfrm>
          <a:custGeom>
            <a:avLst/>
            <a:gdLst/>
            <a:ahLst/>
            <a:cxnLst/>
            <a:rect l="l" t="t" r="r" b="b"/>
            <a:pathLst>
              <a:path w="5638800" h="1885950">
                <a:moveTo>
                  <a:pt x="114307" y="0"/>
                </a:moveTo>
                <a:lnTo>
                  <a:pt x="5524493" y="0"/>
                </a:lnTo>
                <a:cubicBezTo>
                  <a:pt x="5587623" y="0"/>
                  <a:pt x="5638800" y="51177"/>
                  <a:pt x="5638800" y="114307"/>
                </a:cubicBezTo>
                <a:lnTo>
                  <a:pt x="5638800" y="1771643"/>
                </a:lnTo>
                <a:cubicBezTo>
                  <a:pt x="5638800" y="1834773"/>
                  <a:pt x="5587623" y="1885950"/>
                  <a:pt x="552449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3400" y="39004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556" y="400526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28700" y="3900488"/>
            <a:ext cx="493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highlight>
                  <a:srgbClr val="FFFF00"/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UMAP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28700" y="4205288"/>
            <a:ext cx="4905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Uniform Manifold Approximation and Projection preserves both local and global structure using topological methods. Faster alternative to t-SNE.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8700" y="4752975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728043" y="4752975"/>
            <a:ext cx="2447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Visualization, preprocessing for clustering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28700" y="501967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682651" y="5019675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Fast, preserves global structure, scalable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28700" y="5286375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763167" y="5286375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Hyperparameter sensitive, less established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72200" y="3748087"/>
            <a:ext cx="5638800" cy="1885950"/>
          </a:xfrm>
          <a:custGeom>
            <a:avLst/>
            <a:gdLst/>
            <a:ahLst/>
            <a:cxnLst/>
            <a:rect l="l" t="t" r="r" b="b"/>
            <a:pathLst>
              <a:path w="5638800" h="1885950">
                <a:moveTo>
                  <a:pt x="114307" y="0"/>
                </a:moveTo>
                <a:lnTo>
                  <a:pt x="5524493" y="0"/>
                </a:lnTo>
                <a:cubicBezTo>
                  <a:pt x="5587623" y="0"/>
                  <a:pt x="5638800" y="51177"/>
                  <a:pt x="5638800" y="114307"/>
                </a:cubicBezTo>
                <a:lnTo>
                  <a:pt x="5638800" y="1771643"/>
                </a:lnTo>
                <a:cubicBezTo>
                  <a:pt x="5638800" y="1834773"/>
                  <a:pt x="5587623" y="1885950"/>
                  <a:pt x="552449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24600" y="39004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41" name="Shape 39"/>
          <p:cNvSpPr/>
          <p:nvPr/>
        </p:nvSpPr>
        <p:spPr>
          <a:xfrm>
            <a:off x="6421041" y="4005262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0"/>
                </a:moveTo>
                <a:cubicBezTo>
                  <a:pt x="98651" y="0"/>
                  <a:pt x="100760" y="904"/>
                  <a:pt x="102267" y="2511"/>
                </a:cubicBezTo>
                <a:lnTo>
                  <a:pt x="150488" y="53411"/>
                </a:lnTo>
                <a:lnTo>
                  <a:pt x="150655" y="53578"/>
                </a:lnTo>
                <a:lnTo>
                  <a:pt x="176808" y="53578"/>
                </a:lnTo>
                <a:cubicBezTo>
                  <a:pt x="182735" y="53578"/>
                  <a:pt x="187523" y="58367"/>
                  <a:pt x="187523" y="64294"/>
                </a:cubicBezTo>
                <a:cubicBezTo>
                  <a:pt x="187523" y="69149"/>
                  <a:pt x="184309" y="73235"/>
                  <a:pt x="179889" y="74574"/>
                </a:cubicBezTo>
                <a:lnTo>
                  <a:pt x="164451" y="143958"/>
                </a:lnTo>
                <a:cubicBezTo>
                  <a:pt x="162275" y="153769"/>
                  <a:pt x="153568" y="160734"/>
                  <a:pt x="143522" y="160734"/>
                </a:cubicBezTo>
                <a:lnTo>
                  <a:pt x="49325" y="160734"/>
                </a:lnTo>
                <a:cubicBezTo>
                  <a:pt x="39279" y="160734"/>
                  <a:pt x="30573" y="153769"/>
                  <a:pt x="28396" y="143958"/>
                </a:cubicBezTo>
                <a:lnTo>
                  <a:pt x="12993" y="74574"/>
                </a:lnTo>
                <a:cubicBezTo>
                  <a:pt x="8573" y="73268"/>
                  <a:pt x="5358" y="69149"/>
                  <a:pt x="5358" y="64294"/>
                </a:cubicBezTo>
                <a:cubicBezTo>
                  <a:pt x="5358" y="58367"/>
                  <a:pt x="10146" y="53578"/>
                  <a:pt x="16073" y="53578"/>
                </a:cubicBezTo>
                <a:lnTo>
                  <a:pt x="42226" y="53578"/>
                </a:lnTo>
                <a:lnTo>
                  <a:pt x="42394" y="53411"/>
                </a:lnTo>
                <a:lnTo>
                  <a:pt x="90614" y="2511"/>
                </a:lnTo>
                <a:cubicBezTo>
                  <a:pt x="92121" y="904"/>
                  <a:pt x="94231" y="0"/>
                  <a:pt x="96441" y="0"/>
                </a:cubicBezTo>
                <a:close/>
                <a:moveTo>
                  <a:pt x="96441" y="19723"/>
                </a:moveTo>
                <a:lnTo>
                  <a:pt x="64361" y="53578"/>
                </a:lnTo>
                <a:lnTo>
                  <a:pt x="128521" y="53578"/>
                </a:lnTo>
                <a:lnTo>
                  <a:pt x="96441" y="19723"/>
                </a:lnTo>
                <a:close/>
                <a:moveTo>
                  <a:pt x="69652" y="88404"/>
                </a:moveTo>
                <a:cubicBezTo>
                  <a:pt x="69652" y="83950"/>
                  <a:pt x="66069" y="80367"/>
                  <a:pt x="61615" y="80367"/>
                </a:cubicBezTo>
                <a:cubicBezTo>
                  <a:pt x="57161" y="80367"/>
                  <a:pt x="53578" y="83950"/>
                  <a:pt x="53578" y="88404"/>
                </a:cubicBezTo>
                <a:lnTo>
                  <a:pt x="53578" y="125909"/>
                </a:lnTo>
                <a:cubicBezTo>
                  <a:pt x="53578" y="130362"/>
                  <a:pt x="57161" y="133945"/>
                  <a:pt x="61615" y="133945"/>
                </a:cubicBezTo>
                <a:cubicBezTo>
                  <a:pt x="66069" y="133945"/>
                  <a:pt x="69652" y="130362"/>
                  <a:pt x="69652" y="125909"/>
                </a:cubicBezTo>
                <a:lnTo>
                  <a:pt x="69652" y="88404"/>
                </a:lnTo>
                <a:close/>
                <a:moveTo>
                  <a:pt x="96441" y="80367"/>
                </a:moveTo>
                <a:cubicBezTo>
                  <a:pt x="91987" y="80367"/>
                  <a:pt x="88404" y="83950"/>
                  <a:pt x="88404" y="88404"/>
                </a:cubicBezTo>
                <a:lnTo>
                  <a:pt x="88404" y="125909"/>
                </a:lnTo>
                <a:cubicBezTo>
                  <a:pt x="88404" y="130362"/>
                  <a:pt x="91987" y="133945"/>
                  <a:pt x="96441" y="133945"/>
                </a:cubicBezTo>
                <a:cubicBezTo>
                  <a:pt x="100894" y="133945"/>
                  <a:pt x="104477" y="130362"/>
                  <a:pt x="104477" y="125909"/>
                </a:cubicBezTo>
                <a:lnTo>
                  <a:pt x="104477" y="88404"/>
                </a:lnTo>
                <a:cubicBezTo>
                  <a:pt x="104477" y="83950"/>
                  <a:pt x="100894" y="80367"/>
                  <a:pt x="96441" y="80367"/>
                </a:cubicBezTo>
                <a:close/>
                <a:moveTo>
                  <a:pt x="139303" y="88404"/>
                </a:moveTo>
                <a:cubicBezTo>
                  <a:pt x="139303" y="83950"/>
                  <a:pt x="135720" y="80367"/>
                  <a:pt x="131266" y="80367"/>
                </a:cubicBezTo>
                <a:cubicBezTo>
                  <a:pt x="126813" y="80367"/>
                  <a:pt x="123230" y="83950"/>
                  <a:pt x="123230" y="88404"/>
                </a:cubicBezTo>
                <a:lnTo>
                  <a:pt x="123230" y="125909"/>
                </a:lnTo>
                <a:cubicBezTo>
                  <a:pt x="123230" y="130362"/>
                  <a:pt x="126813" y="133945"/>
                  <a:pt x="131266" y="133945"/>
                </a:cubicBezTo>
                <a:cubicBezTo>
                  <a:pt x="135720" y="133945"/>
                  <a:pt x="139303" y="130362"/>
                  <a:pt x="139303" y="125909"/>
                </a:cubicBezTo>
                <a:lnTo>
                  <a:pt x="139303" y="8840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819900" y="3900488"/>
            <a:ext cx="493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Apriori Algorithm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19900" y="4205288"/>
            <a:ext cx="4905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Association rule mining that discovers frequent itemsets and generates rules. Uses downward closure property to reduce search space efficiently.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19900" y="4752975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19243" y="4752975"/>
            <a:ext cx="2924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basket analysis, recommendation systems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19900" y="501967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473851" y="5019675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to implement, interpretable rules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19900" y="5286375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554367" y="5286375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 with large datasets, generates many rules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c9941e6c576f1438bdb5dccc108a00451172ef5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12529">
                  <a:alpha val="95000"/>
                </a:srgbClr>
              </a:gs>
              <a:gs pos="50000">
                <a:srgbClr val="495057">
                  <a:alpha val="90000"/>
                </a:srgbClr>
              </a:gs>
              <a:gs pos="100000">
                <a:srgbClr val="212529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47775"/>
            <a:ext cx="1314450" cy="381000"/>
          </a:xfrm>
          <a:custGeom>
            <a:avLst/>
            <a:gdLst/>
            <a:ahLst/>
            <a:cxnLst/>
            <a:rect l="l" t="t" r="r" b="b"/>
            <a:pathLst>
              <a:path w="1314450" h="381000">
                <a:moveTo>
                  <a:pt x="190500" y="0"/>
                </a:moveTo>
                <a:lnTo>
                  <a:pt x="1123950" y="0"/>
                </a:lnTo>
                <a:cubicBezTo>
                  <a:pt x="1229090" y="0"/>
                  <a:pt x="1314450" y="85360"/>
                  <a:pt x="1314450" y="190500"/>
                </a:cubicBezTo>
                <a:lnTo>
                  <a:pt x="1314450" y="190500"/>
                </a:lnTo>
                <a:cubicBezTo>
                  <a:pt x="1314450" y="295640"/>
                  <a:pt x="1229090" y="381000"/>
                  <a:pt x="112395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1323975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0977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95287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8F9FA">
              <a:alpha val="50196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2195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Neural network architectures that learn hierarchical representations from data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5362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343525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Neural Networks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302818" y="53625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2660005" y="5343525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146947" y="53625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71438" y="0"/>
                </a:moveTo>
                <a:cubicBezTo>
                  <a:pt x="79340" y="0"/>
                  <a:pt x="85725" y="6385"/>
                  <a:pt x="85725" y="14288"/>
                </a:cubicBezTo>
                <a:lnTo>
                  <a:pt x="85725" y="28575"/>
                </a:lnTo>
                <a:lnTo>
                  <a:pt x="142875" y="28575"/>
                </a:lnTo>
                <a:cubicBezTo>
                  <a:pt x="150778" y="28575"/>
                  <a:pt x="157163" y="34960"/>
                  <a:pt x="157163" y="42863"/>
                </a:cubicBezTo>
                <a:cubicBezTo>
                  <a:pt x="157163" y="50765"/>
                  <a:pt x="150778" y="57150"/>
                  <a:pt x="142875" y="57150"/>
                </a:cubicBezTo>
                <a:lnTo>
                  <a:pt x="138589" y="57150"/>
                </a:lnTo>
                <a:lnTo>
                  <a:pt x="134838" y="67464"/>
                </a:lnTo>
                <a:cubicBezTo>
                  <a:pt x="127516" y="87645"/>
                  <a:pt x="116488" y="106085"/>
                  <a:pt x="102602" y="121935"/>
                </a:cubicBezTo>
                <a:cubicBezTo>
                  <a:pt x="108942" y="125864"/>
                  <a:pt x="115550" y="129347"/>
                  <a:pt x="122426" y="132427"/>
                </a:cubicBezTo>
                <a:lnTo>
                  <a:pt x="144929" y="142429"/>
                </a:lnTo>
                <a:lnTo>
                  <a:pt x="172700" y="79921"/>
                </a:lnTo>
                <a:cubicBezTo>
                  <a:pt x="174977" y="74741"/>
                  <a:pt x="180112" y="71438"/>
                  <a:pt x="185737" y="71438"/>
                </a:cubicBezTo>
                <a:cubicBezTo>
                  <a:pt x="191363" y="71438"/>
                  <a:pt x="196498" y="74741"/>
                  <a:pt x="198775" y="79921"/>
                </a:cubicBezTo>
                <a:lnTo>
                  <a:pt x="255925" y="208508"/>
                </a:lnTo>
                <a:cubicBezTo>
                  <a:pt x="259140" y="215741"/>
                  <a:pt x="255880" y="224180"/>
                  <a:pt x="248692" y="227350"/>
                </a:cubicBezTo>
                <a:cubicBezTo>
                  <a:pt x="241503" y="230520"/>
                  <a:pt x="233020" y="227305"/>
                  <a:pt x="229850" y="220117"/>
                </a:cubicBezTo>
                <a:lnTo>
                  <a:pt x="220920" y="200025"/>
                </a:lnTo>
                <a:lnTo>
                  <a:pt x="150599" y="200025"/>
                </a:lnTo>
                <a:lnTo>
                  <a:pt x="141669" y="220117"/>
                </a:lnTo>
                <a:cubicBezTo>
                  <a:pt x="138455" y="227350"/>
                  <a:pt x="130016" y="230565"/>
                  <a:pt x="122828" y="227350"/>
                </a:cubicBezTo>
                <a:cubicBezTo>
                  <a:pt x="115639" y="224135"/>
                  <a:pt x="112380" y="215697"/>
                  <a:pt x="115595" y="208508"/>
                </a:cubicBezTo>
                <a:lnTo>
                  <a:pt x="133365" y="168548"/>
                </a:lnTo>
                <a:lnTo>
                  <a:pt x="110862" y="158547"/>
                </a:lnTo>
                <a:cubicBezTo>
                  <a:pt x="100593" y="153992"/>
                  <a:pt x="90770" y="148545"/>
                  <a:pt x="81483" y="142295"/>
                </a:cubicBezTo>
                <a:cubicBezTo>
                  <a:pt x="71973" y="149974"/>
                  <a:pt x="61570" y="156671"/>
                  <a:pt x="50453" y="162252"/>
                </a:cubicBezTo>
                <a:lnTo>
                  <a:pt x="34960" y="169932"/>
                </a:lnTo>
                <a:cubicBezTo>
                  <a:pt x="27905" y="173459"/>
                  <a:pt x="19333" y="170602"/>
                  <a:pt x="15806" y="163547"/>
                </a:cubicBezTo>
                <a:cubicBezTo>
                  <a:pt x="12278" y="156493"/>
                  <a:pt x="15136" y="147920"/>
                  <a:pt x="22190" y="144393"/>
                </a:cubicBezTo>
                <a:lnTo>
                  <a:pt x="37594" y="136669"/>
                </a:lnTo>
                <a:cubicBezTo>
                  <a:pt x="44872" y="133008"/>
                  <a:pt x="51792" y="128766"/>
                  <a:pt x="58311" y="124033"/>
                </a:cubicBezTo>
                <a:cubicBezTo>
                  <a:pt x="52149" y="118363"/>
                  <a:pt x="46345" y="112246"/>
                  <a:pt x="40943" y="105772"/>
                </a:cubicBezTo>
                <a:lnTo>
                  <a:pt x="36433" y="100325"/>
                </a:lnTo>
                <a:cubicBezTo>
                  <a:pt x="31388" y="94253"/>
                  <a:pt x="32192" y="85234"/>
                  <a:pt x="38264" y="80189"/>
                </a:cubicBezTo>
                <a:cubicBezTo>
                  <a:pt x="44336" y="75143"/>
                  <a:pt x="53355" y="75947"/>
                  <a:pt x="58400" y="82019"/>
                </a:cubicBezTo>
                <a:lnTo>
                  <a:pt x="62954" y="87466"/>
                </a:lnTo>
                <a:cubicBezTo>
                  <a:pt x="68089" y="93672"/>
                  <a:pt x="73715" y="99432"/>
                  <a:pt x="79653" y="104745"/>
                </a:cubicBezTo>
                <a:cubicBezTo>
                  <a:pt x="91931" y="91172"/>
                  <a:pt x="101620" y="75233"/>
                  <a:pt x="108005" y="57686"/>
                </a:cubicBezTo>
                <a:lnTo>
                  <a:pt x="108228" y="57150"/>
                </a:lnTo>
                <a:lnTo>
                  <a:pt x="14332" y="57150"/>
                </a:lnTo>
                <a:cubicBezTo>
                  <a:pt x="6385" y="57150"/>
                  <a:pt x="0" y="50765"/>
                  <a:pt x="0" y="42863"/>
                </a:cubicBezTo>
                <a:cubicBezTo>
                  <a:pt x="0" y="34960"/>
                  <a:pt x="6385" y="28575"/>
                  <a:pt x="14288" y="28575"/>
                </a:cubicBezTo>
                <a:lnTo>
                  <a:pt x="57150" y="28575"/>
                </a:lnTo>
                <a:lnTo>
                  <a:pt x="57150" y="14288"/>
                </a:lnTo>
                <a:cubicBezTo>
                  <a:pt x="57150" y="6385"/>
                  <a:pt x="63535" y="0"/>
                  <a:pt x="71438" y="0"/>
                </a:cubicBezTo>
                <a:close/>
                <a:moveTo>
                  <a:pt x="185738" y="120908"/>
                </a:moveTo>
                <a:lnTo>
                  <a:pt x="163279" y="171450"/>
                </a:lnTo>
                <a:lnTo>
                  <a:pt x="208196" y="171450"/>
                </a:lnTo>
                <a:lnTo>
                  <a:pt x="185738" y="120908"/>
                </a:ln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532709" y="5343525"/>
            <a:ext cx="38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9505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Neural Network Architectures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Fundamental deep learning models for various data types and tasks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714500"/>
            <a:ext cx="5638800" cy="1885950"/>
          </a:xfrm>
          <a:custGeom>
            <a:avLst/>
            <a:gdLst/>
            <a:ahLst/>
            <a:cxnLst/>
            <a:rect l="l" t="t" r="r" b="b"/>
            <a:pathLst>
              <a:path w="5638800" h="1885950">
                <a:moveTo>
                  <a:pt x="114307" y="0"/>
                </a:moveTo>
                <a:lnTo>
                  <a:pt x="5524493" y="0"/>
                </a:lnTo>
                <a:cubicBezTo>
                  <a:pt x="5587623" y="0"/>
                  <a:pt x="5638800" y="51177"/>
                  <a:pt x="5638800" y="114307"/>
                </a:cubicBezTo>
                <a:lnTo>
                  <a:pt x="5638800" y="1771643"/>
                </a:lnTo>
                <a:cubicBezTo>
                  <a:pt x="5638800" y="1834773"/>
                  <a:pt x="5587623" y="1885950"/>
                  <a:pt x="552449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34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8" name="Shape 6"/>
          <p:cNvSpPr/>
          <p:nvPr/>
        </p:nvSpPr>
        <p:spPr>
          <a:xfrm>
            <a:off x="640556" y="1971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" y="1866900"/>
            <a:ext cx="493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highlight>
                  <a:srgbClr val="FFFF00"/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Neural Networks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10" name="Text 8"/>
          <p:cNvSpPr/>
          <p:nvPr/>
        </p:nvSpPr>
        <p:spPr>
          <a:xfrm>
            <a:off x="1028700" y="2171700"/>
            <a:ext cx="4905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Feedforward networks with input, hidden, and output layers. Each neuron applies weighted sum followed by activation function to learn non-linear mappings.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8700" y="2719388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28043" y="2719388"/>
            <a:ext cx="2600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 approximation, pattern recognition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8700" y="2986088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82651" y="2986088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Universal approximator, flexible architecture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8700" y="3252788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63167" y="3252788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large data, prone to overfitting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81725" y="1747837"/>
            <a:ext cx="5638800" cy="1885950"/>
          </a:xfrm>
          <a:custGeom>
            <a:avLst/>
            <a:gdLst/>
            <a:ahLst/>
            <a:cxnLst/>
            <a:rect l="l" t="t" r="r" b="b"/>
            <a:pathLst>
              <a:path w="5638800" h="1885950">
                <a:moveTo>
                  <a:pt x="114307" y="0"/>
                </a:moveTo>
                <a:lnTo>
                  <a:pt x="5524493" y="0"/>
                </a:lnTo>
                <a:cubicBezTo>
                  <a:pt x="5587623" y="0"/>
                  <a:pt x="5638800" y="51177"/>
                  <a:pt x="5638800" y="114307"/>
                </a:cubicBezTo>
                <a:lnTo>
                  <a:pt x="5638800" y="1771643"/>
                </a:lnTo>
                <a:cubicBezTo>
                  <a:pt x="5638800" y="1834773"/>
                  <a:pt x="5587623" y="1885950"/>
                  <a:pt x="5524493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I" dirty="0"/>
          </a:p>
        </p:txBody>
      </p:sp>
      <p:sp>
        <p:nvSpPr>
          <p:cNvPr id="18" name="Shape 16"/>
          <p:cNvSpPr/>
          <p:nvPr/>
        </p:nvSpPr>
        <p:spPr>
          <a:xfrm>
            <a:off x="63246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2472" y="19716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28588" y="32147"/>
                </a:moveTo>
                <a:lnTo>
                  <a:pt x="128588" y="53578"/>
                </a:lnTo>
                <a:lnTo>
                  <a:pt x="107156" y="53578"/>
                </a:lnTo>
                <a:lnTo>
                  <a:pt x="107156" y="32147"/>
                </a:lnTo>
                <a:lnTo>
                  <a:pt x="128588" y="32147"/>
                </a:lnTo>
                <a:close/>
                <a:moveTo>
                  <a:pt x="128588" y="75009"/>
                </a:moveTo>
                <a:lnTo>
                  <a:pt x="128588" y="96441"/>
                </a:lnTo>
                <a:lnTo>
                  <a:pt x="107156" y="96441"/>
                </a:lnTo>
                <a:lnTo>
                  <a:pt x="107156" y="75009"/>
                </a:lnTo>
                <a:lnTo>
                  <a:pt x="128588" y="75009"/>
                </a:lnTo>
                <a:close/>
                <a:moveTo>
                  <a:pt x="128588" y="117872"/>
                </a:moveTo>
                <a:lnTo>
                  <a:pt x="128588" y="139303"/>
                </a:lnTo>
                <a:lnTo>
                  <a:pt x="107156" y="139303"/>
                </a:lnTo>
                <a:lnTo>
                  <a:pt x="107156" y="117872"/>
                </a:lnTo>
                <a:lnTo>
                  <a:pt x="128588" y="117872"/>
                </a:lnTo>
                <a:close/>
                <a:moveTo>
                  <a:pt x="85725" y="96441"/>
                </a:moveTo>
                <a:lnTo>
                  <a:pt x="64294" y="96441"/>
                </a:lnTo>
                <a:lnTo>
                  <a:pt x="64294" y="75009"/>
                </a:lnTo>
                <a:lnTo>
                  <a:pt x="85725" y="75009"/>
                </a:lnTo>
                <a:lnTo>
                  <a:pt x="85725" y="96441"/>
                </a:lnTo>
                <a:close/>
                <a:moveTo>
                  <a:pt x="64294" y="117872"/>
                </a:moveTo>
                <a:lnTo>
                  <a:pt x="85725" y="117872"/>
                </a:lnTo>
                <a:lnTo>
                  <a:pt x="85725" y="139303"/>
                </a:lnTo>
                <a:lnTo>
                  <a:pt x="64294" y="139303"/>
                </a:lnTo>
                <a:lnTo>
                  <a:pt x="64294" y="117872"/>
                </a:lnTo>
                <a:close/>
                <a:moveTo>
                  <a:pt x="42863" y="96441"/>
                </a:moveTo>
                <a:lnTo>
                  <a:pt x="21431" y="96441"/>
                </a:lnTo>
                <a:lnTo>
                  <a:pt x="21431" y="75009"/>
                </a:lnTo>
                <a:lnTo>
                  <a:pt x="42863" y="75009"/>
                </a:lnTo>
                <a:lnTo>
                  <a:pt x="42863" y="96441"/>
                </a:lnTo>
                <a:close/>
                <a:moveTo>
                  <a:pt x="21431" y="117872"/>
                </a:moveTo>
                <a:lnTo>
                  <a:pt x="42863" y="117872"/>
                </a:lnTo>
                <a:lnTo>
                  <a:pt x="42863" y="139303"/>
                </a:lnTo>
                <a:lnTo>
                  <a:pt x="21431" y="139303"/>
                </a:lnTo>
                <a:lnTo>
                  <a:pt x="21431" y="117872"/>
                </a:lnTo>
                <a:close/>
                <a:moveTo>
                  <a:pt x="21431" y="53578"/>
                </a:moveTo>
                <a:lnTo>
                  <a:pt x="21431" y="32147"/>
                </a:lnTo>
                <a:lnTo>
                  <a:pt x="42863" y="32147"/>
                </a:lnTo>
                <a:lnTo>
                  <a:pt x="42863" y="53578"/>
                </a:lnTo>
                <a:lnTo>
                  <a:pt x="21431" y="53578"/>
                </a:lnTo>
                <a:close/>
                <a:moveTo>
                  <a:pt x="64294" y="53578"/>
                </a:moveTo>
                <a:lnTo>
                  <a:pt x="64294" y="32147"/>
                </a:lnTo>
                <a:lnTo>
                  <a:pt x="85725" y="32147"/>
                </a:lnTo>
                <a:lnTo>
                  <a:pt x="85725" y="53578"/>
                </a:lnTo>
                <a:lnTo>
                  <a:pt x="64294" y="53578"/>
                </a:lnTo>
                <a:close/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19900" y="1866900"/>
            <a:ext cx="493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Convolutional Neural Networks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9900" y="2171700"/>
            <a:ext cx="4905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Specialized for grid-like data using convolutional layers with filters that learn spatial hierarchies. Pooling layers reduce dimensionality and provide translation invariance.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9900" y="2719388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19243" y="2719388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classification, object detection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9900" y="2986088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73851" y="2986088"/>
            <a:ext cx="2305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Parameter sharing, translation invariant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19900" y="3252788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54367" y="3252788"/>
            <a:ext cx="2943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large datasets, computationally intensive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3748087"/>
            <a:ext cx="5638800" cy="2095500"/>
          </a:xfrm>
          <a:custGeom>
            <a:avLst/>
            <a:gdLst/>
            <a:ahLst/>
            <a:cxnLst/>
            <a:rect l="l" t="t" r="r" b="b"/>
            <a:pathLst>
              <a:path w="5638800" h="2095500">
                <a:moveTo>
                  <a:pt x="114310" y="0"/>
                </a:moveTo>
                <a:lnTo>
                  <a:pt x="5524490" y="0"/>
                </a:lnTo>
                <a:cubicBezTo>
                  <a:pt x="5587622" y="0"/>
                  <a:pt x="5638800" y="51178"/>
                  <a:pt x="5638800" y="114310"/>
                </a:cubicBezTo>
                <a:lnTo>
                  <a:pt x="5638800" y="1981190"/>
                </a:lnTo>
                <a:cubicBezTo>
                  <a:pt x="5638800" y="2044322"/>
                  <a:pt x="5587622" y="2095500"/>
                  <a:pt x="5524490" y="2095500"/>
                </a:cubicBezTo>
                <a:lnTo>
                  <a:pt x="114310" y="2095500"/>
                </a:lnTo>
                <a:cubicBezTo>
                  <a:pt x="51178" y="2095500"/>
                  <a:pt x="0" y="2044322"/>
                  <a:pt x="0" y="1981190"/>
                </a:cubicBezTo>
                <a:lnTo>
                  <a:pt x="0" y="114310"/>
                </a:lnTo>
                <a:cubicBezTo>
                  <a:pt x="0" y="51220"/>
                  <a:pt x="51220" y="0"/>
                  <a:pt x="1143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3400" y="39004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556" y="400526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46235" y="25014"/>
                </a:moveTo>
                <a:lnTo>
                  <a:pt x="150019" y="28597"/>
                </a:lnTo>
                <a:lnTo>
                  <a:pt x="150019" y="10716"/>
                </a:lnTo>
                <a:cubicBezTo>
                  <a:pt x="150019" y="4789"/>
                  <a:pt x="154807" y="0"/>
                  <a:pt x="160734" y="0"/>
                </a:cubicBezTo>
                <a:cubicBezTo>
                  <a:pt x="166661" y="0"/>
                  <a:pt x="171450" y="4789"/>
                  <a:pt x="171450" y="10716"/>
                </a:cubicBezTo>
                <a:lnTo>
                  <a:pt x="171450" y="53578"/>
                </a:lnTo>
                <a:cubicBezTo>
                  <a:pt x="171450" y="59505"/>
                  <a:pt x="166661" y="64294"/>
                  <a:pt x="160734" y="64294"/>
                </a:cubicBezTo>
                <a:lnTo>
                  <a:pt x="117872" y="64294"/>
                </a:lnTo>
                <a:cubicBezTo>
                  <a:pt x="111945" y="64294"/>
                  <a:pt x="107156" y="59505"/>
                  <a:pt x="107156" y="53578"/>
                </a:cubicBezTo>
                <a:cubicBezTo>
                  <a:pt x="107156" y="47651"/>
                  <a:pt x="111945" y="42863"/>
                  <a:pt x="117872" y="42863"/>
                </a:cubicBezTo>
                <a:lnTo>
                  <a:pt x="133912" y="42863"/>
                </a:lnTo>
                <a:lnTo>
                  <a:pt x="131367" y="40451"/>
                </a:lnTo>
                <a:cubicBezTo>
                  <a:pt x="131300" y="40385"/>
                  <a:pt x="131233" y="40318"/>
                  <a:pt x="131166" y="40251"/>
                </a:cubicBezTo>
                <a:cubicBezTo>
                  <a:pt x="106051" y="15136"/>
                  <a:pt x="65365" y="15136"/>
                  <a:pt x="40251" y="40251"/>
                </a:cubicBezTo>
                <a:cubicBezTo>
                  <a:pt x="15136" y="65365"/>
                  <a:pt x="15136" y="106051"/>
                  <a:pt x="40251" y="131166"/>
                </a:cubicBezTo>
                <a:cubicBezTo>
                  <a:pt x="65365" y="156281"/>
                  <a:pt x="106051" y="156281"/>
                  <a:pt x="131166" y="131166"/>
                </a:cubicBezTo>
                <a:cubicBezTo>
                  <a:pt x="133912" y="128420"/>
                  <a:pt x="136356" y="125507"/>
                  <a:pt x="138499" y="122426"/>
                </a:cubicBezTo>
                <a:cubicBezTo>
                  <a:pt x="141882" y="117570"/>
                  <a:pt x="148579" y="116398"/>
                  <a:pt x="153434" y="119781"/>
                </a:cubicBezTo>
                <a:cubicBezTo>
                  <a:pt x="158290" y="123163"/>
                  <a:pt x="159462" y="129860"/>
                  <a:pt x="156080" y="134715"/>
                </a:cubicBezTo>
                <a:cubicBezTo>
                  <a:pt x="153233" y="138801"/>
                  <a:pt x="149985" y="142685"/>
                  <a:pt x="146335" y="146335"/>
                </a:cubicBezTo>
                <a:cubicBezTo>
                  <a:pt x="112849" y="179822"/>
                  <a:pt x="58568" y="179822"/>
                  <a:pt x="25115" y="146335"/>
                </a:cubicBezTo>
                <a:cubicBezTo>
                  <a:pt x="-8338" y="112849"/>
                  <a:pt x="-8372" y="58601"/>
                  <a:pt x="25115" y="25115"/>
                </a:cubicBezTo>
                <a:cubicBezTo>
                  <a:pt x="58568" y="-8338"/>
                  <a:pt x="112748" y="-8372"/>
                  <a:pt x="146235" y="2501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28700" y="3900488"/>
            <a:ext cx="493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Recurrent Neural Networks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28700" y="4205288"/>
            <a:ext cx="4905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for sequential data with connections that form directed cycles. Maintains hidden state that captures information about previous inputs in the sequence.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8700" y="4752975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728043" y="4752975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series prediction, language modeling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28700" y="501967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682651" y="5019675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variable-length sequences, memory of past inputs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28700" y="5286375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763167" y="5286375"/>
            <a:ext cx="3590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Vanishing gradients, slow training, limited long-term memory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72200" y="3748087"/>
            <a:ext cx="5638800" cy="2095500"/>
          </a:xfrm>
          <a:custGeom>
            <a:avLst/>
            <a:gdLst/>
            <a:ahLst/>
            <a:cxnLst/>
            <a:rect l="l" t="t" r="r" b="b"/>
            <a:pathLst>
              <a:path w="5638800" h="2095500">
                <a:moveTo>
                  <a:pt x="114310" y="0"/>
                </a:moveTo>
                <a:lnTo>
                  <a:pt x="5524490" y="0"/>
                </a:lnTo>
                <a:cubicBezTo>
                  <a:pt x="5587622" y="0"/>
                  <a:pt x="5638800" y="51178"/>
                  <a:pt x="5638800" y="114310"/>
                </a:cubicBezTo>
                <a:lnTo>
                  <a:pt x="5638800" y="1981190"/>
                </a:lnTo>
                <a:cubicBezTo>
                  <a:pt x="5638800" y="2044322"/>
                  <a:pt x="5587622" y="2095500"/>
                  <a:pt x="5524490" y="2095500"/>
                </a:cubicBezTo>
                <a:lnTo>
                  <a:pt x="114310" y="2095500"/>
                </a:lnTo>
                <a:cubicBezTo>
                  <a:pt x="51178" y="2095500"/>
                  <a:pt x="0" y="2044322"/>
                  <a:pt x="0" y="1981190"/>
                </a:cubicBezTo>
                <a:lnTo>
                  <a:pt x="0" y="114310"/>
                </a:lnTo>
                <a:cubicBezTo>
                  <a:pt x="0" y="51220"/>
                  <a:pt x="51220" y="0"/>
                  <a:pt x="1143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24600" y="39004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41" name="Shape 39"/>
          <p:cNvSpPr/>
          <p:nvPr/>
        </p:nvSpPr>
        <p:spPr>
          <a:xfrm>
            <a:off x="6431756" y="400526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9611" y="21431"/>
                  <a:pt x="0" y="31042"/>
                  <a:pt x="0" y="42863"/>
                </a:cubicBezTo>
                <a:lnTo>
                  <a:pt x="0" y="45340"/>
                </a:lnTo>
                <a:cubicBezTo>
                  <a:pt x="0" y="47618"/>
                  <a:pt x="1473" y="49560"/>
                  <a:pt x="3382" y="50799"/>
                </a:cubicBezTo>
                <a:cubicBezTo>
                  <a:pt x="7802" y="53679"/>
                  <a:pt x="10716" y="58635"/>
                  <a:pt x="10716" y="64294"/>
                </a:cubicBezTo>
                <a:cubicBezTo>
                  <a:pt x="10716" y="69953"/>
                  <a:pt x="7802" y="74909"/>
                  <a:pt x="3382" y="77789"/>
                </a:cubicBezTo>
                <a:cubicBezTo>
                  <a:pt x="1473" y="79028"/>
                  <a:pt x="0" y="80970"/>
                  <a:pt x="0" y="83247"/>
                </a:cubicBezTo>
                <a:lnTo>
                  <a:pt x="0" y="101798"/>
                </a:lnTo>
                <a:lnTo>
                  <a:pt x="171450" y="101798"/>
                </a:lnTo>
                <a:lnTo>
                  <a:pt x="171450" y="83247"/>
                </a:lnTo>
                <a:cubicBezTo>
                  <a:pt x="171450" y="80970"/>
                  <a:pt x="169977" y="79028"/>
                  <a:pt x="168068" y="77789"/>
                </a:cubicBezTo>
                <a:cubicBezTo>
                  <a:pt x="163648" y="74909"/>
                  <a:pt x="160734" y="69953"/>
                  <a:pt x="160734" y="64294"/>
                </a:cubicBezTo>
                <a:cubicBezTo>
                  <a:pt x="160734" y="58635"/>
                  <a:pt x="163648" y="53679"/>
                  <a:pt x="168068" y="50799"/>
                </a:cubicBezTo>
                <a:cubicBezTo>
                  <a:pt x="169977" y="49560"/>
                  <a:pt x="171450" y="47618"/>
                  <a:pt x="171450" y="45340"/>
                </a:cubicBezTo>
                <a:lnTo>
                  <a:pt x="171450" y="42862"/>
                </a:lnTo>
                <a:cubicBezTo>
                  <a:pt x="171450" y="31042"/>
                  <a:pt x="161839" y="21431"/>
                  <a:pt x="150019" y="21431"/>
                </a:cubicBezTo>
                <a:lnTo>
                  <a:pt x="21431" y="21431"/>
                </a:lnTo>
                <a:close/>
                <a:moveTo>
                  <a:pt x="171450" y="139303"/>
                </a:moveTo>
                <a:lnTo>
                  <a:pt x="171450" y="117872"/>
                </a:lnTo>
                <a:lnTo>
                  <a:pt x="0" y="117872"/>
                </a:lnTo>
                <a:lnTo>
                  <a:pt x="0" y="139303"/>
                </a:lnTo>
                <a:cubicBezTo>
                  <a:pt x="0" y="145230"/>
                  <a:pt x="4789" y="150019"/>
                  <a:pt x="10716" y="150019"/>
                </a:cubicBezTo>
                <a:lnTo>
                  <a:pt x="32147" y="150019"/>
                </a:lnTo>
                <a:lnTo>
                  <a:pt x="32147" y="141982"/>
                </a:lnTo>
                <a:cubicBezTo>
                  <a:pt x="32147" y="137528"/>
                  <a:pt x="35730" y="133945"/>
                  <a:pt x="40184" y="133945"/>
                </a:cubicBezTo>
                <a:cubicBezTo>
                  <a:pt x="44637" y="133945"/>
                  <a:pt x="48220" y="137528"/>
                  <a:pt x="48220" y="141982"/>
                </a:cubicBezTo>
                <a:lnTo>
                  <a:pt x="48220" y="150019"/>
                </a:lnTo>
                <a:lnTo>
                  <a:pt x="77688" y="150019"/>
                </a:lnTo>
                <a:lnTo>
                  <a:pt x="77688" y="141982"/>
                </a:lnTo>
                <a:cubicBezTo>
                  <a:pt x="77688" y="137528"/>
                  <a:pt x="81271" y="133945"/>
                  <a:pt x="85725" y="133945"/>
                </a:cubicBezTo>
                <a:cubicBezTo>
                  <a:pt x="90179" y="133945"/>
                  <a:pt x="93762" y="137528"/>
                  <a:pt x="93762" y="141982"/>
                </a:cubicBezTo>
                <a:lnTo>
                  <a:pt x="93762" y="150019"/>
                </a:lnTo>
                <a:lnTo>
                  <a:pt x="123230" y="150019"/>
                </a:lnTo>
                <a:lnTo>
                  <a:pt x="123230" y="141982"/>
                </a:lnTo>
                <a:cubicBezTo>
                  <a:pt x="123230" y="137528"/>
                  <a:pt x="126813" y="133945"/>
                  <a:pt x="131266" y="133945"/>
                </a:cubicBezTo>
                <a:cubicBezTo>
                  <a:pt x="135720" y="133945"/>
                  <a:pt x="139303" y="137528"/>
                  <a:pt x="139303" y="141982"/>
                </a:cubicBezTo>
                <a:lnTo>
                  <a:pt x="139303" y="150019"/>
                </a:lnTo>
                <a:lnTo>
                  <a:pt x="160734" y="150019"/>
                </a:lnTo>
                <a:cubicBezTo>
                  <a:pt x="166661" y="150019"/>
                  <a:pt x="171450" y="145230"/>
                  <a:pt x="171450" y="139303"/>
                </a:cubicBezTo>
                <a:close/>
                <a:moveTo>
                  <a:pt x="53578" y="53578"/>
                </a:moveTo>
                <a:lnTo>
                  <a:pt x="53578" y="75009"/>
                </a:lnTo>
                <a:cubicBezTo>
                  <a:pt x="53578" y="80936"/>
                  <a:pt x="48790" y="85725"/>
                  <a:pt x="42863" y="85725"/>
                </a:cubicBezTo>
                <a:cubicBezTo>
                  <a:pt x="36935" y="85725"/>
                  <a:pt x="32147" y="80936"/>
                  <a:pt x="32147" y="75009"/>
                </a:cubicBezTo>
                <a:lnTo>
                  <a:pt x="32147" y="53578"/>
                </a:lnTo>
                <a:cubicBezTo>
                  <a:pt x="32147" y="47651"/>
                  <a:pt x="36935" y="42863"/>
                  <a:pt x="42863" y="42863"/>
                </a:cubicBezTo>
                <a:cubicBezTo>
                  <a:pt x="48790" y="42863"/>
                  <a:pt x="53578" y="47651"/>
                  <a:pt x="53578" y="53578"/>
                </a:cubicBezTo>
                <a:close/>
                <a:moveTo>
                  <a:pt x="96441" y="53578"/>
                </a:moveTo>
                <a:lnTo>
                  <a:pt x="96441" y="75009"/>
                </a:lnTo>
                <a:cubicBezTo>
                  <a:pt x="96441" y="80936"/>
                  <a:pt x="91652" y="85725"/>
                  <a:pt x="85725" y="85725"/>
                </a:cubicBezTo>
                <a:cubicBezTo>
                  <a:pt x="79798" y="85725"/>
                  <a:pt x="75009" y="80936"/>
                  <a:pt x="75009" y="75009"/>
                </a:cubicBezTo>
                <a:lnTo>
                  <a:pt x="75009" y="53578"/>
                </a:lnTo>
                <a:cubicBezTo>
                  <a:pt x="75009" y="47651"/>
                  <a:pt x="79798" y="42863"/>
                  <a:pt x="85725" y="42863"/>
                </a:cubicBezTo>
                <a:cubicBezTo>
                  <a:pt x="91652" y="42863"/>
                  <a:pt x="96441" y="47651"/>
                  <a:pt x="96441" y="53578"/>
                </a:cubicBezTo>
                <a:close/>
                <a:moveTo>
                  <a:pt x="139303" y="53578"/>
                </a:moveTo>
                <a:lnTo>
                  <a:pt x="139303" y="75009"/>
                </a:lnTo>
                <a:cubicBezTo>
                  <a:pt x="139303" y="80936"/>
                  <a:pt x="134515" y="85725"/>
                  <a:pt x="128588" y="85725"/>
                </a:cubicBezTo>
                <a:cubicBezTo>
                  <a:pt x="122660" y="85725"/>
                  <a:pt x="117872" y="80936"/>
                  <a:pt x="117872" y="75009"/>
                </a:cubicBezTo>
                <a:lnTo>
                  <a:pt x="117872" y="53578"/>
                </a:lnTo>
                <a:cubicBezTo>
                  <a:pt x="117872" y="47651"/>
                  <a:pt x="122660" y="42863"/>
                  <a:pt x="128588" y="42863"/>
                </a:cubicBezTo>
                <a:cubicBezTo>
                  <a:pt x="134515" y="42863"/>
                  <a:pt x="139303" y="47651"/>
                  <a:pt x="139303" y="53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819900" y="3900488"/>
            <a:ext cx="493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LSTM &amp; GRU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19900" y="4205288"/>
            <a:ext cx="49053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RNN variants with gating mechanisms. LSTM uses input, forget, and output gates. GRU simplifies with update and reset gates while maintaining performance.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19900" y="4969669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19243" y="4969669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translation, speech recognition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19900" y="5236369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473851" y="5236369"/>
            <a:ext cx="3600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Solves vanishing gradients, captures long-term dependencies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19900" y="5503069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554367" y="5503069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Still sequential, slower than feedforward networks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099" y="336099"/>
            <a:ext cx="1158702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kern="0" spc="53" dirty="0">
                <a:solidFill>
                  <a:srgbClr val="49505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6099" y="604979"/>
            <a:ext cx="11671046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2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Deep Learning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6099" y="1008298"/>
            <a:ext cx="11595424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Cutting-edge architectures pushing the boundaries of AI capabilities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6099" y="1344397"/>
            <a:ext cx="672198" cy="33610"/>
          </a:xfrm>
          <a:custGeom>
            <a:avLst/>
            <a:gdLst/>
            <a:ahLst/>
            <a:cxnLst/>
            <a:rect l="l" t="t" r="r" b="b"/>
            <a:pathLst>
              <a:path w="672198" h="33610">
                <a:moveTo>
                  <a:pt x="0" y="0"/>
                </a:moveTo>
                <a:lnTo>
                  <a:pt x="672198" y="0"/>
                </a:lnTo>
                <a:lnTo>
                  <a:pt x="672198" y="33610"/>
                </a:lnTo>
                <a:lnTo>
                  <a:pt x="0" y="33610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6" name="Shape 4"/>
          <p:cNvSpPr/>
          <p:nvPr/>
        </p:nvSpPr>
        <p:spPr>
          <a:xfrm>
            <a:off x="336099" y="1546057"/>
            <a:ext cx="3730702" cy="3377797"/>
          </a:xfrm>
          <a:custGeom>
            <a:avLst/>
            <a:gdLst/>
            <a:ahLst/>
            <a:cxnLst/>
            <a:rect l="l" t="t" r="r" b="b"/>
            <a:pathLst>
              <a:path w="3730702" h="3377797">
                <a:moveTo>
                  <a:pt x="100827" y="0"/>
                </a:moveTo>
                <a:lnTo>
                  <a:pt x="3629874" y="0"/>
                </a:lnTo>
                <a:cubicBezTo>
                  <a:pt x="3685560" y="0"/>
                  <a:pt x="3730702" y="45142"/>
                  <a:pt x="3730702" y="100827"/>
                </a:cubicBezTo>
                <a:lnTo>
                  <a:pt x="3730702" y="3276970"/>
                </a:lnTo>
                <a:cubicBezTo>
                  <a:pt x="3730702" y="3332655"/>
                  <a:pt x="3685560" y="3377797"/>
                  <a:pt x="3629874" y="3377797"/>
                </a:cubicBezTo>
                <a:lnTo>
                  <a:pt x="100827" y="3377797"/>
                </a:lnTo>
                <a:cubicBezTo>
                  <a:pt x="45142" y="3377797"/>
                  <a:pt x="0" y="3332655"/>
                  <a:pt x="0" y="3276970"/>
                </a:cubicBezTo>
                <a:lnTo>
                  <a:pt x="0" y="100827"/>
                </a:lnTo>
                <a:cubicBezTo>
                  <a:pt x="0" y="45179"/>
                  <a:pt x="45179" y="0"/>
                  <a:pt x="10082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207" dist="84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4149" y="1714106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67221" y="0"/>
                </a:moveTo>
                <a:lnTo>
                  <a:pt x="336098" y="0"/>
                </a:lnTo>
                <a:cubicBezTo>
                  <a:pt x="373198" y="0"/>
                  <a:pt x="403319" y="30121"/>
                  <a:pt x="403319" y="67221"/>
                </a:cubicBezTo>
                <a:lnTo>
                  <a:pt x="403319" y="336098"/>
                </a:lnTo>
                <a:cubicBezTo>
                  <a:pt x="403319" y="373198"/>
                  <a:pt x="373198" y="403319"/>
                  <a:pt x="336098" y="403319"/>
                </a:cubicBezTo>
                <a:lnTo>
                  <a:pt x="67221" y="403319"/>
                </a:lnTo>
                <a:cubicBezTo>
                  <a:pt x="30121" y="403319"/>
                  <a:pt x="0" y="373198"/>
                  <a:pt x="0" y="336098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8" name="Shape 6"/>
          <p:cNvSpPr/>
          <p:nvPr/>
        </p:nvSpPr>
        <p:spPr>
          <a:xfrm>
            <a:off x="621784" y="1831741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21630" y="74999"/>
                </a:moveTo>
                <a:cubicBezTo>
                  <a:pt x="25995" y="44474"/>
                  <a:pt x="52286" y="21006"/>
                  <a:pt x="84025" y="21006"/>
                </a:cubicBezTo>
                <a:cubicBezTo>
                  <a:pt x="101421" y="21006"/>
                  <a:pt x="117175" y="28063"/>
                  <a:pt x="128597" y="39452"/>
                </a:cubicBezTo>
                <a:cubicBezTo>
                  <a:pt x="128663" y="39518"/>
                  <a:pt x="128729" y="39584"/>
                  <a:pt x="128794" y="39649"/>
                </a:cubicBezTo>
                <a:lnTo>
                  <a:pt x="131289" y="42012"/>
                </a:lnTo>
                <a:lnTo>
                  <a:pt x="115567" y="42012"/>
                </a:lnTo>
                <a:cubicBezTo>
                  <a:pt x="109757" y="42012"/>
                  <a:pt x="105064" y="46706"/>
                  <a:pt x="105064" y="52516"/>
                </a:cubicBezTo>
                <a:cubicBezTo>
                  <a:pt x="105064" y="58325"/>
                  <a:pt x="109757" y="63019"/>
                  <a:pt x="115567" y="63019"/>
                </a:cubicBezTo>
                <a:lnTo>
                  <a:pt x="157579" y="63019"/>
                </a:lnTo>
                <a:cubicBezTo>
                  <a:pt x="163389" y="63019"/>
                  <a:pt x="168082" y="58325"/>
                  <a:pt x="168082" y="52516"/>
                </a:cubicBezTo>
                <a:lnTo>
                  <a:pt x="168082" y="10503"/>
                </a:lnTo>
                <a:cubicBezTo>
                  <a:pt x="168082" y="4694"/>
                  <a:pt x="163389" y="0"/>
                  <a:pt x="157579" y="0"/>
                </a:cubicBezTo>
                <a:cubicBezTo>
                  <a:pt x="151770" y="0"/>
                  <a:pt x="147076" y="4694"/>
                  <a:pt x="147076" y="10503"/>
                </a:cubicBezTo>
                <a:lnTo>
                  <a:pt x="147076" y="28030"/>
                </a:lnTo>
                <a:lnTo>
                  <a:pt x="143367" y="24518"/>
                </a:lnTo>
                <a:cubicBezTo>
                  <a:pt x="128171" y="9387"/>
                  <a:pt x="107164" y="0"/>
                  <a:pt x="84025" y="0"/>
                </a:cubicBezTo>
                <a:cubicBezTo>
                  <a:pt x="41684" y="0"/>
                  <a:pt x="6663" y="31312"/>
                  <a:pt x="853" y="72045"/>
                </a:cubicBezTo>
                <a:cubicBezTo>
                  <a:pt x="33" y="77789"/>
                  <a:pt x="4004" y="83106"/>
                  <a:pt x="9748" y="83926"/>
                </a:cubicBezTo>
                <a:cubicBezTo>
                  <a:pt x="15492" y="84747"/>
                  <a:pt x="20809" y="80743"/>
                  <a:pt x="21630" y="75032"/>
                </a:cubicBezTo>
                <a:close/>
                <a:moveTo>
                  <a:pt x="167196" y="96005"/>
                </a:moveTo>
                <a:cubicBezTo>
                  <a:pt x="168017" y="90261"/>
                  <a:pt x="164012" y="84944"/>
                  <a:pt x="158301" y="84123"/>
                </a:cubicBezTo>
                <a:cubicBezTo>
                  <a:pt x="152590" y="83303"/>
                  <a:pt x="147240" y="87307"/>
                  <a:pt x="146420" y="93018"/>
                </a:cubicBezTo>
                <a:cubicBezTo>
                  <a:pt x="142054" y="123543"/>
                  <a:pt x="115764" y="147011"/>
                  <a:pt x="84025" y="147011"/>
                </a:cubicBezTo>
                <a:cubicBezTo>
                  <a:pt x="66629" y="147011"/>
                  <a:pt x="50874" y="139954"/>
                  <a:pt x="39452" y="128565"/>
                </a:cubicBezTo>
                <a:cubicBezTo>
                  <a:pt x="39387" y="128499"/>
                  <a:pt x="39321" y="128433"/>
                  <a:pt x="39255" y="128368"/>
                </a:cubicBezTo>
                <a:lnTo>
                  <a:pt x="36761" y="126004"/>
                </a:lnTo>
                <a:lnTo>
                  <a:pt x="52483" y="126004"/>
                </a:lnTo>
                <a:cubicBezTo>
                  <a:pt x="58292" y="126004"/>
                  <a:pt x="62986" y="121311"/>
                  <a:pt x="62986" y="115501"/>
                </a:cubicBezTo>
                <a:cubicBezTo>
                  <a:pt x="62986" y="109692"/>
                  <a:pt x="58292" y="104998"/>
                  <a:pt x="52483" y="104998"/>
                </a:cubicBezTo>
                <a:lnTo>
                  <a:pt x="10503" y="105031"/>
                </a:lnTo>
                <a:cubicBezTo>
                  <a:pt x="7713" y="105031"/>
                  <a:pt x="5022" y="106147"/>
                  <a:pt x="3052" y="108149"/>
                </a:cubicBezTo>
                <a:cubicBezTo>
                  <a:pt x="1083" y="110151"/>
                  <a:pt x="-33" y="112810"/>
                  <a:pt x="0" y="115633"/>
                </a:cubicBezTo>
                <a:lnTo>
                  <a:pt x="328" y="157317"/>
                </a:lnTo>
                <a:cubicBezTo>
                  <a:pt x="361" y="163126"/>
                  <a:pt x="5120" y="167787"/>
                  <a:pt x="10930" y="167721"/>
                </a:cubicBezTo>
                <a:cubicBezTo>
                  <a:pt x="16739" y="167656"/>
                  <a:pt x="21400" y="162929"/>
                  <a:pt x="21334" y="157120"/>
                </a:cubicBezTo>
                <a:lnTo>
                  <a:pt x="21203" y="140216"/>
                </a:lnTo>
                <a:lnTo>
                  <a:pt x="24715" y="143531"/>
                </a:lnTo>
                <a:cubicBezTo>
                  <a:pt x="39912" y="158662"/>
                  <a:pt x="60885" y="168050"/>
                  <a:pt x="84025" y="168050"/>
                </a:cubicBezTo>
                <a:cubicBezTo>
                  <a:pt x="126365" y="168050"/>
                  <a:pt x="161387" y="136737"/>
                  <a:pt x="167196" y="9600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08298" y="1781326"/>
            <a:ext cx="1302385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212529"/>
                </a:solidFill>
                <a:highlight>
                  <a:srgbClr val="FFFF00"/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Transformers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10" name="Text 8"/>
          <p:cNvSpPr/>
          <p:nvPr/>
        </p:nvSpPr>
        <p:spPr>
          <a:xfrm>
            <a:off x="504149" y="2251865"/>
            <a:ext cx="3461822" cy="655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Attention-based architecture that processes sequences in parallel using self-attention mechanisms. Captures long-range dependencies without recurrence.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4149" y="3041698"/>
            <a:ext cx="69740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99585" y="3041698"/>
            <a:ext cx="244512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NLP, machine translation, text generation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4149" y="3344187"/>
            <a:ext cx="64699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3766" y="3344187"/>
            <a:ext cx="278122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Parallelizable, captures global context, scalable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4149" y="3646677"/>
            <a:ext cx="73101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5033" y="3646677"/>
            <a:ext cx="231068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Quadratic memory, requires large data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4149" y="3949166"/>
            <a:ext cx="78143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Models: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3479" y="3949166"/>
            <a:ext cx="2041803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BERT, GPT, T5, Vision Transformer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31043" y="1546057"/>
            <a:ext cx="3730702" cy="3377797"/>
          </a:xfrm>
          <a:custGeom>
            <a:avLst/>
            <a:gdLst/>
            <a:ahLst/>
            <a:cxnLst/>
            <a:rect l="l" t="t" r="r" b="b"/>
            <a:pathLst>
              <a:path w="3730702" h="3377797">
                <a:moveTo>
                  <a:pt x="100827" y="0"/>
                </a:moveTo>
                <a:lnTo>
                  <a:pt x="3629874" y="0"/>
                </a:lnTo>
                <a:cubicBezTo>
                  <a:pt x="3685560" y="0"/>
                  <a:pt x="3730702" y="45142"/>
                  <a:pt x="3730702" y="100827"/>
                </a:cubicBezTo>
                <a:lnTo>
                  <a:pt x="3730702" y="3276970"/>
                </a:lnTo>
                <a:cubicBezTo>
                  <a:pt x="3730702" y="3332655"/>
                  <a:pt x="3685560" y="3377797"/>
                  <a:pt x="3629874" y="3377797"/>
                </a:cubicBezTo>
                <a:lnTo>
                  <a:pt x="100827" y="3377797"/>
                </a:lnTo>
                <a:cubicBezTo>
                  <a:pt x="45142" y="3377797"/>
                  <a:pt x="0" y="3332655"/>
                  <a:pt x="0" y="3276970"/>
                </a:cubicBezTo>
                <a:lnTo>
                  <a:pt x="0" y="100827"/>
                </a:lnTo>
                <a:cubicBezTo>
                  <a:pt x="0" y="45179"/>
                  <a:pt x="45179" y="0"/>
                  <a:pt x="10082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207" dist="84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99093" y="1714106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67221" y="0"/>
                </a:moveTo>
                <a:lnTo>
                  <a:pt x="336098" y="0"/>
                </a:lnTo>
                <a:cubicBezTo>
                  <a:pt x="373198" y="0"/>
                  <a:pt x="403319" y="30121"/>
                  <a:pt x="403319" y="67221"/>
                </a:cubicBezTo>
                <a:lnTo>
                  <a:pt x="403319" y="336098"/>
                </a:lnTo>
                <a:cubicBezTo>
                  <a:pt x="403319" y="373198"/>
                  <a:pt x="373198" y="403319"/>
                  <a:pt x="336098" y="403319"/>
                </a:cubicBezTo>
                <a:lnTo>
                  <a:pt x="67221" y="403319"/>
                </a:lnTo>
                <a:cubicBezTo>
                  <a:pt x="30121" y="403319"/>
                  <a:pt x="0" y="373198"/>
                  <a:pt x="0" y="336098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21" name="Shape 19"/>
          <p:cNvSpPr/>
          <p:nvPr/>
        </p:nvSpPr>
        <p:spPr>
          <a:xfrm>
            <a:off x="4516727" y="1831741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164964" y="49430"/>
                </a:moveTo>
                <a:lnTo>
                  <a:pt x="133455" y="80940"/>
                </a:lnTo>
                <a:cubicBezTo>
                  <a:pt x="130435" y="83959"/>
                  <a:pt x="125939" y="84845"/>
                  <a:pt x="122000" y="83204"/>
                </a:cubicBezTo>
                <a:cubicBezTo>
                  <a:pt x="118061" y="81563"/>
                  <a:pt x="115534" y="77756"/>
                  <a:pt x="115534" y="73522"/>
                </a:cubicBezTo>
                <a:lnTo>
                  <a:pt x="115534" y="52516"/>
                </a:lnTo>
                <a:lnTo>
                  <a:pt x="10503" y="52516"/>
                </a:lnTo>
                <a:cubicBezTo>
                  <a:pt x="4694" y="52516"/>
                  <a:pt x="0" y="47822"/>
                  <a:pt x="0" y="42012"/>
                </a:cubicBezTo>
                <a:cubicBezTo>
                  <a:pt x="0" y="36203"/>
                  <a:pt x="4694" y="31509"/>
                  <a:pt x="10503" y="31509"/>
                </a:cubicBezTo>
                <a:lnTo>
                  <a:pt x="115534" y="31509"/>
                </a:lnTo>
                <a:lnTo>
                  <a:pt x="115534" y="10503"/>
                </a:lnTo>
                <a:cubicBezTo>
                  <a:pt x="115534" y="6269"/>
                  <a:pt x="118094" y="2429"/>
                  <a:pt x="122033" y="788"/>
                </a:cubicBezTo>
                <a:cubicBezTo>
                  <a:pt x="125972" y="-853"/>
                  <a:pt x="130468" y="66"/>
                  <a:pt x="133488" y="3052"/>
                </a:cubicBezTo>
                <a:lnTo>
                  <a:pt x="164997" y="34562"/>
                </a:lnTo>
                <a:cubicBezTo>
                  <a:pt x="169100" y="38665"/>
                  <a:pt x="169100" y="45327"/>
                  <a:pt x="164997" y="49430"/>
                </a:cubicBezTo>
                <a:close/>
                <a:moveTo>
                  <a:pt x="34562" y="164964"/>
                </a:moveTo>
                <a:lnTo>
                  <a:pt x="3052" y="133455"/>
                </a:lnTo>
                <a:cubicBezTo>
                  <a:pt x="-1050" y="129352"/>
                  <a:pt x="-1050" y="122689"/>
                  <a:pt x="3052" y="118587"/>
                </a:cubicBezTo>
                <a:lnTo>
                  <a:pt x="34562" y="87077"/>
                </a:lnTo>
                <a:cubicBezTo>
                  <a:pt x="37581" y="84058"/>
                  <a:pt x="42078" y="83171"/>
                  <a:pt x="46017" y="84813"/>
                </a:cubicBezTo>
                <a:cubicBezTo>
                  <a:pt x="49955" y="86454"/>
                  <a:pt x="52516" y="90294"/>
                  <a:pt x="52516" y="94528"/>
                </a:cubicBezTo>
                <a:lnTo>
                  <a:pt x="52516" y="115534"/>
                </a:lnTo>
                <a:lnTo>
                  <a:pt x="157547" y="115534"/>
                </a:lnTo>
                <a:cubicBezTo>
                  <a:pt x="163356" y="115534"/>
                  <a:pt x="168050" y="120228"/>
                  <a:pt x="168050" y="126037"/>
                </a:cubicBezTo>
                <a:cubicBezTo>
                  <a:pt x="168050" y="131847"/>
                  <a:pt x="163356" y="136540"/>
                  <a:pt x="157547" y="136540"/>
                </a:cubicBezTo>
                <a:lnTo>
                  <a:pt x="52516" y="136540"/>
                </a:lnTo>
                <a:lnTo>
                  <a:pt x="52516" y="157547"/>
                </a:lnTo>
                <a:cubicBezTo>
                  <a:pt x="52516" y="161781"/>
                  <a:pt x="49955" y="165621"/>
                  <a:pt x="46017" y="167262"/>
                </a:cubicBezTo>
                <a:cubicBezTo>
                  <a:pt x="42078" y="168903"/>
                  <a:pt x="37581" y="167984"/>
                  <a:pt x="34562" y="1649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903242" y="1781326"/>
            <a:ext cx="621784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99093" y="2251865"/>
            <a:ext cx="3461822" cy="87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Generative Adversarial Networks consist of generator and discriminator networks competing against each other. Generator creates synthetic data while discriminator evaluates authenticity.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99093" y="3260163"/>
            <a:ext cx="69740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94529" y="3260163"/>
            <a:ext cx="2764416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synthesis, style transfer, data augmentation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99093" y="3764312"/>
            <a:ext cx="64699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48710" y="3764312"/>
            <a:ext cx="276441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Generates realistic data, unsupervised learning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99093" y="4066801"/>
            <a:ext cx="73101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29977" y="4066801"/>
            <a:ext cx="2033400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instability, mode collapse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99093" y="4369290"/>
            <a:ext cx="571369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Variants: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72431" y="4369290"/>
            <a:ext cx="1806533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DCGAN, CycleGAN, StyleGAN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25987" y="1546057"/>
            <a:ext cx="3730702" cy="3377797"/>
          </a:xfrm>
          <a:custGeom>
            <a:avLst/>
            <a:gdLst/>
            <a:ahLst/>
            <a:cxnLst/>
            <a:rect l="l" t="t" r="r" b="b"/>
            <a:pathLst>
              <a:path w="3730702" h="3377797">
                <a:moveTo>
                  <a:pt x="100827" y="0"/>
                </a:moveTo>
                <a:lnTo>
                  <a:pt x="3629874" y="0"/>
                </a:lnTo>
                <a:cubicBezTo>
                  <a:pt x="3685560" y="0"/>
                  <a:pt x="3730702" y="45142"/>
                  <a:pt x="3730702" y="100827"/>
                </a:cubicBezTo>
                <a:lnTo>
                  <a:pt x="3730702" y="3276970"/>
                </a:lnTo>
                <a:cubicBezTo>
                  <a:pt x="3730702" y="3332655"/>
                  <a:pt x="3685560" y="3377797"/>
                  <a:pt x="3629874" y="3377797"/>
                </a:cubicBezTo>
                <a:lnTo>
                  <a:pt x="100827" y="3377797"/>
                </a:lnTo>
                <a:cubicBezTo>
                  <a:pt x="45142" y="3377797"/>
                  <a:pt x="0" y="3332655"/>
                  <a:pt x="0" y="3276970"/>
                </a:cubicBezTo>
                <a:lnTo>
                  <a:pt x="0" y="100827"/>
                </a:lnTo>
                <a:cubicBezTo>
                  <a:pt x="0" y="45179"/>
                  <a:pt x="45179" y="0"/>
                  <a:pt x="10082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207" dist="84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94037" y="1714106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67221" y="0"/>
                </a:moveTo>
                <a:lnTo>
                  <a:pt x="336098" y="0"/>
                </a:lnTo>
                <a:cubicBezTo>
                  <a:pt x="373198" y="0"/>
                  <a:pt x="403319" y="30121"/>
                  <a:pt x="403319" y="67221"/>
                </a:cubicBezTo>
                <a:lnTo>
                  <a:pt x="403319" y="336098"/>
                </a:lnTo>
                <a:cubicBezTo>
                  <a:pt x="403319" y="373198"/>
                  <a:pt x="373198" y="403319"/>
                  <a:pt x="336098" y="403319"/>
                </a:cubicBezTo>
                <a:lnTo>
                  <a:pt x="67221" y="403319"/>
                </a:lnTo>
                <a:cubicBezTo>
                  <a:pt x="30121" y="403319"/>
                  <a:pt x="0" y="373198"/>
                  <a:pt x="0" y="336098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34" name="Shape 32"/>
          <p:cNvSpPr/>
          <p:nvPr/>
        </p:nvSpPr>
        <p:spPr>
          <a:xfrm>
            <a:off x="8411671" y="1831741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149669" y="73522"/>
                </a:moveTo>
                <a:lnTo>
                  <a:pt x="102405" y="73522"/>
                </a:lnTo>
                <a:cubicBezTo>
                  <a:pt x="98040" y="73522"/>
                  <a:pt x="94528" y="70010"/>
                  <a:pt x="94528" y="65644"/>
                </a:cubicBezTo>
                <a:lnTo>
                  <a:pt x="94528" y="18380"/>
                </a:lnTo>
                <a:cubicBezTo>
                  <a:pt x="94528" y="15197"/>
                  <a:pt x="96432" y="12308"/>
                  <a:pt x="99386" y="11094"/>
                </a:cubicBezTo>
                <a:cubicBezTo>
                  <a:pt x="102340" y="9879"/>
                  <a:pt x="105720" y="10569"/>
                  <a:pt x="107985" y="12801"/>
                </a:cubicBezTo>
                <a:lnTo>
                  <a:pt x="121114" y="25930"/>
                </a:lnTo>
                <a:lnTo>
                  <a:pt x="145205" y="1838"/>
                </a:lnTo>
                <a:cubicBezTo>
                  <a:pt x="146387" y="656"/>
                  <a:pt x="147995" y="0"/>
                  <a:pt x="149669" y="0"/>
                </a:cubicBezTo>
                <a:cubicBezTo>
                  <a:pt x="151343" y="0"/>
                  <a:pt x="152951" y="656"/>
                  <a:pt x="154166" y="1871"/>
                </a:cubicBezTo>
                <a:lnTo>
                  <a:pt x="166212" y="13917"/>
                </a:lnTo>
                <a:cubicBezTo>
                  <a:pt x="167393" y="15098"/>
                  <a:pt x="168050" y="16706"/>
                  <a:pt x="168050" y="18380"/>
                </a:cubicBezTo>
                <a:cubicBezTo>
                  <a:pt x="168050" y="20054"/>
                  <a:pt x="167393" y="21663"/>
                  <a:pt x="166179" y="22877"/>
                </a:cubicBezTo>
                <a:lnTo>
                  <a:pt x="142120" y="46936"/>
                </a:lnTo>
                <a:lnTo>
                  <a:pt x="155249" y="60065"/>
                </a:lnTo>
                <a:cubicBezTo>
                  <a:pt x="157514" y="62329"/>
                  <a:pt x="158170" y="65710"/>
                  <a:pt x="156956" y="68664"/>
                </a:cubicBezTo>
                <a:cubicBezTo>
                  <a:pt x="155741" y="71618"/>
                  <a:pt x="152853" y="73522"/>
                  <a:pt x="149669" y="73522"/>
                </a:cubicBezTo>
                <a:close/>
                <a:moveTo>
                  <a:pt x="149669" y="94528"/>
                </a:moveTo>
                <a:cubicBezTo>
                  <a:pt x="152853" y="94528"/>
                  <a:pt x="155741" y="96432"/>
                  <a:pt x="156956" y="99386"/>
                </a:cubicBezTo>
                <a:cubicBezTo>
                  <a:pt x="158170" y="102340"/>
                  <a:pt x="157514" y="105720"/>
                  <a:pt x="155249" y="107985"/>
                </a:cubicBezTo>
                <a:lnTo>
                  <a:pt x="142120" y="121114"/>
                </a:lnTo>
                <a:lnTo>
                  <a:pt x="166212" y="145205"/>
                </a:lnTo>
                <a:cubicBezTo>
                  <a:pt x="167393" y="146387"/>
                  <a:pt x="168082" y="147995"/>
                  <a:pt x="168082" y="149702"/>
                </a:cubicBezTo>
                <a:cubicBezTo>
                  <a:pt x="168082" y="151409"/>
                  <a:pt x="167426" y="152984"/>
                  <a:pt x="166212" y="154199"/>
                </a:cubicBezTo>
                <a:lnTo>
                  <a:pt x="154166" y="166244"/>
                </a:lnTo>
                <a:cubicBezTo>
                  <a:pt x="152951" y="167393"/>
                  <a:pt x="151343" y="168050"/>
                  <a:pt x="149669" y="168050"/>
                </a:cubicBezTo>
                <a:cubicBezTo>
                  <a:pt x="147995" y="168050"/>
                  <a:pt x="146387" y="167393"/>
                  <a:pt x="145173" y="166179"/>
                </a:cubicBezTo>
                <a:lnTo>
                  <a:pt x="121114" y="142120"/>
                </a:lnTo>
                <a:lnTo>
                  <a:pt x="107985" y="155249"/>
                </a:lnTo>
                <a:cubicBezTo>
                  <a:pt x="105720" y="157514"/>
                  <a:pt x="102340" y="158170"/>
                  <a:pt x="99386" y="156956"/>
                </a:cubicBezTo>
                <a:cubicBezTo>
                  <a:pt x="96432" y="155741"/>
                  <a:pt x="94528" y="152853"/>
                  <a:pt x="94528" y="149669"/>
                </a:cubicBezTo>
                <a:lnTo>
                  <a:pt x="94528" y="102405"/>
                </a:lnTo>
                <a:cubicBezTo>
                  <a:pt x="94528" y="98040"/>
                  <a:pt x="98040" y="94528"/>
                  <a:pt x="102405" y="94528"/>
                </a:cubicBezTo>
                <a:lnTo>
                  <a:pt x="149669" y="94528"/>
                </a:lnTo>
                <a:close/>
                <a:moveTo>
                  <a:pt x="65644" y="94528"/>
                </a:moveTo>
                <a:cubicBezTo>
                  <a:pt x="70010" y="94528"/>
                  <a:pt x="73522" y="98040"/>
                  <a:pt x="73522" y="102405"/>
                </a:cubicBezTo>
                <a:lnTo>
                  <a:pt x="73522" y="149669"/>
                </a:lnTo>
                <a:cubicBezTo>
                  <a:pt x="73522" y="152853"/>
                  <a:pt x="71618" y="155741"/>
                  <a:pt x="68664" y="156956"/>
                </a:cubicBezTo>
                <a:cubicBezTo>
                  <a:pt x="65710" y="158170"/>
                  <a:pt x="62329" y="157514"/>
                  <a:pt x="60065" y="155249"/>
                </a:cubicBezTo>
                <a:lnTo>
                  <a:pt x="46936" y="142120"/>
                </a:lnTo>
                <a:lnTo>
                  <a:pt x="22844" y="166212"/>
                </a:lnTo>
                <a:cubicBezTo>
                  <a:pt x="21663" y="167393"/>
                  <a:pt x="20054" y="168050"/>
                  <a:pt x="18380" y="168050"/>
                </a:cubicBezTo>
                <a:cubicBezTo>
                  <a:pt x="16706" y="168050"/>
                  <a:pt x="15098" y="167393"/>
                  <a:pt x="13884" y="166179"/>
                </a:cubicBezTo>
                <a:lnTo>
                  <a:pt x="1871" y="154166"/>
                </a:lnTo>
                <a:cubicBezTo>
                  <a:pt x="656" y="152951"/>
                  <a:pt x="0" y="151343"/>
                  <a:pt x="0" y="149669"/>
                </a:cubicBezTo>
                <a:cubicBezTo>
                  <a:pt x="0" y="147995"/>
                  <a:pt x="656" y="146387"/>
                  <a:pt x="1871" y="145173"/>
                </a:cubicBezTo>
                <a:lnTo>
                  <a:pt x="25930" y="121114"/>
                </a:lnTo>
                <a:lnTo>
                  <a:pt x="12801" y="107985"/>
                </a:lnTo>
                <a:cubicBezTo>
                  <a:pt x="10536" y="105720"/>
                  <a:pt x="9879" y="102340"/>
                  <a:pt x="11094" y="99386"/>
                </a:cubicBezTo>
                <a:cubicBezTo>
                  <a:pt x="12308" y="96432"/>
                  <a:pt x="15197" y="94528"/>
                  <a:pt x="18380" y="94528"/>
                </a:cubicBezTo>
                <a:lnTo>
                  <a:pt x="65644" y="94528"/>
                </a:lnTo>
                <a:close/>
                <a:moveTo>
                  <a:pt x="18380" y="73522"/>
                </a:moveTo>
                <a:cubicBezTo>
                  <a:pt x="15197" y="73522"/>
                  <a:pt x="12308" y="71618"/>
                  <a:pt x="11094" y="68664"/>
                </a:cubicBezTo>
                <a:cubicBezTo>
                  <a:pt x="9879" y="65710"/>
                  <a:pt x="10569" y="62329"/>
                  <a:pt x="12801" y="60065"/>
                </a:cubicBezTo>
                <a:lnTo>
                  <a:pt x="25930" y="46936"/>
                </a:lnTo>
                <a:lnTo>
                  <a:pt x="1871" y="22877"/>
                </a:lnTo>
                <a:cubicBezTo>
                  <a:pt x="656" y="21663"/>
                  <a:pt x="0" y="20054"/>
                  <a:pt x="0" y="18380"/>
                </a:cubicBezTo>
                <a:cubicBezTo>
                  <a:pt x="0" y="16706"/>
                  <a:pt x="656" y="15098"/>
                  <a:pt x="1871" y="13884"/>
                </a:cubicBezTo>
                <a:lnTo>
                  <a:pt x="13884" y="1871"/>
                </a:lnTo>
                <a:cubicBezTo>
                  <a:pt x="15098" y="656"/>
                  <a:pt x="16706" y="0"/>
                  <a:pt x="18380" y="0"/>
                </a:cubicBezTo>
                <a:cubicBezTo>
                  <a:pt x="20054" y="0"/>
                  <a:pt x="21663" y="656"/>
                  <a:pt x="22877" y="1871"/>
                </a:cubicBezTo>
                <a:lnTo>
                  <a:pt x="46936" y="25930"/>
                </a:lnTo>
                <a:lnTo>
                  <a:pt x="60065" y="12801"/>
                </a:lnTo>
                <a:cubicBezTo>
                  <a:pt x="62329" y="10536"/>
                  <a:pt x="65710" y="9879"/>
                  <a:pt x="68664" y="11094"/>
                </a:cubicBezTo>
                <a:cubicBezTo>
                  <a:pt x="71618" y="12308"/>
                  <a:pt x="73522" y="15197"/>
                  <a:pt x="73522" y="18380"/>
                </a:cubicBezTo>
                <a:lnTo>
                  <a:pt x="73522" y="65644"/>
                </a:lnTo>
                <a:cubicBezTo>
                  <a:pt x="73522" y="70010"/>
                  <a:pt x="70010" y="73522"/>
                  <a:pt x="65644" y="73522"/>
                </a:cubicBezTo>
                <a:lnTo>
                  <a:pt x="18380" y="7352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8798185" y="1781326"/>
            <a:ext cx="1352799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8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Autoencoders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94037" y="2251865"/>
            <a:ext cx="3461822" cy="655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Unsupervised networks that learn compressed representations by encoding input to latent space then decoding back. Learn efficient data codings automatically.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94037" y="3041698"/>
            <a:ext cx="69740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89473" y="3041698"/>
            <a:ext cx="2764416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Dimensionality reduction, denoising, anomaly detection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94037" y="3545847"/>
            <a:ext cx="646991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943653" y="3545847"/>
            <a:ext cx="2806429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Unsupervised learning, learns meaningful representations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94037" y="4049996"/>
            <a:ext cx="73101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024921" y="4049996"/>
            <a:ext cx="2730806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learn identity function, sensitive to architecture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94037" y="4554145"/>
            <a:ext cx="571369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Variants: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867375" y="4554145"/>
            <a:ext cx="1789728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VAE, Denoising AE, Sparse AE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36099" y="5091904"/>
            <a:ext cx="11519802" cy="1008298"/>
          </a:xfrm>
          <a:custGeom>
            <a:avLst/>
            <a:gdLst/>
            <a:ahLst/>
            <a:cxnLst/>
            <a:rect l="l" t="t" r="r" b="b"/>
            <a:pathLst>
              <a:path w="11519802" h="1008298">
                <a:moveTo>
                  <a:pt x="100830" y="0"/>
                </a:moveTo>
                <a:lnTo>
                  <a:pt x="11418972" y="0"/>
                </a:lnTo>
                <a:cubicBezTo>
                  <a:pt x="11474658" y="0"/>
                  <a:pt x="11519802" y="45143"/>
                  <a:pt x="11519802" y="100830"/>
                </a:cubicBezTo>
                <a:lnTo>
                  <a:pt x="11519802" y="907468"/>
                </a:lnTo>
                <a:cubicBezTo>
                  <a:pt x="11519802" y="963155"/>
                  <a:pt x="11474658" y="1008298"/>
                  <a:pt x="11418972" y="1008298"/>
                </a:cubicBezTo>
                <a:lnTo>
                  <a:pt x="100830" y="1008298"/>
                </a:lnTo>
                <a:cubicBezTo>
                  <a:pt x="45143" y="1008298"/>
                  <a:pt x="0" y="963155"/>
                  <a:pt x="0" y="907468"/>
                </a:cubicBezTo>
                <a:lnTo>
                  <a:pt x="0" y="100830"/>
                </a:lnTo>
                <a:cubicBezTo>
                  <a:pt x="0" y="45180"/>
                  <a:pt x="45180" y="0"/>
                  <a:pt x="1008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207" dist="84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91545" y="5268356"/>
            <a:ext cx="151245" cy="151245"/>
          </a:xfrm>
          <a:custGeom>
            <a:avLst/>
            <a:gdLst/>
            <a:ahLst/>
            <a:cxnLst/>
            <a:rect l="l" t="t" r="r" b="b"/>
            <a:pathLst>
              <a:path w="151245" h="151245">
                <a:moveTo>
                  <a:pt x="37811" y="94528"/>
                </a:moveTo>
                <a:lnTo>
                  <a:pt x="7237" y="94528"/>
                </a:lnTo>
                <a:cubicBezTo>
                  <a:pt x="-118" y="94528"/>
                  <a:pt x="-4638" y="86523"/>
                  <a:pt x="-857" y="80201"/>
                </a:cubicBezTo>
                <a:lnTo>
                  <a:pt x="14770" y="54147"/>
                </a:lnTo>
                <a:cubicBezTo>
                  <a:pt x="17340" y="49863"/>
                  <a:pt x="21948" y="47264"/>
                  <a:pt x="26940" y="47264"/>
                </a:cubicBezTo>
                <a:lnTo>
                  <a:pt x="55003" y="47264"/>
                </a:lnTo>
                <a:cubicBezTo>
                  <a:pt x="77483" y="9187"/>
                  <a:pt x="111011" y="7267"/>
                  <a:pt x="133432" y="10546"/>
                </a:cubicBezTo>
                <a:cubicBezTo>
                  <a:pt x="137213" y="11107"/>
                  <a:pt x="140167" y="14061"/>
                  <a:pt x="140699" y="17813"/>
                </a:cubicBezTo>
                <a:cubicBezTo>
                  <a:pt x="143978" y="40233"/>
                  <a:pt x="142058" y="73761"/>
                  <a:pt x="103981" y="96241"/>
                </a:cubicBezTo>
                <a:lnTo>
                  <a:pt x="103981" y="124304"/>
                </a:lnTo>
                <a:cubicBezTo>
                  <a:pt x="103981" y="129296"/>
                  <a:pt x="101381" y="133905"/>
                  <a:pt x="97098" y="136475"/>
                </a:cubicBezTo>
                <a:lnTo>
                  <a:pt x="71044" y="152101"/>
                </a:lnTo>
                <a:cubicBezTo>
                  <a:pt x="64752" y="155882"/>
                  <a:pt x="56717" y="151333"/>
                  <a:pt x="56717" y="144007"/>
                </a:cubicBezTo>
                <a:lnTo>
                  <a:pt x="56717" y="113433"/>
                </a:lnTo>
                <a:cubicBezTo>
                  <a:pt x="56717" y="103006"/>
                  <a:pt x="48239" y="94528"/>
                  <a:pt x="37811" y="94528"/>
                </a:cubicBezTo>
                <a:lnTo>
                  <a:pt x="37782" y="94528"/>
                </a:lnTo>
                <a:close/>
                <a:moveTo>
                  <a:pt x="118160" y="47264"/>
                </a:moveTo>
                <a:cubicBezTo>
                  <a:pt x="118160" y="39438"/>
                  <a:pt x="111806" y="33085"/>
                  <a:pt x="103981" y="33085"/>
                </a:cubicBezTo>
                <a:cubicBezTo>
                  <a:pt x="96155" y="33085"/>
                  <a:pt x="89802" y="39438"/>
                  <a:pt x="89802" y="47264"/>
                </a:cubicBezTo>
                <a:cubicBezTo>
                  <a:pt x="89802" y="55090"/>
                  <a:pt x="96155" y="61443"/>
                  <a:pt x="103981" y="61443"/>
                </a:cubicBezTo>
                <a:cubicBezTo>
                  <a:pt x="111806" y="61443"/>
                  <a:pt x="118160" y="55090"/>
                  <a:pt x="118160" y="47264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47" name="Text 45"/>
          <p:cNvSpPr/>
          <p:nvPr/>
        </p:nvSpPr>
        <p:spPr>
          <a:xfrm>
            <a:off x="663796" y="5226343"/>
            <a:ext cx="11133287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on Modern AI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87344" y="5596052"/>
            <a:ext cx="134440" cy="134440"/>
          </a:xfrm>
          <a:custGeom>
            <a:avLst/>
            <a:gdLst/>
            <a:ahLst/>
            <a:cxnLst/>
            <a:rect l="l" t="t" r="r" b="b"/>
            <a:pathLst>
              <a:path w="134440" h="134440">
                <a:moveTo>
                  <a:pt x="67220" y="134440"/>
                </a:moveTo>
                <a:cubicBezTo>
                  <a:pt x="104319" y="134440"/>
                  <a:pt x="134440" y="104319"/>
                  <a:pt x="134440" y="67220"/>
                </a:cubicBezTo>
                <a:cubicBezTo>
                  <a:pt x="134440" y="30120"/>
                  <a:pt x="104319" y="0"/>
                  <a:pt x="67220" y="0"/>
                </a:cubicBezTo>
                <a:cubicBezTo>
                  <a:pt x="30120" y="0"/>
                  <a:pt x="0" y="30120"/>
                  <a:pt x="0" y="67220"/>
                </a:cubicBezTo>
                <a:cubicBezTo>
                  <a:pt x="0" y="104319"/>
                  <a:pt x="30120" y="134440"/>
                  <a:pt x="67220" y="134440"/>
                </a:cubicBezTo>
                <a:close/>
                <a:moveTo>
                  <a:pt x="89381" y="55850"/>
                </a:moveTo>
                <a:lnTo>
                  <a:pt x="68375" y="89460"/>
                </a:lnTo>
                <a:cubicBezTo>
                  <a:pt x="67272" y="91219"/>
                  <a:pt x="65382" y="92322"/>
                  <a:pt x="63307" y="92427"/>
                </a:cubicBezTo>
                <a:cubicBezTo>
                  <a:pt x="61233" y="92532"/>
                  <a:pt x="59237" y="91587"/>
                  <a:pt x="58003" y="89907"/>
                </a:cubicBezTo>
                <a:lnTo>
                  <a:pt x="45400" y="73102"/>
                </a:lnTo>
                <a:cubicBezTo>
                  <a:pt x="43299" y="70318"/>
                  <a:pt x="43877" y="66380"/>
                  <a:pt x="46660" y="64279"/>
                </a:cubicBezTo>
                <a:cubicBezTo>
                  <a:pt x="49443" y="62178"/>
                  <a:pt x="53382" y="62756"/>
                  <a:pt x="55483" y="65539"/>
                </a:cubicBezTo>
                <a:lnTo>
                  <a:pt x="62572" y="74992"/>
                </a:lnTo>
                <a:lnTo>
                  <a:pt x="78694" y="49181"/>
                </a:lnTo>
                <a:cubicBezTo>
                  <a:pt x="80533" y="46240"/>
                  <a:pt x="84419" y="45321"/>
                  <a:pt x="87386" y="47185"/>
                </a:cubicBezTo>
                <a:cubicBezTo>
                  <a:pt x="90353" y="49049"/>
                  <a:pt x="91246" y="52909"/>
                  <a:pt x="89381" y="55876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49" name="Text 47"/>
          <p:cNvSpPr/>
          <p:nvPr/>
        </p:nvSpPr>
        <p:spPr>
          <a:xfrm>
            <a:off x="705808" y="5562442"/>
            <a:ext cx="3495432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Transformers</a:t>
            </a:r>
            <a:r>
              <a:rPr lang="en-US" sz="105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revolutionized NLP and are expanding to computer vision and multimodal tasks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281458" y="5596052"/>
            <a:ext cx="134440" cy="134440"/>
          </a:xfrm>
          <a:custGeom>
            <a:avLst/>
            <a:gdLst/>
            <a:ahLst/>
            <a:cxnLst/>
            <a:rect l="l" t="t" r="r" b="b"/>
            <a:pathLst>
              <a:path w="134440" h="134440">
                <a:moveTo>
                  <a:pt x="67220" y="134440"/>
                </a:moveTo>
                <a:cubicBezTo>
                  <a:pt x="104319" y="134440"/>
                  <a:pt x="134440" y="104319"/>
                  <a:pt x="134440" y="67220"/>
                </a:cubicBezTo>
                <a:cubicBezTo>
                  <a:pt x="134440" y="30120"/>
                  <a:pt x="104319" y="0"/>
                  <a:pt x="67220" y="0"/>
                </a:cubicBezTo>
                <a:cubicBezTo>
                  <a:pt x="30120" y="0"/>
                  <a:pt x="0" y="30120"/>
                  <a:pt x="0" y="67220"/>
                </a:cubicBezTo>
                <a:cubicBezTo>
                  <a:pt x="0" y="104319"/>
                  <a:pt x="30120" y="134440"/>
                  <a:pt x="67220" y="134440"/>
                </a:cubicBezTo>
                <a:close/>
                <a:moveTo>
                  <a:pt x="89381" y="55850"/>
                </a:moveTo>
                <a:lnTo>
                  <a:pt x="68375" y="89460"/>
                </a:lnTo>
                <a:cubicBezTo>
                  <a:pt x="67272" y="91219"/>
                  <a:pt x="65382" y="92322"/>
                  <a:pt x="63307" y="92427"/>
                </a:cubicBezTo>
                <a:cubicBezTo>
                  <a:pt x="61233" y="92532"/>
                  <a:pt x="59237" y="91587"/>
                  <a:pt x="58003" y="89907"/>
                </a:cubicBezTo>
                <a:lnTo>
                  <a:pt x="45400" y="73102"/>
                </a:lnTo>
                <a:cubicBezTo>
                  <a:pt x="43299" y="70318"/>
                  <a:pt x="43877" y="66380"/>
                  <a:pt x="46660" y="64279"/>
                </a:cubicBezTo>
                <a:cubicBezTo>
                  <a:pt x="49443" y="62178"/>
                  <a:pt x="53382" y="62756"/>
                  <a:pt x="55483" y="65539"/>
                </a:cubicBezTo>
                <a:lnTo>
                  <a:pt x="62572" y="74992"/>
                </a:lnTo>
                <a:lnTo>
                  <a:pt x="78694" y="49181"/>
                </a:lnTo>
                <a:cubicBezTo>
                  <a:pt x="80533" y="46240"/>
                  <a:pt x="84419" y="45321"/>
                  <a:pt x="87386" y="47185"/>
                </a:cubicBezTo>
                <a:cubicBezTo>
                  <a:pt x="90353" y="49049"/>
                  <a:pt x="91246" y="52909"/>
                  <a:pt x="89381" y="55876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51" name="Text 49"/>
          <p:cNvSpPr/>
          <p:nvPr/>
        </p:nvSpPr>
        <p:spPr>
          <a:xfrm>
            <a:off x="4499922" y="5562442"/>
            <a:ext cx="3495432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GANs</a:t>
            </a:r>
            <a:r>
              <a:rPr lang="en-US" sz="105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 creation of photorealistic images, videos, and synthetic training data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075572" y="5596052"/>
            <a:ext cx="134440" cy="134440"/>
          </a:xfrm>
          <a:custGeom>
            <a:avLst/>
            <a:gdLst/>
            <a:ahLst/>
            <a:cxnLst/>
            <a:rect l="l" t="t" r="r" b="b"/>
            <a:pathLst>
              <a:path w="134440" h="134440">
                <a:moveTo>
                  <a:pt x="67220" y="134440"/>
                </a:moveTo>
                <a:cubicBezTo>
                  <a:pt x="104319" y="134440"/>
                  <a:pt x="134440" y="104319"/>
                  <a:pt x="134440" y="67220"/>
                </a:cubicBezTo>
                <a:cubicBezTo>
                  <a:pt x="134440" y="30120"/>
                  <a:pt x="104319" y="0"/>
                  <a:pt x="67220" y="0"/>
                </a:cubicBezTo>
                <a:cubicBezTo>
                  <a:pt x="30120" y="0"/>
                  <a:pt x="0" y="30120"/>
                  <a:pt x="0" y="67220"/>
                </a:cubicBezTo>
                <a:cubicBezTo>
                  <a:pt x="0" y="104319"/>
                  <a:pt x="30120" y="134440"/>
                  <a:pt x="67220" y="134440"/>
                </a:cubicBezTo>
                <a:close/>
                <a:moveTo>
                  <a:pt x="89381" y="55850"/>
                </a:moveTo>
                <a:lnTo>
                  <a:pt x="68375" y="89460"/>
                </a:lnTo>
                <a:cubicBezTo>
                  <a:pt x="67272" y="91219"/>
                  <a:pt x="65382" y="92322"/>
                  <a:pt x="63307" y="92427"/>
                </a:cubicBezTo>
                <a:cubicBezTo>
                  <a:pt x="61233" y="92532"/>
                  <a:pt x="59237" y="91587"/>
                  <a:pt x="58003" y="89907"/>
                </a:cubicBezTo>
                <a:lnTo>
                  <a:pt x="45400" y="73102"/>
                </a:lnTo>
                <a:cubicBezTo>
                  <a:pt x="43299" y="70318"/>
                  <a:pt x="43877" y="66380"/>
                  <a:pt x="46660" y="64279"/>
                </a:cubicBezTo>
                <a:cubicBezTo>
                  <a:pt x="49443" y="62178"/>
                  <a:pt x="53382" y="62756"/>
                  <a:pt x="55483" y="65539"/>
                </a:cubicBezTo>
                <a:lnTo>
                  <a:pt x="62572" y="74992"/>
                </a:lnTo>
                <a:lnTo>
                  <a:pt x="78694" y="49181"/>
                </a:lnTo>
                <a:cubicBezTo>
                  <a:pt x="80533" y="46240"/>
                  <a:pt x="84419" y="45321"/>
                  <a:pt x="87386" y="47185"/>
                </a:cubicBezTo>
                <a:cubicBezTo>
                  <a:pt x="90353" y="49049"/>
                  <a:pt x="91246" y="52909"/>
                  <a:pt x="89381" y="55876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53" name="Text 51"/>
          <p:cNvSpPr/>
          <p:nvPr/>
        </p:nvSpPr>
        <p:spPr>
          <a:xfrm>
            <a:off x="8294037" y="5562442"/>
            <a:ext cx="3495432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Autoencoders</a:t>
            </a:r>
            <a:r>
              <a:rPr lang="en-US" sz="105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 powerful unsupervised feature learning and data compression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0f53850bc0ae916f8f0bb322c1d2c0f7c846f67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95057">
                  <a:alpha val="95000"/>
                </a:srgbClr>
              </a:gs>
              <a:gs pos="50000">
                <a:srgbClr val="212529">
                  <a:alpha val="90000"/>
                </a:srgbClr>
              </a:gs>
              <a:gs pos="100000">
                <a:srgbClr val="495057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47775"/>
            <a:ext cx="1304925" cy="381000"/>
          </a:xfrm>
          <a:custGeom>
            <a:avLst/>
            <a:gdLst/>
            <a:ahLst/>
            <a:cxnLst/>
            <a:rect l="l" t="t" r="r" b="b"/>
            <a:pathLst>
              <a:path w="1304925" h="381000">
                <a:moveTo>
                  <a:pt x="190500" y="0"/>
                </a:moveTo>
                <a:lnTo>
                  <a:pt x="1114425" y="0"/>
                </a:lnTo>
                <a:cubicBezTo>
                  <a:pt x="1219565" y="0"/>
                  <a:pt x="1304925" y="85360"/>
                  <a:pt x="1304925" y="190500"/>
                </a:cubicBezTo>
                <a:lnTo>
                  <a:pt x="1304925" y="190500"/>
                </a:lnTo>
                <a:cubicBezTo>
                  <a:pt x="1304925" y="295640"/>
                  <a:pt x="1219565" y="381000"/>
                  <a:pt x="111442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1323975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0977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Reinforcement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95287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8F9FA">
              <a:alpha val="50196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2195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Algorithms that learn optimal strategies through interaction with environments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3625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343525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Agents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15344" y="53625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00025" y="28575"/>
                </a:moveTo>
                <a:cubicBezTo>
                  <a:pt x="247352" y="28575"/>
                  <a:pt x="285750" y="66973"/>
                  <a:pt x="285750" y="114300"/>
                </a:cubicBezTo>
                <a:cubicBezTo>
                  <a:pt x="285750" y="161627"/>
                  <a:pt x="247352" y="200025"/>
                  <a:pt x="200025" y="200025"/>
                </a:cubicBezTo>
                <a:lnTo>
                  <a:pt x="85725" y="200025"/>
                </a:lnTo>
                <a:cubicBezTo>
                  <a:pt x="38398" y="200025"/>
                  <a:pt x="0" y="161627"/>
                  <a:pt x="0" y="114300"/>
                </a:cubicBezTo>
                <a:cubicBezTo>
                  <a:pt x="0" y="66973"/>
                  <a:pt x="38398" y="28575"/>
                  <a:pt x="85725" y="28575"/>
                </a:cubicBezTo>
                <a:lnTo>
                  <a:pt x="200025" y="28575"/>
                </a:lnTo>
                <a:close/>
                <a:moveTo>
                  <a:pt x="85725" y="78581"/>
                </a:moveTo>
                <a:cubicBezTo>
                  <a:pt x="79787" y="78581"/>
                  <a:pt x="75009" y="83359"/>
                  <a:pt x="75009" y="89297"/>
                </a:cubicBezTo>
                <a:lnTo>
                  <a:pt x="75009" y="103584"/>
                </a:lnTo>
                <a:lnTo>
                  <a:pt x="60722" y="103584"/>
                </a:lnTo>
                <a:cubicBezTo>
                  <a:pt x="54784" y="103584"/>
                  <a:pt x="50006" y="108362"/>
                  <a:pt x="50006" y="114300"/>
                </a:cubicBezTo>
                <a:cubicBezTo>
                  <a:pt x="50006" y="120238"/>
                  <a:pt x="54784" y="125016"/>
                  <a:pt x="60722" y="125016"/>
                </a:cubicBezTo>
                <a:lnTo>
                  <a:pt x="75009" y="125016"/>
                </a:lnTo>
                <a:lnTo>
                  <a:pt x="75009" y="139303"/>
                </a:lnTo>
                <a:cubicBezTo>
                  <a:pt x="75009" y="145241"/>
                  <a:pt x="79787" y="150019"/>
                  <a:pt x="85725" y="150019"/>
                </a:cubicBezTo>
                <a:cubicBezTo>
                  <a:pt x="91663" y="150019"/>
                  <a:pt x="96441" y="145241"/>
                  <a:pt x="96441" y="139303"/>
                </a:cubicBezTo>
                <a:lnTo>
                  <a:pt x="96441" y="125016"/>
                </a:lnTo>
                <a:lnTo>
                  <a:pt x="110728" y="125016"/>
                </a:lnTo>
                <a:cubicBezTo>
                  <a:pt x="116666" y="125016"/>
                  <a:pt x="121444" y="120238"/>
                  <a:pt x="121444" y="114300"/>
                </a:cubicBezTo>
                <a:cubicBezTo>
                  <a:pt x="121444" y="108362"/>
                  <a:pt x="116666" y="103584"/>
                  <a:pt x="110728" y="103584"/>
                </a:cubicBezTo>
                <a:lnTo>
                  <a:pt x="96441" y="103584"/>
                </a:lnTo>
                <a:lnTo>
                  <a:pt x="96441" y="89297"/>
                </a:lnTo>
                <a:cubicBezTo>
                  <a:pt x="96441" y="83359"/>
                  <a:pt x="91663" y="78581"/>
                  <a:pt x="85725" y="78581"/>
                </a:cubicBezTo>
                <a:close/>
                <a:moveTo>
                  <a:pt x="192881" y="121444"/>
                </a:moveTo>
                <a:cubicBezTo>
                  <a:pt x="184996" y="121444"/>
                  <a:pt x="178594" y="127846"/>
                  <a:pt x="178594" y="135731"/>
                </a:cubicBezTo>
                <a:cubicBezTo>
                  <a:pt x="178594" y="143617"/>
                  <a:pt x="184996" y="150019"/>
                  <a:pt x="192881" y="150019"/>
                </a:cubicBezTo>
                <a:cubicBezTo>
                  <a:pt x="200767" y="150019"/>
                  <a:pt x="207169" y="143617"/>
                  <a:pt x="207169" y="135731"/>
                </a:cubicBezTo>
                <a:cubicBezTo>
                  <a:pt x="207169" y="127846"/>
                  <a:pt x="200767" y="121444"/>
                  <a:pt x="192881" y="121444"/>
                </a:cubicBezTo>
                <a:close/>
                <a:moveTo>
                  <a:pt x="221456" y="78581"/>
                </a:moveTo>
                <a:cubicBezTo>
                  <a:pt x="213571" y="78581"/>
                  <a:pt x="207169" y="84983"/>
                  <a:pt x="207169" y="92869"/>
                </a:cubicBezTo>
                <a:cubicBezTo>
                  <a:pt x="207169" y="100754"/>
                  <a:pt x="213571" y="107156"/>
                  <a:pt x="221456" y="107156"/>
                </a:cubicBezTo>
                <a:cubicBezTo>
                  <a:pt x="229342" y="107156"/>
                  <a:pt x="235744" y="100754"/>
                  <a:pt x="235744" y="92869"/>
                </a:cubicBezTo>
                <a:cubicBezTo>
                  <a:pt x="235744" y="84983"/>
                  <a:pt x="229342" y="78581"/>
                  <a:pt x="221456" y="78581"/>
                </a:cubicBez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2915394" y="5343525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 Playing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851" y="365851"/>
            <a:ext cx="11533467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kern="0" spc="58" dirty="0">
                <a:solidFill>
                  <a:srgbClr val="49505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851" y="658533"/>
            <a:ext cx="11624930" cy="36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3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Reinforcement Learning Algorithms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851" y="1097554"/>
            <a:ext cx="11542614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through trial and error with reward-based feedback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851" y="1463406"/>
            <a:ext cx="731703" cy="36585"/>
          </a:xfrm>
          <a:custGeom>
            <a:avLst/>
            <a:gdLst/>
            <a:ahLst/>
            <a:cxnLst/>
            <a:rect l="l" t="t" r="r" b="b"/>
            <a:pathLst>
              <a:path w="731703" h="36585">
                <a:moveTo>
                  <a:pt x="0" y="0"/>
                </a:moveTo>
                <a:lnTo>
                  <a:pt x="731703" y="0"/>
                </a:lnTo>
                <a:lnTo>
                  <a:pt x="731703" y="36585"/>
                </a:lnTo>
                <a:lnTo>
                  <a:pt x="0" y="36585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6" name="Shape 4"/>
          <p:cNvSpPr/>
          <p:nvPr/>
        </p:nvSpPr>
        <p:spPr>
          <a:xfrm>
            <a:off x="365851" y="1682917"/>
            <a:ext cx="5624966" cy="3018275"/>
          </a:xfrm>
          <a:custGeom>
            <a:avLst/>
            <a:gdLst/>
            <a:ahLst/>
            <a:cxnLst/>
            <a:rect l="l" t="t" r="r" b="b"/>
            <a:pathLst>
              <a:path w="5624966" h="3018275">
                <a:moveTo>
                  <a:pt x="109744" y="0"/>
                </a:moveTo>
                <a:lnTo>
                  <a:pt x="5515222" y="0"/>
                </a:lnTo>
                <a:cubicBezTo>
                  <a:pt x="5575832" y="0"/>
                  <a:pt x="5624966" y="49134"/>
                  <a:pt x="5624966" y="109744"/>
                </a:cubicBezTo>
                <a:lnTo>
                  <a:pt x="5624966" y="2908530"/>
                </a:lnTo>
                <a:cubicBezTo>
                  <a:pt x="5624966" y="2969140"/>
                  <a:pt x="5575832" y="3018275"/>
                  <a:pt x="5515222" y="3018275"/>
                </a:cubicBezTo>
                <a:lnTo>
                  <a:pt x="109744" y="3018275"/>
                </a:lnTo>
                <a:cubicBezTo>
                  <a:pt x="49134" y="3018275"/>
                  <a:pt x="0" y="2969140"/>
                  <a:pt x="0" y="2908530"/>
                </a:cubicBezTo>
                <a:lnTo>
                  <a:pt x="0" y="109744"/>
                </a:lnTo>
                <a:cubicBezTo>
                  <a:pt x="0" y="49175"/>
                  <a:pt x="49175" y="0"/>
                  <a:pt x="10974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439" dist="914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777" y="1865842"/>
            <a:ext cx="439022" cy="439022"/>
          </a:xfrm>
          <a:custGeom>
            <a:avLst/>
            <a:gdLst/>
            <a:ahLst/>
            <a:cxnLst/>
            <a:rect l="l" t="t" r="r" b="b"/>
            <a:pathLst>
              <a:path w="439022" h="439022">
                <a:moveTo>
                  <a:pt x="73172" y="0"/>
                </a:moveTo>
                <a:lnTo>
                  <a:pt x="365850" y="0"/>
                </a:lnTo>
                <a:cubicBezTo>
                  <a:pt x="406235" y="0"/>
                  <a:pt x="439022" y="32787"/>
                  <a:pt x="439022" y="73172"/>
                </a:cubicBezTo>
                <a:lnTo>
                  <a:pt x="439022" y="365850"/>
                </a:lnTo>
                <a:cubicBezTo>
                  <a:pt x="439022" y="406262"/>
                  <a:pt x="406262" y="439022"/>
                  <a:pt x="365850" y="439022"/>
                </a:cubicBezTo>
                <a:lnTo>
                  <a:pt x="73172" y="439022"/>
                </a:lnTo>
                <a:cubicBezTo>
                  <a:pt x="32787" y="439022"/>
                  <a:pt x="0" y="406235"/>
                  <a:pt x="0" y="365850"/>
                </a:cubicBezTo>
                <a:lnTo>
                  <a:pt x="0" y="73172"/>
                </a:lnTo>
                <a:cubicBezTo>
                  <a:pt x="0" y="32787"/>
                  <a:pt x="32787" y="0"/>
                  <a:pt x="73172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8" name="Shape 6"/>
          <p:cNvSpPr/>
          <p:nvPr/>
        </p:nvSpPr>
        <p:spPr>
          <a:xfrm>
            <a:off x="676825" y="1993890"/>
            <a:ext cx="182926" cy="182926"/>
          </a:xfrm>
          <a:custGeom>
            <a:avLst/>
            <a:gdLst/>
            <a:ahLst/>
            <a:cxnLst/>
            <a:rect l="l" t="t" r="r" b="b"/>
            <a:pathLst>
              <a:path w="182926" h="182926">
                <a:moveTo>
                  <a:pt x="91463" y="182926"/>
                </a:moveTo>
                <a:cubicBezTo>
                  <a:pt x="141943" y="182926"/>
                  <a:pt x="182926" y="141943"/>
                  <a:pt x="182926" y="91463"/>
                </a:cubicBezTo>
                <a:cubicBezTo>
                  <a:pt x="182926" y="40983"/>
                  <a:pt x="141943" y="0"/>
                  <a:pt x="91463" y="0"/>
                </a:cubicBezTo>
                <a:cubicBezTo>
                  <a:pt x="40983" y="0"/>
                  <a:pt x="0" y="40983"/>
                  <a:pt x="0" y="91463"/>
                </a:cubicBezTo>
                <a:cubicBezTo>
                  <a:pt x="0" y="141943"/>
                  <a:pt x="40983" y="182926"/>
                  <a:pt x="91463" y="182926"/>
                </a:cubicBezTo>
                <a:close/>
                <a:moveTo>
                  <a:pt x="91463" y="62881"/>
                </a:moveTo>
                <a:cubicBezTo>
                  <a:pt x="85139" y="62881"/>
                  <a:pt x="80030" y="67990"/>
                  <a:pt x="80030" y="74314"/>
                </a:cubicBezTo>
                <a:cubicBezTo>
                  <a:pt x="80030" y="79065"/>
                  <a:pt x="76207" y="82888"/>
                  <a:pt x="71455" y="82888"/>
                </a:cubicBezTo>
                <a:cubicBezTo>
                  <a:pt x="66704" y="82888"/>
                  <a:pt x="62881" y="79065"/>
                  <a:pt x="62881" y="74314"/>
                </a:cubicBezTo>
                <a:cubicBezTo>
                  <a:pt x="62881" y="58522"/>
                  <a:pt x="75671" y="45731"/>
                  <a:pt x="91463" y="45731"/>
                </a:cubicBezTo>
                <a:cubicBezTo>
                  <a:pt x="107255" y="45731"/>
                  <a:pt x="120045" y="58522"/>
                  <a:pt x="120045" y="74314"/>
                </a:cubicBezTo>
                <a:cubicBezTo>
                  <a:pt x="120045" y="91177"/>
                  <a:pt x="107183" y="98323"/>
                  <a:pt x="100038" y="100931"/>
                </a:cubicBezTo>
                <a:lnTo>
                  <a:pt x="100038" y="102288"/>
                </a:lnTo>
                <a:cubicBezTo>
                  <a:pt x="100038" y="107040"/>
                  <a:pt x="96215" y="110863"/>
                  <a:pt x="91463" y="110863"/>
                </a:cubicBezTo>
                <a:cubicBezTo>
                  <a:pt x="86711" y="110863"/>
                  <a:pt x="82888" y="107040"/>
                  <a:pt x="82888" y="102288"/>
                </a:cubicBezTo>
                <a:lnTo>
                  <a:pt x="82888" y="99394"/>
                </a:lnTo>
                <a:cubicBezTo>
                  <a:pt x="82888" y="92070"/>
                  <a:pt x="88176" y="86818"/>
                  <a:pt x="93642" y="85032"/>
                </a:cubicBezTo>
                <a:cubicBezTo>
                  <a:pt x="95929" y="84282"/>
                  <a:pt x="98358" y="83067"/>
                  <a:pt x="100145" y="81352"/>
                </a:cubicBezTo>
                <a:cubicBezTo>
                  <a:pt x="101681" y="79851"/>
                  <a:pt x="102896" y="77779"/>
                  <a:pt x="102896" y="74349"/>
                </a:cubicBezTo>
                <a:cubicBezTo>
                  <a:pt x="102896" y="68026"/>
                  <a:pt x="97787" y="62916"/>
                  <a:pt x="91463" y="62916"/>
                </a:cubicBezTo>
                <a:close/>
                <a:moveTo>
                  <a:pt x="80030" y="131478"/>
                </a:moveTo>
                <a:cubicBezTo>
                  <a:pt x="80030" y="125168"/>
                  <a:pt x="85153" y="120045"/>
                  <a:pt x="91463" y="120045"/>
                </a:cubicBezTo>
                <a:cubicBezTo>
                  <a:pt x="97773" y="120045"/>
                  <a:pt x="102896" y="125168"/>
                  <a:pt x="102896" y="131478"/>
                </a:cubicBezTo>
                <a:cubicBezTo>
                  <a:pt x="102896" y="137788"/>
                  <a:pt x="97773" y="142911"/>
                  <a:pt x="91463" y="142911"/>
                </a:cubicBezTo>
                <a:cubicBezTo>
                  <a:pt x="85153" y="142911"/>
                  <a:pt x="80030" y="137788"/>
                  <a:pt x="80030" y="1314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34140" y="1865842"/>
            <a:ext cx="4783508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b="1" dirty="0">
                <a:solidFill>
                  <a:srgbClr val="212529"/>
                </a:solidFill>
                <a:highlight>
                  <a:srgbClr val="FFFF00"/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Q-Learning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10" name="Text 8"/>
          <p:cNvSpPr/>
          <p:nvPr/>
        </p:nvSpPr>
        <p:spPr>
          <a:xfrm>
            <a:off x="1134140" y="2231694"/>
            <a:ext cx="4746923" cy="713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Model-free algorithm that learns action-value function (Q-function) through temporal difference updates. Agent learns optimal policy by exploring environment and updating Q-values based on rewards.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34140" y="3091445"/>
            <a:ext cx="75914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91138" y="3091445"/>
            <a:ext cx="3530467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 playing, robot navigation, resource management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34140" y="3420711"/>
            <a:ext cx="704264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41262" y="3420711"/>
            <a:ext cx="3128030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Model-free, off-policy, guaranteed convergence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4140" y="3749977"/>
            <a:ext cx="795727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9724" y="3749977"/>
            <a:ext cx="3466443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Struggles with large state spaces, requires exploration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4140" y="4079244"/>
            <a:ext cx="914629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Concept: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52341" y="4079244"/>
            <a:ext cx="3823148" cy="43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Q-table stores expected future rewards for state-action pairs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07185" y="1682917"/>
            <a:ext cx="5624966" cy="3018275"/>
          </a:xfrm>
          <a:custGeom>
            <a:avLst/>
            <a:gdLst/>
            <a:ahLst/>
            <a:cxnLst/>
            <a:rect l="l" t="t" r="r" b="b"/>
            <a:pathLst>
              <a:path w="5624966" h="3018275">
                <a:moveTo>
                  <a:pt x="109744" y="0"/>
                </a:moveTo>
                <a:lnTo>
                  <a:pt x="5515222" y="0"/>
                </a:lnTo>
                <a:cubicBezTo>
                  <a:pt x="5575832" y="0"/>
                  <a:pt x="5624966" y="49134"/>
                  <a:pt x="5624966" y="109744"/>
                </a:cubicBezTo>
                <a:lnTo>
                  <a:pt x="5624966" y="2908530"/>
                </a:lnTo>
                <a:cubicBezTo>
                  <a:pt x="5624966" y="2969140"/>
                  <a:pt x="5575832" y="3018275"/>
                  <a:pt x="5515222" y="3018275"/>
                </a:cubicBezTo>
                <a:lnTo>
                  <a:pt x="109744" y="3018275"/>
                </a:lnTo>
                <a:cubicBezTo>
                  <a:pt x="49134" y="3018275"/>
                  <a:pt x="0" y="2969140"/>
                  <a:pt x="0" y="2908530"/>
                </a:cubicBezTo>
                <a:lnTo>
                  <a:pt x="0" y="109744"/>
                </a:lnTo>
                <a:cubicBezTo>
                  <a:pt x="0" y="49175"/>
                  <a:pt x="49175" y="0"/>
                  <a:pt x="10974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439" dist="914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90110" y="1865842"/>
            <a:ext cx="439022" cy="439022"/>
          </a:xfrm>
          <a:custGeom>
            <a:avLst/>
            <a:gdLst/>
            <a:ahLst/>
            <a:cxnLst/>
            <a:rect l="l" t="t" r="r" b="b"/>
            <a:pathLst>
              <a:path w="439022" h="439022">
                <a:moveTo>
                  <a:pt x="73172" y="0"/>
                </a:moveTo>
                <a:lnTo>
                  <a:pt x="365850" y="0"/>
                </a:lnTo>
                <a:cubicBezTo>
                  <a:pt x="406235" y="0"/>
                  <a:pt x="439022" y="32787"/>
                  <a:pt x="439022" y="73172"/>
                </a:cubicBezTo>
                <a:lnTo>
                  <a:pt x="439022" y="365850"/>
                </a:lnTo>
                <a:cubicBezTo>
                  <a:pt x="439022" y="406262"/>
                  <a:pt x="406262" y="439022"/>
                  <a:pt x="365850" y="439022"/>
                </a:cubicBezTo>
                <a:lnTo>
                  <a:pt x="73172" y="439022"/>
                </a:lnTo>
                <a:cubicBezTo>
                  <a:pt x="32787" y="439022"/>
                  <a:pt x="0" y="406235"/>
                  <a:pt x="0" y="365850"/>
                </a:cubicBezTo>
                <a:lnTo>
                  <a:pt x="0" y="73172"/>
                </a:lnTo>
                <a:cubicBezTo>
                  <a:pt x="0" y="32787"/>
                  <a:pt x="32787" y="0"/>
                  <a:pt x="73172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21" name="Shape 19"/>
          <p:cNvSpPr/>
          <p:nvPr/>
        </p:nvSpPr>
        <p:spPr>
          <a:xfrm>
            <a:off x="6518158" y="1993890"/>
            <a:ext cx="182926" cy="182926"/>
          </a:xfrm>
          <a:custGeom>
            <a:avLst/>
            <a:gdLst/>
            <a:ahLst/>
            <a:cxnLst/>
            <a:rect l="l" t="t" r="r" b="b"/>
            <a:pathLst>
              <a:path w="182926" h="182926">
                <a:moveTo>
                  <a:pt x="42873" y="20008"/>
                </a:moveTo>
                <a:cubicBezTo>
                  <a:pt x="42873" y="8968"/>
                  <a:pt x="51841" y="0"/>
                  <a:pt x="62881" y="0"/>
                </a:cubicBezTo>
                <a:lnTo>
                  <a:pt x="71455" y="0"/>
                </a:lnTo>
                <a:cubicBezTo>
                  <a:pt x="77779" y="0"/>
                  <a:pt x="82888" y="5109"/>
                  <a:pt x="82888" y="11433"/>
                </a:cubicBezTo>
                <a:lnTo>
                  <a:pt x="82888" y="171493"/>
                </a:lnTo>
                <a:cubicBezTo>
                  <a:pt x="82888" y="177817"/>
                  <a:pt x="77779" y="182926"/>
                  <a:pt x="71455" y="182926"/>
                </a:cubicBezTo>
                <a:lnTo>
                  <a:pt x="60023" y="182926"/>
                </a:lnTo>
                <a:cubicBezTo>
                  <a:pt x="49376" y="182926"/>
                  <a:pt x="40408" y="175637"/>
                  <a:pt x="37871" y="165776"/>
                </a:cubicBezTo>
                <a:cubicBezTo>
                  <a:pt x="37621" y="165776"/>
                  <a:pt x="37407" y="165776"/>
                  <a:pt x="37157" y="165776"/>
                </a:cubicBezTo>
                <a:cubicBezTo>
                  <a:pt x="21365" y="165776"/>
                  <a:pt x="8575" y="152986"/>
                  <a:pt x="8575" y="137194"/>
                </a:cubicBezTo>
                <a:cubicBezTo>
                  <a:pt x="8575" y="130763"/>
                  <a:pt x="10718" y="124833"/>
                  <a:pt x="14291" y="120045"/>
                </a:cubicBezTo>
                <a:cubicBezTo>
                  <a:pt x="7360" y="114829"/>
                  <a:pt x="2858" y="106540"/>
                  <a:pt x="2858" y="97179"/>
                </a:cubicBezTo>
                <a:cubicBezTo>
                  <a:pt x="2858" y="86139"/>
                  <a:pt x="9146" y="76529"/>
                  <a:pt x="18293" y="71777"/>
                </a:cubicBezTo>
                <a:cubicBezTo>
                  <a:pt x="15756" y="67490"/>
                  <a:pt x="14291" y="62488"/>
                  <a:pt x="14291" y="57164"/>
                </a:cubicBezTo>
                <a:cubicBezTo>
                  <a:pt x="14291" y="41373"/>
                  <a:pt x="27082" y="28582"/>
                  <a:pt x="42873" y="28582"/>
                </a:cubicBezTo>
                <a:lnTo>
                  <a:pt x="42873" y="20008"/>
                </a:lnTo>
                <a:close/>
                <a:moveTo>
                  <a:pt x="140053" y="20008"/>
                </a:moveTo>
                <a:lnTo>
                  <a:pt x="140053" y="28582"/>
                </a:lnTo>
                <a:cubicBezTo>
                  <a:pt x="155844" y="28582"/>
                  <a:pt x="168635" y="41373"/>
                  <a:pt x="168635" y="57164"/>
                </a:cubicBezTo>
                <a:cubicBezTo>
                  <a:pt x="168635" y="62523"/>
                  <a:pt x="167170" y="67525"/>
                  <a:pt x="164633" y="71777"/>
                </a:cubicBezTo>
                <a:cubicBezTo>
                  <a:pt x="173815" y="76529"/>
                  <a:pt x="180068" y="86104"/>
                  <a:pt x="180068" y="97179"/>
                </a:cubicBezTo>
                <a:cubicBezTo>
                  <a:pt x="180068" y="106540"/>
                  <a:pt x="175566" y="114829"/>
                  <a:pt x="168635" y="120045"/>
                </a:cubicBezTo>
                <a:cubicBezTo>
                  <a:pt x="172207" y="124833"/>
                  <a:pt x="174351" y="130763"/>
                  <a:pt x="174351" y="137194"/>
                </a:cubicBezTo>
                <a:cubicBezTo>
                  <a:pt x="174351" y="152986"/>
                  <a:pt x="161561" y="165776"/>
                  <a:pt x="145769" y="165776"/>
                </a:cubicBezTo>
                <a:cubicBezTo>
                  <a:pt x="145519" y="165776"/>
                  <a:pt x="145304" y="165776"/>
                  <a:pt x="145054" y="165776"/>
                </a:cubicBezTo>
                <a:cubicBezTo>
                  <a:pt x="142518" y="175637"/>
                  <a:pt x="133550" y="182926"/>
                  <a:pt x="122903" y="182926"/>
                </a:cubicBezTo>
                <a:lnTo>
                  <a:pt x="111470" y="182926"/>
                </a:lnTo>
                <a:cubicBezTo>
                  <a:pt x="105147" y="182926"/>
                  <a:pt x="100038" y="177817"/>
                  <a:pt x="100038" y="171493"/>
                </a:cubicBezTo>
                <a:lnTo>
                  <a:pt x="100038" y="11433"/>
                </a:lnTo>
                <a:cubicBezTo>
                  <a:pt x="100038" y="5109"/>
                  <a:pt x="105147" y="0"/>
                  <a:pt x="111470" y="0"/>
                </a:cubicBezTo>
                <a:lnTo>
                  <a:pt x="120045" y="0"/>
                </a:lnTo>
                <a:cubicBezTo>
                  <a:pt x="131085" y="0"/>
                  <a:pt x="140053" y="8968"/>
                  <a:pt x="140053" y="200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975473" y="1865842"/>
            <a:ext cx="4783508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Q-Networks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75473" y="2231694"/>
            <a:ext cx="4746923" cy="713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Q-learning with deep neural networks to approximate Q-function. Uses experience replay and target networks to stabilize training in complex environments with continuous state spaces.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75473" y="3091445"/>
            <a:ext cx="75914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32471" y="3091445"/>
            <a:ext cx="2743886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Atari games, robotics, autonomous driving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75473" y="3420711"/>
            <a:ext cx="704264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82595" y="3420711"/>
            <a:ext cx="3493881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high-dimensional states, end-to-end learning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75473" y="3749977"/>
            <a:ext cx="795727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71057" y="3749977"/>
            <a:ext cx="3621929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Sample inefficient, unstable training, overestimation bias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75473" y="4079244"/>
            <a:ext cx="777434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55479" y="4079244"/>
            <a:ext cx="3503028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Neural network replaces Q-table for continuous states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65851" y="4884117"/>
            <a:ext cx="11460297" cy="1609746"/>
          </a:xfrm>
          <a:custGeom>
            <a:avLst/>
            <a:gdLst/>
            <a:ahLst/>
            <a:cxnLst/>
            <a:rect l="l" t="t" r="r" b="b"/>
            <a:pathLst>
              <a:path w="11460297" h="1609746">
                <a:moveTo>
                  <a:pt x="109753" y="0"/>
                </a:moveTo>
                <a:lnTo>
                  <a:pt x="11350545" y="0"/>
                </a:lnTo>
                <a:cubicBezTo>
                  <a:pt x="11411159" y="0"/>
                  <a:pt x="11460297" y="49138"/>
                  <a:pt x="11460297" y="109753"/>
                </a:cubicBezTo>
                <a:lnTo>
                  <a:pt x="11460297" y="1499994"/>
                </a:lnTo>
                <a:cubicBezTo>
                  <a:pt x="11460297" y="1560609"/>
                  <a:pt x="11411159" y="1609746"/>
                  <a:pt x="11350545" y="1609746"/>
                </a:cubicBezTo>
                <a:lnTo>
                  <a:pt x="109753" y="1609746"/>
                </a:lnTo>
                <a:cubicBezTo>
                  <a:pt x="49138" y="1609746"/>
                  <a:pt x="0" y="1560609"/>
                  <a:pt x="0" y="1499994"/>
                </a:cubicBezTo>
                <a:lnTo>
                  <a:pt x="0" y="109753"/>
                </a:lnTo>
                <a:cubicBezTo>
                  <a:pt x="0" y="49138"/>
                  <a:pt x="49138" y="0"/>
                  <a:pt x="10975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439" dist="914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5637" y="5076189"/>
            <a:ext cx="123475" cy="164633"/>
          </a:xfrm>
          <a:custGeom>
            <a:avLst/>
            <a:gdLst/>
            <a:ahLst/>
            <a:cxnLst/>
            <a:rect l="l" t="t" r="r" b="b"/>
            <a:pathLst>
              <a:path w="123475" h="164633">
                <a:moveTo>
                  <a:pt x="94182" y="123475"/>
                </a:moveTo>
                <a:cubicBezTo>
                  <a:pt x="96529" y="116304"/>
                  <a:pt x="101224" y="109809"/>
                  <a:pt x="106529" y="104214"/>
                </a:cubicBezTo>
                <a:cubicBezTo>
                  <a:pt x="117044" y="93153"/>
                  <a:pt x="123475" y="78201"/>
                  <a:pt x="123475" y="61737"/>
                </a:cubicBezTo>
                <a:cubicBezTo>
                  <a:pt x="123475" y="27653"/>
                  <a:pt x="95822" y="0"/>
                  <a:pt x="61737" y="0"/>
                </a:cubicBezTo>
                <a:cubicBezTo>
                  <a:pt x="27653" y="0"/>
                  <a:pt x="0" y="27653"/>
                  <a:pt x="0" y="61737"/>
                </a:cubicBezTo>
                <a:cubicBezTo>
                  <a:pt x="0" y="78201"/>
                  <a:pt x="6431" y="93153"/>
                  <a:pt x="16946" y="104214"/>
                </a:cubicBezTo>
                <a:cubicBezTo>
                  <a:pt x="22251" y="109809"/>
                  <a:pt x="26978" y="116304"/>
                  <a:pt x="29293" y="123475"/>
                </a:cubicBezTo>
                <a:lnTo>
                  <a:pt x="94150" y="123475"/>
                </a:lnTo>
                <a:close/>
                <a:moveTo>
                  <a:pt x="92606" y="138909"/>
                </a:moveTo>
                <a:lnTo>
                  <a:pt x="30869" y="138909"/>
                </a:lnTo>
                <a:lnTo>
                  <a:pt x="30869" y="144054"/>
                </a:lnTo>
                <a:cubicBezTo>
                  <a:pt x="30869" y="158266"/>
                  <a:pt x="42380" y="169778"/>
                  <a:pt x="56593" y="169778"/>
                </a:cubicBezTo>
                <a:lnTo>
                  <a:pt x="66882" y="169778"/>
                </a:lnTo>
                <a:cubicBezTo>
                  <a:pt x="81095" y="169778"/>
                  <a:pt x="92606" y="158266"/>
                  <a:pt x="92606" y="144054"/>
                </a:cubicBezTo>
                <a:lnTo>
                  <a:pt x="92606" y="138909"/>
                </a:lnTo>
                <a:close/>
                <a:moveTo>
                  <a:pt x="59165" y="36014"/>
                </a:moveTo>
                <a:cubicBezTo>
                  <a:pt x="46367" y="36014"/>
                  <a:pt x="36014" y="46367"/>
                  <a:pt x="36014" y="59165"/>
                </a:cubicBezTo>
                <a:cubicBezTo>
                  <a:pt x="36014" y="63442"/>
                  <a:pt x="32573" y="66882"/>
                  <a:pt x="28296" y="66882"/>
                </a:cubicBezTo>
                <a:cubicBezTo>
                  <a:pt x="24020" y="66882"/>
                  <a:pt x="20579" y="63442"/>
                  <a:pt x="20579" y="59165"/>
                </a:cubicBezTo>
                <a:cubicBezTo>
                  <a:pt x="20579" y="37846"/>
                  <a:pt x="37846" y="20579"/>
                  <a:pt x="59165" y="20579"/>
                </a:cubicBezTo>
                <a:cubicBezTo>
                  <a:pt x="63442" y="20579"/>
                  <a:pt x="66882" y="24020"/>
                  <a:pt x="66882" y="28296"/>
                </a:cubicBezTo>
                <a:cubicBezTo>
                  <a:pt x="66882" y="32573"/>
                  <a:pt x="63442" y="36014"/>
                  <a:pt x="59165" y="36014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34" name="Text 32"/>
          <p:cNvSpPr/>
          <p:nvPr/>
        </p:nvSpPr>
        <p:spPr>
          <a:xfrm>
            <a:off x="722557" y="5030458"/>
            <a:ext cx="11039568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Concepts in Reinforcement Learning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634041" y="5396309"/>
            <a:ext cx="439022" cy="439022"/>
          </a:xfrm>
          <a:custGeom>
            <a:avLst/>
            <a:gdLst/>
            <a:ahLst/>
            <a:cxnLst/>
            <a:rect l="l" t="t" r="r" b="b"/>
            <a:pathLst>
              <a:path w="439022" h="439022">
                <a:moveTo>
                  <a:pt x="219511" y="0"/>
                </a:moveTo>
                <a:lnTo>
                  <a:pt x="219511" y="0"/>
                </a:lnTo>
                <a:cubicBezTo>
                  <a:pt x="340662" y="0"/>
                  <a:pt x="439022" y="98360"/>
                  <a:pt x="439022" y="219511"/>
                </a:cubicBezTo>
                <a:lnTo>
                  <a:pt x="439022" y="219511"/>
                </a:lnTo>
                <a:cubicBezTo>
                  <a:pt x="439022" y="340662"/>
                  <a:pt x="340662" y="439022"/>
                  <a:pt x="219511" y="439022"/>
                </a:cubicBezTo>
                <a:lnTo>
                  <a:pt x="219511" y="439022"/>
                </a:lnTo>
                <a:cubicBezTo>
                  <a:pt x="98360" y="439022"/>
                  <a:pt x="0" y="340662"/>
                  <a:pt x="0" y="219511"/>
                </a:cubicBezTo>
                <a:lnTo>
                  <a:pt x="0" y="219511"/>
                </a:lnTo>
                <a:cubicBezTo>
                  <a:pt x="0" y="98360"/>
                  <a:pt x="98360" y="0"/>
                  <a:pt x="219511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36" name="Shape 34"/>
          <p:cNvSpPr/>
          <p:nvPr/>
        </p:nvSpPr>
        <p:spPr>
          <a:xfrm>
            <a:off x="1783812" y="5533503"/>
            <a:ext cx="144054" cy="164633"/>
          </a:xfrm>
          <a:custGeom>
            <a:avLst/>
            <a:gdLst/>
            <a:ahLst/>
            <a:cxnLst/>
            <a:rect l="l" t="t" r="r" b="b"/>
            <a:pathLst>
              <a:path w="144054" h="164633">
                <a:moveTo>
                  <a:pt x="72027" y="79744"/>
                </a:moveTo>
                <a:cubicBezTo>
                  <a:pt x="93323" y="79744"/>
                  <a:pt x="110613" y="62454"/>
                  <a:pt x="110613" y="41158"/>
                </a:cubicBezTo>
                <a:cubicBezTo>
                  <a:pt x="110613" y="19862"/>
                  <a:pt x="93323" y="2572"/>
                  <a:pt x="72027" y="2572"/>
                </a:cubicBezTo>
                <a:cubicBezTo>
                  <a:pt x="50731" y="2572"/>
                  <a:pt x="33441" y="19862"/>
                  <a:pt x="33441" y="41158"/>
                </a:cubicBezTo>
                <a:cubicBezTo>
                  <a:pt x="33441" y="62454"/>
                  <a:pt x="50731" y="79744"/>
                  <a:pt x="72027" y="79744"/>
                </a:cubicBezTo>
                <a:close/>
                <a:moveTo>
                  <a:pt x="62477" y="97751"/>
                </a:moveTo>
                <a:cubicBezTo>
                  <a:pt x="30804" y="97751"/>
                  <a:pt x="5145" y="123411"/>
                  <a:pt x="5145" y="155083"/>
                </a:cubicBezTo>
                <a:cubicBezTo>
                  <a:pt x="5145" y="160357"/>
                  <a:pt x="9421" y="164633"/>
                  <a:pt x="14695" y="164633"/>
                </a:cubicBezTo>
                <a:lnTo>
                  <a:pt x="129359" y="164633"/>
                </a:lnTo>
                <a:cubicBezTo>
                  <a:pt x="134633" y="164633"/>
                  <a:pt x="138909" y="160357"/>
                  <a:pt x="138909" y="155083"/>
                </a:cubicBezTo>
                <a:cubicBezTo>
                  <a:pt x="138909" y="123411"/>
                  <a:pt x="113250" y="97751"/>
                  <a:pt x="81577" y="97751"/>
                </a:cubicBezTo>
                <a:lnTo>
                  <a:pt x="62477" y="9775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75607" y="5908501"/>
            <a:ext cx="275303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0180" y="6164597"/>
            <a:ext cx="274388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8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Learner and decision maker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63245" y="5396309"/>
            <a:ext cx="439022" cy="439022"/>
          </a:xfrm>
          <a:custGeom>
            <a:avLst/>
            <a:gdLst/>
            <a:ahLst/>
            <a:cxnLst/>
            <a:rect l="l" t="t" r="r" b="b"/>
            <a:pathLst>
              <a:path w="439022" h="439022">
                <a:moveTo>
                  <a:pt x="219511" y="0"/>
                </a:moveTo>
                <a:lnTo>
                  <a:pt x="219511" y="0"/>
                </a:lnTo>
                <a:cubicBezTo>
                  <a:pt x="340662" y="0"/>
                  <a:pt x="439022" y="98360"/>
                  <a:pt x="439022" y="219511"/>
                </a:cubicBezTo>
                <a:lnTo>
                  <a:pt x="439022" y="219511"/>
                </a:lnTo>
                <a:cubicBezTo>
                  <a:pt x="439022" y="340662"/>
                  <a:pt x="340662" y="439022"/>
                  <a:pt x="219511" y="439022"/>
                </a:cubicBezTo>
                <a:lnTo>
                  <a:pt x="219511" y="439022"/>
                </a:lnTo>
                <a:cubicBezTo>
                  <a:pt x="98360" y="439022"/>
                  <a:pt x="0" y="340662"/>
                  <a:pt x="0" y="219511"/>
                </a:cubicBezTo>
                <a:lnTo>
                  <a:pt x="0" y="219511"/>
                </a:lnTo>
                <a:cubicBezTo>
                  <a:pt x="0" y="98360"/>
                  <a:pt x="98360" y="0"/>
                  <a:pt x="219511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40" name="Shape 38"/>
          <p:cNvSpPr/>
          <p:nvPr/>
        </p:nvSpPr>
        <p:spPr>
          <a:xfrm>
            <a:off x="4602726" y="5533503"/>
            <a:ext cx="164633" cy="164633"/>
          </a:xfrm>
          <a:custGeom>
            <a:avLst/>
            <a:gdLst/>
            <a:ahLst/>
            <a:cxnLst/>
            <a:rect l="l" t="t" r="r" b="b"/>
            <a:pathLst>
              <a:path w="164633" h="164633">
                <a:moveTo>
                  <a:pt x="113153" y="90034"/>
                </a:moveTo>
                <a:lnTo>
                  <a:pt x="51769" y="90034"/>
                </a:lnTo>
                <a:cubicBezTo>
                  <a:pt x="52702" y="110774"/>
                  <a:pt x="57300" y="129874"/>
                  <a:pt x="63828" y="143861"/>
                </a:cubicBezTo>
                <a:cubicBezTo>
                  <a:pt x="67493" y="151739"/>
                  <a:pt x="71448" y="157302"/>
                  <a:pt x="75114" y="160710"/>
                </a:cubicBezTo>
                <a:cubicBezTo>
                  <a:pt x="78715" y="164087"/>
                  <a:pt x="81191" y="164633"/>
                  <a:pt x="82477" y="164633"/>
                </a:cubicBezTo>
                <a:cubicBezTo>
                  <a:pt x="83764" y="164633"/>
                  <a:pt x="86239" y="164087"/>
                  <a:pt x="89841" y="160710"/>
                </a:cubicBezTo>
                <a:cubicBezTo>
                  <a:pt x="93506" y="157302"/>
                  <a:pt x="97462" y="151707"/>
                  <a:pt x="101127" y="143861"/>
                </a:cubicBezTo>
                <a:cubicBezTo>
                  <a:pt x="107655" y="129874"/>
                  <a:pt x="112253" y="110774"/>
                  <a:pt x="113185" y="90034"/>
                </a:cubicBezTo>
                <a:close/>
                <a:moveTo>
                  <a:pt x="51737" y="74599"/>
                </a:moveTo>
                <a:lnTo>
                  <a:pt x="113121" y="74599"/>
                </a:lnTo>
                <a:cubicBezTo>
                  <a:pt x="112221" y="53859"/>
                  <a:pt x="107622" y="34759"/>
                  <a:pt x="101095" y="20772"/>
                </a:cubicBezTo>
                <a:cubicBezTo>
                  <a:pt x="97429" y="12926"/>
                  <a:pt x="93474" y="7331"/>
                  <a:pt x="89809" y="3923"/>
                </a:cubicBezTo>
                <a:cubicBezTo>
                  <a:pt x="86207" y="547"/>
                  <a:pt x="83731" y="0"/>
                  <a:pt x="82445" y="0"/>
                </a:cubicBezTo>
                <a:cubicBezTo>
                  <a:pt x="81159" y="0"/>
                  <a:pt x="78683" y="547"/>
                  <a:pt x="75082" y="3923"/>
                </a:cubicBezTo>
                <a:cubicBezTo>
                  <a:pt x="71416" y="7331"/>
                  <a:pt x="67461" y="12926"/>
                  <a:pt x="63795" y="20772"/>
                </a:cubicBezTo>
                <a:cubicBezTo>
                  <a:pt x="57268" y="34759"/>
                  <a:pt x="52670" y="53859"/>
                  <a:pt x="51737" y="74599"/>
                </a:cubicBezTo>
                <a:close/>
                <a:moveTo>
                  <a:pt x="36303" y="74599"/>
                </a:moveTo>
                <a:cubicBezTo>
                  <a:pt x="37428" y="47075"/>
                  <a:pt x="44535" y="21512"/>
                  <a:pt x="54921" y="4727"/>
                </a:cubicBezTo>
                <a:cubicBezTo>
                  <a:pt x="25306" y="15209"/>
                  <a:pt x="3505" y="42187"/>
                  <a:pt x="482" y="74599"/>
                </a:cubicBezTo>
                <a:lnTo>
                  <a:pt x="36303" y="74599"/>
                </a:lnTo>
                <a:close/>
                <a:moveTo>
                  <a:pt x="482" y="90034"/>
                </a:moveTo>
                <a:cubicBezTo>
                  <a:pt x="3505" y="122446"/>
                  <a:pt x="25306" y="149424"/>
                  <a:pt x="54921" y="159906"/>
                </a:cubicBezTo>
                <a:cubicBezTo>
                  <a:pt x="44535" y="143122"/>
                  <a:pt x="37428" y="117558"/>
                  <a:pt x="36303" y="90034"/>
                </a:cubicBezTo>
                <a:lnTo>
                  <a:pt x="482" y="90034"/>
                </a:lnTo>
                <a:close/>
                <a:moveTo>
                  <a:pt x="128588" y="90034"/>
                </a:moveTo>
                <a:cubicBezTo>
                  <a:pt x="127462" y="117558"/>
                  <a:pt x="120356" y="143122"/>
                  <a:pt x="109970" y="159906"/>
                </a:cubicBezTo>
                <a:cubicBezTo>
                  <a:pt x="139584" y="149392"/>
                  <a:pt x="161386" y="122446"/>
                  <a:pt x="164408" y="90034"/>
                </a:cubicBezTo>
                <a:lnTo>
                  <a:pt x="128588" y="90034"/>
                </a:lnTo>
                <a:close/>
                <a:moveTo>
                  <a:pt x="164408" y="74599"/>
                </a:moveTo>
                <a:cubicBezTo>
                  <a:pt x="161386" y="42187"/>
                  <a:pt x="139584" y="15209"/>
                  <a:pt x="109970" y="4727"/>
                </a:cubicBezTo>
                <a:cubicBezTo>
                  <a:pt x="120356" y="21512"/>
                  <a:pt x="127462" y="47075"/>
                  <a:pt x="128588" y="74599"/>
                </a:cubicBezTo>
                <a:lnTo>
                  <a:pt x="164408" y="7459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304811" y="5908501"/>
            <a:ext cx="275303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309384" y="6164597"/>
            <a:ext cx="274388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8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 agent interacts with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292449" y="5396309"/>
            <a:ext cx="439022" cy="439022"/>
          </a:xfrm>
          <a:custGeom>
            <a:avLst/>
            <a:gdLst/>
            <a:ahLst/>
            <a:cxnLst/>
            <a:rect l="l" t="t" r="r" b="b"/>
            <a:pathLst>
              <a:path w="439022" h="439022">
                <a:moveTo>
                  <a:pt x="219511" y="0"/>
                </a:moveTo>
                <a:lnTo>
                  <a:pt x="219511" y="0"/>
                </a:lnTo>
                <a:cubicBezTo>
                  <a:pt x="340662" y="0"/>
                  <a:pt x="439022" y="98360"/>
                  <a:pt x="439022" y="219511"/>
                </a:cubicBezTo>
                <a:lnTo>
                  <a:pt x="439022" y="219511"/>
                </a:lnTo>
                <a:cubicBezTo>
                  <a:pt x="439022" y="340662"/>
                  <a:pt x="340662" y="439022"/>
                  <a:pt x="219511" y="439022"/>
                </a:cubicBezTo>
                <a:lnTo>
                  <a:pt x="219511" y="439022"/>
                </a:lnTo>
                <a:cubicBezTo>
                  <a:pt x="98360" y="439022"/>
                  <a:pt x="0" y="340662"/>
                  <a:pt x="0" y="219511"/>
                </a:cubicBezTo>
                <a:lnTo>
                  <a:pt x="0" y="219511"/>
                </a:lnTo>
                <a:cubicBezTo>
                  <a:pt x="0" y="98360"/>
                  <a:pt x="98360" y="0"/>
                  <a:pt x="219511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44" name="Shape 42"/>
          <p:cNvSpPr/>
          <p:nvPr/>
        </p:nvSpPr>
        <p:spPr>
          <a:xfrm>
            <a:off x="7431929" y="5533503"/>
            <a:ext cx="164633" cy="164633"/>
          </a:xfrm>
          <a:custGeom>
            <a:avLst/>
            <a:gdLst/>
            <a:ahLst/>
            <a:cxnLst/>
            <a:rect l="l" t="t" r="r" b="b"/>
            <a:pathLst>
              <a:path w="164633" h="164633">
                <a:moveTo>
                  <a:pt x="103378" y="22123"/>
                </a:moveTo>
                <a:cubicBezTo>
                  <a:pt x="105822" y="17975"/>
                  <a:pt x="110259" y="15434"/>
                  <a:pt x="115050" y="15434"/>
                </a:cubicBezTo>
                <a:lnTo>
                  <a:pt x="115758" y="15434"/>
                </a:lnTo>
                <a:cubicBezTo>
                  <a:pt x="122864" y="15434"/>
                  <a:pt x="128620" y="21190"/>
                  <a:pt x="128620" y="28296"/>
                </a:cubicBezTo>
                <a:cubicBezTo>
                  <a:pt x="128620" y="35403"/>
                  <a:pt x="122864" y="41158"/>
                  <a:pt x="115758" y="41158"/>
                </a:cubicBezTo>
                <a:lnTo>
                  <a:pt x="92188" y="41158"/>
                </a:lnTo>
                <a:lnTo>
                  <a:pt x="103378" y="22123"/>
                </a:lnTo>
                <a:close/>
                <a:moveTo>
                  <a:pt x="61255" y="22123"/>
                </a:moveTo>
                <a:lnTo>
                  <a:pt x="72445" y="41158"/>
                </a:lnTo>
                <a:lnTo>
                  <a:pt x="48875" y="41158"/>
                </a:lnTo>
                <a:cubicBezTo>
                  <a:pt x="41769" y="41158"/>
                  <a:pt x="36014" y="35403"/>
                  <a:pt x="36014" y="28296"/>
                </a:cubicBezTo>
                <a:cubicBezTo>
                  <a:pt x="36014" y="21190"/>
                  <a:pt x="41769" y="15434"/>
                  <a:pt x="48875" y="15434"/>
                </a:cubicBezTo>
                <a:lnTo>
                  <a:pt x="49583" y="15434"/>
                </a:lnTo>
                <a:cubicBezTo>
                  <a:pt x="54374" y="15434"/>
                  <a:pt x="58843" y="17975"/>
                  <a:pt x="61255" y="22123"/>
                </a:cubicBezTo>
                <a:close/>
                <a:moveTo>
                  <a:pt x="90066" y="14309"/>
                </a:moveTo>
                <a:lnTo>
                  <a:pt x="82317" y="27492"/>
                </a:lnTo>
                <a:lnTo>
                  <a:pt x="74567" y="14309"/>
                </a:lnTo>
                <a:cubicBezTo>
                  <a:pt x="69358" y="5434"/>
                  <a:pt x="59840" y="0"/>
                  <a:pt x="49583" y="0"/>
                </a:cubicBezTo>
                <a:lnTo>
                  <a:pt x="48875" y="0"/>
                </a:lnTo>
                <a:cubicBezTo>
                  <a:pt x="33248" y="0"/>
                  <a:pt x="20579" y="12669"/>
                  <a:pt x="20579" y="28296"/>
                </a:cubicBezTo>
                <a:cubicBezTo>
                  <a:pt x="20579" y="32927"/>
                  <a:pt x="21705" y="37300"/>
                  <a:pt x="23666" y="41158"/>
                </a:cubicBezTo>
                <a:lnTo>
                  <a:pt x="10290" y="41158"/>
                </a:lnTo>
                <a:cubicBezTo>
                  <a:pt x="4598" y="41158"/>
                  <a:pt x="0" y="45756"/>
                  <a:pt x="0" y="51448"/>
                </a:cubicBezTo>
                <a:lnTo>
                  <a:pt x="0" y="61737"/>
                </a:lnTo>
                <a:cubicBezTo>
                  <a:pt x="0" y="67429"/>
                  <a:pt x="4598" y="72027"/>
                  <a:pt x="10290" y="72027"/>
                </a:cubicBezTo>
                <a:lnTo>
                  <a:pt x="154344" y="72027"/>
                </a:lnTo>
                <a:cubicBezTo>
                  <a:pt x="160035" y="72027"/>
                  <a:pt x="164633" y="67429"/>
                  <a:pt x="164633" y="61737"/>
                </a:cubicBezTo>
                <a:lnTo>
                  <a:pt x="164633" y="51448"/>
                </a:lnTo>
                <a:cubicBezTo>
                  <a:pt x="164633" y="45756"/>
                  <a:pt x="160035" y="41158"/>
                  <a:pt x="154344" y="41158"/>
                </a:cubicBezTo>
                <a:lnTo>
                  <a:pt x="140967" y="41158"/>
                </a:lnTo>
                <a:cubicBezTo>
                  <a:pt x="142929" y="37300"/>
                  <a:pt x="144054" y="32927"/>
                  <a:pt x="144054" y="28296"/>
                </a:cubicBezTo>
                <a:cubicBezTo>
                  <a:pt x="144054" y="12669"/>
                  <a:pt x="131385" y="0"/>
                  <a:pt x="115758" y="0"/>
                </a:cubicBezTo>
                <a:lnTo>
                  <a:pt x="115050" y="0"/>
                </a:lnTo>
                <a:cubicBezTo>
                  <a:pt x="104793" y="0"/>
                  <a:pt x="95275" y="5434"/>
                  <a:pt x="90066" y="14277"/>
                </a:cubicBezTo>
                <a:close/>
                <a:moveTo>
                  <a:pt x="154344" y="87461"/>
                </a:moveTo>
                <a:lnTo>
                  <a:pt x="90034" y="87461"/>
                </a:lnTo>
                <a:lnTo>
                  <a:pt x="90034" y="154344"/>
                </a:lnTo>
                <a:lnTo>
                  <a:pt x="133764" y="154344"/>
                </a:lnTo>
                <a:cubicBezTo>
                  <a:pt x="145115" y="154344"/>
                  <a:pt x="154344" y="145115"/>
                  <a:pt x="154344" y="133764"/>
                </a:cubicBezTo>
                <a:lnTo>
                  <a:pt x="154344" y="87461"/>
                </a:lnTo>
                <a:close/>
                <a:moveTo>
                  <a:pt x="74599" y="87461"/>
                </a:moveTo>
                <a:lnTo>
                  <a:pt x="10290" y="87461"/>
                </a:lnTo>
                <a:lnTo>
                  <a:pt x="10290" y="133764"/>
                </a:lnTo>
                <a:cubicBezTo>
                  <a:pt x="10290" y="145115"/>
                  <a:pt x="19518" y="154344"/>
                  <a:pt x="30869" y="154344"/>
                </a:cubicBezTo>
                <a:lnTo>
                  <a:pt x="74599" y="154344"/>
                </a:lnTo>
                <a:lnTo>
                  <a:pt x="74599" y="874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134014" y="5908501"/>
            <a:ext cx="275303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Reward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138587" y="6164597"/>
            <a:ext cx="274388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8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Feedback signal from environment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121795" y="5396309"/>
            <a:ext cx="439022" cy="439022"/>
          </a:xfrm>
          <a:custGeom>
            <a:avLst/>
            <a:gdLst/>
            <a:ahLst/>
            <a:cxnLst/>
            <a:rect l="l" t="t" r="r" b="b"/>
            <a:pathLst>
              <a:path w="439022" h="439022">
                <a:moveTo>
                  <a:pt x="219511" y="0"/>
                </a:moveTo>
                <a:lnTo>
                  <a:pt x="219511" y="0"/>
                </a:lnTo>
                <a:cubicBezTo>
                  <a:pt x="340662" y="0"/>
                  <a:pt x="439022" y="98360"/>
                  <a:pt x="439022" y="219511"/>
                </a:cubicBezTo>
                <a:lnTo>
                  <a:pt x="439022" y="219511"/>
                </a:lnTo>
                <a:cubicBezTo>
                  <a:pt x="439022" y="340662"/>
                  <a:pt x="340662" y="439022"/>
                  <a:pt x="219511" y="439022"/>
                </a:cubicBezTo>
                <a:lnTo>
                  <a:pt x="219511" y="439022"/>
                </a:lnTo>
                <a:cubicBezTo>
                  <a:pt x="98360" y="439022"/>
                  <a:pt x="0" y="340662"/>
                  <a:pt x="0" y="219511"/>
                </a:cubicBezTo>
                <a:lnTo>
                  <a:pt x="0" y="219511"/>
                </a:lnTo>
                <a:cubicBezTo>
                  <a:pt x="0" y="98360"/>
                  <a:pt x="98360" y="0"/>
                  <a:pt x="219511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48" name="Shape 46"/>
          <p:cNvSpPr/>
          <p:nvPr/>
        </p:nvSpPr>
        <p:spPr>
          <a:xfrm>
            <a:off x="10261276" y="5533503"/>
            <a:ext cx="164633" cy="164633"/>
          </a:xfrm>
          <a:custGeom>
            <a:avLst/>
            <a:gdLst/>
            <a:ahLst/>
            <a:cxnLst/>
            <a:rect l="l" t="t" r="r" b="b"/>
            <a:pathLst>
              <a:path w="164633" h="164633">
                <a:moveTo>
                  <a:pt x="164633" y="30869"/>
                </a:moveTo>
                <a:cubicBezTo>
                  <a:pt x="164633" y="47010"/>
                  <a:pt x="145630" y="71095"/>
                  <a:pt x="137430" y="80709"/>
                </a:cubicBezTo>
                <a:cubicBezTo>
                  <a:pt x="136208" y="82124"/>
                  <a:pt x="134408" y="82670"/>
                  <a:pt x="132768" y="82317"/>
                </a:cubicBezTo>
                <a:lnTo>
                  <a:pt x="102896" y="82317"/>
                </a:lnTo>
                <a:cubicBezTo>
                  <a:pt x="97204" y="82317"/>
                  <a:pt x="92606" y="86915"/>
                  <a:pt x="92606" y="92606"/>
                </a:cubicBezTo>
                <a:cubicBezTo>
                  <a:pt x="92606" y="98298"/>
                  <a:pt x="97204" y="102896"/>
                  <a:pt x="102896" y="102896"/>
                </a:cubicBezTo>
                <a:lnTo>
                  <a:pt x="133764" y="102896"/>
                </a:lnTo>
                <a:cubicBezTo>
                  <a:pt x="150807" y="102896"/>
                  <a:pt x="164633" y="116722"/>
                  <a:pt x="164633" y="133764"/>
                </a:cubicBezTo>
                <a:cubicBezTo>
                  <a:pt x="164633" y="150807"/>
                  <a:pt x="150807" y="164633"/>
                  <a:pt x="133764" y="164633"/>
                </a:cubicBezTo>
                <a:lnTo>
                  <a:pt x="44888" y="164633"/>
                </a:lnTo>
                <a:cubicBezTo>
                  <a:pt x="47686" y="161450"/>
                  <a:pt x="51094" y="157366"/>
                  <a:pt x="54535" y="152800"/>
                </a:cubicBezTo>
                <a:cubicBezTo>
                  <a:pt x="56560" y="150099"/>
                  <a:pt x="58651" y="147141"/>
                  <a:pt x="60644" y="144054"/>
                </a:cubicBezTo>
                <a:lnTo>
                  <a:pt x="133764" y="144054"/>
                </a:lnTo>
                <a:cubicBezTo>
                  <a:pt x="139456" y="144054"/>
                  <a:pt x="144054" y="139456"/>
                  <a:pt x="144054" y="133764"/>
                </a:cubicBezTo>
                <a:cubicBezTo>
                  <a:pt x="144054" y="128073"/>
                  <a:pt x="139456" y="123475"/>
                  <a:pt x="133764" y="123475"/>
                </a:cubicBezTo>
                <a:lnTo>
                  <a:pt x="102896" y="123475"/>
                </a:lnTo>
                <a:cubicBezTo>
                  <a:pt x="85854" y="123475"/>
                  <a:pt x="72027" y="109648"/>
                  <a:pt x="72027" y="92606"/>
                </a:cubicBezTo>
                <a:cubicBezTo>
                  <a:pt x="72027" y="75564"/>
                  <a:pt x="85854" y="61737"/>
                  <a:pt x="102896" y="61737"/>
                </a:cubicBezTo>
                <a:lnTo>
                  <a:pt x="115693" y="61737"/>
                </a:lnTo>
                <a:cubicBezTo>
                  <a:pt x="108941" y="51609"/>
                  <a:pt x="102896" y="39969"/>
                  <a:pt x="102896" y="30869"/>
                </a:cubicBezTo>
                <a:cubicBezTo>
                  <a:pt x="102896" y="13827"/>
                  <a:pt x="116722" y="0"/>
                  <a:pt x="133764" y="0"/>
                </a:cubicBezTo>
                <a:cubicBezTo>
                  <a:pt x="150807" y="0"/>
                  <a:pt x="164633" y="13827"/>
                  <a:pt x="164633" y="30869"/>
                </a:cubicBezTo>
                <a:close/>
                <a:moveTo>
                  <a:pt x="37653" y="157270"/>
                </a:moveTo>
                <a:cubicBezTo>
                  <a:pt x="36432" y="158652"/>
                  <a:pt x="35338" y="159874"/>
                  <a:pt x="34406" y="160903"/>
                </a:cubicBezTo>
                <a:lnTo>
                  <a:pt x="33827" y="161546"/>
                </a:lnTo>
                <a:lnTo>
                  <a:pt x="33763" y="161482"/>
                </a:lnTo>
                <a:cubicBezTo>
                  <a:pt x="31833" y="162961"/>
                  <a:pt x="29068" y="162768"/>
                  <a:pt x="27332" y="160903"/>
                </a:cubicBezTo>
                <a:cubicBezTo>
                  <a:pt x="19229" y="152093"/>
                  <a:pt x="0" y="129424"/>
                  <a:pt x="0" y="113185"/>
                </a:cubicBezTo>
                <a:cubicBezTo>
                  <a:pt x="0" y="96143"/>
                  <a:pt x="13827" y="82317"/>
                  <a:pt x="30869" y="82317"/>
                </a:cubicBezTo>
                <a:cubicBezTo>
                  <a:pt x="47911" y="82317"/>
                  <a:pt x="61737" y="96143"/>
                  <a:pt x="61737" y="113185"/>
                </a:cubicBezTo>
                <a:cubicBezTo>
                  <a:pt x="61737" y="122832"/>
                  <a:pt x="54953" y="134729"/>
                  <a:pt x="47750" y="144665"/>
                </a:cubicBezTo>
                <a:cubicBezTo>
                  <a:pt x="44309" y="149392"/>
                  <a:pt x="40772" y="153668"/>
                  <a:pt x="37846" y="157045"/>
                </a:cubicBezTo>
                <a:lnTo>
                  <a:pt x="37653" y="157270"/>
                </a:lnTo>
                <a:close/>
                <a:moveTo>
                  <a:pt x="41158" y="113185"/>
                </a:moveTo>
                <a:cubicBezTo>
                  <a:pt x="41158" y="107506"/>
                  <a:pt x="36548" y="102896"/>
                  <a:pt x="30869" y="102896"/>
                </a:cubicBezTo>
                <a:cubicBezTo>
                  <a:pt x="25190" y="102896"/>
                  <a:pt x="20579" y="107506"/>
                  <a:pt x="20579" y="113185"/>
                </a:cubicBezTo>
                <a:cubicBezTo>
                  <a:pt x="20579" y="118864"/>
                  <a:pt x="25190" y="123475"/>
                  <a:pt x="30869" y="123475"/>
                </a:cubicBezTo>
                <a:cubicBezTo>
                  <a:pt x="36548" y="123475"/>
                  <a:pt x="41158" y="118864"/>
                  <a:pt x="41158" y="113185"/>
                </a:cubicBezTo>
                <a:close/>
                <a:moveTo>
                  <a:pt x="133764" y="41158"/>
                </a:moveTo>
                <a:cubicBezTo>
                  <a:pt x="139443" y="41158"/>
                  <a:pt x="144054" y="36548"/>
                  <a:pt x="144054" y="30869"/>
                </a:cubicBezTo>
                <a:cubicBezTo>
                  <a:pt x="144054" y="25190"/>
                  <a:pt x="139443" y="20579"/>
                  <a:pt x="133764" y="20579"/>
                </a:cubicBezTo>
                <a:cubicBezTo>
                  <a:pt x="128085" y="20579"/>
                  <a:pt x="123475" y="25190"/>
                  <a:pt x="123475" y="30869"/>
                </a:cubicBezTo>
                <a:cubicBezTo>
                  <a:pt x="123475" y="36548"/>
                  <a:pt x="128085" y="41158"/>
                  <a:pt x="133764" y="4115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8963218" y="5908501"/>
            <a:ext cx="275303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967791" y="6164597"/>
            <a:ext cx="274388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8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 mapping states to actions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a06facec7700f158808924feacdbb9f00f2a24fd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11755" b="1175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12529">
                  <a:alpha val="95000"/>
                </a:srgbClr>
              </a:gs>
              <a:gs pos="50000">
                <a:srgbClr val="495057">
                  <a:alpha val="90000"/>
                </a:srgbClr>
              </a:gs>
              <a:gs pos="100000">
                <a:srgbClr val="212529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47775"/>
            <a:ext cx="1314450" cy="381000"/>
          </a:xfrm>
          <a:custGeom>
            <a:avLst/>
            <a:gdLst/>
            <a:ahLst/>
            <a:cxnLst/>
            <a:rect l="l" t="t" r="r" b="b"/>
            <a:pathLst>
              <a:path w="1314450" h="381000">
                <a:moveTo>
                  <a:pt x="190500" y="0"/>
                </a:moveTo>
                <a:lnTo>
                  <a:pt x="1123950" y="0"/>
                </a:lnTo>
                <a:cubicBezTo>
                  <a:pt x="1229090" y="0"/>
                  <a:pt x="1314450" y="85360"/>
                  <a:pt x="1314450" y="190500"/>
                </a:cubicBezTo>
                <a:lnTo>
                  <a:pt x="1314450" y="190500"/>
                </a:lnTo>
                <a:cubicBezTo>
                  <a:pt x="1314450" y="295640"/>
                  <a:pt x="1229090" y="381000"/>
                  <a:pt x="112395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1323975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0977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Ensemble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95287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8F9FA">
              <a:alpha val="50196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2195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Combining multiple models to achieve superior performance and robustness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5362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343525"/>
            <a:ext cx="72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Boosting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675061" y="5362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2046536" y="5343525"/>
            <a:ext cx="65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Bagging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062" y="358062"/>
            <a:ext cx="11547489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kern="0" spc="56" dirty="0">
                <a:solidFill>
                  <a:srgbClr val="49505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Ensemble Methods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8062" y="644511"/>
            <a:ext cx="11637004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7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Boosting Algorithms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8062" y="1074185"/>
            <a:ext cx="11556441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Sequential model building that corrects errors of previous models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8062" y="1432247"/>
            <a:ext cx="716123" cy="35806"/>
          </a:xfrm>
          <a:custGeom>
            <a:avLst/>
            <a:gdLst/>
            <a:ahLst/>
            <a:cxnLst/>
            <a:rect l="l" t="t" r="r" b="b"/>
            <a:pathLst>
              <a:path w="716123" h="35806">
                <a:moveTo>
                  <a:pt x="0" y="0"/>
                </a:moveTo>
                <a:lnTo>
                  <a:pt x="716123" y="0"/>
                </a:lnTo>
                <a:lnTo>
                  <a:pt x="716123" y="35806"/>
                </a:lnTo>
                <a:lnTo>
                  <a:pt x="0" y="35806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6" name="Shape 4"/>
          <p:cNvSpPr/>
          <p:nvPr/>
        </p:nvSpPr>
        <p:spPr>
          <a:xfrm>
            <a:off x="358062" y="1611278"/>
            <a:ext cx="5666326" cy="1772405"/>
          </a:xfrm>
          <a:custGeom>
            <a:avLst/>
            <a:gdLst/>
            <a:ahLst/>
            <a:cxnLst/>
            <a:rect l="l" t="t" r="r" b="b"/>
            <a:pathLst>
              <a:path w="5666326" h="1772405">
                <a:moveTo>
                  <a:pt x="107425" y="0"/>
                </a:moveTo>
                <a:lnTo>
                  <a:pt x="5558901" y="0"/>
                </a:lnTo>
                <a:cubicBezTo>
                  <a:pt x="5618230" y="0"/>
                  <a:pt x="5666326" y="48096"/>
                  <a:pt x="5666326" y="107425"/>
                </a:cubicBezTo>
                <a:lnTo>
                  <a:pt x="5666326" y="1664980"/>
                </a:lnTo>
                <a:cubicBezTo>
                  <a:pt x="5666326" y="1724309"/>
                  <a:pt x="5618230" y="1772405"/>
                  <a:pt x="5558901" y="1772405"/>
                </a:cubicBezTo>
                <a:lnTo>
                  <a:pt x="107425" y="1772405"/>
                </a:lnTo>
                <a:cubicBezTo>
                  <a:pt x="48096" y="1772405"/>
                  <a:pt x="0" y="1724309"/>
                  <a:pt x="0" y="1664980"/>
                </a:cubicBezTo>
                <a:lnTo>
                  <a:pt x="0" y="107425"/>
                </a:lnTo>
                <a:cubicBezTo>
                  <a:pt x="0" y="48096"/>
                  <a:pt x="48096" y="0"/>
                  <a:pt x="10742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855" dist="895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1286" y="1754502"/>
            <a:ext cx="358062" cy="358062"/>
          </a:xfrm>
          <a:custGeom>
            <a:avLst/>
            <a:gdLst/>
            <a:ahLst/>
            <a:cxnLst/>
            <a:rect l="l" t="t" r="r" b="b"/>
            <a:pathLst>
              <a:path w="358062" h="358062">
                <a:moveTo>
                  <a:pt x="71612" y="0"/>
                </a:moveTo>
                <a:lnTo>
                  <a:pt x="286449" y="0"/>
                </a:lnTo>
                <a:cubicBezTo>
                  <a:pt x="326000" y="0"/>
                  <a:pt x="358062" y="32062"/>
                  <a:pt x="358062" y="71612"/>
                </a:cubicBezTo>
                <a:lnTo>
                  <a:pt x="358062" y="286449"/>
                </a:lnTo>
                <a:cubicBezTo>
                  <a:pt x="358062" y="326000"/>
                  <a:pt x="326000" y="358062"/>
                  <a:pt x="286449" y="358062"/>
                </a:cubicBezTo>
                <a:lnTo>
                  <a:pt x="71612" y="358062"/>
                </a:lnTo>
                <a:cubicBezTo>
                  <a:pt x="32062" y="358062"/>
                  <a:pt x="0" y="326000"/>
                  <a:pt x="0" y="286449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8" name="Shape 6"/>
          <p:cNvSpPr/>
          <p:nvPr/>
        </p:nvSpPr>
        <p:spPr>
          <a:xfrm>
            <a:off x="622132" y="1852969"/>
            <a:ext cx="120846" cy="161128"/>
          </a:xfrm>
          <a:custGeom>
            <a:avLst/>
            <a:gdLst/>
            <a:ahLst/>
            <a:cxnLst/>
            <a:rect l="l" t="t" r="r" b="b"/>
            <a:pathLst>
              <a:path w="120846" h="161128">
                <a:moveTo>
                  <a:pt x="67535" y="5476"/>
                </a:moveTo>
                <a:cubicBezTo>
                  <a:pt x="63601" y="1542"/>
                  <a:pt x="57213" y="1542"/>
                  <a:pt x="53279" y="5476"/>
                </a:cubicBezTo>
                <a:lnTo>
                  <a:pt x="2927" y="55828"/>
                </a:lnTo>
                <a:cubicBezTo>
                  <a:pt x="-1007" y="59762"/>
                  <a:pt x="-1007" y="66150"/>
                  <a:pt x="2927" y="70084"/>
                </a:cubicBezTo>
                <a:cubicBezTo>
                  <a:pt x="6861" y="74018"/>
                  <a:pt x="13249" y="74018"/>
                  <a:pt x="17183" y="70084"/>
                </a:cubicBezTo>
                <a:lnTo>
                  <a:pt x="50352" y="36915"/>
                </a:lnTo>
                <a:lnTo>
                  <a:pt x="50352" y="153575"/>
                </a:lnTo>
                <a:cubicBezTo>
                  <a:pt x="50352" y="159145"/>
                  <a:pt x="54853" y="163645"/>
                  <a:pt x="60423" y="163645"/>
                </a:cubicBezTo>
                <a:cubicBezTo>
                  <a:pt x="65993" y="163645"/>
                  <a:pt x="70493" y="159145"/>
                  <a:pt x="70493" y="153575"/>
                </a:cubicBezTo>
                <a:lnTo>
                  <a:pt x="70493" y="36915"/>
                </a:lnTo>
                <a:lnTo>
                  <a:pt x="103663" y="70084"/>
                </a:lnTo>
                <a:cubicBezTo>
                  <a:pt x="107597" y="74018"/>
                  <a:pt x="113985" y="74018"/>
                  <a:pt x="117919" y="70084"/>
                </a:cubicBezTo>
                <a:cubicBezTo>
                  <a:pt x="121853" y="66150"/>
                  <a:pt x="121853" y="59762"/>
                  <a:pt x="117919" y="55828"/>
                </a:cubicBezTo>
                <a:lnTo>
                  <a:pt x="67567" y="547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66767" y="1754502"/>
            <a:ext cx="5003912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6767" y="2040952"/>
            <a:ext cx="4977057" cy="411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Builds trees sequentially where each new tree fits residuals of previous ensemble. Uses gradient descent to minimize loss function.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6767" y="2555665"/>
            <a:ext cx="644511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24006" y="2555665"/>
            <a:ext cx="1861921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Regression, classification, ranking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6767" y="2806308"/>
            <a:ext cx="608705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81346" y="2806308"/>
            <a:ext cx="2273692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accuracy, handles mixed data types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6767" y="3056952"/>
            <a:ext cx="68031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57014" y="3056952"/>
            <a:ext cx="2148370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Prone to overfitting, sequential training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66493" y="1611278"/>
            <a:ext cx="5666326" cy="1772405"/>
          </a:xfrm>
          <a:custGeom>
            <a:avLst/>
            <a:gdLst/>
            <a:ahLst/>
            <a:cxnLst/>
            <a:rect l="l" t="t" r="r" b="b"/>
            <a:pathLst>
              <a:path w="5666326" h="1772405">
                <a:moveTo>
                  <a:pt x="107425" y="0"/>
                </a:moveTo>
                <a:lnTo>
                  <a:pt x="5558901" y="0"/>
                </a:lnTo>
                <a:cubicBezTo>
                  <a:pt x="5618230" y="0"/>
                  <a:pt x="5666326" y="48096"/>
                  <a:pt x="5666326" y="107425"/>
                </a:cubicBezTo>
                <a:lnTo>
                  <a:pt x="5666326" y="1664980"/>
                </a:lnTo>
                <a:cubicBezTo>
                  <a:pt x="5666326" y="1724309"/>
                  <a:pt x="5618230" y="1772405"/>
                  <a:pt x="5558901" y="1772405"/>
                </a:cubicBezTo>
                <a:lnTo>
                  <a:pt x="107425" y="1772405"/>
                </a:lnTo>
                <a:cubicBezTo>
                  <a:pt x="48096" y="1772405"/>
                  <a:pt x="0" y="1724309"/>
                  <a:pt x="0" y="1664980"/>
                </a:cubicBezTo>
                <a:lnTo>
                  <a:pt x="0" y="107425"/>
                </a:lnTo>
                <a:cubicBezTo>
                  <a:pt x="0" y="48096"/>
                  <a:pt x="48096" y="0"/>
                  <a:pt x="10742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855" dist="895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718" y="1754502"/>
            <a:ext cx="358062" cy="358062"/>
          </a:xfrm>
          <a:custGeom>
            <a:avLst/>
            <a:gdLst/>
            <a:ahLst/>
            <a:cxnLst/>
            <a:rect l="l" t="t" r="r" b="b"/>
            <a:pathLst>
              <a:path w="358062" h="358062">
                <a:moveTo>
                  <a:pt x="71612" y="0"/>
                </a:moveTo>
                <a:lnTo>
                  <a:pt x="286449" y="0"/>
                </a:lnTo>
                <a:cubicBezTo>
                  <a:pt x="326000" y="0"/>
                  <a:pt x="358062" y="32062"/>
                  <a:pt x="358062" y="71612"/>
                </a:cubicBezTo>
                <a:lnTo>
                  <a:pt x="358062" y="286449"/>
                </a:lnTo>
                <a:cubicBezTo>
                  <a:pt x="358062" y="326000"/>
                  <a:pt x="326000" y="358062"/>
                  <a:pt x="286449" y="358062"/>
                </a:cubicBezTo>
                <a:lnTo>
                  <a:pt x="71612" y="358062"/>
                </a:lnTo>
                <a:cubicBezTo>
                  <a:pt x="32062" y="358062"/>
                  <a:pt x="0" y="326000"/>
                  <a:pt x="0" y="286449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19" name="Shape 17"/>
          <p:cNvSpPr/>
          <p:nvPr/>
        </p:nvSpPr>
        <p:spPr>
          <a:xfrm>
            <a:off x="6410423" y="1852969"/>
            <a:ext cx="161128" cy="161128"/>
          </a:xfrm>
          <a:custGeom>
            <a:avLst/>
            <a:gdLst/>
            <a:ahLst/>
            <a:cxnLst/>
            <a:rect l="l" t="t" r="r" b="b"/>
            <a:pathLst>
              <a:path w="161128" h="161128">
                <a:moveTo>
                  <a:pt x="40282" y="100705"/>
                </a:moveTo>
                <a:lnTo>
                  <a:pt x="7710" y="100705"/>
                </a:lnTo>
                <a:cubicBezTo>
                  <a:pt x="-126" y="100705"/>
                  <a:pt x="-4941" y="92176"/>
                  <a:pt x="-913" y="85442"/>
                </a:cubicBezTo>
                <a:lnTo>
                  <a:pt x="15735" y="57685"/>
                </a:lnTo>
                <a:cubicBezTo>
                  <a:pt x="18473" y="53122"/>
                  <a:pt x="23382" y="50352"/>
                  <a:pt x="28701" y="50352"/>
                </a:cubicBezTo>
                <a:lnTo>
                  <a:pt x="58598" y="50352"/>
                </a:lnTo>
                <a:cubicBezTo>
                  <a:pt x="82547" y="9787"/>
                  <a:pt x="118265" y="7742"/>
                  <a:pt x="142151" y="11235"/>
                </a:cubicBezTo>
                <a:cubicBezTo>
                  <a:pt x="146179" y="11833"/>
                  <a:pt x="149326" y="14980"/>
                  <a:pt x="149893" y="18977"/>
                </a:cubicBezTo>
                <a:cubicBezTo>
                  <a:pt x="153386" y="42863"/>
                  <a:pt x="151341" y="78581"/>
                  <a:pt x="110775" y="102530"/>
                </a:cubicBezTo>
                <a:lnTo>
                  <a:pt x="110775" y="132427"/>
                </a:lnTo>
                <a:cubicBezTo>
                  <a:pt x="110775" y="137745"/>
                  <a:pt x="108006" y="142655"/>
                  <a:pt x="103443" y="145393"/>
                </a:cubicBezTo>
                <a:lnTo>
                  <a:pt x="75686" y="162040"/>
                </a:lnTo>
                <a:cubicBezTo>
                  <a:pt x="68983" y="166069"/>
                  <a:pt x="60423" y="161222"/>
                  <a:pt x="60423" y="153418"/>
                </a:cubicBezTo>
                <a:lnTo>
                  <a:pt x="60423" y="120846"/>
                </a:lnTo>
                <a:cubicBezTo>
                  <a:pt x="60423" y="109737"/>
                  <a:pt x="51391" y="100705"/>
                  <a:pt x="40282" y="100705"/>
                </a:cubicBezTo>
                <a:lnTo>
                  <a:pt x="40250" y="100705"/>
                </a:lnTo>
                <a:close/>
                <a:moveTo>
                  <a:pt x="125881" y="50352"/>
                </a:moveTo>
                <a:cubicBezTo>
                  <a:pt x="125881" y="42015"/>
                  <a:pt x="119112" y="35247"/>
                  <a:pt x="110775" y="35247"/>
                </a:cubicBezTo>
                <a:cubicBezTo>
                  <a:pt x="102438" y="35247"/>
                  <a:pt x="95670" y="42015"/>
                  <a:pt x="95670" y="50352"/>
                </a:cubicBezTo>
                <a:cubicBezTo>
                  <a:pt x="95670" y="58690"/>
                  <a:pt x="102438" y="65458"/>
                  <a:pt x="110775" y="65458"/>
                </a:cubicBezTo>
                <a:cubicBezTo>
                  <a:pt x="119112" y="65458"/>
                  <a:pt x="125881" y="58690"/>
                  <a:pt x="125881" y="503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775198" y="1754502"/>
            <a:ext cx="5003912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XGBoost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75198" y="2040952"/>
            <a:ext cx="4977057" cy="411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 Gradient Boosting with regularization, parallel processing, and built-in cross-validation. Dominates structured data competitions.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75198" y="2555665"/>
            <a:ext cx="644511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32437" y="2555665"/>
            <a:ext cx="2049903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Kaggle competitions, structured data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75198" y="2806308"/>
            <a:ext cx="608705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89778" y="2806308"/>
            <a:ext cx="2372159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Regularization, fast, handles missing values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75198" y="3056952"/>
            <a:ext cx="68031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65446" y="3056952"/>
            <a:ext cx="1960388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hyperparameters, can overfit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58062" y="3522432"/>
            <a:ext cx="5666326" cy="1772405"/>
          </a:xfrm>
          <a:custGeom>
            <a:avLst/>
            <a:gdLst/>
            <a:ahLst/>
            <a:cxnLst/>
            <a:rect l="l" t="t" r="r" b="b"/>
            <a:pathLst>
              <a:path w="5666326" h="1772405">
                <a:moveTo>
                  <a:pt x="107425" y="0"/>
                </a:moveTo>
                <a:lnTo>
                  <a:pt x="5558901" y="0"/>
                </a:lnTo>
                <a:cubicBezTo>
                  <a:pt x="5618230" y="0"/>
                  <a:pt x="5666326" y="48096"/>
                  <a:pt x="5666326" y="107425"/>
                </a:cubicBezTo>
                <a:lnTo>
                  <a:pt x="5666326" y="1664980"/>
                </a:lnTo>
                <a:cubicBezTo>
                  <a:pt x="5666326" y="1724309"/>
                  <a:pt x="5618230" y="1772405"/>
                  <a:pt x="5558901" y="1772405"/>
                </a:cubicBezTo>
                <a:lnTo>
                  <a:pt x="107425" y="1772405"/>
                </a:lnTo>
                <a:cubicBezTo>
                  <a:pt x="48096" y="1772405"/>
                  <a:pt x="0" y="1724309"/>
                  <a:pt x="0" y="1664980"/>
                </a:cubicBezTo>
                <a:lnTo>
                  <a:pt x="0" y="107425"/>
                </a:lnTo>
                <a:cubicBezTo>
                  <a:pt x="0" y="48096"/>
                  <a:pt x="48096" y="0"/>
                  <a:pt x="10742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855" dist="895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1286" y="3665656"/>
            <a:ext cx="358062" cy="358062"/>
          </a:xfrm>
          <a:custGeom>
            <a:avLst/>
            <a:gdLst/>
            <a:ahLst/>
            <a:cxnLst/>
            <a:rect l="l" t="t" r="r" b="b"/>
            <a:pathLst>
              <a:path w="358062" h="358062">
                <a:moveTo>
                  <a:pt x="71612" y="0"/>
                </a:moveTo>
                <a:lnTo>
                  <a:pt x="286449" y="0"/>
                </a:lnTo>
                <a:cubicBezTo>
                  <a:pt x="326000" y="0"/>
                  <a:pt x="358062" y="32062"/>
                  <a:pt x="358062" y="71612"/>
                </a:cubicBezTo>
                <a:lnTo>
                  <a:pt x="358062" y="286449"/>
                </a:lnTo>
                <a:cubicBezTo>
                  <a:pt x="358062" y="326000"/>
                  <a:pt x="326000" y="358062"/>
                  <a:pt x="286449" y="358062"/>
                </a:cubicBezTo>
                <a:lnTo>
                  <a:pt x="71612" y="358062"/>
                </a:lnTo>
                <a:cubicBezTo>
                  <a:pt x="32062" y="358062"/>
                  <a:pt x="0" y="326000"/>
                  <a:pt x="0" y="286449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30" name="Shape 28"/>
          <p:cNvSpPr/>
          <p:nvPr/>
        </p:nvSpPr>
        <p:spPr>
          <a:xfrm>
            <a:off x="612062" y="3764123"/>
            <a:ext cx="140987" cy="161128"/>
          </a:xfrm>
          <a:custGeom>
            <a:avLst/>
            <a:gdLst/>
            <a:ahLst/>
            <a:cxnLst/>
            <a:rect l="l" t="t" r="r" b="b"/>
            <a:pathLst>
              <a:path w="140987" h="161128">
                <a:moveTo>
                  <a:pt x="106621" y="-3116"/>
                </a:moveTo>
                <a:cubicBezTo>
                  <a:pt x="110366" y="-409"/>
                  <a:pt x="111751" y="4500"/>
                  <a:pt x="110052" y="8780"/>
                </a:cubicBezTo>
                <a:lnTo>
                  <a:pt x="85379" y="70493"/>
                </a:lnTo>
                <a:lnTo>
                  <a:pt x="130916" y="70493"/>
                </a:lnTo>
                <a:cubicBezTo>
                  <a:pt x="135165" y="70493"/>
                  <a:pt x="138941" y="73137"/>
                  <a:pt x="140389" y="77134"/>
                </a:cubicBezTo>
                <a:cubicBezTo>
                  <a:pt x="141836" y="81130"/>
                  <a:pt x="140609" y="85599"/>
                  <a:pt x="137368" y="88306"/>
                </a:cubicBezTo>
                <a:lnTo>
                  <a:pt x="46733" y="163834"/>
                </a:lnTo>
                <a:cubicBezTo>
                  <a:pt x="43177" y="166792"/>
                  <a:pt x="38110" y="166950"/>
                  <a:pt x="34366" y="164243"/>
                </a:cubicBezTo>
                <a:cubicBezTo>
                  <a:pt x="30621" y="161537"/>
                  <a:pt x="29236" y="156628"/>
                  <a:pt x="30935" y="152348"/>
                </a:cubicBezTo>
                <a:lnTo>
                  <a:pt x="55608" y="90634"/>
                </a:lnTo>
                <a:lnTo>
                  <a:pt x="10070" y="90634"/>
                </a:lnTo>
                <a:cubicBezTo>
                  <a:pt x="5822" y="90634"/>
                  <a:pt x="2046" y="87991"/>
                  <a:pt x="598" y="83994"/>
                </a:cubicBezTo>
                <a:cubicBezTo>
                  <a:pt x="-850" y="79997"/>
                  <a:pt x="378" y="75529"/>
                  <a:pt x="3619" y="72822"/>
                </a:cubicBezTo>
                <a:lnTo>
                  <a:pt x="94253" y="-2706"/>
                </a:lnTo>
                <a:cubicBezTo>
                  <a:pt x="97810" y="-5665"/>
                  <a:pt x="102876" y="-5822"/>
                  <a:pt x="106621" y="-31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66767" y="3665656"/>
            <a:ext cx="5003912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LightGBM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6767" y="3952106"/>
            <a:ext cx="4977057" cy="411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 Gradient Boosting Machine uses leaf-wise tree growth and histogram-based algorithms. Faster and more memory-efficient than XGBoost.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6767" y="4466819"/>
            <a:ext cx="644511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624006" y="4466819"/>
            <a:ext cx="2085709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datasets, real-time applications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6767" y="4717463"/>
            <a:ext cx="608705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581346" y="4717463"/>
            <a:ext cx="2515383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training, low memory, handles large data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6767" y="4968106"/>
            <a:ext cx="68031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657014" y="4968106"/>
            <a:ext cx="1879824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overfit with leaf-wise growth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66493" y="3522432"/>
            <a:ext cx="5666326" cy="1772405"/>
          </a:xfrm>
          <a:custGeom>
            <a:avLst/>
            <a:gdLst/>
            <a:ahLst/>
            <a:cxnLst/>
            <a:rect l="l" t="t" r="r" b="b"/>
            <a:pathLst>
              <a:path w="5666326" h="1772405">
                <a:moveTo>
                  <a:pt x="107425" y="0"/>
                </a:moveTo>
                <a:lnTo>
                  <a:pt x="5558901" y="0"/>
                </a:lnTo>
                <a:cubicBezTo>
                  <a:pt x="5618230" y="0"/>
                  <a:pt x="5666326" y="48096"/>
                  <a:pt x="5666326" y="107425"/>
                </a:cubicBezTo>
                <a:lnTo>
                  <a:pt x="5666326" y="1664980"/>
                </a:lnTo>
                <a:cubicBezTo>
                  <a:pt x="5666326" y="1724309"/>
                  <a:pt x="5618230" y="1772405"/>
                  <a:pt x="5558901" y="1772405"/>
                </a:cubicBezTo>
                <a:lnTo>
                  <a:pt x="107425" y="1772405"/>
                </a:lnTo>
                <a:cubicBezTo>
                  <a:pt x="48096" y="1772405"/>
                  <a:pt x="0" y="1724309"/>
                  <a:pt x="0" y="1664980"/>
                </a:cubicBezTo>
                <a:lnTo>
                  <a:pt x="0" y="107425"/>
                </a:lnTo>
                <a:cubicBezTo>
                  <a:pt x="0" y="48096"/>
                  <a:pt x="48096" y="0"/>
                  <a:pt x="10742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855" dist="895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09718" y="3665656"/>
            <a:ext cx="358062" cy="358062"/>
          </a:xfrm>
          <a:custGeom>
            <a:avLst/>
            <a:gdLst/>
            <a:ahLst/>
            <a:cxnLst/>
            <a:rect l="l" t="t" r="r" b="b"/>
            <a:pathLst>
              <a:path w="358062" h="358062">
                <a:moveTo>
                  <a:pt x="71612" y="0"/>
                </a:moveTo>
                <a:lnTo>
                  <a:pt x="286449" y="0"/>
                </a:lnTo>
                <a:cubicBezTo>
                  <a:pt x="326000" y="0"/>
                  <a:pt x="358062" y="32062"/>
                  <a:pt x="358062" y="71612"/>
                </a:cubicBezTo>
                <a:lnTo>
                  <a:pt x="358062" y="286449"/>
                </a:lnTo>
                <a:cubicBezTo>
                  <a:pt x="358062" y="326000"/>
                  <a:pt x="326000" y="358062"/>
                  <a:pt x="286449" y="358062"/>
                </a:cubicBezTo>
                <a:lnTo>
                  <a:pt x="71612" y="358062"/>
                </a:lnTo>
                <a:cubicBezTo>
                  <a:pt x="32062" y="358062"/>
                  <a:pt x="0" y="326000"/>
                  <a:pt x="0" y="286449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212529"/>
          </a:solidFill>
          <a:ln/>
        </p:spPr>
      </p:sp>
      <p:sp>
        <p:nvSpPr>
          <p:cNvPr id="41" name="Shape 39"/>
          <p:cNvSpPr/>
          <p:nvPr/>
        </p:nvSpPr>
        <p:spPr>
          <a:xfrm>
            <a:off x="6400352" y="3764123"/>
            <a:ext cx="181269" cy="161128"/>
          </a:xfrm>
          <a:custGeom>
            <a:avLst/>
            <a:gdLst/>
            <a:ahLst/>
            <a:cxnLst/>
            <a:rect l="l" t="t" r="r" b="b"/>
            <a:pathLst>
              <a:path w="181269" h="161128">
                <a:moveTo>
                  <a:pt x="20141" y="30211"/>
                </a:moveTo>
                <a:cubicBezTo>
                  <a:pt x="36820" y="30211"/>
                  <a:pt x="50352" y="43744"/>
                  <a:pt x="50352" y="60423"/>
                </a:cubicBezTo>
                <a:lnTo>
                  <a:pt x="50352" y="87424"/>
                </a:lnTo>
                <a:cubicBezTo>
                  <a:pt x="59699" y="73357"/>
                  <a:pt x="74836" y="63444"/>
                  <a:pt x="92334" y="60989"/>
                </a:cubicBezTo>
                <a:cubicBezTo>
                  <a:pt x="100390" y="79872"/>
                  <a:pt x="119146" y="93121"/>
                  <a:pt x="140987" y="93121"/>
                </a:cubicBezTo>
                <a:cubicBezTo>
                  <a:pt x="144417" y="93121"/>
                  <a:pt x="147784" y="92774"/>
                  <a:pt x="151057" y="92145"/>
                </a:cubicBezTo>
                <a:lnTo>
                  <a:pt x="151057" y="151057"/>
                </a:lnTo>
                <a:cubicBezTo>
                  <a:pt x="151057" y="156628"/>
                  <a:pt x="146557" y="161128"/>
                  <a:pt x="140987" y="161128"/>
                </a:cubicBezTo>
                <a:cubicBezTo>
                  <a:pt x="135417" y="161128"/>
                  <a:pt x="130916" y="156628"/>
                  <a:pt x="130916" y="151057"/>
                </a:cubicBezTo>
                <a:lnTo>
                  <a:pt x="130916" y="106747"/>
                </a:lnTo>
                <a:lnTo>
                  <a:pt x="88117" y="140987"/>
                </a:lnTo>
                <a:lnTo>
                  <a:pt x="105740" y="140987"/>
                </a:lnTo>
                <a:cubicBezTo>
                  <a:pt x="111310" y="140987"/>
                  <a:pt x="115811" y="145487"/>
                  <a:pt x="115811" y="151057"/>
                </a:cubicBezTo>
                <a:cubicBezTo>
                  <a:pt x="115811" y="156628"/>
                  <a:pt x="111310" y="161128"/>
                  <a:pt x="105740" y="161128"/>
                </a:cubicBezTo>
                <a:lnTo>
                  <a:pt x="60423" y="161128"/>
                </a:lnTo>
                <a:cubicBezTo>
                  <a:pt x="43744" y="161128"/>
                  <a:pt x="30211" y="147596"/>
                  <a:pt x="30211" y="130916"/>
                </a:cubicBezTo>
                <a:lnTo>
                  <a:pt x="30211" y="60423"/>
                </a:lnTo>
                <a:cubicBezTo>
                  <a:pt x="30211" y="55199"/>
                  <a:pt x="26246" y="50919"/>
                  <a:pt x="21179" y="50415"/>
                </a:cubicBezTo>
                <a:lnTo>
                  <a:pt x="19102" y="50321"/>
                </a:lnTo>
                <a:cubicBezTo>
                  <a:pt x="14036" y="49786"/>
                  <a:pt x="10070" y="45506"/>
                  <a:pt x="10070" y="40282"/>
                </a:cubicBezTo>
                <a:cubicBezTo>
                  <a:pt x="10070" y="34712"/>
                  <a:pt x="14571" y="30211"/>
                  <a:pt x="20141" y="30211"/>
                </a:cubicBezTo>
                <a:close/>
                <a:moveTo>
                  <a:pt x="167988" y="1007"/>
                </a:moveTo>
                <a:cubicBezTo>
                  <a:pt x="171261" y="-1731"/>
                  <a:pt x="176233" y="598"/>
                  <a:pt x="176233" y="4878"/>
                </a:cubicBezTo>
                <a:lnTo>
                  <a:pt x="176233" y="40282"/>
                </a:lnTo>
                <a:cubicBezTo>
                  <a:pt x="176233" y="59762"/>
                  <a:pt x="160467" y="75529"/>
                  <a:pt x="140987" y="75529"/>
                </a:cubicBezTo>
                <a:cubicBezTo>
                  <a:pt x="121507" y="75529"/>
                  <a:pt x="105740" y="59762"/>
                  <a:pt x="105740" y="40282"/>
                </a:cubicBezTo>
                <a:lnTo>
                  <a:pt x="105740" y="4878"/>
                </a:lnTo>
                <a:cubicBezTo>
                  <a:pt x="105740" y="598"/>
                  <a:pt x="110712" y="-1731"/>
                  <a:pt x="113985" y="1007"/>
                </a:cubicBezTo>
                <a:lnTo>
                  <a:pt x="130916" y="15106"/>
                </a:lnTo>
                <a:lnTo>
                  <a:pt x="151057" y="15106"/>
                </a:lnTo>
                <a:lnTo>
                  <a:pt x="167988" y="1007"/>
                </a:lnTo>
                <a:close/>
                <a:moveTo>
                  <a:pt x="125881" y="33988"/>
                </a:moveTo>
                <a:cubicBezTo>
                  <a:pt x="122407" y="33988"/>
                  <a:pt x="119587" y="36808"/>
                  <a:pt x="119587" y="40282"/>
                </a:cubicBezTo>
                <a:cubicBezTo>
                  <a:pt x="119587" y="43756"/>
                  <a:pt x="122407" y="46576"/>
                  <a:pt x="125881" y="46576"/>
                </a:cubicBezTo>
                <a:cubicBezTo>
                  <a:pt x="129355" y="46576"/>
                  <a:pt x="132175" y="43756"/>
                  <a:pt x="132175" y="40282"/>
                </a:cubicBezTo>
                <a:cubicBezTo>
                  <a:pt x="132175" y="36808"/>
                  <a:pt x="129355" y="33988"/>
                  <a:pt x="125881" y="33988"/>
                </a:cubicBezTo>
                <a:close/>
                <a:moveTo>
                  <a:pt x="156093" y="33988"/>
                </a:moveTo>
                <a:cubicBezTo>
                  <a:pt x="152619" y="33988"/>
                  <a:pt x="149798" y="36808"/>
                  <a:pt x="149798" y="40282"/>
                </a:cubicBezTo>
                <a:cubicBezTo>
                  <a:pt x="149798" y="43756"/>
                  <a:pt x="152619" y="46576"/>
                  <a:pt x="156093" y="46576"/>
                </a:cubicBezTo>
                <a:cubicBezTo>
                  <a:pt x="159566" y="46576"/>
                  <a:pt x="162387" y="43756"/>
                  <a:pt x="162387" y="40282"/>
                </a:cubicBezTo>
                <a:cubicBezTo>
                  <a:pt x="162387" y="36808"/>
                  <a:pt x="159566" y="33988"/>
                  <a:pt x="156093" y="339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775198" y="3665656"/>
            <a:ext cx="5003912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CatBoost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75198" y="3952106"/>
            <a:ext cx="4977057" cy="411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Categorical Boosting automatically handles categorical features using ordered boosting. Reduces prediction shift and provides robust results.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75198" y="4466819"/>
            <a:ext cx="644511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32437" y="4466819"/>
            <a:ext cx="1888775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Datasets with categorical features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75198" y="4717463"/>
            <a:ext cx="608705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389778" y="4717463"/>
            <a:ext cx="2461674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categorical data, reduces overfitting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75198" y="4968106"/>
            <a:ext cx="68031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465446" y="4968106"/>
            <a:ext cx="2049903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Slower than LightGBM, newer library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58062" y="5433586"/>
            <a:ext cx="11475877" cy="1065233"/>
          </a:xfrm>
          <a:custGeom>
            <a:avLst/>
            <a:gdLst/>
            <a:ahLst/>
            <a:cxnLst/>
            <a:rect l="l" t="t" r="r" b="b"/>
            <a:pathLst>
              <a:path w="11475877" h="1065233">
                <a:moveTo>
                  <a:pt x="107418" y="0"/>
                </a:moveTo>
                <a:lnTo>
                  <a:pt x="11368459" y="0"/>
                </a:lnTo>
                <a:cubicBezTo>
                  <a:pt x="11427784" y="0"/>
                  <a:pt x="11475877" y="48093"/>
                  <a:pt x="11475877" y="107418"/>
                </a:cubicBezTo>
                <a:lnTo>
                  <a:pt x="11475877" y="957815"/>
                </a:lnTo>
                <a:cubicBezTo>
                  <a:pt x="11475877" y="1017141"/>
                  <a:pt x="11427784" y="1065233"/>
                  <a:pt x="11368459" y="1065233"/>
                </a:cubicBezTo>
                <a:lnTo>
                  <a:pt x="107418" y="1065233"/>
                </a:lnTo>
                <a:cubicBezTo>
                  <a:pt x="48093" y="1065233"/>
                  <a:pt x="0" y="1017141"/>
                  <a:pt x="0" y="957815"/>
                </a:cubicBezTo>
                <a:lnTo>
                  <a:pt x="0" y="107418"/>
                </a:lnTo>
                <a:cubicBezTo>
                  <a:pt x="0" y="48132"/>
                  <a:pt x="48132" y="0"/>
                  <a:pt x="10741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855" dist="895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01286" y="5576811"/>
            <a:ext cx="358062" cy="358062"/>
          </a:xfrm>
          <a:custGeom>
            <a:avLst/>
            <a:gdLst/>
            <a:ahLst/>
            <a:cxnLst/>
            <a:rect l="l" t="t" r="r" b="b"/>
            <a:pathLst>
              <a:path w="358062" h="358062">
                <a:moveTo>
                  <a:pt x="71612" y="0"/>
                </a:moveTo>
                <a:lnTo>
                  <a:pt x="286449" y="0"/>
                </a:lnTo>
                <a:cubicBezTo>
                  <a:pt x="326000" y="0"/>
                  <a:pt x="358062" y="32062"/>
                  <a:pt x="358062" y="71612"/>
                </a:cubicBezTo>
                <a:lnTo>
                  <a:pt x="358062" y="286449"/>
                </a:lnTo>
                <a:cubicBezTo>
                  <a:pt x="358062" y="326000"/>
                  <a:pt x="326000" y="358062"/>
                  <a:pt x="286449" y="358062"/>
                </a:cubicBezTo>
                <a:lnTo>
                  <a:pt x="71612" y="358062"/>
                </a:lnTo>
                <a:cubicBezTo>
                  <a:pt x="32062" y="358062"/>
                  <a:pt x="0" y="326000"/>
                  <a:pt x="0" y="286449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495057"/>
          </a:solidFill>
          <a:ln/>
        </p:spPr>
      </p:sp>
      <p:sp>
        <p:nvSpPr>
          <p:cNvPr id="52" name="Shape 50"/>
          <p:cNvSpPr/>
          <p:nvPr/>
        </p:nvSpPr>
        <p:spPr>
          <a:xfrm>
            <a:off x="612062" y="5675278"/>
            <a:ext cx="140987" cy="161128"/>
          </a:xfrm>
          <a:custGeom>
            <a:avLst/>
            <a:gdLst/>
            <a:ahLst/>
            <a:cxnLst/>
            <a:rect l="l" t="t" r="r" b="b"/>
            <a:pathLst>
              <a:path w="140987" h="161128">
                <a:moveTo>
                  <a:pt x="80564" y="20141"/>
                </a:moveTo>
                <a:cubicBezTo>
                  <a:pt x="80564" y="14571"/>
                  <a:pt x="76064" y="10070"/>
                  <a:pt x="70493" y="10070"/>
                </a:cubicBezTo>
                <a:cubicBezTo>
                  <a:pt x="64923" y="10070"/>
                  <a:pt x="60423" y="14571"/>
                  <a:pt x="60423" y="20141"/>
                </a:cubicBezTo>
                <a:lnTo>
                  <a:pt x="60423" y="70493"/>
                </a:lnTo>
                <a:lnTo>
                  <a:pt x="10070" y="70493"/>
                </a:lnTo>
                <a:cubicBezTo>
                  <a:pt x="4500" y="70493"/>
                  <a:pt x="0" y="74994"/>
                  <a:pt x="0" y="80564"/>
                </a:cubicBezTo>
                <a:cubicBezTo>
                  <a:pt x="0" y="86134"/>
                  <a:pt x="4500" y="90634"/>
                  <a:pt x="10070" y="90634"/>
                </a:cubicBezTo>
                <a:lnTo>
                  <a:pt x="60423" y="90634"/>
                </a:lnTo>
                <a:lnTo>
                  <a:pt x="60423" y="140987"/>
                </a:lnTo>
                <a:cubicBezTo>
                  <a:pt x="60423" y="146557"/>
                  <a:pt x="64923" y="151057"/>
                  <a:pt x="70493" y="151057"/>
                </a:cubicBezTo>
                <a:cubicBezTo>
                  <a:pt x="76064" y="151057"/>
                  <a:pt x="80564" y="146557"/>
                  <a:pt x="80564" y="140987"/>
                </a:cubicBezTo>
                <a:lnTo>
                  <a:pt x="80564" y="90634"/>
                </a:lnTo>
                <a:lnTo>
                  <a:pt x="130916" y="90634"/>
                </a:lnTo>
                <a:cubicBezTo>
                  <a:pt x="136487" y="90634"/>
                  <a:pt x="140987" y="86134"/>
                  <a:pt x="140987" y="80564"/>
                </a:cubicBezTo>
                <a:cubicBezTo>
                  <a:pt x="140987" y="74994"/>
                  <a:pt x="136487" y="70493"/>
                  <a:pt x="130916" y="70493"/>
                </a:cubicBezTo>
                <a:lnTo>
                  <a:pt x="80564" y="70493"/>
                </a:lnTo>
                <a:lnTo>
                  <a:pt x="80564" y="2014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966767" y="5576811"/>
            <a:ext cx="10813463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AdaBoost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66767" y="5899066"/>
            <a:ext cx="10786608" cy="20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Boosting focuses on misclassified samples by adjusting weights. Combines weak learners into strong classifier through weighted voting.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66767" y="6174326"/>
            <a:ext cx="644511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624006" y="6174326"/>
            <a:ext cx="1844018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detection, text classification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576476" y="6174326"/>
            <a:ext cx="608705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191055" y="6174326"/>
            <a:ext cx="1673938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Simple, resistant to overfitting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186185" y="6174326"/>
            <a:ext cx="68031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876433" y="6174326"/>
            <a:ext cx="1736599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49505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Sensitive to noisy data, outliers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3e7d273bf732d4be70e4171acf3913c92008b85.jpg"/>
          <p:cNvPicPr>
            <a:picLocks noChangeAspect="1"/>
          </p:cNvPicPr>
          <p:nvPr/>
        </p:nvPicPr>
        <p:blipFill>
          <a:blip r:embed="rId3">
            <a:alphaModFix amt="1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12529">
                  <a:alpha val="95000"/>
                </a:srgbClr>
              </a:gs>
              <a:gs pos="50000">
                <a:srgbClr val="495057">
                  <a:alpha val="90000"/>
                </a:srgbClr>
              </a:gs>
              <a:gs pos="100000">
                <a:srgbClr val="212529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238125" y="257175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 Selection Guide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0" y="9810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8F9FA">
              <a:alpha val="50196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771650" y="1171575"/>
            <a:ext cx="864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 algorithms across 5 categories. Choose based on your data type, problem complexity, and performance requirements.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2143125"/>
            <a:ext cx="2162175" cy="1752600"/>
          </a:xfrm>
          <a:custGeom>
            <a:avLst/>
            <a:gdLst/>
            <a:ahLst/>
            <a:cxnLst/>
            <a:rect l="l" t="t" r="r" b="b"/>
            <a:pathLst>
              <a:path w="2162175" h="1752600">
                <a:moveTo>
                  <a:pt x="114305" y="0"/>
                </a:moveTo>
                <a:lnTo>
                  <a:pt x="2047870" y="0"/>
                </a:lnTo>
                <a:cubicBezTo>
                  <a:pt x="2110999" y="0"/>
                  <a:pt x="2162175" y="51176"/>
                  <a:pt x="2162175" y="114305"/>
                </a:cubicBezTo>
                <a:lnTo>
                  <a:pt x="2162175" y="1638295"/>
                </a:lnTo>
                <a:cubicBezTo>
                  <a:pt x="2162175" y="1701424"/>
                  <a:pt x="2110999" y="1752600"/>
                  <a:pt x="2047870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196280" y="2295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8F9FA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348680" y="2447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485775" y="2943225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5300" y="3286125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algorithms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0063" y="3552825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 &amp; Classification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697361" y="2143125"/>
            <a:ext cx="2162175" cy="1752600"/>
          </a:xfrm>
          <a:custGeom>
            <a:avLst/>
            <a:gdLst/>
            <a:ahLst/>
            <a:cxnLst/>
            <a:rect l="l" t="t" r="r" b="b"/>
            <a:pathLst>
              <a:path w="2162175" h="1752600">
                <a:moveTo>
                  <a:pt x="114305" y="0"/>
                </a:moveTo>
                <a:lnTo>
                  <a:pt x="2047870" y="0"/>
                </a:lnTo>
                <a:cubicBezTo>
                  <a:pt x="2110999" y="0"/>
                  <a:pt x="2162175" y="51176"/>
                  <a:pt x="2162175" y="114305"/>
                </a:cubicBezTo>
                <a:lnTo>
                  <a:pt x="2162175" y="1638295"/>
                </a:lnTo>
                <a:cubicBezTo>
                  <a:pt x="2162175" y="1701424"/>
                  <a:pt x="2110999" y="1752600"/>
                  <a:pt x="2047870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512641" y="2295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8F9FA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665041" y="2447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2802136" y="2943225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811661" y="3286125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algorithms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816423" y="3552825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Clustering &amp; Reduction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013871" y="2143125"/>
            <a:ext cx="2162175" cy="1752600"/>
          </a:xfrm>
          <a:custGeom>
            <a:avLst/>
            <a:gdLst/>
            <a:ahLst/>
            <a:cxnLst/>
            <a:rect l="l" t="t" r="r" b="b"/>
            <a:pathLst>
              <a:path w="2162175" h="1752600">
                <a:moveTo>
                  <a:pt x="114305" y="0"/>
                </a:moveTo>
                <a:lnTo>
                  <a:pt x="2047870" y="0"/>
                </a:lnTo>
                <a:cubicBezTo>
                  <a:pt x="2110999" y="0"/>
                  <a:pt x="2162175" y="51176"/>
                  <a:pt x="2162175" y="114305"/>
                </a:cubicBezTo>
                <a:lnTo>
                  <a:pt x="2162175" y="1638295"/>
                </a:lnTo>
                <a:cubicBezTo>
                  <a:pt x="2162175" y="1701424"/>
                  <a:pt x="2110999" y="1752600"/>
                  <a:pt x="2047870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829151" y="2295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8F9FA">
              <a:alpha val="2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981551" y="2447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5118646" y="2943225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28171" y="3286125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algorithms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32933" y="3552825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Neural Architectures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330380" y="2143125"/>
            <a:ext cx="2162175" cy="1752600"/>
          </a:xfrm>
          <a:custGeom>
            <a:avLst/>
            <a:gdLst/>
            <a:ahLst/>
            <a:cxnLst/>
            <a:rect l="l" t="t" r="r" b="b"/>
            <a:pathLst>
              <a:path w="2162175" h="1752600">
                <a:moveTo>
                  <a:pt x="114305" y="0"/>
                </a:moveTo>
                <a:lnTo>
                  <a:pt x="2047870" y="0"/>
                </a:lnTo>
                <a:cubicBezTo>
                  <a:pt x="2110999" y="0"/>
                  <a:pt x="2162175" y="51176"/>
                  <a:pt x="2162175" y="114305"/>
                </a:cubicBezTo>
                <a:lnTo>
                  <a:pt x="2162175" y="1638295"/>
                </a:lnTo>
                <a:cubicBezTo>
                  <a:pt x="2162175" y="1701424"/>
                  <a:pt x="2110999" y="1752600"/>
                  <a:pt x="2047870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8145661" y="2295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8F9FA">
              <a:alpha val="2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8269486" y="24479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7435155" y="2943225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Reinforcement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444680" y="3286125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algorithms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449443" y="3552825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by Interaction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646890" y="2143125"/>
            <a:ext cx="2162175" cy="1752600"/>
          </a:xfrm>
          <a:custGeom>
            <a:avLst/>
            <a:gdLst/>
            <a:ahLst/>
            <a:cxnLst/>
            <a:rect l="l" t="t" r="r" b="b"/>
            <a:pathLst>
              <a:path w="2162175" h="1752600">
                <a:moveTo>
                  <a:pt x="114305" y="0"/>
                </a:moveTo>
                <a:lnTo>
                  <a:pt x="2047870" y="0"/>
                </a:lnTo>
                <a:cubicBezTo>
                  <a:pt x="2110999" y="0"/>
                  <a:pt x="2162175" y="51176"/>
                  <a:pt x="2162175" y="114305"/>
                </a:cubicBezTo>
                <a:lnTo>
                  <a:pt x="2162175" y="1638295"/>
                </a:lnTo>
                <a:cubicBezTo>
                  <a:pt x="2162175" y="1701424"/>
                  <a:pt x="2110999" y="1752600"/>
                  <a:pt x="2047870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10462171" y="2295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8F9FA">
              <a:alpha val="2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10614571" y="2447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9751665" y="2943225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Ensemble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761190" y="3286125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algorithms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765953" y="3552825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Combination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219200" y="4124325"/>
            <a:ext cx="9753600" cy="1638300"/>
          </a:xfrm>
          <a:custGeom>
            <a:avLst/>
            <a:gdLst/>
            <a:ahLst/>
            <a:cxnLst/>
            <a:rect l="l" t="t" r="r" b="b"/>
            <a:pathLst>
              <a:path w="9753600" h="1638300">
                <a:moveTo>
                  <a:pt x="114304" y="0"/>
                </a:moveTo>
                <a:lnTo>
                  <a:pt x="9639296" y="0"/>
                </a:lnTo>
                <a:cubicBezTo>
                  <a:pt x="9702424" y="0"/>
                  <a:pt x="9753600" y="51176"/>
                  <a:pt x="9753600" y="114304"/>
                </a:cubicBezTo>
                <a:lnTo>
                  <a:pt x="9753600" y="1523996"/>
                </a:lnTo>
                <a:cubicBezTo>
                  <a:pt x="9753600" y="1587124"/>
                  <a:pt x="9702424" y="1638300"/>
                  <a:pt x="9639296" y="1638300"/>
                </a:cubicBezTo>
                <a:lnTo>
                  <a:pt x="114304" y="1638300"/>
                </a:lnTo>
                <a:cubicBezTo>
                  <a:pt x="51176" y="1638300"/>
                  <a:pt x="0" y="1587124"/>
                  <a:pt x="0" y="15239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1390650" y="4352925"/>
            <a:ext cx="941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Principles for Algorithm Selection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1483519" y="48482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1800225" y="4810125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Your Data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800225" y="5076825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data type, size, quality, and whether labels are available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4646563" y="4848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4975175" y="4810125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 Your Goal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4975175" y="5076825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Clarify whether you need prediction, clustering, generation, or control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797701" y="48482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8150126" y="4810125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 Complexity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8150126" y="5076825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simple, iterate, and validate. More complex isn't always better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333375" y="5991225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goal is to turn data into information, and information into insight."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338138" y="6334125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Carly Fiorina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2474</Words>
  <Application>Microsoft Office PowerPoint</Application>
  <PresentationFormat>Widescreen</PresentationFormat>
  <Paragraphs>466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</vt:lpstr>
      <vt:lpstr>Arial</vt:lpstr>
      <vt:lpstr>Quattrocento Sans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Algorithms - Comprehensive Guide</dc:title>
  <dc:subject>Machine Learning Algorithms - Comprehensive Guide</dc:subject>
  <dc:creator>Kimi</dc:creator>
  <cp:lastModifiedBy>Admin</cp:lastModifiedBy>
  <cp:revision>4</cp:revision>
  <dcterms:created xsi:type="dcterms:W3CDTF">2026-04-19T17:01:59Z</dcterms:created>
  <dcterms:modified xsi:type="dcterms:W3CDTF">2026-04-25T18:28:09Z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{"Label":"Machine Learning Algorithms - Comprehensive Guide","ContentProducer":"001191110108MACG2KBH8F10000","ProduceID":"19da6aea-8b32-8d9b-8000-0000fcbff78d","ReservedCode1":"","ContentPropagator":"001191110108MACG2KBH8F20000","PropagateID":"19da6aea-8b</vt:lpwstr>
  </property>
</Properties>
</file>